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3"/>
  </p:sldMasterIdLst>
  <p:notesMasterIdLst>
    <p:notesMasterId r:id="rId51"/>
  </p:notesMasterIdLst>
  <p:handoutMasterIdLst>
    <p:handoutMasterId r:id="rId52"/>
  </p:handoutMasterIdLst>
  <p:sldIdLst>
    <p:sldId id="259" r:id="rId4"/>
    <p:sldId id="257" r:id="rId5"/>
    <p:sldId id="265" r:id="rId6"/>
    <p:sldId id="275" r:id="rId7"/>
    <p:sldId id="266" r:id="rId8"/>
    <p:sldId id="27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7" r:id="rId18"/>
    <p:sldId id="278" r:id="rId19"/>
    <p:sldId id="279" r:id="rId20"/>
    <p:sldId id="280" r:id="rId21"/>
    <p:sldId id="285" r:id="rId22"/>
    <p:sldId id="286" r:id="rId23"/>
    <p:sldId id="281" r:id="rId24"/>
    <p:sldId id="287" r:id="rId25"/>
    <p:sldId id="288" r:id="rId26"/>
    <p:sldId id="282" r:id="rId27"/>
    <p:sldId id="283" r:id="rId28"/>
    <p:sldId id="284" r:id="rId29"/>
    <p:sldId id="289" r:id="rId30"/>
    <p:sldId id="290" r:id="rId31"/>
    <p:sldId id="293" r:id="rId32"/>
    <p:sldId id="291" r:id="rId33"/>
    <p:sldId id="294" r:id="rId34"/>
    <p:sldId id="292" r:id="rId35"/>
    <p:sldId id="295" r:id="rId36"/>
    <p:sldId id="343" r:id="rId37"/>
    <p:sldId id="310" r:id="rId38"/>
    <p:sldId id="407" r:id="rId39"/>
    <p:sldId id="408" r:id="rId40"/>
    <p:sldId id="412" r:id="rId41"/>
    <p:sldId id="410" r:id="rId42"/>
    <p:sldId id="454" r:id="rId43"/>
    <p:sldId id="414" r:id="rId44"/>
    <p:sldId id="409" r:id="rId45"/>
    <p:sldId id="411" r:id="rId46"/>
    <p:sldId id="296" r:id="rId47"/>
    <p:sldId id="297" r:id="rId48"/>
    <p:sldId id="426" r:id="rId49"/>
    <p:sldId id="427" r:id="rId5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7202" autoAdjust="0"/>
    <p:restoredTop sz="94675"/>
  </p:normalViewPr>
  <p:slideViewPr>
    <p:cSldViewPr snapToGrid="0">
      <p:cViewPr varScale="1">
        <p:scale>
          <a:sx n="63" d="100"/>
          <a:sy n="63" d="100"/>
        </p:scale>
        <p:origin x="176" y="472"/>
      </p:cViewPr>
      <p:guideLst/>
    </p:cSldViewPr>
  </p:slideViewPr>
  <p:outlineViewPr>
    <p:cViewPr>
      <p:scale>
        <a:sx n="33" d="100"/>
        <a:sy n="33" d="100"/>
      </p:scale>
      <p:origin x="0" y="-188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presProps" Target="presProps.xml"/><Relationship Id="rId58" Type="http://schemas.openxmlformats.org/officeDocument/2006/relationships/customXml" Target="../customXml/item3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ableStyles" Target="tableStyles.xml"/><Relationship Id="rId8" Type="http://schemas.openxmlformats.org/officeDocument/2006/relationships/slide" Target="slides/slide5.xml"/><Relationship Id="rId51" Type="http://schemas.openxmlformats.org/officeDocument/2006/relationships/notesMaster" Target="notesMasters/notesMaster1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microsoft.com/office/2016/11/relationships/changesInfo" Target="changesInfos/changesInfo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 Thi Kim Hue" userId="af176dfe-ebe0-47e4-99a4-e0f4d40f7313" providerId="ADAL" clId="{54FE70A6-63C1-4E11-969B-F1F522CE7CAE}"/>
    <pc:docChg chg="undo custSel addSld modSld sldOrd">
      <pc:chgData name="Ta Thi Kim Hue" userId="af176dfe-ebe0-47e4-99a4-e0f4d40f7313" providerId="ADAL" clId="{54FE70A6-63C1-4E11-969B-F1F522CE7CAE}" dt="2022-10-26T11:54:59.244" v="3312" actId="20577"/>
      <pc:docMkLst>
        <pc:docMk/>
      </pc:docMkLst>
      <pc:sldChg chg="delSp mod">
        <pc:chgData name="Ta Thi Kim Hue" userId="af176dfe-ebe0-47e4-99a4-e0f4d40f7313" providerId="ADAL" clId="{54FE70A6-63C1-4E11-969B-F1F522CE7CAE}" dt="2022-10-26T08:44:52.452" v="535" actId="21"/>
        <pc:sldMkLst>
          <pc:docMk/>
          <pc:sldMk cId="2508839728" sldId="281"/>
        </pc:sldMkLst>
      </pc:sldChg>
      <pc:sldChg chg="ord">
        <pc:chgData name="Ta Thi Kim Hue" userId="af176dfe-ebe0-47e4-99a4-e0f4d40f7313" providerId="ADAL" clId="{54FE70A6-63C1-4E11-969B-F1F522CE7CAE}" dt="2022-10-26T11:49:52.645" v="2763"/>
        <pc:sldMkLst>
          <pc:docMk/>
          <pc:sldMk cId="3786551749" sldId="282"/>
        </pc:sldMkLst>
      </pc:sldChg>
      <pc:sldChg chg="modSp mod ord">
        <pc:chgData name="Ta Thi Kim Hue" userId="af176dfe-ebe0-47e4-99a4-e0f4d40f7313" providerId="ADAL" clId="{54FE70A6-63C1-4E11-969B-F1F522CE7CAE}" dt="2022-10-26T11:54:38.265" v="3265" actId="20577"/>
        <pc:sldMkLst>
          <pc:docMk/>
          <pc:sldMk cId="3252570683" sldId="283"/>
        </pc:sldMkLst>
      </pc:sldChg>
      <pc:sldChg chg="addSp delSp modSp new mod">
        <pc:chgData name="Ta Thi Kim Hue" userId="af176dfe-ebe0-47e4-99a4-e0f4d40f7313" providerId="ADAL" clId="{54FE70A6-63C1-4E11-969B-F1F522CE7CAE}" dt="2022-10-26T08:46:31.004" v="699" actId="20577"/>
        <pc:sldMkLst>
          <pc:docMk/>
          <pc:sldMk cId="3616470069" sldId="285"/>
        </pc:sldMkLst>
      </pc:sldChg>
      <pc:sldChg chg="addSp modSp new mod ord modAnim">
        <pc:chgData name="Ta Thi Kim Hue" userId="af176dfe-ebe0-47e4-99a4-e0f4d40f7313" providerId="ADAL" clId="{54FE70A6-63C1-4E11-969B-F1F522CE7CAE}" dt="2022-10-26T09:32:05.798" v="1619" actId="1076"/>
        <pc:sldMkLst>
          <pc:docMk/>
          <pc:sldMk cId="2502713918" sldId="286"/>
        </pc:sldMkLst>
      </pc:sldChg>
      <pc:sldChg chg="modSp new mod">
        <pc:chgData name="Ta Thi Kim Hue" userId="af176dfe-ebe0-47e4-99a4-e0f4d40f7313" providerId="ADAL" clId="{54FE70A6-63C1-4E11-969B-F1F522CE7CAE}" dt="2022-10-26T10:33:16.251" v="2565" actId="20577"/>
        <pc:sldMkLst>
          <pc:docMk/>
          <pc:sldMk cId="867654301" sldId="287"/>
        </pc:sldMkLst>
      </pc:sldChg>
      <pc:sldChg chg="addSp delSp modSp new mod">
        <pc:chgData name="Ta Thi Kim Hue" userId="af176dfe-ebe0-47e4-99a4-e0f4d40f7313" providerId="ADAL" clId="{54FE70A6-63C1-4E11-969B-F1F522CE7CAE}" dt="2022-10-26T10:39:45.807" v="2761"/>
        <pc:sldMkLst>
          <pc:docMk/>
          <pc:sldMk cId="4175955957" sldId="288"/>
        </pc:sldMkLst>
      </pc:sldChg>
      <pc:sldChg chg="modSp new mod">
        <pc:chgData name="Ta Thi Kim Hue" userId="af176dfe-ebe0-47e4-99a4-e0f4d40f7313" providerId="ADAL" clId="{54FE70A6-63C1-4E11-969B-F1F522CE7CAE}" dt="2022-10-26T11:54:59.244" v="3312" actId="20577"/>
        <pc:sldMkLst>
          <pc:docMk/>
          <pc:sldMk cId="1578274839" sldId="289"/>
        </pc:sldMkLst>
      </pc:sldChg>
    </pc:docChg>
  </pc:docChgLst>
  <pc:docChgLst>
    <pc:chgData name="Ta Thi Kim Hue" userId="af176dfe-ebe0-47e4-99a4-e0f4d40f7313" providerId="ADAL" clId="{D8389F46-94A8-F748-96B7-34E019055A43}"/>
    <pc:docChg chg="modSld">
      <pc:chgData name="Ta Thi Kim Hue" userId="af176dfe-ebe0-47e4-99a4-e0f4d40f7313" providerId="ADAL" clId="{D8389F46-94A8-F748-96B7-34E019055A43}" dt="2023-03-27T04:53:23.297" v="6" actId="20577"/>
      <pc:docMkLst>
        <pc:docMk/>
      </pc:docMkLst>
      <pc:sldChg chg="modSp">
        <pc:chgData name="Ta Thi Kim Hue" userId="af176dfe-ebe0-47e4-99a4-e0f4d40f7313" providerId="ADAL" clId="{D8389F46-94A8-F748-96B7-34E019055A43}" dt="2023-03-27T04:38:39.915" v="1" actId="20577"/>
        <pc:sldMkLst>
          <pc:docMk/>
          <pc:sldMk cId="790159097" sldId="290"/>
        </pc:sldMkLst>
      </pc:sldChg>
      <pc:sldChg chg="modSp mod">
        <pc:chgData name="Ta Thi Kim Hue" userId="af176dfe-ebe0-47e4-99a4-e0f4d40f7313" providerId="ADAL" clId="{D8389F46-94A8-F748-96B7-34E019055A43}" dt="2023-03-27T04:53:23.297" v="6" actId="20577"/>
        <pc:sldMkLst>
          <pc:docMk/>
          <pc:sldMk cId="1075757312" sldId="291"/>
        </pc:sldMkLst>
      </pc:sldChg>
    </pc:docChg>
  </pc:docChgLst>
  <pc:docChgLst>
    <pc:chgData name="Ta Thi Kim Hue" userId="af176dfe-ebe0-47e4-99a4-e0f4d40f7313" providerId="ADAL" clId="{264C83AA-283C-D342-9895-92F40AF91AE0}"/>
    <pc:docChg chg="undo custSel addSld delSld modSld sldOrd">
      <pc:chgData name="Ta Thi Kim Hue" userId="af176dfe-ebe0-47e4-99a4-e0f4d40f7313" providerId="ADAL" clId="{264C83AA-283C-D342-9895-92F40AF91AE0}" dt="2022-10-03T17:25:56.322" v="351"/>
      <pc:docMkLst>
        <pc:docMk/>
      </pc:docMkLst>
      <pc:sldChg chg="addSp delSp modSp del mod">
        <pc:chgData name="Ta Thi Kim Hue" userId="af176dfe-ebe0-47e4-99a4-e0f4d40f7313" providerId="ADAL" clId="{264C83AA-283C-D342-9895-92F40AF91AE0}" dt="2022-10-03T17:18:29.436" v="204" actId="2696"/>
        <pc:sldMkLst>
          <pc:docMk/>
          <pc:sldMk cId="1234004128" sldId="256"/>
        </pc:sldMkLst>
      </pc:sldChg>
      <pc:sldChg chg="modSp mod">
        <pc:chgData name="Ta Thi Kim Hue" userId="af176dfe-ebe0-47e4-99a4-e0f4d40f7313" providerId="ADAL" clId="{264C83AA-283C-D342-9895-92F40AF91AE0}" dt="2022-10-03T17:16:38.018" v="147" actId="20577"/>
        <pc:sldMkLst>
          <pc:docMk/>
          <pc:sldMk cId="743172911" sldId="25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260"/>
        </pc:sldMkLst>
      </pc:sldChg>
      <pc:sldChg chg="addSp modSp mod">
        <pc:chgData name="Ta Thi Kim Hue" userId="af176dfe-ebe0-47e4-99a4-e0f4d40f7313" providerId="ADAL" clId="{264C83AA-283C-D342-9895-92F40AF91AE0}" dt="2022-10-03T17:24:25.193" v="340"/>
        <pc:sldMkLst>
          <pc:docMk/>
          <pc:sldMk cId="64084651" sldId="261"/>
        </pc:sldMkLst>
      </pc:sldChg>
      <pc:sldChg chg="addSp delSp modSp mod">
        <pc:chgData name="Ta Thi Kim Hue" userId="af176dfe-ebe0-47e4-99a4-e0f4d40f7313" providerId="ADAL" clId="{264C83AA-283C-D342-9895-92F40AF91AE0}" dt="2022-10-03T17:17:47.960" v="181"/>
        <pc:sldMkLst>
          <pc:docMk/>
          <pc:sldMk cId="292364014" sldId="265"/>
        </pc:sldMkLst>
      </pc:sldChg>
      <pc:sldChg chg="addSp modSp mod">
        <pc:chgData name="Ta Thi Kim Hue" userId="af176dfe-ebe0-47e4-99a4-e0f4d40f7313" providerId="ADAL" clId="{264C83AA-283C-D342-9895-92F40AF91AE0}" dt="2022-10-03T17:25:04.447" v="342"/>
        <pc:sldMkLst>
          <pc:docMk/>
          <pc:sldMk cId="2751358436" sldId="266"/>
        </pc:sldMkLst>
      </pc:sldChg>
      <pc:sldChg chg="addSp delSp modSp new mod">
        <pc:chgData name="Ta Thi Kim Hue" userId="af176dfe-ebe0-47e4-99a4-e0f4d40f7313" providerId="ADAL" clId="{264C83AA-283C-D342-9895-92F40AF91AE0}" dt="2022-10-03T17:22:52.601" v="305" actId="1076"/>
        <pc:sldMkLst>
          <pc:docMk/>
          <pc:sldMk cId="4020901606" sldId="270"/>
        </pc:sldMkLst>
      </pc:sldChg>
      <pc:sldChg chg="addSp modSp new mod ord">
        <pc:chgData name="Ta Thi Kim Hue" userId="af176dfe-ebe0-47e4-99a4-e0f4d40f7313" providerId="ADAL" clId="{264C83AA-283C-D342-9895-92F40AF91AE0}" dt="2022-10-03T17:20:54.593" v="233" actId="1076"/>
        <pc:sldMkLst>
          <pc:docMk/>
          <pc:sldMk cId="2807437432" sldId="271"/>
        </pc:sldMkLst>
      </pc:sldChg>
      <pc:sldChg chg="addSp modSp new mod">
        <pc:chgData name="Ta Thi Kim Hue" userId="af176dfe-ebe0-47e4-99a4-e0f4d40f7313" providerId="ADAL" clId="{264C83AA-283C-D342-9895-92F40AF91AE0}" dt="2022-10-03T17:23:58.430" v="338" actId="1076"/>
        <pc:sldMkLst>
          <pc:docMk/>
          <pc:sldMk cId="1774508242" sldId="272"/>
        </pc:sldMkLst>
      </pc:sldChg>
      <pc:sldChg chg="addSp modSp new mod">
        <pc:chgData name="Ta Thi Kim Hue" userId="af176dfe-ebe0-47e4-99a4-e0f4d40f7313" providerId="ADAL" clId="{264C83AA-283C-D342-9895-92F40AF91AE0}" dt="2022-10-03T17:25:56.322" v="351"/>
        <pc:sldMkLst>
          <pc:docMk/>
          <pc:sldMk cId="1132699619" sldId="273"/>
        </pc:sldMkLst>
      </pc:sldChg>
      <pc:sldChg chg="new">
        <pc:chgData name="Ta Thi Kim Hue" userId="af176dfe-ebe0-47e4-99a4-e0f4d40f7313" providerId="ADAL" clId="{264C83AA-283C-D342-9895-92F40AF91AE0}" dt="2022-10-03T17:25:16.831" v="344" actId="680"/>
        <pc:sldMkLst>
          <pc:docMk/>
          <pc:sldMk cId="4272548036" sldId="274"/>
        </pc:sldMkLst>
      </pc:sldChg>
      <pc:sldChg chg="new">
        <pc:chgData name="Ta Thi Kim Hue" userId="af176dfe-ebe0-47e4-99a4-e0f4d40f7313" providerId="ADAL" clId="{264C83AA-283C-D342-9895-92F40AF91AE0}" dt="2022-10-03T17:25:17.017" v="345" actId="680"/>
        <pc:sldMkLst>
          <pc:docMk/>
          <pc:sldMk cId="335698421" sldId="275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060001773" sldId="276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3380892265" sldId="278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1304547031" sldId="27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18593708" sldId="28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337578397" sldId="28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3108746" sldId="2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46532803" sldId="28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101646360" sldId="28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03607449" sldId="28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0685867" sldId="28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922720921" sldId="2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91362886" sldId="29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17542271" sldId="29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49204088" sldId="29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55352288" sldId="2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778974140" sldId="2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213517322" sldId="2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49429688" sldId="29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388174673" sldId="30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30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30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30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30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797568543" sldId="36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4669266" sldId="37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91938231" sldId="38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7858971" sldId="38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49635482" sldId="38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910591289" sldId="386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4286006662" sldId="38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286042638" sldId="38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612275083" sldId="390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265923" sldId="391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13586393" sldId="39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586158768" sldId="39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65284658" sldId="39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82829692" sldId="39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452740296" sldId="396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3376026375" sldId="39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66310507" sldId="39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05019817" sldId="40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623318352" sldId="403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551701239" sldId="404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01196844" sldId="407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1951456656" sldId="40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116260510" sldId="44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80678901" sldId="44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821036190" sldId="447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27079919" sldId="448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622715269" sldId="44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40211018" sldId="45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839962129" sldId="45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253696549" sldId="452"/>
        </pc:sldMkLst>
      </pc:sldChg>
      <pc:sldChg chg="modSp add del mod">
        <pc:chgData name="Ta Thi Kim Hue" userId="af176dfe-ebe0-47e4-99a4-e0f4d40f7313" providerId="ADAL" clId="{264C83AA-283C-D342-9895-92F40AF91AE0}" dt="2022-10-03T17:19:15.893" v="226"/>
        <pc:sldMkLst>
          <pc:docMk/>
          <pc:sldMk cId="2165312837" sldId="45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3500639666" sldId="459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825552731" sldId="460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4093278628" sldId="461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44569391" sldId="462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55274137" sldId="463"/>
        </pc:sldMkLst>
      </pc:sldChg>
      <pc:sldChg chg="modSp 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4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0" sldId="465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1789546242" sldId="466"/>
        </pc:sldMkLst>
      </pc:sldChg>
      <pc:sldChg chg="add del">
        <pc:chgData name="Ta Thi Kim Hue" userId="af176dfe-ebe0-47e4-99a4-e0f4d40f7313" providerId="ADAL" clId="{264C83AA-283C-D342-9895-92F40AF91AE0}" dt="2022-10-03T17:19:15.893" v="226"/>
        <pc:sldMkLst>
          <pc:docMk/>
          <pc:sldMk cId="2997619395" sldId="467"/>
        </pc:sldMkLst>
      </pc:sldChg>
      <pc:sldMasterChg chg="delSldLayout">
        <pc:chgData name="Ta Thi Kim Hue" userId="af176dfe-ebe0-47e4-99a4-e0f4d40f7313" providerId="ADAL" clId="{264C83AA-283C-D342-9895-92F40AF91AE0}" dt="2022-10-03T17:18:29.436" v="204" actId="2696"/>
        <pc:sldMasterMkLst>
          <pc:docMk/>
          <pc:sldMasterMk cId="2819895280" sldId="2147483658"/>
        </pc:sldMasterMkLst>
        <pc:sldLayoutChg chg="del">
          <pc:chgData name="Ta Thi Kim Hue" userId="af176dfe-ebe0-47e4-99a4-e0f4d40f7313" providerId="ADAL" clId="{264C83AA-283C-D342-9895-92F40AF91AE0}" dt="2022-10-03T17:18:29.436" v="204" actId="2696"/>
          <pc:sldLayoutMkLst>
            <pc:docMk/>
            <pc:sldMasterMk cId="2819895280" sldId="2147483658"/>
            <pc:sldLayoutMk cId="678804056" sldId="2147483671"/>
          </pc:sldLayoutMkLst>
        </pc:sldLayoutChg>
      </pc:sldMasterChg>
    </pc:docChg>
  </pc:docChgLst>
  <pc:docChgLst>
    <pc:chgData name="Ta Thi Kim Hue" userId="af176dfe-ebe0-47e4-99a4-e0f4d40f7313" providerId="ADAL" clId="{55F3777B-5B4D-F34F-95EB-4BC4C23D9DFD}"/>
    <pc:docChg chg="custSel addSld modSld sldOrd">
      <pc:chgData name="Ta Thi Kim Hue" userId="af176dfe-ebe0-47e4-99a4-e0f4d40f7313" providerId="ADAL" clId="{55F3777B-5B4D-F34F-95EB-4BC4C23D9DFD}" dt="2022-10-27T01:40:18.176" v="2189" actId="20577"/>
      <pc:docMkLst>
        <pc:docMk/>
      </pc:docMkLst>
      <pc:sldChg chg="modSp mod">
        <pc:chgData name="Ta Thi Kim Hue" userId="af176dfe-ebe0-47e4-99a4-e0f4d40f7313" providerId="ADAL" clId="{55F3777B-5B4D-F34F-95EB-4BC4C23D9DFD}" dt="2022-10-27T00:01:32.045" v="2177" actId="20577"/>
        <pc:sldMkLst>
          <pc:docMk/>
          <pc:sldMk cId="292364014" sldId="265"/>
        </pc:sldMkLst>
      </pc:sldChg>
      <pc:sldChg chg="modSp">
        <pc:chgData name="Ta Thi Kim Hue" userId="af176dfe-ebe0-47e4-99a4-e0f4d40f7313" providerId="ADAL" clId="{55F3777B-5B4D-F34F-95EB-4BC4C23D9DFD}" dt="2022-10-27T01:40:18.176" v="2189" actId="20577"/>
        <pc:sldMkLst>
          <pc:docMk/>
          <pc:sldMk cId="2508839728" sldId="281"/>
        </pc:sldMkLst>
      </pc:sldChg>
      <pc:sldChg chg="modSp mod ord">
        <pc:chgData name="Ta Thi Kim Hue" userId="af176dfe-ebe0-47e4-99a4-e0f4d40f7313" providerId="ADAL" clId="{55F3777B-5B4D-F34F-95EB-4BC4C23D9DFD}" dt="2022-10-26T15:18:56.510" v="604" actId="20578"/>
        <pc:sldMkLst>
          <pc:docMk/>
          <pc:sldMk cId="2256585216" sldId="284"/>
        </pc:sldMkLst>
      </pc:sldChg>
      <pc:sldChg chg="addSp delSp modSp mod">
        <pc:chgData name="Ta Thi Kim Hue" userId="af176dfe-ebe0-47e4-99a4-e0f4d40f7313" providerId="ADAL" clId="{55F3777B-5B4D-F34F-95EB-4BC4C23D9DFD}" dt="2022-10-26T15:07:16.454" v="5" actId="14100"/>
        <pc:sldMkLst>
          <pc:docMk/>
          <pc:sldMk cId="1578274839" sldId="289"/>
        </pc:sldMkLst>
      </pc:sldChg>
      <pc:sldChg chg="addSp modSp new mod">
        <pc:chgData name="Ta Thi Kim Hue" userId="af176dfe-ebe0-47e4-99a4-e0f4d40f7313" providerId="ADAL" clId="{55F3777B-5B4D-F34F-95EB-4BC4C23D9DFD}" dt="2022-10-26T23:49:05.858" v="1607" actId="208"/>
        <pc:sldMkLst>
          <pc:docMk/>
          <pc:sldMk cId="790159097" sldId="290"/>
        </pc:sldMkLst>
      </pc:sldChg>
      <pc:sldChg chg="addSp modSp new mod">
        <pc:chgData name="Ta Thi Kim Hue" userId="af176dfe-ebe0-47e4-99a4-e0f4d40f7313" providerId="ADAL" clId="{55F3777B-5B4D-F34F-95EB-4BC4C23D9DFD}" dt="2022-10-26T23:53:33.178" v="2163" actId="208"/>
        <pc:sldMkLst>
          <pc:docMk/>
          <pc:sldMk cId="1075757312" sldId="291"/>
        </pc:sldMkLst>
      </pc:sldChg>
      <pc:sldChg chg="modSp new mod">
        <pc:chgData name="Ta Thi Kim Hue" userId="af176dfe-ebe0-47e4-99a4-e0f4d40f7313" providerId="ADAL" clId="{55F3777B-5B4D-F34F-95EB-4BC4C23D9DFD}" dt="2022-10-26T15:29:27.696" v="1218" actId="20577"/>
        <pc:sldMkLst>
          <pc:docMk/>
          <pc:sldMk cId="2099988146" sldId="292"/>
        </pc:sldMkLst>
      </pc:sldChg>
      <pc:sldChg chg="addSp delSp modSp new mod ord">
        <pc:chgData name="Ta Thi Kim Hue" userId="af176dfe-ebe0-47e4-99a4-e0f4d40f7313" providerId="ADAL" clId="{55F3777B-5B4D-F34F-95EB-4BC4C23D9DFD}" dt="2022-10-26T23:49:27.646" v="1614" actId="208"/>
        <pc:sldMkLst>
          <pc:docMk/>
          <pc:sldMk cId="2394994378" sldId="293"/>
        </pc:sldMkLst>
      </pc:sldChg>
    </pc:docChg>
  </pc:docChgLst>
  <pc:docChgLst>
    <pc:chgData name="hue.tathikim@hust.edu.vn" userId="af176dfe-ebe0-47e4-99a4-e0f4d40f7313" providerId="ADAL" clId="{1F4E8022-28B5-4CB1-ADE6-2FBE4A23408A}"/>
    <pc:docChg chg="undo custSel addSld modSld">
      <pc:chgData name="hue.tathikim@hust.edu.vn" userId="af176dfe-ebe0-47e4-99a4-e0f4d40f7313" providerId="ADAL" clId="{1F4E8022-28B5-4CB1-ADE6-2FBE4A23408A}" dt="2022-10-12T04:36:37.739" v="1747" actId="20577"/>
      <pc:docMkLst>
        <pc:docMk/>
      </pc:docMkLst>
      <pc:sldChg chg="addSp modSp mod">
        <pc:chgData name="hue.tathikim@hust.edu.vn" userId="af176dfe-ebe0-47e4-99a4-e0f4d40f7313" providerId="ADAL" clId="{1F4E8022-28B5-4CB1-ADE6-2FBE4A23408A}" dt="2022-10-12T04:00:05.410" v="732" actId="14100"/>
        <pc:sldMkLst>
          <pc:docMk/>
          <pc:sldMk cId="757369366" sldId="266"/>
        </pc:sldMkLst>
      </pc:sldChg>
      <pc:sldChg chg="modSp new mod">
        <pc:chgData name="hue.tathikim@hust.edu.vn" userId="af176dfe-ebe0-47e4-99a4-e0f4d40f7313" providerId="ADAL" clId="{1F4E8022-28B5-4CB1-ADE6-2FBE4A23408A}" dt="2022-10-12T04:36:37.739" v="1747" actId="20577"/>
        <pc:sldMkLst>
          <pc:docMk/>
          <pc:sldMk cId="3057768725" sldId="273"/>
        </pc:sldMkLst>
      </pc:sldChg>
      <pc:sldChg chg="modSp new mod">
        <pc:chgData name="hue.tathikim@hust.edu.vn" userId="af176dfe-ebe0-47e4-99a4-e0f4d40f7313" providerId="ADAL" clId="{1F4E8022-28B5-4CB1-ADE6-2FBE4A23408A}" dt="2022-10-12T04:19:56.837" v="734"/>
        <pc:sldMkLst>
          <pc:docMk/>
          <pc:sldMk cId="4153716864" sldId="274"/>
        </pc:sldMkLst>
      </pc:sldChg>
      <pc:sldChg chg="new">
        <pc:chgData name="hue.tathikim@hust.edu.vn" userId="af176dfe-ebe0-47e4-99a4-e0f4d40f7313" providerId="ADAL" clId="{1F4E8022-28B5-4CB1-ADE6-2FBE4A23408A}" dt="2022-10-12T03:58:00.914" v="625" actId="680"/>
        <pc:sldMkLst>
          <pc:docMk/>
          <pc:sldMk cId="3928681518" sldId="275"/>
        </pc:sldMkLst>
      </pc:sldChg>
    </pc:docChg>
  </pc:docChgLst>
  <pc:docChgLst>
    <pc:chgData name="Ta Thi Kim Hue" userId="af176dfe-ebe0-47e4-99a4-e0f4d40f7313" providerId="ADAL" clId="{5102A2D8-25C3-D74E-A8BD-F4891B6EF312}"/>
    <pc:docChg chg="custSel addSld modSld">
      <pc:chgData name="Ta Thi Kim Hue" userId="af176dfe-ebe0-47e4-99a4-e0f4d40f7313" providerId="ADAL" clId="{5102A2D8-25C3-D74E-A8BD-F4891B6EF312}" dt="2022-11-02T16:47:39.804" v="174" actId="20577"/>
      <pc:docMkLst>
        <pc:docMk/>
      </pc:docMkLst>
      <pc:sldChg chg="addSp modSp mod modAnim">
        <pc:chgData name="Ta Thi Kim Hue" userId="af176dfe-ebe0-47e4-99a4-e0f4d40f7313" providerId="ADAL" clId="{5102A2D8-25C3-D74E-A8BD-F4891B6EF312}" dt="2022-11-02T10:50:01.940" v="10" actId="20577"/>
        <pc:sldMkLst>
          <pc:docMk/>
          <pc:sldMk cId="4175955957" sldId="288"/>
        </pc:sldMkLst>
      </pc:sldChg>
      <pc:sldChg chg="modSp new mod">
        <pc:chgData name="Ta Thi Kim Hue" userId="af176dfe-ebe0-47e4-99a4-e0f4d40f7313" providerId="ADAL" clId="{5102A2D8-25C3-D74E-A8BD-F4891B6EF312}" dt="2022-11-02T16:47:39.804" v="174" actId="20577"/>
        <pc:sldMkLst>
          <pc:docMk/>
          <pc:sldMk cId="1259703148" sldId="294"/>
        </pc:sldMkLst>
      </pc:sldChg>
    </pc:docChg>
  </pc:docChgLst>
  <pc:docChgLst>
    <pc:chgData name="Tạ Thị Kim Huệ" userId="af176dfe-ebe0-47e4-99a4-e0f4d40f7313" providerId="ADAL" clId="{3735EEED-C67F-6D47-AA8E-0D89746A4696}"/>
    <pc:docChg chg="modSld">
      <pc:chgData name="Tạ Thị Kim Huệ" userId="af176dfe-ebe0-47e4-99a4-e0f4d40f7313" providerId="ADAL" clId="{3735EEED-C67F-6D47-AA8E-0D89746A4696}" dt="2025-03-04T08:16:32.173" v="115"/>
      <pc:docMkLst>
        <pc:docMk/>
      </pc:docMkLst>
      <pc:sldChg chg="modSp mod">
        <pc:chgData name="Tạ Thị Kim Huệ" userId="af176dfe-ebe0-47e4-99a4-e0f4d40f7313" providerId="ADAL" clId="{3735EEED-C67F-6D47-AA8E-0D89746A4696}" dt="2025-03-04T08:16:32.173" v="115"/>
        <pc:sldMkLst>
          <pc:docMk/>
          <pc:sldMk cId="1259703148" sldId="294"/>
        </pc:sldMkLst>
        <pc:spChg chg="mod">
          <ac:chgData name="Tạ Thị Kim Huệ" userId="af176dfe-ebe0-47e4-99a4-e0f4d40f7313" providerId="ADAL" clId="{3735EEED-C67F-6D47-AA8E-0D89746A4696}" dt="2025-03-04T08:16:32.173" v="115"/>
          <ac:spMkLst>
            <pc:docMk/>
            <pc:sldMk cId="1259703148" sldId="294"/>
            <ac:spMk id="4" creationId="{346A1D85-CA76-7862-5C17-5D6D73EF555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650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4727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5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Venona</a:t>
            </a:r>
            <a:r>
              <a:rPr lang="en-US" dirty="0"/>
              <a:t>:</a:t>
            </a:r>
            <a:r>
              <a:rPr lang="en-US" baseline="0" dirty="0"/>
              <a:t>   soviet messages sent from 1941 to 1946, decrypted about 3000 messages.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121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Bob:   42 6F  62      ,    Eve:   45 76 65    ,     Bob ⊕ Eve</a:t>
            </a:r>
            <a:r>
              <a:rPr lang="en-US" baseline="0" dirty="0"/>
              <a:t>:  07 19 07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F38DAD-5F37-4EA5-A798-26ED1E453939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3949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3/4/25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CFE4B-17F2-49B1-A8CD-48A7230178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3/4/25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43A558-56C3-499B-89A2-59E5853E6BB4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35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2" r:id="rId2"/>
    <p:sldLayoutId id="2147483673" r:id="rId3"/>
    <p:sldLayoutId id="214748367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31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0.png"/><Relationship Id="rId5" Type="http://schemas.openxmlformats.org/officeDocument/2006/relationships/image" Target="../media/image6.png"/><Relationship Id="rId10" Type="http://schemas.openxmlformats.org/officeDocument/2006/relationships/image" Target="../media/image281.png"/><Relationship Id="rId4" Type="http://schemas.openxmlformats.org/officeDocument/2006/relationships/image" Target="../media/image7.png"/><Relationship Id="rId9" Type="http://schemas.openxmlformats.org/officeDocument/2006/relationships/image" Target="../media/image27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6355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 descr="Text&#10;&#10;Description automatically generated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12" y="317038"/>
            <a:ext cx="2576374" cy="936215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LÝ THUYẾT MẬT MÃ </a:t>
            </a: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TS. TẠ KIM HUỆ </a:t>
            </a:r>
          </a:p>
          <a:p>
            <a:r>
              <a:rPr lang="en-US" sz="2800" b="0" dirty="0"/>
              <a:t>TRƯỜNG ĐIỆN – ĐIỆN TỬ </a:t>
            </a:r>
          </a:p>
          <a:p>
            <a:endParaRPr lang="en-US" sz="2800" b="0" dirty="0"/>
          </a:p>
          <a:p>
            <a:endParaRPr lang="en-US" sz="2800" b="0" dirty="0"/>
          </a:p>
          <a:p>
            <a:endParaRPr lang="en-US" sz="28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CHƯƠNG 2: MẬT MÃ KHOÁ ĐỐI XỨNG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</a:p>
          <a:p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</a:p>
          <a:p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D952B0-5075-A0BB-A686-3BBBBFE3E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853E6F-8EDB-0EE5-41A7-59EDFF72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remember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7BD8C2-52C5-684D-5E6D-154F49E81B2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6" y="689329"/>
            <a:ext cx="8689707" cy="5479342"/>
          </a:xfrm>
        </p:spPr>
        <p:txBody>
          <a:bodyPr/>
          <a:lstStyle/>
          <a:p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là</a:t>
            </a:r>
            <a:r>
              <a:rPr lang="en-US" sz="2400" dirty="0"/>
              <a:t>:</a:t>
            </a:r>
          </a:p>
          <a:p>
            <a:pPr lvl="1"/>
            <a:r>
              <a:rPr lang="en-US" dirty="0"/>
              <a:t>A tremendous tool :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cụ</a:t>
            </a:r>
            <a:r>
              <a:rPr lang="en-US" dirty="0"/>
              <a:t> </a:t>
            </a:r>
            <a:r>
              <a:rPr lang="en-US" dirty="0" err="1"/>
              <a:t>mạnh</a:t>
            </a:r>
            <a:endParaRPr lang="en-US" dirty="0"/>
          </a:p>
          <a:p>
            <a:pPr lvl="1"/>
            <a:r>
              <a:rPr lang="en-US" dirty="0"/>
              <a:t>The basis for many security mechanisms: </a:t>
            </a:r>
            <a:r>
              <a:rPr lang="en-US" dirty="0" err="1"/>
              <a:t>cội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rất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kỹ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khác</a:t>
            </a:r>
            <a:endParaRPr lang="en-US" dirty="0"/>
          </a:p>
          <a:p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học</a:t>
            </a:r>
            <a:r>
              <a:rPr lang="en-US" sz="2400" dirty="0"/>
              <a:t> </a:t>
            </a:r>
            <a:r>
              <a:rPr lang="en-US" sz="2400" dirty="0" err="1"/>
              <a:t>không</a:t>
            </a:r>
            <a:r>
              <a:rPr lang="en-US" sz="2400" dirty="0"/>
              <a:t>:</a:t>
            </a:r>
          </a:p>
          <a:p>
            <a:pPr lvl="1"/>
            <a:r>
              <a:rPr lang="en-US" dirty="0"/>
              <a:t>The solution to all security problems: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Reliable unless implemented and used properly: </a:t>
            </a:r>
            <a:r>
              <a:rPr lang="en-US" dirty="0" err="1"/>
              <a:t>đáng</a:t>
            </a:r>
            <a:r>
              <a:rPr lang="en-US" dirty="0"/>
              <a:t> tin </a:t>
            </a:r>
            <a:r>
              <a:rPr lang="en-US" dirty="0" err="1"/>
              <a:t>cậy</a:t>
            </a:r>
            <a:r>
              <a:rPr lang="en-US" dirty="0"/>
              <a:t> </a:t>
            </a:r>
            <a:r>
              <a:rPr lang="en-US" dirty="0" err="1"/>
              <a:t>trừ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thi</a:t>
            </a:r>
            <a:r>
              <a:rPr lang="en-US" dirty="0"/>
              <a:t> </a:t>
            </a:r>
            <a:r>
              <a:rPr lang="en-US" dirty="0" err="1"/>
              <a:t>đúng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 </a:t>
            </a:r>
          </a:p>
          <a:p>
            <a:r>
              <a:rPr lang="en-US" sz="2400" dirty="0" err="1"/>
              <a:t>Tự</a:t>
            </a:r>
            <a:r>
              <a:rPr lang="en-US" sz="2400" dirty="0"/>
              <a:t> </a:t>
            </a:r>
            <a:r>
              <a:rPr lang="en-US" sz="2400" dirty="0" err="1"/>
              <a:t>sáng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hệ</a:t>
            </a:r>
            <a:r>
              <a:rPr lang="en-US" sz="2400" dirty="0"/>
              <a:t> </a:t>
            </a:r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riêng</a:t>
            </a:r>
            <a:r>
              <a:rPr lang="en-US" sz="2400" dirty="0"/>
              <a:t> </a:t>
            </a:r>
            <a:r>
              <a:rPr lang="en-US" sz="2400" dirty="0" err="1"/>
              <a:t>bạn</a:t>
            </a:r>
            <a:endParaRPr lang="en-US" sz="2400" dirty="0"/>
          </a:p>
          <a:p>
            <a:pPr lvl="1"/>
            <a:r>
              <a:rPr lang="en-US" dirty="0"/>
              <a:t>many many examples of broken ad-hoc design</a:t>
            </a:r>
          </a:p>
          <a:p>
            <a:r>
              <a:rPr lang="en-US" sz="2400" dirty="0"/>
              <a:t>Encryption algorithm is publicly known -&gt; </a:t>
            </a:r>
            <a:r>
              <a:rPr lang="en-US" sz="2400" dirty="0" err="1"/>
              <a:t>Thuật</a:t>
            </a:r>
            <a:r>
              <a:rPr lang="en-US" sz="2400" dirty="0"/>
              <a:t> </a:t>
            </a:r>
            <a:r>
              <a:rPr lang="en-US" sz="2400" dirty="0" err="1"/>
              <a:t>toán</a:t>
            </a:r>
            <a:r>
              <a:rPr lang="en-US" sz="2400" dirty="0"/>
              <a:t> </a:t>
            </a:r>
            <a:r>
              <a:rPr lang="en-US" sz="2400" dirty="0" err="1"/>
              <a:t>mật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luôn</a:t>
            </a:r>
            <a:r>
              <a:rPr lang="en-US" sz="2400" dirty="0"/>
              <a:t> </a:t>
            </a:r>
            <a:r>
              <a:rPr lang="en-US" sz="2400" dirty="0" err="1"/>
              <a:t>công</a:t>
            </a:r>
            <a:r>
              <a:rPr lang="en-US" sz="2400" dirty="0"/>
              <a:t> </a:t>
            </a:r>
            <a:r>
              <a:rPr lang="en-US" sz="2400" dirty="0" err="1"/>
              <a:t>khai</a:t>
            </a:r>
            <a:r>
              <a:rPr lang="en-US" sz="2400" dirty="0"/>
              <a:t> -&gt;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sử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loại</a:t>
            </a:r>
            <a:r>
              <a:rPr lang="en-US" sz="2400" dirty="0"/>
              <a:t> </a:t>
            </a:r>
            <a:r>
              <a:rPr lang="en-US" sz="2400" dirty="0" err="1"/>
              <a:t>mã</a:t>
            </a:r>
            <a:r>
              <a:rPr lang="en-US" sz="2400" dirty="0"/>
              <a:t> </a:t>
            </a:r>
            <a:r>
              <a:rPr lang="en-US" sz="2400" dirty="0" err="1"/>
              <a:t>độc</a:t>
            </a:r>
            <a:r>
              <a:rPr lang="en-US" sz="2400" dirty="0"/>
              <a:t> </a:t>
            </a:r>
            <a:r>
              <a:rPr lang="en-US" sz="2400" dirty="0" err="1"/>
              <a:t>quyền</a:t>
            </a:r>
            <a:r>
              <a:rPr lang="en-US" sz="2400" dirty="0"/>
              <a:t> (Never use a proprietary cipher)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3064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35DF3B-7CB7-34C7-2032-782CEB892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A688EE-1F79-7CFC-4CD4-281B04E1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Mật mã học ứng dụng ở khắp mọi nơi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31E31-4D1A-A2CA-957D-7CE2D034111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mật</a:t>
            </a:r>
            <a:r>
              <a:rPr lang="en-US" b="1" dirty="0"/>
              <a:t> </a:t>
            </a:r>
            <a:r>
              <a:rPr lang="en-US" b="1" dirty="0" err="1"/>
              <a:t>truyền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(Secure communication)</a:t>
            </a:r>
            <a:r>
              <a:rPr lang="en-US" dirty="0"/>
              <a:t>:</a:t>
            </a:r>
          </a:p>
          <a:p>
            <a:pPr lvl="1"/>
            <a:r>
              <a:rPr lang="en-US" sz="2000" dirty="0"/>
              <a:t>web traffic:    HTTPS</a:t>
            </a:r>
          </a:p>
          <a:p>
            <a:pPr lvl="1"/>
            <a:r>
              <a:rPr lang="en-US" sz="2000" dirty="0"/>
              <a:t>wireless traffic:    802.11i WPA2 </a:t>
            </a:r>
            <a:r>
              <a:rPr lang="en-US" sz="1600" dirty="0"/>
              <a:t>(and WEP)</a:t>
            </a:r>
            <a:r>
              <a:rPr lang="en-US" sz="2000" dirty="0"/>
              <a:t>,   GSM,   Bluetooth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b="1" dirty="0" err="1"/>
              <a:t>Mã</a:t>
            </a:r>
            <a:r>
              <a:rPr lang="en-US" b="1" dirty="0"/>
              <a:t> </a:t>
            </a:r>
            <a:r>
              <a:rPr lang="en-US" b="1" dirty="0" err="1"/>
              <a:t>hóa</a:t>
            </a:r>
            <a:r>
              <a:rPr lang="en-US" b="1" dirty="0"/>
              <a:t> file (Encrypting files on disk)</a:t>
            </a:r>
            <a:r>
              <a:rPr lang="en-US" dirty="0"/>
              <a:t>:    EFS,  TrueCrypt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b="1" dirty="0" err="1"/>
              <a:t>Bảo</a:t>
            </a:r>
            <a:r>
              <a:rPr lang="en-US" b="1" dirty="0"/>
              <a:t> </a:t>
            </a:r>
            <a:r>
              <a:rPr lang="en-US" b="1" dirty="0" err="1"/>
              <a:t>vệ</a:t>
            </a:r>
            <a:r>
              <a:rPr lang="en-US" b="1" dirty="0"/>
              <a:t> </a:t>
            </a:r>
            <a:r>
              <a:rPr lang="en-US" b="1" dirty="0" err="1"/>
              <a:t>nội</a:t>
            </a:r>
            <a:r>
              <a:rPr lang="en-US" b="1" dirty="0"/>
              <a:t> dung (Content protection)  </a:t>
            </a:r>
            <a:r>
              <a:rPr lang="en-US" dirty="0"/>
              <a:t>(e.g. DVD, Blu-ray):    CSS,  AACS  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b="1" dirty="0" err="1"/>
              <a:t>Xác</a:t>
            </a:r>
            <a:r>
              <a:rPr lang="en-US" b="1" dirty="0"/>
              <a:t> </a:t>
            </a:r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người</a:t>
            </a:r>
            <a:r>
              <a:rPr lang="en-US" b="1" dirty="0"/>
              <a:t> </a:t>
            </a:r>
            <a:r>
              <a:rPr lang="en-US" b="1" dirty="0" err="1"/>
              <a:t>dùng</a:t>
            </a:r>
            <a:r>
              <a:rPr lang="en-US" b="1" dirty="0"/>
              <a:t> (User authentication)</a:t>
            </a:r>
          </a:p>
          <a:p>
            <a:pPr marL="0" indent="0">
              <a:spcBef>
                <a:spcPts val="2376"/>
              </a:spcBef>
              <a:buNone/>
            </a:pPr>
            <a:r>
              <a:rPr lang="en-US" dirty="0"/>
              <a:t>…   and much much more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269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CBA8A4-987C-CE08-9E36-9DA2A273C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7581DD-F918-8332-280F-CEEA1DB9A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Mật mã học ứng dụng ở khắp mọi nơi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803506-E3EB-3C7A-E54B-CADE938C3CA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686711"/>
            <a:ext cx="8674100" cy="5303393"/>
          </a:xfrm>
        </p:spPr>
        <p:txBody>
          <a:bodyPr/>
          <a:lstStyle/>
          <a:p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(Digital signatures)</a:t>
            </a:r>
          </a:p>
          <a:p>
            <a:r>
              <a:rPr lang="en-US" dirty="0"/>
              <a:t>Giao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ẩn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(Anonymous communication)</a:t>
            </a:r>
          </a:p>
          <a:p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ẩn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(Anonymous </a:t>
            </a:r>
            <a:r>
              <a:rPr lang="en-US" b="1" dirty="0"/>
              <a:t>digital</a:t>
            </a:r>
            <a:r>
              <a:rPr lang="en-US" dirty="0"/>
              <a:t> cash) </a:t>
            </a:r>
          </a:p>
          <a:p>
            <a:pPr lvl="1"/>
            <a:r>
              <a:rPr lang="en-US" sz="2000" dirty="0"/>
              <a:t>Can I spend a “digital coin” without anyone knowing who I am?</a:t>
            </a:r>
          </a:p>
          <a:p>
            <a:pPr lvl="1"/>
            <a:r>
              <a:rPr lang="en-US" sz="2000" dirty="0"/>
              <a:t>How to prevent double spending?</a:t>
            </a:r>
          </a:p>
          <a:p>
            <a:endParaRPr lang="en-VN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BA47C47-8180-B3B1-2DD8-4A4062EE3ACC}"/>
              </a:ext>
            </a:extLst>
          </p:cNvPr>
          <p:cNvGrpSpPr/>
          <p:nvPr/>
        </p:nvGrpSpPr>
        <p:grpSpPr>
          <a:xfrm>
            <a:off x="6053143" y="3010983"/>
            <a:ext cx="2209800" cy="1675248"/>
            <a:chOff x="5486400" y="895350"/>
            <a:chExt cx="1828800" cy="25908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51C20BC-FFF8-1B6B-1871-C08E0C878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62600" y="1047750"/>
              <a:ext cx="1676400" cy="1788160"/>
            </a:xfrm>
            <a:prstGeom prst="rect">
              <a:avLst/>
            </a:prstGeom>
          </p:spPr>
        </p:pic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32B98F4C-EBF2-4787-15E5-B3DAE0C2A3D0}"/>
                </a:ext>
              </a:extLst>
            </p:cNvPr>
            <p:cNvSpPr/>
            <p:nvPr/>
          </p:nvSpPr>
          <p:spPr>
            <a:xfrm>
              <a:off x="5715000" y="2724150"/>
              <a:ext cx="1371600" cy="53340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Alice signature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9AFD3CD-EB6B-09CD-078F-31C0DD7BC350}"/>
                </a:ext>
              </a:extLst>
            </p:cNvPr>
            <p:cNvSpPr/>
            <p:nvPr/>
          </p:nvSpPr>
          <p:spPr>
            <a:xfrm>
              <a:off x="5486400" y="895350"/>
              <a:ext cx="1828800" cy="25908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C43FA0B-DEB9-608E-0797-18658320A2F7}"/>
              </a:ext>
            </a:extLst>
          </p:cNvPr>
          <p:cNvGrpSpPr/>
          <p:nvPr/>
        </p:nvGrpSpPr>
        <p:grpSpPr>
          <a:xfrm>
            <a:off x="1013791" y="3350275"/>
            <a:ext cx="3188042" cy="1761836"/>
            <a:chOff x="61000" y="3105150"/>
            <a:chExt cx="4511991" cy="17618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F88FD8CC-178C-08F9-9CED-B295D551D2E0}"/>
                </a:ext>
              </a:extLst>
            </p:cNvPr>
            <p:cNvGrpSpPr/>
            <p:nvPr/>
          </p:nvGrpSpPr>
          <p:grpSpPr>
            <a:xfrm>
              <a:off x="61000" y="3856309"/>
              <a:ext cx="1410068" cy="990600"/>
              <a:chOff x="3984679" y="1113109"/>
              <a:chExt cx="1410068" cy="99060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EF3E4558-EA6B-7AB5-D333-87A4670C72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 flipH="1">
                <a:off x="3984679" y="1113109"/>
                <a:ext cx="1410068" cy="9906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6DEFF63-FD68-CA71-6376-1DDF7B1A3B1B}"/>
                  </a:ext>
                </a:extLst>
              </p:cNvPr>
              <p:cNvSpPr txBox="1"/>
              <p:nvPr/>
            </p:nvSpPr>
            <p:spPr>
              <a:xfrm>
                <a:off x="4343400" y="1200151"/>
                <a:ext cx="6366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Alice</a:t>
                </a:r>
              </a:p>
            </p:txBody>
          </p:sp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13E007B-56B3-7E8C-E5CC-F2A569C815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3496250" y="3943350"/>
              <a:ext cx="1076740" cy="923636"/>
            </a:xfrm>
            <a:prstGeom prst="rect">
              <a:avLst/>
            </a:prstGeom>
          </p:spPr>
        </p:pic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E3A26DA-38C7-AE46-3F0D-32E08F01A9F1}"/>
                </a:ext>
              </a:extLst>
            </p:cNvPr>
            <p:cNvCxnSpPr/>
            <p:nvPr/>
          </p:nvCxnSpPr>
          <p:spPr>
            <a:xfrm flipH="1">
              <a:off x="1524990" y="4400550"/>
              <a:ext cx="1600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C078524-8857-657E-3182-C6912A9E88D3}"/>
                </a:ext>
              </a:extLst>
            </p:cNvPr>
            <p:cNvCxnSpPr/>
            <p:nvPr/>
          </p:nvCxnSpPr>
          <p:spPr>
            <a:xfrm>
              <a:off x="1524990" y="4171950"/>
              <a:ext cx="1600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Cloud Callout 13">
              <a:extLst>
                <a:ext uri="{FF2B5EF4-FFF2-40B4-BE49-F238E27FC236}">
                  <a16:creationId xmlns:a16="http://schemas.microsoft.com/office/drawing/2014/main" id="{1CDECE08-D554-BD3F-5077-4CE70BBF5653}"/>
                </a:ext>
              </a:extLst>
            </p:cNvPr>
            <p:cNvSpPr/>
            <p:nvPr/>
          </p:nvSpPr>
          <p:spPr>
            <a:xfrm>
              <a:off x="1524990" y="3105150"/>
              <a:ext cx="3048001" cy="609600"/>
            </a:xfrm>
            <a:prstGeom prst="cloudCallout">
              <a:avLst>
                <a:gd name="adj1" fmla="val 18642"/>
                <a:gd name="adj2" fmla="val 97917"/>
              </a:avLst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rgbClr val="000090"/>
                  </a:solidFill>
                </a:rPr>
                <a:t>Who did I </a:t>
              </a:r>
              <a:br>
                <a:rPr lang="en-US" sz="1600" dirty="0">
                  <a:solidFill>
                    <a:srgbClr val="000090"/>
                  </a:solidFill>
                </a:rPr>
              </a:br>
              <a:r>
                <a:rPr lang="en-US" sz="1600" dirty="0">
                  <a:solidFill>
                    <a:srgbClr val="000090"/>
                  </a:solidFill>
                </a:rPr>
                <a:t>just talk to?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0CB2802-A55C-0910-7DBB-E61DDAB8893C}"/>
                </a:ext>
              </a:extLst>
            </p:cNvPr>
            <p:cNvSpPr txBox="1"/>
            <p:nvPr/>
          </p:nvSpPr>
          <p:spPr>
            <a:xfrm>
              <a:off x="3931206" y="4113574"/>
              <a:ext cx="51228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Bob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7371E4-86CB-2429-A4B1-6122AD213C42}"/>
              </a:ext>
            </a:extLst>
          </p:cNvPr>
          <p:cNvGrpSpPr/>
          <p:nvPr/>
        </p:nvGrpSpPr>
        <p:grpSpPr>
          <a:xfrm>
            <a:off x="3642161" y="5499595"/>
            <a:ext cx="1076739" cy="990600"/>
            <a:chOff x="4038600" y="1123950"/>
            <a:chExt cx="1076739" cy="990600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DE9143C-5FB7-D4D2-5D4A-2C0097803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4038600" y="1123950"/>
              <a:ext cx="1076739" cy="990600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18E9AA-917D-4E6A-0E1E-B857ED3B7C65}"/>
                </a:ext>
              </a:extLst>
            </p:cNvPr>
            <p:cNvSpPr txBox="1"/>
            <p:nvPr/>
          </p:nvSpPr>
          <p:spPr>
            <a:xfrm>
              <a:off x="4343400" y="1200150"/>
              <a:ext cx="6366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Alice</a:t>
              </a: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A9FACDF3-1FBD-0F85-4684-4DFD7F1AA4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561" y="5518645"/>
            <a:ext cx="672370" cy="74295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88BC5F6-3E67-18F1-D238-8B9022C0DC0F}"/>
              </a:ext>
            </a:extLst>
          </p:cNvPr>
          <p:cNvCxnSpPr/>
          <p:nvPr/>
        </p:nvCxnSpPr>
        <p:spPr>
          <a:xfrm>
            <a:off x="4785161" y="5975845"/>
            <a:ext cx="12192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loud Callout 13">
            <a:extLst>
              <a:ext uri="{FF2B5EF4-FFF2-40B4-BE49-F238E27FC236}">
                <a16:creationId xmlns:a16="http://schemas.microsoft.com/office/drawing/2014/main" id="{47D86822-113A-F41C-B15E-1B2FCFB45A19}"/>
              </a:ext>
            </a:extLst>
          </p:cNvPr>
          <p:cNvSpPr/>
          <p:nvPr/>
        </p:nvSpPr>
        <p:spPr>
          <a:xfrm>
            <a:off x="6842561" y="5366245"/>
            <a:ext cx="1447800" cy="609600"/>
          </a:xfrm>
          <a:prstGeom prst="cloudCallout">
            <a:avLst>
              <a:gd name="adj1" fmla="val -65569"/>
              <a:gd name="adj2" fmla="val 72917"/>
            </a:avLst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0090"/>
                </a:solidFill>
              </a:rPr>
              <a:t>Who was that?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B40D07-6B65-BDC9-1D6C-F5E1198039D1}"/>
              </a:ext>
            </a:extLst>
          </p:cNvPr>
          <p:cNvSpPr txBox="1"/>
          <p:nvPr/>
        </p:nvSpPr>
        <p:spPr>
          <a:xfrm>
            <a:off x="4897854" y="5671045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Internet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25A407F-E1AC-A113-0A53-62E656B2136F}"/>
              </a:ext>
            </a:extLst>
          </p:cNvPr>
          <p:cNvGrpSpPr/>
          <p:nvPr/>
        </p:nvGrpSpPr>
        <p:grpSpPr>
          <a:xfrm>
            <a:off x="2956361" y="5442445"/>
            <a:ext cx="798713" cy="914400"/>
            <a:chOff x="1371600" y="4152900"/>
            <a:chExt cx="798713" cy="914400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3499D7E8-3C00-BF02-7CBF-FC89CDDDB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24000" y="4400550"/>
              <a:ext cx="646313" cy="66675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E122FC07-EC33-3854-A42E-4314976A371E}"/>
                </a:ext>
              </a:extLst>
            </p:cNvPr>
            <p:cNvSpPr txBox="1"/>
            <p:nvPr/>
          </p:nvSpPr>
          <p:spPr>
            <a:xfrm>
              <a:off x="1371600" y="4152900"/>
              <a:ext cx="4966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1$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6BFFD23E-1936-B6CD-DF7F-6DF4B65D241F}"/>
              </a:ext>
            </a:extLst>
          </p:cNvPr>
          <p:cNvSpPr txBox="1"/>
          <p:nvPr/>
        </p:nvSpPr>
        <p:spPr>
          <a:xfrm>
            <a:off x="4708961" y="5916691"/>
            <a:ext cx="14039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(anon. comm.)</a:t>
            </a:r>
          </a:p>
        </p:txBody>
      </p:sp>
    </p:spTree>
    <p:extLst>
      <p:ext uri="{BB962C8B-B14F-4D97-AF65-F5344CB8AC3E}">
        <p14:creationId xmlns:p14="http://schemas.microsoft.com/office/powerpoint/2010/main" val="265493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4.81481E-6 L 0.30643 4.81481E-6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3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38A415-B5A2-550C-C393-38CFE1560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96C34FD-3D44-8B6F-B980-2EC5177E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78613"/>
            <a:ext cx="8673846" cy="1038987"/>
          </a:xfrm>
        </p:spPr>
        <p:txBody>
          <a:bodyPr/>
          <a:lstStyle/>
          <a:p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42FA7-40A9-E4B1-3619-26B9C121CC5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8"/>
            <a:ext cx="8674100" cy="2020486"/>
          </a:xfrm>
        </p:spPr>
        <p:txBody>
          <a:bodyPr/>
          <a:lstStyle/>
          <a:p>
            <a:r>
              <a:rPr lang="en-US" dirty="0" err="1"/>
              <a:t>Bầu</a:t>
            </a:r>
            <a:r>
              <a:rPr lang="en-US" dirty="0"/>
              <a:t> </a:t>
            </a:r>
            <a:r>
              <a:rPr lang="en-US" dirty="0" err="1"/>
              <a:t>cử</a:t>
            </a:r>
            <a:r>
              <a:rPr lang="en-US" dirty="0"/>
              <a:t> (Elections)</a:t>
            </a:r>
          </a:p>
          <a:p>
            <a:r>
              <a:rPr lang="en-US" dirty="0" err="1"/>
              <a:t>Đấu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riêng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(Private auctions)</a:t>
            </a:r>
          </a:p>
          <a:p>
            <a:r>
              <a:rPr lang="en-US" dirty="0"/>
              <a:t>Auction winner = [the highest bidder, pays the 2</a:t>
            </a:r>
            <a:r>
              <a:rPr lang="en-US" baseline="30000" dirty="0"/>
              <a:t>nd</a:t>
            </a:r>
            <a:r>
              <a:rPr lang="en-US" dirty="0"/>
              <a:t> highest bit ]</a:t>
            </a:r>
          </a:p>
          <a:p>
            <a:pPr marL="0" indent="0">
              <a:buNone/>
            </a:pP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DE0BBF-C281-EA65-250C-AC89905A0186}"/>
              </a:ext>
            </a:extLst>
          </p:cNvPr>
          <p:cNvGrpSpPr/>
          <p:nvPr/>
        </p:nvGrpSpPr>
        <p:grpSpPr>
          <a:xfrm>
            <a:off x="1778000" y="3115734"/>
            <a:ext cx="4572000" cy="2287440"/>
            <a:chOff x="3886200" y="1047750"/>
            <a:chExt cx="4572000" cy="22874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58ACA0B-40B9-9EA8-B381-B8CFBF0AF5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886200" y="1422400"/>
              <a:ext cx="371355" cy="6921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CE31338-7B45-5EB5-063D-35A1506107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610100" y="1422400"/>
              <a:ext cx="371355" cy="6921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97FAEC5-D3B5-1E04-05E1-E9D853320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334000" y="1422400"/>
              <a:ext cx="371355" cy="6921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8C594CE-2E3B-B305-D5DF-77CEA2789F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57900" y="1422400"/>
              <a:ext cx="371355" cy="6921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26BFC73-E249-87D8-818D-3717FA4877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781800" y="1422400"/>
              <a:ext cx="371355" cy="6921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ABA3A8D-0B73-102B-8C98-1D6F8EBD3129}"/>
                </a:ext>
              </a:extLst>
            </p:cNvPr>
            <p:cNvSpPr txBox="1"/>
            <p:nvPr/>
          </p:nvSpPr>
          <p:spPr>
            <a:xfrm>
              <a:off x="4981455" y="2631618"/>
              <a:ext cx="990600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Election </a:t>
              </a:r>
            </a:p>
            <a:p>
              <a:r>
                <a:rPr lang="en-US" dirty="0"/>
                <a:t>Center 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B700220-2F57-DA8C-DC53-B312B3CA37A7}"/>
                </a:ext>
              </a:extLst>
            </p:cNvPr>
            <p:cNvCxnSpPr>
              <a:stCxn id="11" idx="3"/>
            </p:cNvCxnSpPr>
            <p:nvPr/>
          </p:nvCxnSpPr>
          <p:spPr>
            <a:xfrm flipV="1">
              <a:off x="5972055" y="2936418"/>
              <a:ext cx="1447799" cy="183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F792C7-E65A-BFB9-4D24-9A7A205E0507}"/>
                </a:ext>
              </a:extLst>
            </p:cNvPr>
            <p:cNvSpPr txBox="1"/>
            <p:nvPr/>
          </p:nvSpPr>
          <p:spPr>
            <a:xfrm>
              <a:off x="6182504" y="2965858"/>
              <a:ext cx="22756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Winner = Max [votes]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FF378D-6D89-E057-7CFF-F49B2573D8CB}"/>
                </a:ext>
              </a:extLst>
            </p:cNvPr>
            <p:cNvSpPr txBox="1"/>
            <p:nvPr/>
          </p:nvSpPr>
          <p:spPr>
            <a:xfrm>
              <a:off x="3886200" y="1047750"/>
              <a:ext cx="3352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0            1           0            0            1</a:t>
              </a:r>
            </a:p>
          </p:txBody>
        </p:sp>
        <p:cxnSp>
          <p:nvCxnSpPr>
            <p:cNvPr id="15" name="Connector: Elbow 15">
              <a:extLst>
                <a:ext uri="{FF2B5EF4-FFF2-40B4-BE49-F238E27FC236}">
                  <a16:creationId xmlns:a16="http://schemas.microsoft.com/office/drawing/2014/main" id="{DEBDD503-BADC-EF05-61F3-9F3A4BEA86A1}"/>
                </a:ext>
              </a:extLst>
            </p:cNvPr>
            <p:cNvCxnSpPr>
              <a:stCxn id="6" idx="2"/>
            </p:cNvCxnSpPr>
            <p:nvPr/>
          </p:nvCxnSpPr>
          <p:spPr>
            <a:xfrm rot="16200000" flipH="1">
              <a:off x="4131438" y="2054988"/>
              <a:ext cx="685800" cy="80492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17">
              <a:extLst>
                <a:ext uri="{FF2B5EF4-FFF2-40B4-BE49-F238E27FC236}">
                  <a16:creationId xmlns:a16="http://schemas.microsoft.com/office/drawing/2014/main" id="{69E20A5D-78E7-61FD-A78C-ADF3EC780ED7}"/>
                </a:ext>
              </a:extLst>
            </p:cNvPr>
            <p:cNvCxnSpPr>
              <a:stCxn id="7" idx="2"/>
            </p:cNvCxnSpPr>
            <p:nvPr/>
          </p:nvCxnSpPr>
          <p:spPr>
            <a:xfrm rot="16200000" flipH="1">
              <a:off x="4721988" y="2188338"/>
              <a:ext cx="457200" cy="30962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19">
              <a:extLst>
                <a:ext uri="{FF2B5EF4-FFF2-40B4-BE49-F238E27FC236}">
                  <a16:creationId xmlns:a16="http://schemas.microsoft.com/office/drawing/2014/main" id="{334F4063-3628-2D5F-E123-7B6D22FDE39E}"/>
                </a:ext>
              </a:extLst>
            </p:cNvPr>
            <p:cNvCxnSpPr>
              <a:stCxn id="8" idx="2"/>
            </p:cNvCxnSpPr>
            <p:nvPr/>
          </p:nvCxnSpPr>
          <p:spPr>
            <a:xfrm rot="5400000">
              <a:off x="5335012" y="2299215"/>
              <a:ext cx="369331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21">
              <a:extLst>
                <a:ext uri="{FF2B5EF4-FFF2-40B4-BE49-F238E27FC236}">
                  <a16:creationId xmlns:a16="http://schemas.microsoft.com/office/drawing/2014/main" id="{1C2C9EE0-3437-FB6E-D6A4-E8E450D8A5FD}"/>
                </a:ext>
              </a:extLst>
            </p:cNvPr>
            <p:cNvCxnSpPr>
              <a:stCxn id="9" idx="2"/>
            </p:cNvCxnSpPr>
            <p:nvPr/>
          </p:nvCxnSpPr>
          <p:spPr>
            <a:xfrm rot="5400000">
              <a:off x="5788789" y="2116962"/>
              <a:ext cx="457200" cy="45237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23">
              <a:extLst>
                <a:ext uri="{FF2B5EF4-FFF2-40B4-BE49-F238E27FC236}">
                  <a16:creationId xmlns:a16="http://schemas.microsoft.com/office/drawing/2014/main" id="{A8E5B0DE-4BBF-DCAA-4C66-2E4C375E4960}"/>
                </a:ext>
              </a:extLst>
            </p:cNvPr>
            <p:cNvCxnSpPr>
              <a:stCxn id="10" idx="2"/>
            </p:cNvCxnSpPr>
            <p:nvPr/>
          </p:nvCxnSpPr>
          <p:spPr>
            <a:xfrm rot="5400000">
              <a:off x="6210220" y="1962231"/>
              <a:ext cx="604938" cy="9095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01626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A2A7C5-D48B-7997-EF25-0116D6E0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6BEA715-5C70-A6F2-75B4-68632475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Đảm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F3CE1F-A632-E2FF-BCB7-8333888249F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800" dirty="0"/>
              <a:t>Goal:   compute   f(x</a:t>
            </a:r>
            <a:r>
              <a:rPr lang="en-US" sz="2800" baseline="-25000" dirty="0"/>
              <a:t>0</a:t>
            </a:r>
            <a:r>
              <a:rPr lang="en-US" sz="2800" dirty="0"/>
              <a:t>,x</a:t>
            </a:r>
            <a:r>
              <a:rPr lang="en-US" sz="2800" baseline="-25000" dirty="0"/>
              <a:t>1</a:t>
            </a:r>
            <a:r>
              <a:rPr lang="en-US" sz="2800" dirty="0"/>
              <a:t>, x</a:t>
            </a:r>
            <a:r>
              <a:rPr lang="en-US" sz="2800" baseline="-25000" dirty="0"/>
              <a:t>2</a:t>
            </a:r>
            <a:r>
              <a:rPr lang="en-US" sz="2800" dirty="0"/>
              <a:t>, x</a:t>
            </a:r>
            <a:r>
              <a:rPr lang="en-US" sz="2800" baseline="-25000" dirty="0"/>
              <a:t>3</a:t>
            </a:r>
            <a:r>
              <a:rPr lang="en-US" sz="2800" dirty="0"/>
              <a:t>, x</a:t>
            </a:r>
            <a:r>
              <a:rPr lang="en-US" sz="2800" baseline="-25000" dirty="0"/>
              <a:t>4</a:t>
            </a:r>
            <a:r>
              <a:rPr lang="en-US" sz="2800" dirty="0"/>
              <a:t>)</a:t>
            </a:r>
          </a:p>
          <a:p>
            <a:pPr>
              <a:tabLst>
                <a:tab pos="1092200" algn="l"/>
              </a:tabLst>
            </a:pPr>
            <a:r>
              <a:rPr lang="en-US" sz="2800" dirty="0"/>
              <a:t>“</a:t>
            </a:r>
            <a:r>
              <a:rPr lang="en-US" sz="2800" dirty="0" err="1"/>
              <a:t>Thm</a:t>
            </a:r>
            <a:r>
              <a:rPr lang="en-US" sz="2800" dirty="0"/>
              <a:t>:”  anything that can done with trusted auth. can also be done without</a:t>
            </a:r>
          </a:p>
          <a:p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(Secure multi-party computation)</a:t>
            </a:r>
          </a:p>
          <a:p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7B0DB5E-051B-1122-9CD0-EB14E14A7FBB}"/>
              </a:ext>
            </a:extLst>
          </p:cNvPr>
          <p:cNvGrpSpPr/>
          <p:nvPr/>
        </p:nvGrpSpPr>
        <p:grpSpPr>
          <a:xfrm>
            <a:off x="4824071" y="3096683"/>
            <a:ext cx="3845796" cy="2287440"/>
            <a:chOff x="3850404" y="1047750"/>
            <a:chExt cx="3845796" cy="22874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022F50F-B7BA-02F6-A376-9114CD8CCE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3886200" y="1422400"/>
              <a:ext cx="371355" cy="69215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1880BA0-7F24-24CF-61C5-40982190AE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4610100" y="1422400"/>
              <a:ext cx="371355" cy="69215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94A2F6A-AA20-1FF0-0773-E43E7E9C0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5334000" y="1422400"/>
              <a:ext cx="371355" cy="6921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65F8D71-964B-4B49-3A8C-E6F2DDDF7B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057900" y="1422400"/>
              <a:ext cx="371355" cy="6921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E0ECFC2-C874-7639-38AB-E0A7FAE2F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6781800" y="1422400"/>
              <a:ext cx="371355" cy="69215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92B041F-821C-6095-E386-9BEE64F22CBC}"/>
                </a:ext>
              </a:extLst>
            </p:cNvPr>
            <p:cNvSpPr txBox="1"/>
            <p:nvPr/>
          </p:nvSpPr>
          <p:spPr>
            <a:xfrm>
              <a:off x="4953000" y="2631618"/>
              <a:ext cx="1104898" cy="64633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Trusted  </a:t>
              </a:r>
            </a:p>
            <a:p>
              <a:r>
                <a:rPr lang="en-US" dirty="0"/>
                <a:t>Authority 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9171083-3609-F93A-DBE7-CFA91C6AE54B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6057898" y="2936420"/>
              <a:ext cx="1361956" cy="183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75106D1-6F82-BCD5-E69B-897D534F49CC}"/>
                </a:ext>
              </a:extLst>
            </p:cNvPr>
            <p:cNvSpPr txBox="1"/>
            <p:nvPr/>
          </p:nvSpPr>
          <p:spPr>
            <a:xfrm>
              <a:off x="6182504" y="2965858"/>
              <a:ext cx="15136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F(X</a:t>
              </a:r>
              <a:r>
                <a:rPr lang="en-US" baseline="-25000" dirty="0"/>
                <a:t>0</a:t>
              </a:r>
              <a:r>
                <a:rPr lang="en-US" dirty="0"/>
                <a:t>,X</a:t>
              </a:r>
              <a:r>
                <a:rPr lang="en-US" baseline="-25000" dirty="0"/>
                <a:t>1</a:t>
              </a:r>
              <a:r>
                <a:rPr lang="en-US" dirty="0"/>
                <a:t>,…,X</a:t>
              </a:r>
              <a:r>
                <a:rPr lang="en-US" baseline="-25000" dirty="0"/>
                <a:t>4</a:t>
              </a:r>
              <a:r>
                <a:rPr lang="en-US" dirty="0"/>
                <a:t>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05B5EE-BF02-E29A-77F3-197E9E8C81E3}"/>
                </a:ext>
              </a:extLst>
            </p:cNvPr>
            <p:cNvSpPr txBox="1"/>
            <p:nvPr/>
          </p:nvSpPr>
          <p:spPr>
            <a:xfrm>
              <a:off x="3850404" y="1047750"/>
              <a:ext cx="33123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X</a:t>
              </a:r>
              <a:r>
                <a:rPr lang="en-US" baseline="-25000" dirty="0"/>
                <a:t>0</a:t>
              </a:r>
              <a:r>
                <a:rPr lang="en-US" dirty="0"/>
                <a:t>          X</a:t>
              </a:r>
              <a:r>
                <a:rPr lang="en-US" baseline="-25000" dirty="0"/>
                <a:t>1</a:t>
              </a:r>
              <a:r>
                <a:rPr lang="en-US" dirty="0"/>
                <a:t>         X</a:t>
              </a:r>
              <a:r>
                <a:rPr lang="en-US" baseline="-25000" dirty="0"/>
                <a:t>2</a:t>
              </a:r>
              <a:r>
                <a:rPr lang="en-US" dirty="0"/>
                <a:t>            X</a:t>
              </a:r>
              <a:r>
                <a:rPr lang="en-US" baseline="-25000" dirty="0"/>
                <a:t>3</a:t>
              </a:r>
              <a:r>
                <a:rPr lang="en-US" dirty="0"/>
                <a:t>         X</a:t>
              </a:r>
              <a:r>
                <a:rPr lang="en-US" baseline="-25000" dirty="0"/>
                <a:t>4</a:t>
              </a:r>
            </a:p>
          </p:txBody>
        </p:sp>
        <p:cxnSp>
          <p:nvCxnSpPr>
            <p:cNvPr id="15" name="Connector: Elbow 20">
              <a:extLst>
                <a:ext uri="{FF2B5EF4-FFF2-40B4-BE49-F238E27FC236}">
                  <a16:creationId xmlns:a16="http://schemas.microsoft.com/office/drawing/2014/main" id="{241966AE-C581-2E6E-A84B-2F8BED6AD1E5}"/>
                </a:ext>
              </a:extLst>
            </p:cNvPr>
            <p:cNvCxnSpPr>
              <a:stCxn id="6" idx="2"/>
            </p:cNvCxnSpPr>
            <p:nvPr/>
          </p:nvCxnSpPr>
          <p:spPr>
            <a:xfrm rot="16200000" flipH="1">
              <a:off x="4131438" y="2054988"/>
              <a:ext cx="685800" cy="80492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: Elbow 21">
              <a:extLst>
                <a:ext uri="{FF2B5EF4-FFF2-40B4-BE49-F238E27FC236}">
                  <a16:creationId xmlns:a16="http://schemas.microsoft.com/office/drawing/2014/main" id="{A65BF9C8-C6BF-D196-A4F8-07226D7F69F9}"/>
                </a:ext>
              </a:extLst>
            </p:cNvPr>
            <p:cNvCxnSpPr>
              <a:stCxn id="7" idx="2"/>
            </p:cNvCxnSpPr>
            <p:nvPr/>
          </p:nvCxnSpPr>
          <p:spPr>
            <a:xfrm rot="16200000" flipH="1">
              <a:off x="4721988" y="2188338"/>
              <a:ext cx="457200" cy="30962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: Elbow 22">
              <a:extLst>
                <a:ext uri="{FF2B5EF4-FFF2-40B4-BE49-F238E27FC236}">
                  <a16:creationId xmlns:a16="http://schemas.microsoft.com/office/drawing/2014/main" id="{455C1DC5-6F00-9BCD-1CA9-7CCC3FB74635}"/>
                </a:ext>
              </a:extLst>
            </p:cNvPr>
            <p:cNvCxnSpPr>
              <a:stCxn id="8" idx="2"/>
            </p:cNvCxnSpPr>
            <p:nvPr/>
          </p:nvCxnSpPr>
          <p:spPr>
            <a:xfrm rot="5400000">
              <a:off x="5335012" y="2299215"/>
              <a:ext cx="369331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23">
              <a:extLst>
                <a:ext uri="{FF2B5EF4-FFF2-40B4-BE49-F238E27FC236}">
                  <a16:creationId xmlns:a16="http://schemas.microsoft.com/office/drawing/2014/main" id="{0F459725-1D4C-0C45-B485-842836E0841C}"/>
                </a:ext>
              </a:extLst>
            </p:cNvPr>
            <p:cNvCxnSpPr>
              <a:stCxn id="9" idx="2"/>
            </p:cNvCxnSpPr>
            <p:nvPr/>
          </p:nvCxnSpPr>
          <p:spPr>
            <a:xfrm rot="5400000">
              <a:off x="5788789" y="2116962"/>
              <a:ext cx="457200" cy="45237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: Elbow 24">
              <a:extLst>
                <a:ext uri="{FF2B5EF4-FFF2-40B4-BE49-F238E27FC236}">
                  <a16:creationId xmlns:a16="http://schemas.microsoft.com/office/drawing/2014/main" id="{403F3A33-E014-073B-355A-C4A0B4ED7370}"/>
                </a:ext>
              </a:extLst>
            </p:cNvPr>
            <p:cNvCxnSpPr>
              <a:stCxn id="10" idx="2"/>
            </p:cNvCxnSpPr>
            <p:nvPr/>
          </p:nvCxnSpPr>
          <p:spPr>
            <a:xfrm rot="5400000">
              <a:off x="6210220" y="1962231"/>
              <a:ext cx="604938" cy="909577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01526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400F1D-9C32-4E6C-CA4F-1C5827D1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A186A2-9C4F-A972-B39D-5D378312D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Mật mã học hiện đại – Các khái niệm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65F10-FFFC-AB3D-6068-2C1D6EC4EA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0683" y="671914"/>
            <a:ext cx="8674100" cy="4638478"/>
          </a:xfrm>
        </p:spPr>
        <p:txBody>
          <a:bodyPr/>
          <a:lstStyle/>
          <a:p>
            <a:r>
              <a:rPr lang="vi-VN" sz="2800" dirty="0">
                <a:latin typeface="Calibri" panose="020F0502020204030204" pitchFamily="34" charset="0"/>
                <a:cs typeface="Calibri" panose="020F0502020204030204" pitchFamily="34" charset="0"/>
              </a:rPr>
              <a:t>Một hệ thống mật mã là một bộ năm</a:t>
            </a:r>
            <a:endParaRPr lang="vi-VN" dirty="0"/>
          </a:p>
          <a:p>
            <a:pPr marL="0" indent="0">
              <a:buNone/>
            </a:pPr>
            <a:endParaRPr lang="en-VN" dirty="0"/>
          </a:p>
          <a:p>
            <a:pPr marL="0" indent="0" algn="just">
              <a:buNone/>
            </a:pPr>
            <a:r>
              <a:rPr lang="en-US" sz="2800" dirty="0">
                <a:cs typeface="Times New Roman" panose="02020603050405020304" pitchFamily="18" charset="0"/>
              </a:rPr>
              <a:t>T</a:t>
            </a:r>
            <a:r>
              <a:rPr lang="vi-VN" sz="2800" dirty="0">
                <a:cs typeface="Times New Roman" panose="02020603050405020304" pitchFamily="18" charset="0"/>
              </a:rPr>
              <a:t>hỏa mãn các điều kiện sau đây:</a:t>
            </a:r>
            <a:endParaRPr lang="en-US" sz="2800" dirty="0">
              <a:cs typeface="Times New Roman" panose="02020603050405020304" pitchFamily="18" charset="0"/>
            </a:endParaRP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Tập nguồn 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(plaintext)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 là tập hữu hạn tất cả các bản tin nguồn cần mã hóa có thể có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 (ciphertext)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tập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hữu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hạn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các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ký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tự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bản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mã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K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(key) </a:t>
            </a:r>
            <a:r>
              <a:rPr lang="vi-VN" dirty="0">
                <a:latin typeface="Calibri" panose="020F0502020204030204" pitchFamily="34" charset="0"/>
                <a:cs typeface="Calibri" panose="020F0502020204030204" pitchFamily="34" charset="0"/>
              </a:rPr>
              <a:t>là tập hữu hạn các khóa có thể được sử dụng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 (encryption)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ánh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xạ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từ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(K,P)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C,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gọi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lập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mật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mã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 (decryption)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một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ánh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xạ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từ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(K,C)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vào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 ,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được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gọi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là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phép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giải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mã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r>
              <a:rPr lang="en-US" sz="2800" i="1" dirty="0" err="1">
                <a:cs typeface="Times New Roman" panose="02020603050405020304" pitchFamily="18" charset="0"/>
              </a:rPr>
              <a:t>Chú</a:t>
            </a:r>
            <a:r>
              <a:rPr lang="en-US" sz="2800" i="1" dirty="0"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cs typeface="Times New Roman" panose="02020603050405020304" pitchFamily="18" charset="0"/>
              </a:rPr>
              <a:t>ý</a:t>
            </a:r>
            <a:r>
              <a:rPr lang="en-US" sz="2800" i="1" dirty="0">
                <a:cs typeface="Times New Roman" panose="02020603050405020304" pitchFamily="18" charset="0"/>
              </a:rPr>
              <a:t>: </a:t>
            </a:r>
            <a:r>
              <a:rPr lang="en-US" sz="2800" i="1" dirty="0" err="1">
                <a:cs typeface="Times New Roman" panose="02020603050405020304" pitchFamily="18" charset="0"/>
              </a:rPr>
              <a:t>các</a:t>
            </a:r>
            <a:r>
              <a:rPr lang="en-US" sz="2800" i="1" dirty="0"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cs typeface="Times New Roman" panose="02020603050405020304" pitchFamily="18" charset="0"/>
              </a:rPr>
              <a:t>ánh</a:t>
            </a:r>
            <a:r>
              <a:rPr lang="en-US" sz="2800" i="1" dirty="0"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cs typeface="Times New Roman" panose="02020603050405020304" pitchFamily="18" charset="0"/>
              </a:rPr>
              <a:t>xạ</a:t>
            </a:r>
            <a:r>
              <a:rPr lang="en-US" sz="2800" i="1" dirty="0"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cs typeface="Times New Roman" panose="02020603050405020304" pitchFamily="18" charset="0"/>
              </a:rPr>
              <a:t>này</a:t>
            </a:r>
            <a:r>
              <a:rPr lang="en-US" sz="2800" i="1" dirty="0"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cs typeface="Times New Roman" panose="02020603050405020304" pitchFamily="18" charset="0"/>
              </a:rPr>
              <a:t>là</a:t>
            </a:r>
            <a:r>
              <a:rPr lang="en-US" sz="2800" i="1" dirty="0"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cs typeface="Times New Roman" panose="02020603050405020304" pitchFamily="18" charset="0"/>
              </a:rPr>
              <a:t>ánh</a:t>
            </a:r>
            <a:r>
              <a:rPr lang="en-US" sz="2800" i="1" dirty="0"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cs typeface="Times New Roman" panose="02020603050405020304" pitchFamily="18" charset="0"/>
              </a:rPr>
              <a:t>xạ</a:t>
            </a:r>
            <a:r>
              <a:rPr lang="en-US" sz="2800" i="1" dirty="0">
                <a:cs typeface="Times New Roman" panose="02020603050405020304" pitchFamily="18" charset="0"/>
              </a:rPr>
              <a:t> 1-1</a:t>
            </a:r>
          </a:p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A9E672-126F-4D46-EFC4-DEFB8299314C}"/>
                  </a:ext>
                </a:extLst>
              </p:cNvPr>
              <p:cNvSpPr txBox="1"/>
              <p:nvPr/>
            </p:nvSpPr>
            <p:spPr>
              <a:xfrm>
                <a:off x="2819400" y="1378275"/>
                <a:ext cx="242797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𝑺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𝑲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3A9E672-126F-4D46-EFC4-DEFB829931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1378275"/>
                <a:ext cx="2427972" cy="369332"/>
              </a:xfrm>
              <a:prstGeom prst="rect">
                <a:avLst/>
              </a:prstGeom>
              <a:blipFill>
                <a:blip r:embed="rId3"/>
                <a:stretch>
                  <a:fillRect l="-2604" r="-3646" b="-3333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6908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253658-441E-CE02-EF00-906322B4E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D3CC66-9AE8-95AA-298F-B145243A6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Mật mã học hiện đại – Các khái niệm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0EECD22-2551-EDD6-4105-06D9BDFC231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5077" y="841248"/>
                <a:ext cx="8674100" cy="1935204"/>
              </a:xfrm>
            </p:spPr>
            <p:txBody>
              <a:bodyPr/>
              <a:lstStyle/>
              <a:p>
                <a:pPr algn="just"/>
                <a:r>
                  <a:rPr lang="vi-V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Với mỗi khóa </a:t>
                </a:r>
                <a14:m>
                  <m:oMath xmlns:m="http://schemas.openxmlformats.org/officeDocument/2006/math"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𝒌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vi-V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𝑲</m:t>
                    </m:r>
                  </m:oMath>
                </a14:m>
                <a:r>
                  <a:rPr lang="vi-VN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vi-V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, tồn tại luật mật mã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𝑬</m:t>
                    </m:r>
                  </m:oMath>
                </a14:m>
                <a:r>
                  <a:rPr lang="vi-VN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vi-V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và luật giải mật mã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lang="vi-V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𝑫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vi-V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tương ứng. </a:t>
                </a:r>
                <a:endParaRPr lang="en-US" sz="28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just"/>
                <a:r>
                  <a:rPr lang="vi-V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Luật mật mã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𝒆</m:t>
                        </m:r>
                      </m:e>
                      <m:sub>
                        <m:r>
                          <a:rPr lang="vi-V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lang="vi-V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 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</m:oMath>
                </a14:m>
                <a:r>
                  <a:rPr lang="vi-VN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vi-V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và luật giải mật mã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vi-V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r>
                      <a:rPr lang="en-US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𝑪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vi-VN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vi-VN" sz="28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là hai ánh xạ thỏa mãn: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vi-V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𝒅</m:t>
                        </m:r>
                      </m:e>
                      <m:sub>
                        <m:r>
                          <a:rPr lang="vi-VN" sz="2800" b="1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vi-VN" sz="2800" b="1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1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vi-V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𝒆</m:t>
                            </m:r>
                          </m:e>
                          <m:sub>
                            <m:r>
                              <a:rPr lang="vi-V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𝒌</m:t>
                            </m:r>
                          </m:sub>
                        </m:sSub>
                        <m:d>
                          <m:dPr>
                            <m:ctrlPr>
                              <a:rPr lang="vi-V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vi-VN" sz="2800" b="1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</m:d>
                      </m:e>
                    </m:d>
                    <m:r>
                      <a:rPr lang="vi-V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vi-V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vi-V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∀</m:t>
                    </m:r>
                    <m:r>
                      <a:rPr lang="vi-VN" sz="28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𝒙</m:t>
                    </m:r>
                    <m:r>
                      <a:rPr lang="vi-V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𝑷</m:t>
                    </m:r>
                  </m:oMath>
                </a14:m>
                <a:r>
                  <a:rPr lang="en-US" sz="28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vi-VN" sz="28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0EECD22-2551-EDD6-4105-06D9BDFC23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7" y="841248"/>
                <a:ext cx="8674100" cy="1935204"/>
              </a:xfrm>
              <a:blipFill>
                <a:blip r:embed="rId2"/>
                <a:stretch>
                  <a:fillRect l="-1170" t="-5229" r="-1462" b="-654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99CC8E7-B4D0-CC00-F0E3-B833222AFC7A}"/>
              </a:ext>
            </a:extLst>
          </p:cNvPr>
          <p:cNvSpPr txBox="1"/>
          <p:nvPr/>
        </p:nvSpPr>
        <p:spPr>
          <a:xfrm>
            <a:off x="560164" y="5066277"/>
            <a:ext cx="1486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khối</a:t>
            </a:r>
            <a:r>
              <a:rPr 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F8841F-B10B-AFF4-188A-BDCD02F14A04}"/>
              </a:ext>
            </a:extLst>
          </p:cNvPr>
          <p:cNvSpPr txBox="1"/>
          <p:nvPr/>
        </p:nvSpPr>
        <p:spPr>
          <a:xfrm>
            <a:off x="2545154" y="5066277"/>
            <a:ext cx="1634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BAE69C-17A9-731A-6C30-0D204AD50630}"/>
              </a:ext>
            </a:extLst>
          </p:cNvPr>
          <p:cNvSpPr txBox="1"/>
          <p:nvPr/>
        </p:nvSpPr>
        <p:spPr>
          <a:xfrm>
            <a:off x="4484206" y="5066277"/>
            <a:ext cx="3429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Hàm</a:t>
            </a:r>
            <a:r>
              <a:rPr lang="en-US" dirty="0"/>
              <a:t> </a:t>
            </a:r>
            <a:r>
              <a:rPr lang="en-US" dirty="0" err="1"/>
              <a:t>băm</a:t>
            </a:r>
            <a:r>
              <a:rPr lang="en-US" dirty="0"/>
              <a:t> – </a:t>
            </a:r>
            <a:r>
              <a:rPr lang="en-US" dirty="0" err="1"/>
              <a:t>chữ</a:t>
            </a:r>
            <a:r>
              <a:rPr lang="en-US" dirty="0"/>
              <a:t> </a:t>
            </a:r>
            <a:r>
              <a:rPr lang="en-US" dirty="0" err="1"/>
              <a:t>ký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-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9216A7-B1E3-CB57-CBC1-7ED2D57ED6E9}"/>
              </a:ext>
            </a:extLst>
          </p:cNvPr>
          <p:cNvSpPr/>
          <p:nvPr/>
        </p:nvSpPr>
        <p:spPr>
          <a:xfrm>
            <a:off x="687504" y="5762283"/>
            <a:ext cx="3492379" cy="404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xứng</a:t>
            </a:r>
            <a:r>
              <a:rPr lang="en-US" dirty="0"/>
              <a:t> – </a:t>
            </a:r>
            <a:r>
              <a:rPr lang="en-US" dirty="0" err="1"/>
              <a:t>Khóa</a:t>
            </a:r>
            <a:r>
              <a:rPr lang="en-US" dirty="0"/>
              <a:t> </a:t>
            </a:r>
            <a:r>
              <a:rPr lang="en-US" dirty="0" err="1"/>
              <a:t>bất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xứng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C80D35-33F1-C65C-5DEB-DCBDDF474C08}"/>
              </a:ext>
            </a:extLst>
          </p:cNvPr>
          <p:cNvSpPr/>
          <p:nvPr/>
        </p:nvSpPr>
        <p:spPr>
          <a:xfrm>
            <a:off x="4508870" y="5762283"/>
            <a:ext cx="3938214" cy="4040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–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khóa</a:t>
            </a:r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B0162E1-E3A7-D636-8AE9-D76E59AEA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7075" y="2761842"/>
            <a:ext cx="4023360" cy="2304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160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AEBD8D-29D4-E112-B34A-E33F85BAB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F62C1D-FED9-6865-BE7B-4E478713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Mật mã khoá đối xứng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D1772D-FEF3-C571-E9D6-A45F9ADECA8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u="sng" dirty="0"/>
                  <a:t>Def</a:t>
                </a:r>
                <a:r>
                  <a:rPr lang="en-US" dirty="0"/>
                  <a:t>:  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mã</a:t>
                </a:r>
                <a:r>
                  <a:rPr lang="en-US" dirty="0"/>
                  <a:t> </a:t>
                </a:r>
                <a:r>
                  <a:rPr lang="en-US" dirty="0" err="1"/>
                  <a:t>mật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</a:t>
                </a:r>
                <a:r>
                  <a:rPr lang="en-US" dirty="0" err="1"/>
                  <a:t>nghĩa</a:t>
                </a:r>
                <a:r>
                  <a:rPr lang="en-US" dirty="0"/>
                  <a:t> </a:t>
                </a:r>
                <a:r>
                  <a:rPr lang="en-US" dirty="0" err="1"/>
                  <a:t>bởi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r>
                  <a:rPr lang="en-US" dirty="0"/>
                  <a:t>  và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60000"/>
                  </a:lnSpc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b="1" i="1" dirty="0"/>
                  <a:t>E</a:t>
                </a:r>
                <a:r>
                  <a:rPr lang="en-US" dirty="0"/>
                  <a:t> 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thường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ngẫu</a:t>
                </a:r>
                <a:r>
                  <a:rPr lang="en-US" dirty="0"/>
                  <a:t> </a:t>
                </a:r>
                <a:r>
                  <a:rPr lang="en-US" dirty="0" err="1"/>
                  <a:t>nhiên</a:t>
                </a:r>
                <a:r>
                  <a:rPr lang="en-US" dirty="0"/>
                  <a:t>.      </a:t>
                </a:r>
              </a:p>
              <a:p>
                <a:pPr>
                  <a:spcBef>
                    <a:spcPts val="1800"/>
                  </a:spcBef>
                </a:pPr>
                <a:r>
                  <a:rPr lang="en-US" b="1" i="1" dirty="0"/>
                  <a:t>D</a:t>
                </a:r>
                <a:r>
                  <a:rPr lang="en-US" dirty="0"/>
                  <a:t> 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luôn</a:t>
                </a:r>
                <a:r>
                  <a:rPr lang="en-US" dirty="0"/>
                  <a:t> </a:t>
                </a:r>
                <a:r>
                  <a:rPr lang="en-US" dirty="0" err="1"/>
                  <a:t>xác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.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D1772D-FEF3-C571-E9D6-A45F9ADECA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3947" t="-14115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600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DF5DB4-482A-08DF-EF76-908B3DAB4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5663AD-151C-EF67-5ACD-0D95ABC86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bảo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?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6FA3390-B41D-D0A1-5F23-28E6DE7B6D9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800" dirty="0" err="1"/>
                  <a:t>Khả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năng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tấn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công</a:t>
                </a:r>
                <a:r>
                  <a:rPr lang="en-US" sz="2800" dirty="0"/>
                  <a:t> (Attacker’s abilities):   </a:t>
                </a:r>
                <a:r>
                  <a:rPr lang="en-US" sz="2800" dirty="0" err="1"/>
                  <a:t>Chỉ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tấn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bản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mã</a:t>
                </a:r>
                <a:r>
                  <a:rPr lang="en-US" sz="2800" dirty="0"/>
                  <a:t>  (</a:t>
                </a:r>
                <a:r>
                  <a:rPr lang="en-US" sz="2800" b="1" dirty="0">
                    <a:solidFill>
                      <a:srgbClr val="FF0000"/>
                    </a:solidFill>
                  </a:rPr>
                  <a:t>CT only attack)</a:t>
                </a:r>
                <a:r>
                  <a:rPr lang="en-US" sz="2800" dirty="0"/>
                  <a:t> </a:t>
                </a:r>
                <a:r>
                  <a:rPr lang="en-US" sz="2000" dirty="0"/>
                  <a:t>(for now)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en-US" sz="2800" dirty="0" err="1"/>
                  <a:t>Yêu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cầu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bảo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mật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khả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thi</a:t>
                </a:r>
                <a:r>
                  <a:rPr lang="en-US" sz="2800" dirty="0"/>
                  <a:t> (Possible security requirements):   </a:t>
                </a:r>
              </a:p>
              <a:p>
                <a:r>
                  <a:rPr lang="en-US" sz="2800" dirty="0" err="1"/>
                  <a:t>Tấn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công</a:t>
                </a:r>
                <a:r>
                  <a:rPr lang="en-US" sz="2800" dirty="0"/>
                  <a:t> 1: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Kẻ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tấn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không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thể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khôi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phục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khóa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mật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  <a:p>
                <a:r>
                  <a:rPr lang="en-US" dirty="0" err="1">
                    <a:solidFill>
                      <a:srgbClr val="FF0000"/>
                    </a:solidFill>
                  </a:rPr>
                  <a:t>Tấn</a:t>
                </a:r>
                <a:r>
                  <a:rPr lang="en-US" dirty="0">
                    <a:solidFill>
                      <a:srgbClr val="FF0000"/>
                    </a:solidFill>
                  </a:rPr>
                  <a:t> </a:t>
                </a:r>
                <a:r>
                  <a:rPr lang="en-US" dirty="0" err="1">
                    <a:solidFill>
                      <a:srgbClr val="FF0000"/>
                    </a:solidFill>
                  </a:rPr>
                  <a:t>công</a:t>
                </a:r>
                <a:r>
                  <a:rPr lang="en-US" dirty="0">
                    <a:solidFill>
                      <a:srgbClr val="FF0000"/>
                    </a:solidFill>
                  </a:rPr>
                  <a:t> 2: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Kẻ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tấn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công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không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thể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khôi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phục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toàn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bộ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bản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 err="1">
                    <a:solidFill>
                      <a:srgbClr val="FF0000"/>
                    </a:solidFill>
                  </a:rPr>
                  <a:t>rõ</a:t>
                </a:r>
                <a:r>
                  <a:rPr lang="en-US" sz="2800" dirty="0">
                    <a:solidFill>
                      <a:srgbClr val="FF0000"/>
                    </a:solidFill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2800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  -&gt; </a:t>
                </a:r>
                <a:r>
                  <a:rPr lang="en-US" sz="2800" dirty="0" err="1"/>
                  <a:t>sẽ</a:t>
                </a:r>
                <a:r>
                  <a:rPr lang="en-US" sz="2800" dirty="0"/>
                  <a:t> an </a:t>
                </a:r>
                <a:r>
                  <a:rPr lang="en-US" sz="2800" dirty="0" err="1"/>
                  <a:t>toàn</a:t>
                </a:r>
                <a:r>
                  <a:rPr lang="en-US" sz="2800" dirty="0"/>
                  <a:t> ?</a:t>
                </a:r>
              </a:p>
              <a:p>
                <a:pPr marL="0" indent="0">
                  <a:lnSpc>
                    <a:spcPct val="140000"/>
                  </a:lnSpc>
                  <a:spcBef>
                    <a:spcPts val="0"/>
                  </a:spcBef>
                  <a:buNone/>
                </a:pPr>
                <a:r>
                  <a:rPr lang="en-US" sz="2800" dirty="0">
                    <a:ea typeface="Cambria Math" panose="02040503050406030204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||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800" dirty="0"/>
                  <a:t>-&gt; sẽ an toàn ?</a:t>
                </a:r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6FA3390-B41D-D0A1-5F23-28E6DE7B6D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62" t="-215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50848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D11739-D377-61C4-D800-1027E8DEE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6F91CD-8A71-7D0F-5B1C-C001231078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 err="1"/>
              <a:t>Lý</a:t>
            </a:r>
            <a:r>
              <a:rPr lang="en-US" sz="2800" dirty="0"/>
              <a:t> </a:t>
            </a:r>
            <a:r>
              <a:rPr lang="en-US" sz="2800" dirty="0" err="1"/>
              <a:t>thuyết</a:t>
            </a:r>
            <a:r>
              <a:rPr lang="en-US" sz="2800" dirty="0"/>
              <a:t> </a:t>
            </a:r>
            <a:r>
              <a:rPr lang="en-US" sz="2800" dirty="0" err="1"/>
              <a:t>bảo</a:t>
            </a:r>
            <a:r>
              <a:rPr lang="en-US" sz="2800" dirty="0"/>
              <a:t> </a:t>
            </a:r>
            <a:r>
              <a:rPr lang="en-US" sz="2800" dirty="0" err="1"/>
              <a:t>mật</a:t>
            </a:r>
            <a:r>
              <a:rPr lang="en-US" sz="2800" dirty="0"/>
              <a:t> </a:t>
            </a:r>
            <a:r>
              <a:rPr lang="en-US" sz="2800" dirty="0" err="1"/>
              <a:t>thông</a:t>
            </a:r>
            <a:r>
              <a:rPr lang="en-US" sz="2800" dirty="0"/>
              <a:t> tin (Shannon 1949)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C0D7224-32B5-C95D-2C1A-9EE40F20CAC8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800" u="sng" dirty="0"/>
                  <a:t>Def</a:t>
                </a:r>
                <a:r>
                  <a:rPr lang="en-US" sz="2800" dirty="0"/>
                  <a:t>:  </a:t>
                </a:r>
                <a:r>
                  <a:rPr lang="en-US" dirty="0" err="1"/>
                  <a:t>Hệ</a:t>
                </a:r>
                <a:r>
                  <a:rPr lang="en-US" dirty="0"/>
                  <a:t> </a:t>
                </a:r>
                <a:r>
                  <a:rPr lang="en-US" dirty="0" err="1"/>
                  <a:t>mật</a:t>
                </a:r>
                <a:r>
                  <a:rPr lang="en-US" dirty="0"/>
                  <a:t> </a:t>
                </a:r>
                <a:r>
                  <a:rPr lang="en-US" dirty="0" err="1"/>
                  <a:t>mã</a:t>
                </a:r>
                <a:r>
                  <a:rPr lang="en-US" sz="2800" dirty="0"/>
                  <a:t>  (</a:t>
                </a:r>
                <a:r>
                  <a:rPr lang="en-US" sz="2800" b="1" i="1" dirty="0"/>
                  <a:t>E</a:t>
                </a:r>
                <a:r>
                  <a:rPr lang="en-US" sz="2800" dirty="0"/>
                  <a:t>, </a:t>
                </a:r>
                <a:r>
                  <a:rPr lang="en-US" sz="2800" b="1" i="1" dirty="0"/>
                  <a:t>D</a:t>
                </a:r>
                <a:r>
                  <a:rPr lang="en-US" sz="2800" dirty="0"/>
                  <a:t>) 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r>
                  <a:rPr lang="en-US" sz="2800" dirty="0"/>
                  <a:t>  (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/>
                        <a:ea typeface="Cambria Math"/>
                      </a:rPr>
                      <m:t>𝒦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ℳ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, </m:t>
                    </m:r>
                    <m:r>
                      <a:rPr lang="en-US" sz="2800" b="0" i="1" smtClean="0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800" dirty="0"/>
                  <a:t>) 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bí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mật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hoàn</a:t>
                </a:r>
                <a:r>
                  <a:rPr lang="en-US" dirty="0"/>
                  <a:t> </a:t>
                </a:r>
                <a:r>
                  <a:rPr lang="en-US" dirty="0" err="1"/>
                  <a:t>hảo</a:t>
                </a:r>
                <a:r>
                  <a:rPr lang="en-US" dirty="0"/>
                  <a:t> </a:t>
                </a:r>
                <a:r>
                  <a:rPr lang="en-US" sz="2800" dirty="0"/>
                  <a:t>  (</a:t>
                </a:r>
                <a:r>
                  <a:rPr lang="en-US" sz="2800" b="1" u="sng" dirty="0"/>
                  <a:t>perfect secrecy) </a:t>
                </a:r>
                <a:r>
                  <a:rPr lang="en-US" sz="2800" b="1" u="sng" dirty="0" err="1"/>
                  <a:t>nếu</a:t>
                </a:r>
                <a:r>
                  <a:rPr lang="en-US" sz="2800" b="1" u="sng" dirty="0"/>
                  <a:t> </a:t>
                </a:r>
                <a:r>
                  <a:rPr lang="en-US" sz="2800" b="1" dirty="0"/>
                  <a:t>  </a:t>
                </a:r>
                <a:endParaRPr lang="en-US" sz="28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 </m:t>
                    </m:r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>
                        <a:latin typeface="Cambria Math"/>
                        <a:ea typeface="Cambria Math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, [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𝑙𝑒𝑛</m:t>
                    </m:r>
                    <m:d>
                      <m:dPr>
                        <m:begChr m:val="|"/>
                        <m:endChr m:val="|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𝑙𝑒𝑛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]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dirty="0"/>
                  <a:t>và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∈</m:t>
                    </m:r>
                    <m:r>
                      <a:rPr lang="en-US" i="1">
                        <a:latin typeface="Cambria Math"/>
                        <a:ea typeface="Cambria Math"/>
                      </a:rPr>
                      <m:t>𝒞</m:t>
                    </m:r>
                  </m:oMath>
                </a14:m>
                <a:r>
                  <a:rPr lang="en-US" sz="2800" dirty="0"/>
                  <a:t> thì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sz="2800" dirty="0"/>
                  <a:t>Khi </a:t>
                </a:r>
                <a:r>
                  <a:rPr lang="en-US" sz="2800" dirty="0" err="1"/>
                  <a:t>đó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/>
                  <a:t> là </a:t>
                </a:r>
                <a:r>
                  <a:rPr lang="en-US" dirty="0"/>
                  <a:t>đồng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tập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𝒦</m:t>
                    </m:r>
                  </m:oMath>
                </a14:m>
                <a:r>
                  <a:rPr lang="en-US" sz="2800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groupChr>
                      <m:groupChrPr>
                        <m:chr m:val="←"/>
                        <m:vertJc m:val="bot"/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e>
                    </m:groupChr>
                  </m:oMath>
                </a14:m>
                <a:r>
                  <a:rPr lang="en-US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  <a:ea typeface="Cambria Math"/>
                      </a:rPr>
                      <m:t>𝒦</m:t>
                    </m:r>
                  </m:oMath>
                </a14:m>
                <a:r>
                  <a:rPr lang="en-US" sz="2800" dirty="0"/>
                  <a:t> )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dirty="0" err="1"/>
                  <a:t>Bản</a:t>
                </a:r>
                <a:r>
                  <a:rPr lang="en-US" dirty="0"/>
                  <a:t> </a:t>
                </a:r>
                <a:r>
                  <a:rPr lang="en-US" dirty="0" err="1"/>
                  <a:t>mã</a:t>
                </a:r>
                <a:r>
                  <a:rPr lang="en-US" dirty="0"/>
                  <a:t>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hé</a:t>
                </a:r>
                <a:r>
                  <a:rPr lang="en-US" dirty="0"/>
                  <a:t> </a:t>
                </a:r>
                <a:r>
                  <a:rPr lang="en-US" dirty="0" err="1"/>
                  <a:t>lộ</a:t>
                </a:r>
                <a:r>
                  <a:rPr lang="en-US" dirty="0"/>
                  <a:t> </a:t>
                </a:r>
                <a:r>
                  <a:rPr lang="en-US" dirty="0" err="1"/>
                  <a:t>thông</a:t>
                </a:r>
                <a:r>
                  <a:rPr lang="en-US" dirty="0"/>
                  <a:t> tin </a:t>
                </a:r>
                <a:r>
                  <a:rPr lang="en-US" dirty="0" err="1"/>
                  <a:t>về</a:t>
                </a:r>
                <a:r>
                  <a:rPr lang="en-US" dirty="0"/>
                  <a:t> </a:t>
                </a:r>
                <a:r>
                  <a:rPr lang="en-US" i="1" dirty="0"/>
                  <a:t>m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i="1" dirty="0"/>
                  <a:t>m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i="1" dirty="0"/>
                  <a:t>m</a:t>
                </a:r>
                <a:r>
                  <a:rPr lang="en-US" i="1" baseline="-25000" dirty="0"/>
                  <a:t>0</a:t>
                </a:r>
                <a:r>
                  <a:rPr lang="en-US" dirty="0"/>
                  <a:t> 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i="1" dirty="0"/>
                  <a:t>m</a:t>
                </a:r>
                <a:r>
                  <a:rPr lang="en-US" i="1" baseline="-25000" dirty="0"/>
                  <a:t>1</a:t>
                </a:r>
                <a:r>
                  <a:rPr lang="en-US" dirty="0"/>
                  <a:t> , </a:t>
                </a:r>
                <a:r>
                  <a:rPr lang="en-US" dirty="0" err="1"/>
                  <a:t>tất</a:t>
                </a:r>
                <a:r>
                  <a:rPr lang="en-US" dirty="0"/>
                  <a:t> </a:t>
                </a:r>
                <a:r>
                  <a:rPr lang="en-US" dirty="0" err="1"/>
                  <a:t>cả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lợi</a:t>
                </a:r>
                <a:r>
                  <a:rPr lang="en-US" dirty="0"/>
                  <a:t> </a:t>
                </a:r>
                <a:r>
                  <a:rPr lang="en-US" dirty="0" err="1"/>
                  <a:t>thế</a:t>
                </a:r>
                <a:r>
                  <a:rPr lang="en-US" dirty="0"/>
                  <a:t> </a:t>
                </a:r>
                <a:r>
                  <a:rPr lang="en-US" dirty="0" err="1"/>
                  <a:t>tấn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mạnh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</a:t>
                </a:r>
                <a:r>
                  <a:rPr lang="en-US" dirty="0" err="1"/>
                  <a:t>đều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PT </a:t>
                </a:r>
                <a:r>
                  <a:rPr lang="en-US" dirty="0" err="1"/>
                  <a:t>từ</a:t>
                </a:r>
                <a:r>
                  <a:rPr lang="en-US" dirty="0"/>
                  <a:t> CT, do </a:t>
                </a:r>
                <a:r>
                  <a:rPr lang="en-US" dirty="0" err="1"/>
                  <a:t>đó</a:t>
                </a:r>
                <a:r>
                  <a:rPr lang="en-US" dirty="0"/>
                  <a:t> </a:t>
                </a:r>
                <a:r>
                  <a:rPr lang="en-US" dirty="0" err="1"/>
                  <a:t>tấn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CT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khả</a:t>
                </a:r>
                <a:r>
                  <a:rPr lang="en-US" dirty="0"/>
                  <a:t> thi (</a:t>
                </a:r>
                <a:r>
                  <a:rPr lang="en-US" dirty="0" err="1"/>
                  <a:t>tuy</a:t>
                </a:r>
                <a:r>
                  <a:rPr lang="en-US" dirty="0"/>
                  <a:t> </a:t>
                </a:r>
                <a:r>
                  <a:rPr lang="en-US" dirty="0" err="1"/>
                  <a:t>nhiên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kiểu</a:t>
                </a:r>
                <a:r>
                  <a:rPr lang="en-US" dirty="0"/>
                  <a:t> </a:t>
                </a:r>
                <a:r>
                  <a:rPr lang="en-US" dirty="0" err="1"/>
                  <a:t>tấn</a:t>
                </a:r>
                <a:r>
                  <a:rPr lang="en-US" dirty="0"/>
                  <a:t> </a:t>
                </a:r>
                <a:r>
                  <a:rPr lang="en-US" dirty="0" err="1"/>
                  <a:t>công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)</a:t>
                </a:r>
                <a:endParaRPr lang="en-US" sz="28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C0D7224-32B5-C95D-2C1A-9EE40F20CA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62" t="-215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560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DDCDF6-B003-61ED-526E-EAA4BD2B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6FCC3A-4412-7F57-DDBB-778E87E34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Mật mã dòng </a:t>
            </a:r>
            <a:endParaRPr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ADC90035-71B0-5D10-C54D-7750E5D7D7E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4950" y="1371155"/>
            <a:ext cx="8674100" cy="424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21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6E4857-CDCF-D8F4-C926-2204F973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83FF8F-57C0-ABEB-7C27-52C9152A4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One Time Pad (OTP)</a:t>
            </a:r>
            <a:r>
              <a:rPr lang="en-US" sz="2800" dirty="0"/>
              <a:t> (</a:t>
            </a:r>
            <a:r>
              <a:rPr lang="en-US" sz="2800" dirty="0" err="1"/>
              <a:t>Vernam</a:t>
            </a:r>
            <a:r>
              <a:rPr lang="en-US" sz="2800" dirty="0"/>
              <a:t> 1917)</a:t>
            </a:r>
            <a:br>
              <a:rPr lang="en-US" sz="2800" dirty="0"/>
            </a:b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8406A7-8A49-4540-751D-1FC786C1F94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vi-VN" dirty="0"/>
                  <a:t>Bảng mã sử dụng một lần </a:t>
                </a:r>
              </a:p>
              <a:p>
                <a:r>
                  <a:rPr lang="en-US" dirty="0" err="1"/>
                  <a:t>Ví</a:t>
                </a:r>
                <a:r>
                  <a:rPr lang="en-US" dirty="0"/>
                  <a:t> </a:t>
                </a:r>
                <a:r>
                  <a:rPr lang="en-US" dirty="0" err="1"/>
                  <a:t>dụ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mã</a:t>
                </a:r>
                <a:r>
                  <a:rPr lang="en-US" dirty="0"/>
                  <a:t> </a:t>
                </a:r>
                <a:r>
                  <a:rPr lang="en-US" dirty="0" err="1"/>
                  <a:t>mật</a:t>
                </a:r>
                <a:r>
                  <a:rPr lang="en-US" dirty="0"/>
                  <a:t> </a:t>
                </a:r>
                <a:r>
                  <a:rPr lang="en-US" dirty="0" err="1"/>
                  <a:t>bảo</a:t>
                </a:r>
                <a:r>
                  <a:rPr lang="en-US" dirty="0"/>
                  <a:t> </a:t>
                </a:r>
                <a:r>
                  <a:rPr lang="en-US" dirty="0" err="1"/>
                  <a:t>mật</a:t>
                </a:r>
                <a:r>
                  <a:rPr lang="en-US" dirty="0"/>
                  <a:t>  (“secure” cipher), </a:t>
                </a:r>
                <a:r>
                  <a:rPr lang="en-US" sz="2800" dirty="0"/>
                  <a:t>key = </a:t>
                </a:r>
                <a:r>
                  <a:rPr lang="en-US" dirty="0" err="1"/>
                  <a:t>m</a:t>
                </a:r>
                <a:r>
                  <a:rPr lang="en-US" sz="2800" dirty="0" err="1"/>
                  <a:t>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chuỗi</a:t>
                </a:r>
                <a:r>
                  <a:rPr lang="en-US" sz="2800" dirty="0"/>
                  <a:t> bit </a:t>
                </a:r>
                <a:r>
                  <a:rPr lang="en-US" sz="2800" dirty="0" err="1"/>
                  <a:t>ngẫu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nhiên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bằng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với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chiều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dài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bản</a:t>
                </a:r>
                <a:r>
                  <a:rPr lang="en-US" sz="2800" dirty="0"/>
                  <a:t> tin (random bit string as long the message), CT = cipher text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[0,1]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[0,1]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vi-V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ℳ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endParaRPr lang="vi-VN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𝒞</m:t>
                    </m:r>
                  </m:oMath>
                </a14:m>
                <a:endParaRPr lang="en-US" dirty="0"/>
              </a:p>
              <a:p>
                <a:pPr marL="0" indent="0">
                  <a:buNone/>
                  <a:tabLst>
                    <a:tab pos="6973888" algn="l"/>
                    <a:tab pos="7027863" algn="l"/>
                  </a:tabLst>
                </a:pPr>
                <a:r>
                  <a:rPr lang="en-US" dirty="0" err="1"/>
                  <a:t>Biến</a:t>
                </a:r>
                <a:r>
                  <a:rPr lang="en-US" dirty="0"/>
                  <a:t> </a:t>
                </a:r>
                <a:r>
                  <a:rPr lang="en-US" dirty="0" err="1"/>
                  <a:t>đổi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  <a:tabLst>
                    <a:tab pos="6973888" algn="l"/>
                    <a:tab pos="7027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  <a:tabLst>
                    <a:tab pos="6973888" algn="l"/>
                    <a:tab pos="7027863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𝒦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⊕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⊕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ℳ</m:t>
                          </m:r>
                        </m:e>
                      </m:d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  <a:tabLst>
                    <a:tab pos="6973888" algn="l"/>
                    <a:tab pos="7027863" algn="l"/>
                  </a:tabLst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ℳ</m:t>
                    </m:r>
                  </m:oMath>
                </a14:m>
                <a:endParaRPr lang="en-US" dirty="0"/>
              </a:p>
              <a:p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AA8406A7-8A49-4540-751D-1FC786C1F9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62" t="-2153" b="-6459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AB090A6-35DB-469F-BF74-7D05C48B5394}"/>
              </a:ext>
            </a:extLst>
          </p:cNvPr>
          <p:cNvGrpSpPr/>
          <p:nvPr/>
        </p:nvGrpSpPr>
        <p:grpSpPr>
          <a:xfrm>
            <a:off x="4572000" y="3759572"/>
            <a:ext cx="4195482" cy="2067485"/>
            <a:chOff x="4648200" y="2952749"/>
            <a:chExt cx="4343400" cy="1981200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05279E18-4931-ED72-822E-1418884F2C79}"/>
                </a:ext>
              </a:extLst>
            </p:cNvPr>
            <p:cNvSpPr/>
            <p:nvPr/>
          </p:nvSpPr>
          <p:spPr>
            <a:xfrm>
              <a:off x="4648200" y="2952749"/>
              <a:ext cx="4343400" cy="19812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defTabSz="909638">
                <a:tabLst>
                  <a:tab pos="909638" algn="l"/>
                </a:tabLst>
              </a:pPr>
              <a:r>
                <a:rPr lang="en-US" sz="2800" dirty="0" err="1">
                  <a:solidFill>
                    <a:srgbClr val="0000FF"/>
                  </a:solidFill>
                </a:rPr>
                <a:t>msg</a:t>
              </a:r>
              <a:r>
                <a:rPr lang="en-US" sz="2800" dirty="0">
                  <a:solidFill>
                    <a:srgbClr val="0000FF"/>
                  </a:solidFill>
                </a:rPr>
                <a:t>:	0  1  1  0  1  1  1</a:t>
              </a:r>
            </a:p>
            <a:p>
              <a:pPr defTabSz="909638">
                <a:lnSpc>
                  <a:spcPct val="140000"/>
                </a:lnSpc>
                <a:tabLst>
                  <a:tab pos="909638" algn="l"/>
                </a:tabLst>
              </a:pPr>
              <a:r>
                <a:rPr lang="en-US" sz="2800" dirty="0">
                  <a:solidFill>
                    <a:srgbClr val="0000FF"/>
                  </a:solidFill>
                </a:rPr>
                <a:t>key:	1  0  1  1  0  1  0</a:t>
              </a:r>
            </a:p>
            <a:p>
              <a:pPr defTabSz="909638">
                <a:lnSpc>
                  <a:spcPct val="150000"/>
                </a:lnSpc>
                <a:tabLst>
                  <a:tab pos="909638" algn="l"/>
                </a:tabLst>
              </a:pPr>
              <a:r>
                <a:rPr lang="en-US" sz="2800" dirty="0">
                  <a:solidFill>
                    <a:srgbClr val="0000FF"/>
                  </a:solidFill>
                </a:rPr>
                <a:t>CT: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2B1BE2D-CF3F-67F1-FFD7-EABE1C8BE015}"/>
                </a:ext>
              </a:extLst>
            </p:cNvPr>
            <p:cNvSpPr txBox="1"/>
            <p:nvPr/>
          </p:nvSpPr>
          <p:spPr>
            <a:xfrm>
              <a:off x="8001000" y="3333750"/>
              <a:ext cx="44040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/>
                <a:t>⊕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550A637-1B7D-E691-D359-F13FF8243001}"/>
                </a:ext>
              </a:extLst>
            </p:cNvPr>
            <p:cNvCxnSpPr/>
            <p:nvPr/>
          </p:nvCxnSpPr>
          <p:spPr>
            <a:xfrm>
              <a:off x="4724400" y="4171950"/>
              <a:ext cx="4114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81796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7465EF-6538-E13A-7071-19C29C84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EAE3AE-3F95-1BAF-68C7-51C4B455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Bộ phát số ngẫu nhiên - </a:t>
            </a:r>
            <a:r>
              <a:rPr lang="en-US" dirty="0"/>
              <a:t>Pseudorandom Generators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6A85A8-3014-3ACC-4458-FF6138615E1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 err="1"/>
                  <a:t>Ý</a:t>
                </a:r>
                <a:r>
                  <a:rPr lang="en-US" dirty="0"/>
                  <a:t> </a:t>
                </a:r>
                <a:r>
                  <a:rPr lang="en-US" dirty="0" err="1"/>
                  <a:t>tưởng</a:t>
                </a:r>
                <a:r>
                  <a:rPr lang="en-US" sz="2800" dirty="0"/>
                  <a:t>: </a:t>
                </a:r>
                <a:r>
                  <a:rPr lang="en-US" sz="2800" dirty="0" err="1"/>
                  <a:t>thay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thế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khoá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ngẫu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nhiên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bằng</a:t>
                </a:r>
                <a:r>
                  <a:rPr lang="en-US" sz="2800" dirty="0"/>
                  <a:t> (“random” key) </a:t>
                </a:r>
                <a:r>
                  <a:rPr lang="en-US" sz="2800" dirty="0" err="1"/>
                  <a:t>bằng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khoá</a:t>
                </a:r>
                <a:r>
                  <a:rPr lang="en-US" sz="2800" dirty="0"/>
                  <a:t> </a:t>
                </a:r>
                <a:r>
                  <a:rPr lang="en-US" sz="2800" dirty="0" err="1"/>
                  <a:t>giả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ngẫu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nhiên</a:t>
                </a:r>
                <a:r>
                  <a:rPr lang="en-US" sz="2800" dirty="0"/>
                  <a:t>  </a:t>
                </a:r>
              </a:p>
              <a:p>
                <a:r>
                  <a:rPr lang="en-US" sz="2800" dirty="0"/>
                  <a:t>PRG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ánh</a:t>
                </a:r>
                <a:r>
                  <a:rPr lang="en-US" sz="2800" dirty="0"/>
                  <a:t> </a:t>
                </a:r>
                <a:r>
                  <a:rPr lang="en-US" sz="2800" dirty="0" err="1"/>
                  <a:t>xạ</a:t>
                </a:r>
                <a:r>
                  <a:rPr lang="en-US" sz="2800" dirty="0"/>
                  <a:t> G: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p>
                              <m:sSupPr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[0,1]</m:t>
                                </m:r>
                              </m:e>
                              <m:sup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p>
                            </m:sSup>
                          </m:e>
                        </m:groupChr>
                      </m:e>
                      <m:lim>
                        <m:eqArr>
                          <m:eqArr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𝑠𝑒𝑒𝑑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𝑠𝑝𝑎𝑐𝑒</m:t>
                            </m:r>
                          </m:e>
                        </m:eqArr>
                      </m:lim>
                    </m:limLow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[0,1]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≫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dirty="0"/>
              </a:p>
              <a:p>
                <a:r>
                  <a:rPr lang="en-US" sz="2800" dirty="0" err="1"/>
                  <a:t>Các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phép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toán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thông</a:t>
                </a:r>
                <a:r>
                  <a:rPr lang="en-US" sz="2800" dirty="0"/>
                  <a:t> qua </a:t>
                </a:r>
                <a:r>
                  <a:rPr lang="en-US" sz="2800" dirty="0" err="1"/>
                  <a:t>thuật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toán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xác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định</a:t>
                </a:r>
                <a:r>
                  <a:rPr lang="en-US" sz="2800" dirty="0"/>
                  <a:t> (deterministic algorithm)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⨁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A6A85A8-3014-3ACC-4458-FF6138615E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70" t="-215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A49D773F-9954-324E-E86A-53A66DD36C5B}"/>
              </a:ext>
            </a:extLst>
          </p:cNvPr>
          <p:cNvGrpSpPr/>
          <p:nvPr/>
        </p:nvGrpSpPr>
        <p:grpSpPr>
          <a:xfrm>
            <a:off x="488577" y="4055004"/>
            <a:ext cx="2286000" cy="1961749"/>
            <a:chOff x="381000" y="3105150"/>
            <a:chExt cx="2286000" cy="196174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8AFF63-2975-2129-E656-CA4F24E60996}"/>
                </a:ext>
              </a:extLst>
            </p:cNvPr>
            <p:cNvSpPr/>
            <p:nvPr/>
          </p:nvSpPr>
          <p:spPr>
            <a:xfrm>
              <a:off x="762000" y="4248150"/>
              <a:ext cx="17526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E2A1AA8-64F2-7ED6-FEB7-CDDA33F4E508}"/>
                </a:ext>
              </a:extLst>
            </p:cNvPr>
            <p:cNvSpPr/>
            <p:nvPr/>
          </p:nvSpPr>
          <p:spPr>
            <a:xfrm>
              <a:off x="762000" y="3790950"/>
              <a:ext cx="17526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G(k)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301D95D-366E-4D63-3FD0-9018ADFD7294}"/>
                    </a:ext>
                  </a:extLst>
                </p:cNvPr>
                <p:cNvSpPr txBox="1"/>
                <p:nvPr/>
              </p:nvSpPr>
              <p:spPr>
                <a:xfrm>
                  <a:off x="381000" y="4000099"/>
                  <a:ext cx="38100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3B3DC53-8D20-455C-85BD-4C77DF5A40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4000099"/>
                  <a:ext cx="381000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B820984-7DA5-586C-4E82-981E97433659}"/>
                </a:ext>
              </a:extLst>
            </p:cNvPr>
            <p:cNvCxnSpPr/>
            <p:nvPr/>
          </p:nvCxnSpPr>
          <p:spPr>
            <a:xfrm>
              <a:off x="533400" y="4705350"/>
              <a:ext cx="21336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D4E2FF1-EEDB-52A2-38DD-39C257B0D916}"/>
                </a:ext>
              </a:extLst>
            </p:cNvPr>
            <p:cNvSpPr/>
            <p:nvPr/>
          </p:nvSpPr>
          <p:spPr>
            <a:xfrm>
              <a:off x="762000" y="4762099"/>
              <a:ext cx="17526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C9C7BE0-2F38-F635-3C2D-F562DE54AF50}"/>
                </a:ext>
              </a:extLst>
            </p:cNvPr>
            <p:cNvSpPr/>
            <p:nvPr/>
          </p:nvSpPr>
          <p:spPr>
            <a:xfrm>
              <a:off x="762000" y="3105150"/>
              <a:ext cx="609600" cy="3048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k</a:t>
              </a:r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67C4F3B-62E4-612A-21AD-77C194174786}"/>
                </a:ext>
              </a:extLst>
            </p:cNvPr>
            <p:cNvCxnSpPr>
              <a:cxnSpLocks/>
            </p:cNvCxnSpPr>
            <p:nvPr/>
          </p:nvCxnSpPr>
          <p:spPr>
            <a:xfrm>
              <a:off x="1371600" y="3409950"/>
              <a:ext cx="1143000" cy="3810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ACDD09-6A1F-ED5B-D0B2-56FCD3747274}"/>
                </a:ext>
              </a:extLst>
            </p:cNvPr>
            <p:cNvCxnSpPr/>
            <p:nvPr/>
          </p:nvCxnSpPr>
          <p:spPr>
            <a:xfrm>
              <a:off x="762000" y="3409950"/>
              <a:ext cx="0" cy="381000"/>
            </a:xfrm>
            <a:prstGeom prst="line">
              <a:avLst/>
            </a:prstGeom>
            <a:ln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149E37E-BD18-8D8E-76F5-72488FBBE359}"/>
                </a:ext>
              </a:extLst>
            </p:cNvPr>
            <p:cNvSpPr txBox="1"/>
            <p:nvPr/>
          </p:nvSpPr>
          <p:spPr>
            <a:xfrm>
              <a:off x="915784" y="3426119"/>
              <a:ext cx="5333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926014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BF65A3-D377-6795-D5CB-966A32EE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DA9B5AC-D6CF-BB80-44D1-79E73A6F1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PRG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(unpredictable)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01B0662-D227-3866-CCD8-C0AD379DFE7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800" dirty="0"/>
                  <a:t>Giả </a:t>
                </a:r>
                <a:r>
                  <a:rPr lang="en-US" sz="2800" dirty="0" err="1"/>
                  <a:t>sử</a:t>
                </a:r>
                <a:r>
                  <a:rPr lang="en-US" sz="2800" dirty="0"/>
                  <a:t> PRG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dự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đoán</a:t>
                </a:r>
                <a:r>
                  <a:rPr lang="en-US" sz="2800" dirty="0"/>
                  <a:t> được</a:t>
                </a:r>
                <a14:m>
                  <m:oMath xmlns:m="http://schemas.openxmlformats.org/officeDocument/2006/math">
                    <m:r>
                      <a:rPr lang="vi-VN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+2,…,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 do </a:t>
                </a:r>
                <a:r>
                  <a:rPr lang="en-US" sz="2800" dirty="0" err="1"/>
                  <a:t>đó</a:t>
                </a:r>
                <a:r>
                  <a:rPr lang="en-US" sz="2800" dirty="0"/>
                  <a:t> </a:t>
                </a:r>
              </a:p>
              <a:p>
                <a:r>
                  <a:rPr lang="en-US" sz="2800" dirty="0" err="1"/>
                  <a:t>Mặc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dù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1,2,…,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+2,…,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800" dirty="0"/>
                  <a:t>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trở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ngại</a:t>
                </a:r>
                <a:r>
                  <a:rPr lang="en-US" sz="2800" dirty="0"/>
                  <a:t> (problem)! </a:t>
                </a:r>
              </a:p>
              <a:p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khẳng</a:t>
                </a:r>
                <a:r>
                  <a:rPr lang="en-US" dirty="0"/>
                  <a:t> </a:t>
                </a:r>
                <a:r>
                  <a:rPr lang="en-US" dirty="0" err="1"/>
                  <a:t>định</a:t>
                </a:r>
                <a:r>
                  <a:rPr lang="en-US" dirty="0"/>
                  <a:t>  G: K ⟶ {0,1}</a:t>
                </a:r>
                <a:r>
                  <a:rPr lang="en-US" baseline="30000" dirty="0"/>
                  <a:t>n</a:t>
                </a:r>
                <a:r>
                  <a:rPr lang="en-US" dirty="0"/>
                  <a:t> 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dự</a:t>
                </a:r>
                <a:r>
                  <a:rPr lang="en-US" dirty="0"/>
                  <a:t> </a:t>
                </a:r>
                <a:r>
                  <a:rPr lang="en-US" dirty="0" err="1"/>
                  <a:t>đoán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, </a:t>
                </a:r>
                <a:r>
                  <a:rPr lang="en-US" dirty="0" err="1"/>
                  <a:t>nếu</a:t>
                </a:r>
                <a:r>
                  <a:rPr lang="en-US" dirty="0"/>
                  <a:t>: 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∃ "</m:t>
                    </m:r>
                    <m:r>
                      <m:rPr>
                        <m:nor/>
                      </m:rPr>
                      <a:rPr lang="en-US"/>
                      <m:t>eFF</m:t>
                    </m:r>
                    <m:r>
                      <m:rPr>
                        <m:nor/>
                      </m:rPr>
                      <a:rPr lang="en-US"/>
                      <m:t>"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𝑎𝑙𝑔</m:t>
                    </m:r>
                    <m:r>
                      <a:rPr lang="en-US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∃ 0 ≤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−1 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Khi</a:t>
                </a:r>
                <a14:m>
                  <m:oMath xmlns:m="http://schemas.openxmlformats.org/officeDocument/2006/math">
                    <m:r>
                      <a:rPr lang="vi-V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b="0" i="1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ó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𝑘</m:t>
                        </m:r>
                        <m:groupChr>
                          <m:groupChrPr>
                            <m:chr m:val="←"/>
                            <m:pos m:val="top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1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groupChr>
                        <m:r>
                          <a:rPr lang="en-US">
                            <a:latin typeface="Cambria Math" panose="02040503050406030204" pitchFamily="18" charset="0"/>
                          </a:rPr>
                          <m:t>𝒦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)|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1,2,…,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 ] &gt;1/2+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Cho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đáng</a:t>
                </a:r>
                <a:r>
                  <a:rPr lang="en-US" dirty="0"/>
                  <a:t> </a:t>
                </a:r>
                <a:r>
                  <a:rPr lang="en-US" dirty="0" err="1"/>
                  <a:t>kể</a:t>
                </a:r>
                <a:r>
                  <a:rPr lang="en-US" dirty="0"/>
                  <a:t>  (non-negligible)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US" dirty="0"/>
                  <a:t> (e.g.,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ℰ</m:t>
                    </m:r>
                  </m:oMath>
                </a14:m>
                <a:r>
                  <a:rPr lang="en-US" dirty="0"/>
                  <a:t>= 1/2</a:t>
                </a:r>
                <a:r>
                  <a:rPr lang="en-US" baseline="30000" dirty="0"/>
                  <a:t>30</a:t>
                </a:r>
                <a:r>
                  <a:rPr lang="en-US" dirty="0"/>
                  <a:t>)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901B0662-D227-3866-CCD8-C0AD379DFE7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70" t="-215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45513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C7B5D-6DC6-A05A-C266-C5F78B0B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BDD801-C5A1-59A1-6F4D-08ACD1807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PRG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đoán</a:t>
            </a:r>
            <a:r>
              <a:rPr lang="en-US" dirty="0"/>
              <a:t> (unpredictable)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B5686B-1F6D-52F4-0E60-626B3EE23EC4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spcBef>
                    <a:spcPts val="2472"/>
                  </a:spcBef>
                  <a:buNone/>
                </a:pPr>
                <a:r>
                  <a:rPr lang="en-US" sz="2800" u="sng" dirty="0"/>
                  <a:t>Def</a:t>
                </a:r>
                <a:r>
                  <a:rPr lang="en-US" sz="2800" dirty="0"/>
                  <a:t>:   PRG </a:t>
                </a:r>
                <a:r>
                  <a:rPr lang="en-US" sz="2800" dirty="0" err="1"/>
                  <a:t>là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thể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dự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doán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nếu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khả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năng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dự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đoán</a:t>
                </a:r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800" dirty="0"/>
                  <a:t>⇒ 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800" i="1" dirty="0" err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800" dirty="0"/>
                  <a:t>:  </a:t>
                </a:r>
                <a:r>
                  <a:rPr lang="en-US" sz="2800" dirty="0" err="1"/>
                  <a:t>không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một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lợi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thế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đáng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kể</a:t>
                </a:r>
                <a:r>
                  <a:rPr lang="en-US" sz="2800" dirty="0"/>
                  <a:t> </a:t>
                </a:r>
                <a:r>
                  <a:rPr lang="en-US" sz="2800" dirty="0" err="1"/>
                  <a:t>nào</a:t>
                </a:r>
                <a:r>
                  <a:rPr lang="en-US" sz="2800" dirty="0"/>
                  <a:t> (“eff” adv.)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thể</a:t>
                </a:r>
                <a:r>
                  <a:rPr lang="en-US" sz="2800" dirty="0"/>
                  <a:t> </a:t>
                </a:r>
                <a:r>
                  <a:rPr lang="en-US" sz="2800" dirty="0" err="1"/>
                  <a:t>dự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đoán</a:t>
                </a:r>
                <a:r>
                  <a:rPr lang="en-US" sz="2800" dirty="0"/>
                  <a:t> (i+1) </a:t>
                </a:r>
                <a:r>
                  <a:rPr lang="en-US" sz="2800" dirty="0" err="1"/>
                  <a:t>tương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ứng</a:t>
                </a:r>
                <a:r>
                  <a:rPr lang="en-US" sz="2800" dirty="0"/>
                  <a:t> </a:t>
                </a:r>
                <a:r>
                  <a:rPr lang="en-US" sz="2800" dirty="0" err="1"/>
                  <a:t>với</a:t>
                </a:r>
                <a:r>
                  <a:rPr lang="en-US" sz="2800" dirty="0"/>
                  <a:t> “non-neg”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r>
                  <a:rPr lang="en-US" sz="2800" dirty="0"/>
                  <a:t>Giả </a:t>
                </a:r>
                <a:r>
                  <a:rPr lang="en-US" sz="2800" dirty="0" err="1"/>
                  <a:t>sử</a:t>
                </a:r>
                <a:r>
                  <a:rPr lang="en-US" sz="2800" dirty="0"/>
                  <a:t>  G: K ⟶ {0,1}</a:t>
                </a:r>
                <a:r>
                  <a:rPr lang="en-US" sz="2800" baseline="50000" dirty="0"/>
                  <a:t>n</a:t>
                </a:r>
                <a:r>
                  <a:rPr lang="en-US" sz="2800" dirty="0"/>
                  <a:t>  do </a:t>
                </a:r>
                <a:r>
                  <a:rPr lang="en-US" sz="2800" dirty="0" err="1"/>
                  <a:t>đó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tất</a:t>
                </a:r>
                <a:r>
                  <a:rPr lang="en-US" sz="2800" dirty="0"/>
                  <a:t> </a:t>
                </a:r>
                <a:r>
                  <a:rPr lang="en-US" sz="2800" dirty="0" err="1"/>
                  <a:t>cả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:    </m:t>
                    </m:r>
                    <m:r>
                      <a:rPr lang="en-US" sz="2800" b="1" i="1" dirty="0">
                        <a:solidFill>
                          <a:srgbClr val="558ED5"/>
                        </a:solidFill>
                        <a:latin typeface="Cambria Math" panose="02040503050406030204" pitchFamily="18" charset="0"/>
                      </a:rPr>
                      <m:t>𝑿𝑶𝑹</m:t>
                    </m:r>
                    <m:r>
                      <a:rPr lang="en-US" sz="2800" b="1" i="1" dirty="0">
                        <a:solidFill>
                          <a:srgbClr val="558ED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>
                        <a:solidFill>
                          <a:srgbClr val="558ED5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800" b="1" i="1" dirty="0">
                        <a:solidFill>
                          <a:srgbClr val="558ED5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1" i="1" dirty="0">
                        <a:solidFill>
                          <a:srgbClr val="558ED5"/>
                        </a:solidFill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dirty="0">
                        <a:solidFill>
                          <a:srgbClr val="558ED5"/>
                        </a:solidFill>
                        <a:latin typeface="Cambria Math" panose="02040503050406030204" pitchFamily="18" charset="0"/>
                      </a:rPr>
                      <m:t>)) = </m:t>
                    </m:r>
                    <m:r>
                      <a:rPr lang="en-US" sz="2800" b="1" i="1" dirty="0">
                        <a:solidFill>
                          <a:srgbClr val="558ED5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US" sz="2800" b="1" dirty="0">
                  <a:solidFill>
                    <a:srgbClr val="558ED5"/>
                  </a:solidFill>
                </a:endParaRPr>
              </a:p>
              <a:p>
                <a:pPr>
                  <a:spcBef>
                    <a:spcPts val="1800"/>
                  </a:spcBef>
                </a:pPr>
                <a:r>
                  <a:rPr lang="en-US" sz="2800" dirty="0" err="1"/>
                  <a:t>Thì</a:t>
                </a:r>
                <a:r>
                  <a:rPr lang="en-US" sz="2800" dirty="0"/>
                  <a:t>  G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thể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đoán</a:t>
                </a:r>
                <a:r>
                  <a:rPr lang="en-US" sz="2800" dirty="0"/>
                  <a:t> </a:t>
                </a:r>
                <a:r>
                  <a:rPr lang="en-US" sz="2800" dirty="0" err="1"/>
                  <a:t>trước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được</a:t>
                </a:r>
                <a:r>
                  <a:rPr lang="en-US" sz="2800" dirty="0"/>
                  <a:t> </a:t>
                </a:r>
                <a:r>
                  <a:rPr lang="en-US" sz="2800" dirty="0" err="1"/>
                  <a:t>không</a:t>
                </a:r>
                <a:r>
                  <a:rPr lang="en-US" sz="2800" dirty="0"/>
                  <a:t> ?? -&gt; </a:t>
                </a:r>
                <a:r>
                  <a:rPr lang="en-US" sz="2800" dirty="0" err="1"/>
                  <a:t>Có</a:t>
                </a:r>
                <a:r>
                  <a:rPr lang="en-US" sz="2800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800" dirty="0"/>
              </a:p>
              <a:p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9B5686B-1F6D-52F4-0E60-626B3EE23E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62" t="-2153" b="-5742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E1011A16-5DAC-FF43-2003-1A9DCF4B5975}"/>
              </a:ext>
            </a:extLst>
          </p:cNvPr>
          <p:cNvGrpSpPr/>
          <p:nvPr/>
        </p:nvGrpSpPr>
        <p:grpSpPr>
          <a:xfrm>
            <a:off x="838200" y="3063179"/>
            <a:ext cx="2168232" cy="1275949"/>
            <a:chOff x="6019800" y="2038350"/>
            <a:chExt cx="2168232" cy="127594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E342CC-0FF4-448F-0583-1EBAABE00FB3}"/>
                </a:ext>
              </a:extLst>
            </p:cNvPr>
            <p:cNvGrpSpPr/>
            <p:nvPr/>
          </p:nvGrpSpPr>
          <p:grpSpPr>
            <a:xfrm>
              <a:off x="6019800" y="2038350"/>
              <a:ext cx="2168232" cy="1275949"/>
              <a:chOff x="381000" y="3790950"/>
              <a:chExt cx="2168232" cy="1275949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2321C0F-14CB-B340-FBCE-1756A0AD5C30}"/>
                  </a:ext>
                </a:extLst>
              </p:cNvPr>
              <p:cNvSpPr/>
              <p:nvPr/>
            </p:nvSpPr>
            <p:spPr>
              <a:xfrm>
                <a:off x="762000" y="4235973"/>
                <a:ext cx="17526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E1E8A158-AF6B-FB22-D3C6-D58A4C1E0ADF}"/>
                  </a:ext>
                </a:extLst>
              </p:cNvPr>
              <p:cNvSpPr/>
              <p:nvPr/>
            </p:nvSpPr>
            <p:spPr>
              <a:xfrm>
                <a:off x="762000" y="3790950"/>
                <a:ext cx="1752600" cy="304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97C1676F-C8DB-94FD-49EB-70DFC5BEAD8C}"/>
                      </a:ext>
                    </a:extLst>
                  </p:cNvPr>
                  <p:cNvSpPr txBox="1"/>
                  <p:nvPr/>
                </p:nvSpPr>
                <p:spPr>
                  <a:xfrm>
                    <a:off x="381000" y="4000099"/>
                    <a:ext cx="38100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⨁</m:t>
                          </m:r>
                        </m:oMath>
                      </m:oMathPara>
                    </a14:m>
                    <a:endParaRPr lang="en-US" sz="1800" dirty="0"/>
                  </a:p>
                </p:txBody>
              </p:sp>
            </mc:Choice>
            <mc:Fallback xmlns=""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FE66C2C1-4DEB-4837-85F9-326506B791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1000" y="4000099"/>
                    <a:ext cx="381000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AF11DED5-00FC-DC89-ED7B-F1D366AA76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287" y="4638747"/>
                <a:ext cx="1814945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246CBFFC-792E-E441-D0B7-01E0ED931801}"/>
                  </a:ext>
                </a:extLst>
              </p:cNvPr>
              <p:cNvSpPr/>
              <p:nvPr/>
            </p:nvSpPr>
            <p:spPr>
              <a:xfrm>
                <a:off x="762000" y="4762099"/>
                <a:ext cx="1752600" cy="3048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G(K)</a:t>
                </a:r>
              </a:p>
            </p:txBody>
          </p: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2CC5D4-3876-5BE8-CB41-D13151F81DF9}"/>
                </a:ext>
              </a:extLst>
            </p:cNvPr>
            <p:cNvSpPr/>
            <p:nvPr/>
          </p:nvSpPr>
          <p:spPr>
            <a:xfrm>
              <a:off x="6400800" y="2486804"/>
              <a:ext cx="522316" cy="30480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3D99DA0-2766-996E-386A-F008DF1E294F}"/>
                </a:ext>
              </a:extLst>
            </p:cNvPr>
            <p:cNvSpPr/>
            <p:nvPr/>
          </p:nvSpPr>
          <p:spPr>
            <a:xfrm>
              <a:off x="6400800" y="3008129"/>
              <a:ext cx="522316" cy="304800"/>
            </a:xfrm>
            <a:prstGeom prst="rect">
              <a:avLst/>
            </a:prstGeom>
            <a:pattFill prst="wd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9" name="Connector: Curved 19">
              <a:extLst>
                <a:ext uri="{FF2B5EF4-FFF2-40B4-BE49-F238E27FC236}">
                  <a16:creationId xmlns:a16="http://schemas.microsoft.com/office/drawing/2014/main" id="{F91FB021-9B42-A69A-C9A8-7EC587A547F9}"/>
                </a:ext>
              </a:extLst>
            </p:cNvPr>
            <p:cNvCxnSpPr>
              <a:stCxn id="7" idx="1"/>
              <a:endCxn id="8" idx="1"/>
            </p:cNvCxnSpPr>
            <p:nvPr/>
          </p:nvCxnSpPr>
          <p:spPr>
            <a:xfrm rot="10800000" flipV="1">
              <a:off x="6400800" y="2639203"/>
              <a:ext cx="12700" cy="521325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21">
              <a:extLst>
                <a:ext uri="{FF2B5EF4-FFF2-40B4-BE49-F238E27FC236}">
                  <a16:creationId xmlns:a16="http://schemas.microsoft.com/office/drawing/2014/main" id="{1D2CF7AF-E188-1531-EC67-4B4EEFB6FF88}"/>
                </a:ext>
              </a:extLst>
            </p:cNvPr>
            <p:cNvCxnSpPr>
              <a:stCxn id="8" idx="2"/>
              <a:endCxn id="16" idx="2"/>
            </p:cNvCxnSpPr>
            <p:nvPr/>
          </p:nvCxnSpPr>
          <p:spPr>
            <a:xfrm rot="16200000" flipH="1">
              <a:off x="6968844" y="3006043"/>
              <a:ext cx="1370" cy="615142"/>
            </a:xfrm>
            <a:prstGeom prst="curvedConnector3">
              <a:avLst>
                <a:gd name="adj1" fmla="val 1678613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: Curved 23">
              <a:extLst>
                <a:ext uri="{FF2B5EF4-FFF2-40B4-BE49-F238E27FC236}">
                  <a16:creationId xmlns:a16="http://schemas.microsoft.com/office/drawing/2014/main" id="{E9F5D232-659D-806A-32FE-AB6AD5FFC387}"/>
                </a:ext>
              </a:extLst>
            </p:cNvPr>
            <p:cNvCxnSpPr>
              <a:stCxn id="16" idx="3"/>
            </p:cNvCxnSpPr>
            <p:nvPr/>
          </p:nvCxnSpPr>
          <p:spPr>
            <a:xfrm flipH="1" flipV="1">
              <a:off x="7848600" y="2795035"/>
              <a:ext cx="304800" cy="366864"/>
            </a:xfrm>
            <a:prstGeom prst="curvedConnector4">
              <a:avLst>
                <a:gd name="adj1" fmla="val -75000"/>
                <a:gd name="adj2" fmla="val 7077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031368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CD30B1C5-023C-4301-8F76-D08C6A71D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50159633-3230-4B35-A27C-ECC98ED56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Chuỗi PRG yếu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ỗ dành sẵn cho Nội dung 3">
                <a:extLst>
                  <a:ext uri="{FF2B5EF4-FFF2-40B4-BE49-F238E27FC236}">
                    <a16:creationId xmlns:a16="http://schemas.microsoft.com/office/drawing/2014/main" id="{7F24F5F3-E2EC-4F3A-95A6-44E55ADD19A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5077" y="841247"/>
                <a:ext cx="6079701" cy="5303393"/>
              </a:xfrm>
            </p:spPr>
            <p:txBody>
              <a:bodyPr/>
              <a:lstStyle/>
              <a:p>
                <a:r>
                  <a:rPr lang="vi-VN"/>
                  <a:t>Bộ tạo đồng dư tuyến tính (Linear Congruential Generators) </a:t>
                </a:r>
              </a:p>
              <a:p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vi-VN"/>
                  <a:t> giá trị modulus (modulus) </a:t>
                </a: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vi-VN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vi-VN"/>
              </a:p>
              <a:p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vi-VN"/>
                  <a:t> số nhân (multiplier) </a:t>
                </a:r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vi-VN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vi-VN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vi-VN"/>
              </a:p>
              <a:p>
                <a14:m>
                  <m:oMath xmlns:m="http://schemas.openxmlformats.org/officeDocument/2006/math">
                    <m:r>
                      <a:rPr lang="vi-VN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vi-V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vi-VN" b="0" i="0" smtClean="0">
                        <a:latin typeface="Cambria Math" panose="02040503050406030204" pitchFamily="18" charset="0"/>
                      </a:rPr>
                      <m:t>ố </m:t>
                    </m:r>
                    <m:r>
                      <m:rPr>
                        <m:sty m:val="p"/>
                      </m:rPr>
                      <a:rPr lang="vi-VN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vi-VN" b="0" i="0" smtClean="0">
                        <a:latin typeface="Cambria Math" panose="02040503050406030204" pitchFamily="18" charset="0"/>
                      </a:rPr>
                      <m:t>ạ</m:t>
                    </m:r>
                    <m:r>
                      <m:rPr>
                        <m:sty m:val="p"/>
                      </m:rPr>
                      <a:rPr lang="vi-VN" b="0" i="0" smtClean="0">
                        <a:latin typeface="Cambria Math" panose="02040503050406030204" pitchFamily="18" charset="0"/>
                      </a:rPr>
                      <m:t>ng</m:t>
                    </m:r>
                    <m:r>
                      <a:rPr lang="vi-VN" b="0" i="0" smtClean="0">
                        <a:latin typeface="Cambria Math" panose="02040503050406030204" pitchFamily="18" charset="0"/>
                      </a:rPr>
                      <m:t> (</m:t>
                    </m:r>
                  </m:oMath>
                </a14:m>
                <a:r>
                  <a:rPr lang="vi-VN"/>
                  <a:t>increment) </a:t>
                </a:r>
                <a14:m>
                  <m:oMath xmlns:m="http://schemas.openxmlformats.org/officeDocument/2006/math">
                    <m:r>
                      <a:rPr lang="vi-VN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vi-V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vi-V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vi-VN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vi-VN"/>
                  <a:t> giá trị khởi tạo (starting value), seed (hạt mầm) </a:t>
                </a:r>
              </a:p>
              <a:p>
                <a:r>
                  <a:rPr lang="vi-VN"/>
                  <a:t>Chuỗi số giả ngẫu nhiên được tạo như sau </a:t>
                </a:r>
                <a:br>
                  <a:rPr lang="vi-VN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vi-V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vi-VN"/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vi-V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vi-V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vi-VN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vi-VN"/>
                  <a:t> </a:t>
                </a:r>
              </a:p>
            </p:txBody>
          </p:sp>
        </mc:Choice>
        <mc:Fallback xmlns="">
          <p:sp>
            <p:nvSpPr>
              <p:cNvPr id="4" name="Chỗ dành sẵn cho Nội dung 3">
                <a:extLst>
                  <a:ext uri="{FF2B5EF4-FFF2-40B4-BE49-F238E27FC236}">
                    <a16:creationId xmlns:a16="http://schemas.microsoft.com/office/drawing/2014/main" id="{7F24F5F3-E2EC-4F3A-95A6-44E55ADD19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7" y="841247"/>
                <a:ext cx="6079701" cy="5303393"/>
              </a:xfrm>
              <a:blipFill>
                <a:blip r:embed="rId2"/>
                <a:stretch>
                  <a:fillRect l="-1805" t="-195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1">
            <a:extLst>
              <a:ext uri="{FF2B5EF4-FFF2-40B4-BE49-F238E27FC236}">
                <a16:creationId xmlns:a16="http://schemas.microsoft.com/office/drawing/2014/main" id="{7B89166F-4F36-4B8F-94E1-5928E9E05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3651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vi-VN" altLang="vi-VN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vi-VN" altLang="vi-V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3" name="Picture 5" descr="Diagram&#10;&#10;Description automatically generated">
            <a:extLst>
              <a:ext uri="{FF2B5EF4-FFF2-40B4-BE49-F238E27FC236}">
                <a16:creationId xmlns:a16="http://schemas.microsoft.com/office/drawing/2014/main" id="{6C869B0B-BB10-46EC-8395-9A5221D8A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778" y="996457"/>
            <a:ext cx="2829222" cy="411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70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6A0D1517-379E-4A0C-91D7-85B125FC6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46F399AB-D08D-44C9-B659-871A9264A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Ví dụ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ỗ dành sẵn cho Nội dung 3">
                <a:extLst>
                  <a:ext uri="{FF2B5EF4-FFF2-40B4-BE49-F238E27FC236}">
                    <a16:creationId xmlns:a16="http://schemas.microsoft.com/office/drawing/2014/main" id="{334C99FE-2CDA-414D-B6B4-DBF3187A40B6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5077" y="841247"/>
                <a:ext cx="8674100" cy="1505713"/>
              </a:xfrm>
            </p:spPr>
            <p:txBody>
              <a:bodyPr/>
              <a:lstStyle/>
              <a:p>
                <a:r>
                  <a:rPr lang="en-US"/>
                  <a:t>Giá trị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endParaRPr lang="en-US"/>
              </a:p>
              <a:p>
                <a:r>
                  <a:rPr lang="en-US"/>
                  <a:t>Giá trị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7,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0,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=32</m:t>
                    </m:r>
                  </m:oMath>
                </a14:m>
                <a:r>
                  <a:rPr lang="en-US"/>
                  <a:t> và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 =1 </m:t>
                    </m:r>
                  </m:oMath>
                </a14:m>
                <a:endParaRPr lang="en-US"/>
              </a:p>
              <a:p>
                <a:r>
                  <a:rPr lang="en-US"/>
                  <a:t>Tìm chuỗi được tạo</a:t>
                </a:r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endParaRPr lang="en-US"/>
              </a:p>
              <a:p>
                <a:r>
                  <a:rPr lang="en-US"/>
                  <a:t>Điều kiện m lớn thỏa mãn 3 tiêu chuẩn sau </a:t>
                </a:r>
              </a:p>
              <a:p>
                <a:pPr lvl="1"/>
                <a:r>
                  <a:rPr lang="en-US"/>
                  <a:t>Chuỗi được tạo ra phải chứa tất cả các số từ 1-m trước khi lặp lại (full-period) </a:t>
                </a:r>
              </a:p>
              <a:p>
                <a:pPr lvl="1"/>
                <a:r>
                  <a:rPr lang="en-US"/>
                  <a:t>Chuỗi phải ngẫu nhiên </a:t>
                </a:r>
              </a:p>
              <a:p>
                <a:pPr lvl="1"/>
                <a:r>
                  <a:rPr lang="en-US"/>
                  <a:t>Thực thi hiệu quả với số 32 bit </a:t>
                </a:r>
                <a:br>
                  <a:rPr lang="en-US"/>
                </a:br>
                <a:endParaRPr lang="vi-VN"/>
              </a:p>
            </p:txBody>
          </p:sp>
        </mc:Choice>
        <mc:Fallback xmlns="">
          <p:sp>
            <p:nvSpPr>
              <p:cNvPr id="4" name="Chỗ dành sẵn cho Nội dung 3">
                <a:extLst>
                  <a:ext uri="{FF2B5EF4-FFF2-40B4-BE49-F238E27FC236}">
                    <a16:creationId xmlns:a16="http://schemas.microsoft.com/office/drawing/2014/main" id="{334C99FE-2CDA-414D-B6B4-DBF3187A40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7" y="841247"/>
                <a:ext cx="8674100" cy="1505713"/>
              </a:xfrm>
              <a:blipFill>
                <a:blip r:embed="rId2"/>
                <a:stretch>
                  <a:fillRect l="-1266" t="-7287" b="-278543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Hộp Văn bản 4">
            <a:extLst>
              <a:ext uri="{FF2B5EF4-FFF2-40B4-BE49-F238E27FC236}">
                <a16:creationId xmlns:a16="http://schemas.microsoft.com/office/drawing/2014/main" id="{646954CE-31F2-4DA6-8F9D-09CBA116F01A}"/>
              </a:ext>
            </a:extLst>
          </p:cNvPr>
          <p:cNvSpPr txBox="1"/>
          <p:nvPr/>
        </p:nvSpPr>
        <p:spPr>
          <a:xfrm>
            <a:off x="436880" y="2346960"/>
            <a:ext cx="7051040" cy="19000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Đáp án: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Chuỗi {7,17,23,1,7,etc. } -&gt; chỉ 4 giá trị được sử dụng chu kỳ là 4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8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Thay đổi a = 5 , chu kỳ tăng lên 8 </a:t>
            </a:r>
            <a:endParaRPr lang="vi-VN" sz="280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713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26D636-2D75-C5D1-0266-765AF2861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962D629-3F5E-27BC-0308-536EB2610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Chuỗi PRG yếu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544B028-67D0-5A64-C7C8-6F81BE50B8E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Thuật </a:t>
                </a:r>
                <a:r>
                  <a:rPr lang="en-US" dirty="0" err="1">
                    <a:solidFill>
                      <a:schemeClr val="tx1"/>
                    </a:solidFill>
                  </a:rPr>
                  <a:t>toán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tạo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chuỗi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giả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ngẫu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nhiên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thông</a:t>
                </a:r>
                <a:r>
                  <a:rPr lang="en-US" dirty="0">
                    <a:solidFill>
                      <a:schemeClr val="tx1"/>
                    </a:solidFill>
                  </a:rPr>
                  <a:t> qua </a:t>
                </a:r>
                <a:r>
                  <a:rPr lang="en-US" dirty="0" err="1">
                    <a:solidFill>
                      <a:schemeClr val="tx1"/>
                    </a:solidFill>
                  </a:rPr>
                  <a:t>bộ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tạo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đồng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dư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tuyến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tính</a:t>
                </a:r>
                <a:r>
                  <a:rPr lang="en-US" dirty="0">
                    <a:solidFill>
                      <a:schemeClr val="tx1"/>
                    </a:solidFill>
                  </a:rPr>
                  <a:t> (Linear congruential generator) </a:t>
                </a:r>
                <a:r>
                  <a:rPr lang="en-US" dirty="0" err="1">
                    <a:solidFill>
                      <a:schemeClr val="tx1"/>
                    </a:solidFill>
                  </a:rPr>
                  <a:t>với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các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tham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dirty="0" err="1">
                    <a:solidFill>
                      <a:schemeClr val="tx1"/>
                    </a:solidFill>
                  </a:rPr>
                  <a:t>số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−1] +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Output bit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++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𝑆𝑒𝑒𝑑</m:t>
                    </m:r>
                    <m:r>
                      <a:rPr lang="vi-V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vi-V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vi-V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vi-VN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endParaRPr lang="vi-VN" dirty="0">
                  <a:solidFill>
                    <a:schemeClr val="tx1"/>
                  </a:solidFill>
                </a:endParaRPr>
              </a:p>
              <a:p>
                <a:r>
                  <a:rPr lang="en-US" dirty="0"/>
                  <a:t>glibc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𝑟𝑎𝑛𝑑𝑜𝑚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():</m:t>
                    </m:r>
                  </m:oMath>
                </a14:m>
                <a:endParaRPr lang="en-US" dirty="0"/>
              </a:p>
              <a:p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←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−3] +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−31]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 %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vi-V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vi-VN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aseline="30000" dirty="0"/>
              </a:p>
              <a:p>
                <a:r>
                  <a:rPr lang="en-US" dirty="0"/>
                  <a:t>	output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 &gt;&gt; 1</m:t>
                    </m:r>
                  </m:oMath>
                </a14:m>
                <a:endParaRPr lang="en-US" sz="2400" dirty="0"/>
              </a:p>
              <a:p>
                <a:r>
                  <a:rPr lang="en-US" dirty="0"/>
                  <a:t>Never use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𝑟𝑎𝑛𝑑𝑜𝑚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/>
                    </m:d>
                    <m:r>
                      <a:rPr lang="vi-VN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crypto!! (e.g. Kerberos V4) </a:t>
                </a:r>
              </a:p>
              <a:p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544B028-67D0-5A64-C7C8-6F81BE50B8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170" t="-2153" r="-585" b="-11244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8839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80D183FB-1E3B-4C14-A204-9FEF768F5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672FF09D-CCB6-43E0-B46C-FCAEF8A9A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Chuỗi PRG yếu 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hỗ dành sẵn cho Nội dung 3">
                <a:extLst>
                  <a:ext uri="{FF2B5EF4-FFF2-40B4-BE49-F238E27FC236}">
                    <a16:creationId xmlns:a16="http://schemas.microsoft.com/office/drawing/2014/main" id="{51FFAE2F-61E7-415F-9DD7-5148A7FE73EE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/>
                  <a:t>Bộ tạo Blum blum blum </a:t>
                </a:r>
              </a:p>
              <a:p>
                <a:r>
                  <a:rPr lang="en-US"/>
                  <a:t>Chọn 2 số nguyên tố lớn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đồng dư 3 trong phép chia cho 4 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4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 có nghĩa là </a:t>
                </a:r>
                <a:endParaRPr lang="en-US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4=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4=3</m:t>
                    </m:r>
                  </m:oMath>
                </a14:m>
                <a:endParaRPr lang="en-US" b="0"/>
              </a:p>
              <a:p>
                <a:r>
                  <a:rPr lang="en-US"/>
                  <a:t>Ví dụ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7,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11</m:t>
                    </m:r>
                  </m:oMath>
                </a14:m>
                <a:r>
                  <a:rPr lang="en-US"/>
                  <a:t>. Tính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 =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r>
                  <a:rPr lang="en-US"/>
                  <a:t>Chọn một số ngẫu nhiên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, thực tế là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/>
                  <a:t> nguyên tố cùng nhau với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 , điều này có nghĩa là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/>
                  <a:t> không phải là nhân tử của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/>
              </a:p>
              <a:p>
                <a:r>
                  <a:rPr lang="en-US"/>
                  <a:t>Giải thuật như sau: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/>
                  <a:t>For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= 1 </m:t>
                    </m:r>
                  </m:oMath>
                </a14:m>
                <a:r>
                  <a:rPr lang="en-US"/>
                  <a:t>to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/>
                  <a:t> 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2 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endParaRPr lang="vi-VN"/>
              </a:p>
            </p:txBody>
          </p:sp>
        </mc:Choice>
        <mc:Fallback xmlns="">
          <p:sp>
            <p:nvSpPr>
              <p:cNvPr id="4" name="Chỗ dành sẵn cho Nội dung 3">
                <a:extLst>
                  <a:ext uri="{FF2B5EF4-FFF2-40B4-BE49-F238E27FC236}">
                    <a16:creationId xmlns:a16="http://schemas.microsoft.com/office/drawing/2014/main" id="{51FFAE2F-61E7-415F-9DD7-5148A7FE7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1462" t="-2153" r="-2485" b="-8612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7654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272FE17E-5DEB-48A4-8812-D314A7D31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8CC24C0B-92A9-419D-BE4F-0CBAD335B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Bài tập </a:t>
            </a:r>
            <a:endParaRPr lang="vi-VN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B310BEA8-9217-4C04-962E-065A63974FE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967233"/>
          </a:xfrm>
        </p:spPr>
        <p:txBody>
          <a:bodyPr/>
          <a:lstStyle/>
          <a:p>
            <a:r>
              <a:rPr lang="en-US" dirty="0"/>
              <a:t>Cho n = 192649, </a:t>
            </a:r>
            <a:r>
              <a:rPr lang="en-US" dirty="0" err="1"/>
              <a:t>tìm</a:t>
            </a:r>
            <a:r>
              <a:rPr lang="en-US" dirty="0"/>
              <a:t> p , q , s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chuỗi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20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lặp</a:t>
            </a:r>
            <a:r>
              <a:rPr lang="en-US" dirty="0"/>
              <a:t>, the seed s = 101355 </a:t>
            </a:r>
          </a:p>
          <a:p>
            <a:r>
              <a:rPr lang="en-US" dirty="0"/>
              <a:t> </a:t>
            </a:r>
            <a:endParaRPr lang="vi-VN" dirty="0"/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0176EBB6-6F83-5F9F-889C-E61AD4F20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116" y="1808480"/>
            <a:ext cx="7055297" cy="4326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95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F0AFCD-DEF7-3C1F-E48B-84D9CDE2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7B9BB0-FFA1-C0E2-8E5D-61D70E7E6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Mật mã dòng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DFFA6-6342-4087-5FD1-62EC90A53E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RC4 </a:t>
            </a:r>
          </a:p>
          <a:p>
            <a:r>
              <a:rPr lang="vi-VN" dirty="0"/>
              <a:t>CSS</a:t>
            </a:r>
          </a:p>
          <a:p>
            <a:r>
              <a:rPr lang="vi-VN" dirty="0"/>
              <a:t>eStream family Salsa20, </a:t>
            </a:r>
            <a:r>
              <a:rPr lang="en-US" dirty="0" err="1"/>
              <a:t>Sosemanuk</a:t>
            </a:r>
            <a:r>
              <a:rPr lang="en-US" dirty="0"/>
              <a:t>, Gain 128 …</a:t>
            </a:r>
          </a:p>
          <a:p>
            <a:r>
              <a:rPr lang="en-US" dirty="0"/>
              <a:t>https://</a:t>
            </a:r>
            <a:r>
              <a:rPr lang="en-US" dirty="0" err="1"/>
              <a:t>en.m.wikipedia.org</a:t>
            </a:r>
            <a:r>
              <a:rPr lang="en-US" dirty="0"/>
              <a:t>/wiki/ESTREAM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865517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9392A1A-B68F-FD39-2BBB-0739BC00A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F6FD30-520F-C697-F34D-AE39F112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RC4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A02F12-7B07-117A-B526-A940A481597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RC4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mật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1987 </a:t>
            </a:r>
            <a:r>
              <a:rPr lang="en-US" dirty="0" err="1"/>
              <a:t>bởi</a:t>
            </a:r>
            <a:r>
              <a:rPr lang="en-US" dirty="0"/>
              <a:t> Ron Rivest (RSA Security). </a:t>
            </a:r>
          </a:p>
          <a:p>
            <a:r>
              <a:rPr lang="en-US" dirty="0"/>
              <a:t>RC4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chuẩn</a:t>
            </a:r>
            <a:r>
              <a:rPr lang="en-US" dirty="0"/>
              <a:t> Secure Sockets Layer/Transport Layer Security</a:t>
            </a:r>
            <a:br>
              <a:rPr lang="en-US" dirty="0"/>
            </a:br>
            <a:r>
              <a:rPr lang="en-US" dirty="0"/>
              <a:t>(SSL/TLS)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Web</a:t>
            </a:r>
            <a:br>
              <a:rPr lang="en-US" dirty="0"/>
            </a:br>
            <a:r>
              <a:rPr lang="en-US" dirty="0"/>
              <a:t>browsers </a:t>
            </a:r>
            <a:r>
              <a:rPr lang="en-US" dirty="0" err="1"/>
              <a:t>và</a:t>
            </a:r>
            <a:r>
              <a:rPr lang="en-US" dirty="0"/>
              <a:t> servers. </a:t>
            </a:r>
          </a:p>
          <a:p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Wired Equivalent Privacy (WEP)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truyền</a:t>
            </a:r>
            <a:r>
              <a:rPr lang="en-US" dirty="0"/>
              <a:t> tin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dây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WiFi</a:t>
            </a:r>
            <a:r>
              <a:rPr lang="en-US" dirty="0"/>
              <a:t> Protected Access (WPA)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chuẩn</a:t>
            </a:r>
            <a:br>
              <a:rPr lang="en-US" dirty="0"/>
            </a:br>
            <a:r>
              <a:rPr lang="en-US" dirty="0"/>
              <a:t>802.11 wireless LAN. </a:t>
            </a:r>
            <a:br>
              <a:rPr lang="en-US" dirty="0"/>
            </a:br>
            <a:br>
              <a:rPr lang="en-US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2570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EC3138-43A7-8158-B771-C279E9E8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0BAF10-CCF8-9CD6-7B5B-AA9B1DB1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RC4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12D6-05D7-6D49-AF90-BD49388C30A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chiều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tuỳ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1 </a:t>
            </a:r>
            <a:r>
              <a:rPr lang="en-US" dirty="0" err="1"/>
              <a:t>đến</a:t>
            </a:r>
            <a:r>
              <a:rPr lang="en-US" dirty="0"/>
              <a:t> 256 bytes  (8 to 2048 bits)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dung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vector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thái</a:t>
            </a:r>
            <a:r>
              <a:rPr lang="en-US" dirty="0"/>
              <a:t> S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S[0], S[1], … , S[255]. </a:t>
            </a:r>
          </a:p>
          <a:p>
            <a:r>
              <a:rPr lang="en-US" dirty="0"/>
              <a:t>S </a:t>
            </a:r>
            <a:r>
              <a:rPr lang="en-US" dirty="0" err="1"/>
              <a:t>chứa</a:t>
            </a:r>
            <a:r>
              <a:rPr lang="en-US" dirty="0"/>
              <a:t> </a:t>
            </a:r>
            <a:r>
              <a:rPr lang="en-US" dirty="0" err="1"/>
              <a:t>hoán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8 – bit </a:t>
            </a:r>
            <a:r>
              <a:rPr lang="en-US" dirty="0" err="1"/>
              <a:t>từ</a:t>
            </a:r>
            <a:r>
              <a:rPr lang="en-US" dirty="0"/>
              <a:t> 0 </a:t>
            </a:r>
            <a:r>
              <a:rPr lang="en-US" dirty="0" err="1"/>
              <a:t>đến</a:t>
            </a:r>
            <a:r>
              <a:rPr lang="en-US" dirty="0"/>
              <a:t> 255.</a:t>
            </a:r>
          </a:p>
          <a:p>
            <a:r>
              <a:rPr lang="vi-VN" dirty="0"/>
              <a:t>Một byte k được tạo từ S bằng việc lựa chọn 1 trong 255 thực thể của S </a:t>
            </a:r>
          </a:p>
          <a:p>
            <a:r>
              <a:rPr lang="vi-VN" dirty="0"/>
              <a:t>Mỗi khi k được tạo ra thì các thực thể của S sẽ được hoán vị </a:t>
            </a:r>
          </a:p>
          <a:p>
            <a:r>
              <a:rPr lang="vi-VN" dirty="0"/>
              <a:t>Các bước thực hiện như sau </a:t>
            </a:r>
          </a:p>
          <a:p>
            <a:pPr marL="0" indent="0">
              <a:buNone/>
            </a:pPr>
            <a:r>
              <a:rPr lang="en-US" dirty="0"/>
              <a:t>Initialization -&gt; Initial Permutation of S -&gt; Stream Generation 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65852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Số hiệu Bản chiếu 1">
            <a:extLst>
              <a:ext uri="{FF2B5EF4-FFF2-40B4-BE49-F238E27FC236}">
                <a16:creationId xmlns:a16="http://schemas.microsoft.com/office/drawing/2014/main" id="{4341A25E-91B4-4FE6-AA85-A34A02ABE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iêu đề 2">
            <a:extLst>
              <a:ext uri="{FF2B5EF4-FFF2-40B4-BE49-F238E27FC236}">
                <a16:creationId xmlns:a16="http://schemas.microsoft.com/office/drawing/2014/main" id="{165A5BF4-201B-4CE9-A4EB-84B73A071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RC4 </a:t>
            </a:r>
            <a:endParaRPr lang="vi-VN" dirty="0"/>
          </a:p>
        </p:txBody>
      </p:sp>
      <p:pic>
        <p:nvPicPr>
          <p:cNvPr id="6" name="Content Placeholder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8D89B958-B4A9-FE7A-0609-6694ED943DA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92016"/>
            <a:ext cx="7503066" cy="5632583"/>
          </a:xfrm>
        </p:spPr>
      </p:pic>
    </p:spTree>
    <p:extLst>
      <p:ext uri="{BB962C8B-B14F-4D97-AF65-F5344CB8AC3E}">
        <p14:creationId xmlns:p14="http://schemas.microsoft.com/office/powerpoint/2010/main" val="1578274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0520FE-F842-A789-6A67-ABE39FC5D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B6D001-13ED-BACB-276F-CB1E518E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RC4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E9659E8-FDF3-599C-B01F-75E158CD53C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5077" y="841247"/>
                <a:ext cx="8674100" cy="3260853"/>
              </a:xfrm>
            </p:spPr>
            <p:txBody>
              <a:bodyPr/>
              <a:lstStyle/>
              <a:p>
                <a:r>
                  <a:rPr lang="vi-VN" dirty="0"/>
                  <a:t>Pha khởi tạo, giá trị ban đầu của vector S được mặc định </a:t>
                </a:r>
                <a14:m>
                  <m:oMath xmlns:m="http://schemas.openxmlformats.org/officeDocument/2006/math">
                    <m:r>
                      <a:rPr lang="vi-VN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[0] = 0,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[1] = 1, …,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[255] = 255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Vector T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khoá</a:t>
                </a:r>
                <a:r>
                  <a:rPr lang="en-US" dirty="0"/>
                  <a:t> K </a:t>
                </a:r>
                <a:r>
                  <a:rPr lang="en-US" dirty="0" err="1"/>
                  <a:t>có</a:t>
                </a:r>
                <a:r>
                  <a:rPr lang="en-US" dirty="0"/>
                  <a:t> 256 byte </a:t>
                </a:r>
                <a:r>
                  <a:rPr lang="en-US" dirty="0" err="1"/>
                  <a:t>thì</a:t>
                </a:r>
                <a:r>
                  <a:rPr lang="en-US" dirty="0"/>
                  <a:t> T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chuyển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S. </a:t>
                </a:r>
                <a:r>
                  <a:rPr lang="en-US" dirty="0" err="1"/>
                  <a:t>Trường</a:t>
                </a:r>
                <a:r>
                  <a:rPr lang="en-US" dirty="0"/>
                  <a:t> </a:t>
                </a:r>
                <a:r>
                  <a:rPr lang="en-US" dirty="0" err="1"/>
                  <a:t>hợp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, </a:t>
                </a:r>
                <a:r>
                  <a:rPr lang="en-US" dirty="0" err="1"/>
                  <a:t>khoá</a:t>
                </a:r>
                <a:r>
                  <a:rPr lang="en-US" dirty="0"/>
                  <a:t> K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chiều</a:t>
                </a:r>
                <a:r>
                  <a:rPr lang="en-US" dirty="0"/>
                  <a:t> </a:t>
                </a:r>
                <a:r>
                  <a:rPr lang="en-US" dirty="0" err="1"/>
                  <a:t>dài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𝑘𝑒𝑦𝑙𝑒𝑛</m:t>
                    </m:r>
                  </m:oMath>
                </a14:m>
                <a:r>
                  <a:rPr lang="en-US" dirty="0"/>
                  <a:t> byte, </a:t>
                </a:r>
                <a:r>
                  <a:rPr lang="en-US" dirty="0" err="1"/>
                  <a:t>thì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𝑘𝑒𝑦𝑙𝑒𝑛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phần</a:t>
                </a:r>
                <a:r>
                  <a:rPr lang="en-US" dirty="0"/>
                  <a:t> </a:t>
                </a:r>
                <a:r>
                  <a:rPr lang="en-US" dirty="0" err="1"/>
                  <a:t>tử</a:t>
                </a:r>
                <a:r>
                  <a:rPr lang="en-US" dirty="0"/>
                  <a:t> </a:t>
                </a:r>
                <a:r>
                  <a:rPr lang="en-US" dirty="0" err="1"/>
                  <a:t>đầu</a:t>
                </a:r>
                <a:r>
                  <a:rPr lang="en-US" dirty="0"/>
                  <a:t> </a:t>
                </a:r>
                <a:r>
                  <a:rPr lang="en-US" dirty="0" err="1"/>
                  <a:t>tiên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T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sao</a:t>
                </a:r>
                <a:r>
                  <a:rPr lang="en-US" dirty="0"/>
                  <a:t> </a:t>
                </a:r>
                <a:r>
                  <a:rPr lang="en-US" dirty="0" err="1"/>
                  <a:t>chép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K, </a:t>
                </a:r>
                <a:r>
                  <a:rPr lang="en-US" dirty="0" err="1"/>
                  <a:t>và</a:t>
                </a:r>
                <a:r>
                  <a:rPr lang="en-US" dirty="0"/>
                  <a:t> K </a:t>
                </a:r>
                <a:r>
                  <a:rPr lang="en-US" dirty="0" err="1"/>
                  <a:t>sẽ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lặp</a:t>
                </a:r>
                <a:r>
                  <a:rPr lang="en-US" dirty="0"/>
                  <a:t> </a:t>
                </a:r>
                <a:r>
                  <a:rPr lang="en-US" dirty="0" err="1"/>
                  <a:t>lại</a:t>
                </a:r>
                <a:r>
                  <a:rPr lang="en-US" dirty="0"/>
                  <a:t> </a:t>
                </a:r>
                <a:r>
                  <a:rPr lang="en-US" dirty="0" err="1"/>
                  <a:t>nhiều</a:t>
                </a:r>
                <a:r>
                  <a:rPr lang="en-US" dirty="0"/>
                  <a:t> </a:t>
                </a:r>
                <a:r>
                  <a:rPr lang="en-US" dirty="0" err="1"/>
                  <a:t>lần</a:t>
                </a:r>
                <a:r>
                  <a:rPr lang="en-US" dirty="0"/>
                  <a:t> </a:t>
                </a:r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khi</a:t>
                </a:r>
                <a:r>
                  <a:rPr lang="en-US" dirty="0"/>
                  <a:t> </a:t>
                </a:r>
                <a:r>
                  <a:rPr lang="en-US" dirty="0" err="1"/>
                  <a:t>điền</a:t>
                </a:r>
                <a:r>
                  <a:rPr lang="en-US" dirty="0"/>
                  <a:t> </a:t>
                </a:r>
                <a:r>
                  <a:rPr lang="en-US" dirty="0" err="1"/>
                  <a:t>đầy</a:t>
                </a:r>
                <a:r>
                  <a:rPr lang="en-US" dirty="0"/>
                  <a:t> T. 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E9659E8-FDF3-599C-B01F-75E158CD53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7" y="841247"/>
                <a:ext cx="8674100" cy="3260853"/>
              </a:xfrm>
              <a:blipFill>
                <a:blip r:embed="rId2"/>
                <a:stretch>
                  <a:fillRect l="-1170" t="-3488" r="-1023" b="-5814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112E53D-1E4E-92E3-0AF0-A68A0B354086}"/>
              </a:ext>
            </a:extLst>
          </p:cNvPr>
          <p:cNvSpPr txBox="1"/>
          <p:nvPr/>
        </p:nvSpPr>
        <p:spPr>
          <a:xfrm>
            <a:off x="1257301" y="4539425"/>
            <a:ext cx="34417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effectLst/>
                <a:latin typeface="Courier" pitchFamily="2" charset="0"/>
              </a:rPr>
              <a:t>/* </a:t>
            </a:r>
            <a:r>
              <a:rPr lang="en-US" sz="1800" b="1" dirty="0">
                <a:effectLst/>
                <a:latin typeface="Courier" pitchFamily="2" charset="0"/>
              </a:rPr>
              <a:t>Initialization </a:t>
            </a:r>
            <a:r>
              <a:rPr lang="en-US" sz="1800" dirty="0">
                <a:effectLst/>
                <a:latin typeface="Courier" pitchFamily="2" charset="0"/>
              </a:rPr>
              <a:t>*/ </a:t>
            </a:r>
          </a:p>
          <a:p>
            <a:pPr marL="0" indent="0">
              <a:buNone/>
            </a:pPr>
            <a:r>
              <a:rPr lang="en-US" sz="1800" b="1" dirty="0">
                <a:effectLst/>
                <a:latin typeface="Courier" pitchFamily="2" charset="0"/>
              </a:rPr>
              <a:t>for 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 = 0 </a:t>
            </a:r>
            <a:r>
              <a:rPr lang="en-US" sz="1800" b="1" dirty="0">
                <a:effectLst/>
                <a:latin typeface="Courier" pitchFamily="2" charset="0"/>
              </a:rPr>
              <a:t>to </a:t>
            </a:r>
            <a:r>
              <a:rPr lang="en-US" sz="1800" dirty="0">
                <a:effectLst/>
                <a:latin typeface="Courier" pitchFamily="2" charset="0"/>
              </a:rPr>
              <a:t>255 </a:t>
            </a:r>
            <a:r>
              <a:rPr lang="en-US" sz="1800" b="1" dirty="0">
                <a:effectLst/>
                <a:latin typeface="Courier" pitchFamily="2" charset="0"/>
              </a:rPr>
              <a:t>do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ourier" pitchFamily="2" charset="0"/>
              </a:rPr>
              <a:t>S[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 = 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;</a:t>
            </a:r>
            <a:br>
              <a:rPr lang="en-US" sz="1800" dirty="0">
                <a:effectLst/>
                <a:latin typeface="Courier" pitchFamily="2" charset="0"/>
              </a:rPr>
            </a:br>
            <a:r>
              <a:rPr lang="en-US" sz="1800" dirty="0">
                <a:effectLst/>
                <a:latin typeface="Courier" pitchFamily="2" charset="0"/>
              </a:rPr>
              <a:t>T[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 = K[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 </a:t>
            </a:r>
            <a:r>
              <a:rPr lang="en-US" sz="1800" b="1" dirty="0">
                <a:effectLst/>
                <a:latin typeface="Courier" pitchFamily="2" charset="0"/>
              </a:rPr>
              <a:t>mod </a:t>
            </a:r>
            <a:r>
              <a:rPr lang="en-US" sz="1800" dirty="0" err="1">
                <a:effectLst/>
                <a:latin typeface="Courier" pitchFamily="2" charset="0"/>
              </a:rPr>
              <a:t>keylen</a:t>
            </a:r>
            <a:r>
              <a:rPr lang="en-US" sz="1800" dirty="0">
                <a:effectLst/>
                <a:latin typeface="Courier" pitchFamily="2" charset="0"/>
              </a:rPr>
              <a:t>]; </a:t>
            </a:r>
            <a:endParaRPr lang="en-US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0159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F4CBE0-03B7-E96B-A158-36469D1D3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9C0D02-E953-C3CF-1E4F-88672D72C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RC4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BBAD88-C24D-B65E-EF51-D0A6EFB0B20D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5077" y="841247"/>
                <a:ext cx="8674100" cy="2714753"/>
              </a:xfrm>
            </p:spPr>
            <p:txBody>
              <a:bodyPr/>
              <a:lstStyle/>
              <a:p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hoán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</a:t>
                </a:r>
                <a:r>
                  <a:rPr lang="en-US" dirty="0" err="1"/>
                  <a:t>khởi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S. Bao </a:t>
                </a:r>
                <a:r>
                  <a:rPr lang="en-US" dirty="0" err="1"/>
                  <a:t>gồm</a:t>
                </a:r>
                <a:r>
                  <a:rPr lang="en-US" dirty="0"/>
                  <a:t> </a:t>
                </a:r>
                <a:r>
                  <a:rPr lang="en-US" dirty="0" err="1"/>
                  <a:t>điểm</a:t>
                </a:r>
                <a:r>
                  <a:rPr lang="en-US" dirty="0"/>
                  <a:t> </a:t>
                </a:r>
                <a:r>
                  <a:rPr lang="en-US" dirty="0" err="1"/>
                  <a:t>khởi</a:t>
                </a:r>
                <a:r>
                  <a:rPr lang="en-US" dirty="0"/>
                  <a:t> </a:t>
                </a:r>
                <a:r>
                  <a:rPr lang="en-US" dirty="0" err="1"/>
                  <a:t>tạo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[0] </m:t>
                    </m:r>
                  </m:oMath>
                </a14:m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[255], </m:t>
                    </m:r>
                  </m:oMath>
                </a14:m>
                <a:r>
                  <a:rPr lang="en-US" dirty="0" err="1"/>
                  <a:t>cho</a:t>
                </a:r>
                <a:r>
                  <a:rPr lang="en-US" dirty="0"/>
                  <a:t> </a:t>
                </a:r>
                <a:r>
                  <a:rPr lang="en-US" dirty="0" err="1"/>
                  <a:t>mỗi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đảo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byte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tương</a:t>
                </a:r>
                <a:r>
                  <a:rPr lang="en-US" dirty="0"/>
                  <a:t> </a:t>
                </a:r>
                <a:r>
                  <a:rPr lang="en-US" dirty="0" err="1"/>
                  <a:t>ứng</a:t>
                </a:r>
                <a:r>
                  <a:rPr lang="en-US" dirty="0"/>
                  <a:t> </a:t>
                </a:r>
                <a:r>
                  <a:rPr lang="en-US" dirty="0" err="1"/>
                  <a:t>lược</a:t>
                </a:r>
                <a:r>
                  <a:rPr lang="en-US" dirty="0"/>
                  <a:t>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đọc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]: 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Đây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phép</a:t>
                </a:r>
                <a:r>
                  <a:rPr lang="en-US" dirty="0"/>
                  <a:t> </a:t>
                </a:r>
                <a:r>
                  <a:rPr lang="en-US" dirty="0" err="1"/>
                  <a:t>hoán</a:t>
                </a:r>
                <a:r>
                  <a:rPr lang="en-US" dirty="0"/>
                  <a:t> </a:t>
                </a:r>
                <a:r>
                  <a:rPr lang="en-US" dirty="0" err="1"/>
                  <a:t>vị</a:t>
                </a:r>
                <a:r>
                  <a:rPr lang="en-US" dirty="0"/>
                  <a:t> do </a:t>
                </a:r>
                <a:r>
                  <a:rPr lang="en-US" dirty="0" err="1"/>
                  <a:t>đó</a:t>
                </a:r>
                <a:r>
                  <a:rPr lang="en-US" dirty="0"/>
                  <a:t> S </a:t>
                </a:r>
                <a:r>
                  <a:rPr lang="en-US" dirty="0" err="1"/>
                  <a:t>vẫn</a:t>
                </a:r>
                <a:r>
                  <a:rPr lang="en-US" dirty="0"/>
                  <a:t> </a:t>
                </a:r>
                <a:r>
                  <a:rPr lang="en-US" dirty="0" err="1"/>
                  <a:t>chứa</a:t>
                </a:r>
                <a:r>
                  <a:rPr lang="en-US" dirty="0"/>
                  <a:t> </a:t>
                </a:r>
                <a:r>
                  <a:rPr lang="en-US" dirty="0" err="1"/>
                  <a:t>các</a:t>
                </a:r>
                <a:r>
                  <a:rPr lang="en-US" dirty="0"/>
                  <a:t> </a:t>
                </a:r>
                <a:r>
                  <a:rPr lang="en-US" dirty="0" err="1"/>
                  <a:t>số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0 </a:t>
                </a:r>
                <a:r>
                  <a:rPr lang="en-US" dirty="0" err="1"/>
                  <a:t>đến</a:t>
                </a:r>
                <a:r>
                  <a:rPr lang="en-US" dirty="0"/>
                  <a:t> 255. </a:t>
                </a:r>
                <a:endParaRPr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7BBAD88-C24D-B65E-EF51-D0A6EFB0B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7" y="841247"/>
                <a:ext cx="8674100" cy="2714753"/>
              </a:xfrm>
              <a:blipFill>
                <a:blip r:embed="rId2"/>
                <a:stretch>
                  <a:fillRect l="-1170" t="-4206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E12259AC-1AA4-F767-27C3-401AD4BDE77D}"/>
              </a:ext>
            </a:extLst>
          </p:cNvPr>
          <p:cNvSpPr txBox="1"/>
          <p:nvPr/>
        </p:nvSpPr>
        <p:spPr>
          <a:xfrm>
            <a:off x="863600" y="4000500"/>
            <a:ext cx="4432300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800" dirty="0">
                <a:effectLst/>
                <a:latin typeface="Courier" pitchFamily="2" charset="0"/>
              </a:rPr>
              <a:t>/* </a:t>
            </a:r>
            <a:r>
              <a:rPr lang="en-US" sz="1800" b="1" dirty="0">
                <a:effectLst/>
                <a:latin typeface="Courier" pitchFamily="2" charset="0"/>
              </a:rPr>
              <a:t>Initial Permutation of S </a:t>
            </a:r>
            <a:r>
              <a:rPr lang="en-US" sz="1800" dirty="0">
                <a:effectLst/>
                <a:latin typeface="Courier" pitchFamily="2" charset="0"/>
              </a:rPr>
              <a:t>*/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ourier" pitchFamily="2" charset="0"/>
              </a:rPr>
              <a:t>j = 0;</a:t>
            </a:r>
            <a:br>
              <a:rPr lang="en-US" sz="1800" dirty="0">
                <a:effectLst/>
                <a:latin typeface="Courier" pitchFamily="2" charset="0"/>
              </a:rPr>
            </a:br>
            <a:r>
              <a:rPr lang="en-US" sz="1800" b="1" dirty="0">
                <a:effectLst/>
                <a:latin typeface="Courier" pitchFamily="2" charset="0"/>
              </a:rPr>
              <a:t>for 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 = 0 </a:t>
            </a:r>
            <a:r>
              <a:rPr lang="en-US" sz="1800" b="1" dirty="0">
                <a:effectLst/>
                <a:latin typeface="Courier" pitchFamily="2" charset="0"/>
              </a:rPr>
              <a:t>to </a:t>
            </a:r>
            <a:r>
              <a:rPr lang="en-US" sz="1800" dirty="0">
                <a:effectLst/>
                <a:latin typeface="Courier" pitchFamily="2" charset="0"/>
              </a:rPr>
              <a:t>255 </a:t>
            </a:r>
            <a:r>
              <a:rPr lang="en-US" sz="1800" b="1" dirty="0">
                <a:effectLst/>
                <a:latin typeface="Courier" pitchFamily="2" charset="0"/>
              </a:rPr>
              <a:t>do </a:t>
            </a:r>
            <a:endParaRPr lang="en-US" dirty="0"/>
          </a:p>
          <a:p>
            <a:pPr marL="0" indent="0">
              <a:buNone/>
            </a:pPr>
            <a:r>
              <a:rPr lang="en-US" sz="1800" dirty="0">
                <a:effectLst/>
                <a:latin typeface="Courier" pitchFamily="2" charset="0"/>
              </a:rPr>
              <a:t>j = (j + S[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 + T[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]) </a:t>
            </a:r>
            <a:r>
              <a:rPr lang="en-US" sz="1800" b="1" dirty="0">
                <a:effectLst/>
                <a:latin typeface="Courier" pitchFamily="2" charset="0"/>
              </a:rPr>
              <a:t>mod </a:t>
            </a:r>
            <a:r>
              <a:rPr lang="en-US" sz="1800" dirty="0">
                <a:effectLst/>
                <a:latin typeface="Courier" pitchFamily="2" charset="0"/>
              </a:rPr>
              <a:t>256; </a:t>
            </a:r>
          </a:p>
          <a:p>
            <a:pPr marL="0" indent="0">
              <a:buNone/>
            </a:pPr>
            <a:r>
              <a:rPr lang="en-US" sz="1800" dirty="0">
                <a:effectLst/>
                <a:latin typeface="Courier" pitchFamily="2" charset="0"/>
              </a:rPr>
              <a:t>Swap (S[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], S[j]);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994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F3FC38-D5D7-96C7-2F7B-016B301F8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5EDF29-B738-7A3A-6B99-8C21485E1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dòng</a:t>
            </a:r>
            <a:r>
              <a:rPr lang="en-US" dirty="0"/>
              <a:t> RC4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DD7EF-645F-DFDF-C372-A63367D28D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3906177"/>
          </a:xfrm>
        </p:spPr>
        <p:txBody>
          <a:bodyPr/>
          <a:lstStyle/>
          <a:p>
            <a:r>
              <a:rPr lang="en-US" dirty="0"/>
              <a:t>Stream Generation </a:t>
            </a:r>
          </a:p>
          <a:p>
            <a:r>
              <a:rPr lang="en-US" dirty="0"/>
              <a:t>Khi vector 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, </a:t>
            </a:r>
            <a:r>
              <a:rPr lang="en-US" dirty="0" err="1"/>
              <a:t>khoá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đủ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. Stream generation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chu </a:t>
            </a:r>
            <a:r>
              <a:rPr lang="en-US" dirty="0" err="1"/>
              <a:t>kỳ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S[</a:t>
            </a:r>
            <a:r>
              <a:rPr lang="en-US" dirty="0" err="1"/>
              <a:t>i</a:t>
            </a:r>
            <a:r>
              <a:rPr lang="en-US" dirty="0"/>
              <a:t>], </a:t>
            </a:r>
            <a:r>
              <a:rPr lang="en-US" dirty="0" err="1"/>
              <a:t>từng</a:t>
            </a:r>
            <a:r>
              <a:rPr lang="en-US" dirty="0"/>
              <a:t> S[</a:t>
            </a:r>
            <a:r>
              <a:rPr lang="en-US" dirty="0" err="1"/>
              <a:t>i</a:t>
            </a:r>
            <a:r>
              <a:rPr lang="en-US" dirty="0"/>
              <a:t>], swapping S[</a:t>
            </a:r>
            <a:r>
              <a:rPr lang="en-US" dirty="0" err="1"/>
              <a:t>i</a:t>
            </a:r>
            <a:r>
              <a:rPr lang="en-US" dirty="0"/>
              <a:t>]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byte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S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S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. 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S[255], </a:t>
            </a:r>
            <a:r>
              <a:rPr lang="en-US" dirty="0" err="1"/>
              <a:t>quá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xử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bắt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S[0] </a:t>
            </a:r>
          </a:p>
          <a:p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hoá</a:t>
            </a:r>
            <a:r>
              <a:rPr lang="en-US" dirty="0"/>
              <a:t>,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 XOR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k </a:t>
            </a:r>
            <a:r>
              <a:rPr lang="en-US" dirty="0" err="1"/>
              <a:t>và</a:t>
            </a:r>
            <a:r>
              <a:rPr lang="en-US" dirty="0"/>
              <a:t> byte </a:t>
            </a:r>
            <a:r>
              <a:rPr lang="en-US" dirty="0" err="1"/>
              <a:t>kế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rõ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F3CC53-8AE5-6E6E-60AE-8C6A437CD260}"/>
              </a:ext>
            </a:extLst>
          </p:cNvPr>
          <p:cNvSpPr txBox="1"/>
          <p:nvPr/>
        </p:nvSpPr>
        <p:spPr>
          <a:xfrm>
            <a:off x="3327400" y="4644113"/>
            <a:ext cx="5156200" cy="17543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effectLst/>
                <a:latin typeface="Courier" pitchFamily="2" charset="0"/>
              </a:rPr>
              <a:t>/* </a:t>
            </a:r>
            <a:r>
              <a:rPr lang="en-US" sz="1800" b="1" dirty="0">
                <a:effectLst/>
                <a:latin typeface="Courier" pitchFamily="2" charset="0"/>
              </a:rPr>
              <a:t>Stream Generation </a:t>
            </a:r>
            <a:r>
              <a:rPr lang="en-US" sz="1800" dirty="0">
                <a:effectLst/>
                <a:latin typeface="Courier" pitchFamily="2" charset="0"/>
              </a:rPr>
              <a:t>*/ 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, j = 0;</a:t>
            </a:r>
            <a:br>
              <a:rPr lang="en-US" sz="1800" dirty="0">
                <a:effectLst/>
                <a:latin typeface="Courier" pitchFamily="2" charset="0"/>
              </a:rPr>
            </a:br>
            <a:r>
              <a:rPr lang="en-US" sz="1800" b="1" dirty="0">
                <a:effectLst/>
                <a:latin typeface="Courier" pitchFamily="2" charset="0"/>
              </a:rPr>
              <a:t>while </a:t>
            </a:r>
            <a:r>
              <a:rPr lang="en-US" sz="1800" dirty="0">
                <a:effectLst/>
                <a:latin typeface="Courier" pitchFamily="2" charset="0"/>
              </a:rPr>
              <a:t>(true) </a:t>
            </a:r>
            <a:endParaRPr lang="en-US" dirty="0"/>
          </a:p>
          <a:p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 = (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 + 1) </a:t>
            </a:r>
            <a:r>
              <a:rPr lang="en-US" sz="1800" b="1" dirty="0">
                <a:effectLst/>
                <a:latin typeface="Courier" pitchFamily="2" charset="0"/>
              </a:rPr>
              <a:t>mod </a:t>
            </a:r>
            <a:r>
              <a:rPr lang="en-US" sz="1800" dirty="0">
                <a:effectLst/>
                <a:latin typeface="Courier" pitchFamily="2" charset="0"/>
              </a:rPr>
              <a:t>256;</a:t>
            </a:r>
            <a:br>
              <a:rPr lang="en-US" sz="1800" dirty="0">
                <a:effectLst/>
                <a:latin typeface="Courier" pitchFamily="2" charset="0"/>
              </a:rPr>
            </a:br>
            <a:r>
              <a:rPr lang="en-US" sz="1800" dirty="0">
                <a:effectLst/>
                <a:latin typeface="Courier" pitchFamily="2" charset="0"/>
              </a:rPr>
              <a:t>j = (j + S[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]) </a:t>
            </a:r>
            <a:r>
              <a:rPr lang="en-US" sz="1800" b="1" dirty="0">
                <a:effectLst/>
                <a:latin typeface="Courier" pitchFamily="2" charset="0"/>
              </a:rPr>
              <a:t>mod </a:t>
            </a:r>
            <a:r>
              <a:rPr lang="en-US" sz="1800" dirty="0">
                <a:effectLst/>
                <a:latin typeface="Courier" pitchFamily="2" charset="0"/>
              </a:rPr>
              <a:t>256; </a:t>
            </a:r>
            <a:endParaRPr lang="en-US" dirty="0"/>
          </a:p>
          <a:p>
            <a:r>
              <a:rPr lang="en-US" sz="1800" b="1" dirty="0">
                <a:effectLst/>
                <a:latin typeface="Courier" pitchFamily="2" charset="0"/>
              </a:rPr>
              <a:t>Swap </a:t>
            </a:r>
            <a:r>
              <a:rPr lang="en-US" sz="1800" dirty="0">
                <a:effectLst/>
                <a:latin typeface="Courier" pitchFamily="2" charset="0"/>
              </a:rPr>
              <a:t>(S[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], S[j]);</a:t>
            </a:r>
            <a:br>
              <a:rPr lang="en-US" sz="1800" dirty="0">
                <a:effectLst/>
                <a:latin typeface="Courier" pitchFamily="2" charset="0"/>
              </a:rPr>
            </a:br>
            <a:r>
              <a:rPr lang="en-US" sz="1800" dirty="0">
                <a:effectLst/>
                <a:latin typeface="Courier" pitchFamily="2" charset="0"/>
              </a:rPr>
              <a:t>t = (S[</a:t>
            </a:r>
            <a:r>
              <a:rPr lang="en-US" sz="1800" dirty="0" err="1">
                <a:effectLst/>
                <a:latin typeface="Courier" pitchFamily="2" charset="0"/>
              </a:rPr>
              <a:t>i</a:t>
            </a:r>
            <a:r>
              <a:rPr lang="en-US" sz="1800" dirty="0">
                <a:effectLst/>
                <a:latin typeface="Courier" pitchFamily="2" charset="0"/>
              </a:rPr>
              <a:t>] + S[j]) </a:t>
            </a:r>
            <a:r>
              <a:rPr lang="en-US" sz="1800" b="1" dirty="0">
                <a:effectLst/>
                <a:latin typeface="Courier" pitchFamily="2" charset="0"/>
              </a:rPr>
              <a:t>mod </a:t>
            </a:r>
            <a:r>
              <a:rPr lang="en-US" sz="1800" dirty="0">
                <a:effectLst/>
                <a:latin typeface="Courier" pitchFamily="2" charset="0"/>
              </a:rPr>
              <a:t>256; k = S[t];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7573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F0B583-6C98-D576-921E-5134A030E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62B5CD-D4B5-D311-A2C8-13AE48F00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A1D85-CA76-7862-5C17-5D6D73EF555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Cho K = [1,2,3,6] , biết vector S là một chuỗi byte được biểu diễn từ 0 đến 9</a:t>
            </a:r>
          </a:p>
          <a:p>
            <a:r>
              <a:rPr lang="vi-VN"/>
              <a:t>Tìm Chuỗi khóa được tạo ra bởi thuật toán RC4, biết chiều dài plaintext là 6  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12597031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4E8E97-226D-DD31-8E3B-8B3D4833E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4381F6-FB06-34F7-A9D0-F735976B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Bài tập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D185B2-1C52-4F26-5C3E-6BC306B7981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Mã hoá chuỗi thông tin sau sử dụng RC4 </a:t>
            </a:r>
          </a:p>
          <a:p>
            <a:pPr marL="0" indent="0">
              <a:buNone/>
            </a:pPr>
            <a:r>
              <a:rPr lang="vi-VN" b="1" i="1" dirty="0"/>
              <a:t>“Hanoi University of Science and Technology” </a:t>
            </a:r>
            <a:endParaRPr b="1" i="1" dirty="0"/>
          </a:p>
        </p:txBody>
      </p:sp>
    </p:spTree>
    <p:extLst>
      <p:ext uri="{BB962C8B-B14F-4D97-AF65-F5344CB8AC3E}">
        <p14:creationId xmlns:p14="http://schemas.microsoft.com/office/powerpoint/2010/main" val="2099988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F793E8-9AD0-14FB-4B3C-B8740FDA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87B7D8-E858-9F31-808F-B3153F155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Câu hỏi về RC4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37283-0F83-1DB8-FAF2-4FEE0CC680E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vi-VN" dirty="0"/>
              <a:t>Giá trị chuỗi khoá của RC4 như thế nà sẽ làm cho S giữ nguyên sau quá trình khởi tạo hoán vị (Initial Permutation)? Nghĩa là, sau hoán vị ban đầu của S, các phần tử của S sẽ bằng các giá trị từ 0 đến 255 theo thứ tự tăng dần.</a:t>
            </a:r>
          </a:p>
          <a:p>
            <a:r>
              <a:rPr lang="vi-VN" dirty="0"/>
              <a:t>Cần bao nhiêu bit để lưu trữ giá trị trong ở trạng thái inital permutation ? (biến đếm i,j, và các byte trạng thái)</a:t>
            </a:r>
          </a:p>
          <a:p>
            <a:r>
              <a:rPr lang="vi-VN" dirty="0"/>
              <a:t>Bao nhiêu trạng thái khác nhau được tạo ra trong pha inital permuation ? Và nếu sử dụng một bộ đệm lưu trạng thái thì cần dung lượng là bao nhiêu bit? </a:t>
            </a:r>
          </a:p>
          <a:p>
            <a:endParaRPr lang="vi-VN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47809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/>
                  <a:t>OTP</a:t>
                </a:r>
                <a:r>
                  <a:rPr lang="en-US" dirty="0"/>
                  <a:t>: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     ,   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Making OTP practical using a PRG:  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⟶ </m:t>
                    </m:r>
                    <m:d>
                      <m:dPr>
                        <m:begChr m:val="{"/>
                        <m:endChr m:val="}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 baseline="50000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vi-VN" dirty="0"/>
              </a:p>
              <a:p>
                <a:pPr marL="0" indent="0">
                  <a:buNone/>
                </a:pPr>
                <a:r>
                  <a:rPr lang="en-US" b="1" dirty="0"/>
                  <a:t>Stream cipher</a:t>
                </a:r>
                <a:r>
                  <a:rPr lang="en-US" dirty="0"/>
                  <a:t>: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vi-VN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⊕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𝐺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</m:oMath>
                </a14:m>
                <a:endParaRPr lang="vi-VN" dirty="0"/>
              </a:p>
              <a:p>
                <a:pPr marL="0" indent="0">
                  <a:buNone/>
                </a:pPr>
                <a:r>
                  <a:rPr lang="en-US" dirty="0"/>
                  <a:t>Security:  PRG must be unpredictable   (better def in two segments)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1462" t="-215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5731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981200" y="2362200"/>
            <a:ext cx="3352800" cy="10668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Attack 1:    </a:t>
            </a:r>
            <a:r>
              <a:rPr lang="en-US" b="1" dirty="0"/>
              <a:t>two time </a:t>
            </a:r>
            <a:r>
              <a:rPr lang="en-US" dirty="0"/>
              <a:t>pad is insecure !!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3" name="Rectangle 3"/>
              <p:cNvSpPr>
                <a:spLocks noGrp="1" noChangeArrowheads="1"/>
              </p:cNvSpPr>
              <p:nvPr>
                <p:ph sz="quarter" idx="13"/>
              </p:nvPr>
            </p:nvSpPr>
            <p:spPr>
              <a:xfrm>
                <a:off x="235077" y="841248"/>
                <a:ext cx="8674100" cy="6096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Never use stream cipher key more than once !!</a:t>
                </a:r>
              </a:p>
              <a:p>
                <a:pPr marL="0" indent="0">
                  <a:lnSpc>
                    <a:spcPct val="140000"/>
                  </a:lnSpc>
                  <a:buNone/>
                </a:pP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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𝑚</m:t>
                    </m:r>
                    <m:r>
                      <a:rPr lang="en-US" b="0" i="1" baseline="-25000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   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𝑃𝑅𝐺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endParaRPr lang="en-US" b="0" dirty="0">
                  <a:sym typeface="Symbol" pitchFamily="18" charset="2"/>
                </a:endParaRPr>
              </a:p>
              <a:p>
                <a:pPr lvl="1" eaLnBrk="1" hangingPunct="1">
                  <a:buFont typeface="Times" pitchFamily="18" charset="0"/>
                  <a:buNone/>
                </a:pPr>
                <a:r>
                  <a:rPr lang="en-US" dirty="0">
                    <a:sym typeface="Symbol" pitchFamily="18" charset="2"/>
                  </a:rPr>
                  <a:t>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 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𝑚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2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    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𝑃𝑅𝐺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𝑘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)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  <a:p>
                <a:pPr lvl="1" eaLnBrk="1" hangingPunct="1">
                  <a:lnSpc>
                    <a:spcPct val="140000"/>
                  </a:lnSpc>
                  <a:spcBef>
                    <a:spcPct val="80000"/>
                  </a:spcBef>
                  <a:buFont typeface="Times" pitchFamily="18" charset="0"/>
                  <a:buNone/>
                </a:pPr>
                <a:r>
                  <a:rPr lang="en-US" dirty="0">
                    <a:sym typeface="Symbol" pitchFamily="18" charset="2"/>
                  </a:rPr>
                  <a:t>Eavesdropper does: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𝐶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 pitchFamily="18" charset="2"/>
                      </a:rPr>
                      <m:t>1 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 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𝐶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 pitchFamily="18" charset="2"/>
                      </a:rPr>
                      <m:t>2       </m:t>
                    </m:r>
                  </m:oMath>
                </a14:m>
                <a:r>
                  <a:rPr lang="en-US" b="1" dirty="0">
                    <a:sym typeface="Symbol" pitchFamily="18" charset="2"/>
                  </a:rPr>
                  <a:t></a:t>
                </a:r>
                <a:r>
                  <a:rPr lang="en-US" dirty="0">
                    <a:sym typeface="Symbol" pitchFamily="18" charset="2"/>
                  </a:rPr>
                  <a:t>        m</a:t>
                </a:r>
                <a:r>
                  <a:rPr lang="en-US" baseline="-25000" dirty="0">
                    <a:sym typeface="Symbol" pitchFamily="18" charset="2"/>
                  </a:rPr>
                  <a:t>1</a:t>
                </a:r>
                <a:r>
                  <a:rPr lang="en-US" dirty="0">
                    <a:sym typeface="Symbol" pitchFamily="18" charset="2"/>
                  </a:rPr>
                  <a:t>   m</a:t>
                </a:r>
                <a:r>
                  <a:rPr lang="en-US" baseline="-25000" dirty="0">
                    <a:sym typeface="Symbol" pitchFamily="18" charset="2"/>
                  </a:rPr>
                  <a:t>2 </a:t>
                </a:r>
              </a:p>
              <a:p>
                <a:pPr lvl="1" eaLnBrk="1" hangingPunct="1">
                  <a:lnSpc>
                    <a:spcPct val="120000"/>
                  </a:lnSpc>
                  <a:buFont typeface="Times" pitchFamily="18" charset="0"/>
                  <a:buNone/>
                </a:pPr>
                <a:endParaRPr lang="en-US" baseline="-25000" dirty="0">
                  <a:sym typeface="Symbol" pitchFamily="18" charset="2"/>
                </a:endParaRPr>
              </a:p>
              <a:p>
                <a:pPr lvl="1" eaLnBrk="1" hangingPunct="1">
                  <a:lnSpc>
                    <a:spcPct val="120000"/>
                  </a:lnSpc>
                  <a:buFont typeface="Times" pitchFamily="18" charset="0"/>
                  <a:buNone/>
                </a:pPr>
                <a:r>
                  <a:rPr lang="en-US" dirty="0">
                    <a:sym typeface="Symbol" pitchFamily="18" charset="2"/>
                  </a:rPr>
                  <a:t>Enough redundancy in English and ASCII encoding that:</a:t>
                </a:r>
              </a:p>
              <a:p>
                <a:pPr lvl="1" eaLnBrk="1" hangingPunct="1">
                  <a:lnSpc>
                    <a:spcPct val="80000"/>
                  </a:lnSpc>
                  <a:buFont typeface="Times" pitchFamily="18" charset="0"/>
                  <a:buNone/>
                </a:pPr>
                <a:r>
                  <a:rPr lang="en-US" dirty="0">
                    <a:sym typeface="Symbol" pitchFamily="18" charset="2"/>
                  </a:rPr>
                  <a:t>			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Symbol" pitchFamily="18" charset="2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 pitchFamily="18" charset="2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 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 pitchFamily="18" charset="2"/>
                      </a:rPr>
                      <m:t>2       </m:t>
                    </m:r>
                    <m:r>
                      <a:rPr lang="en-US" b="1" i="1" dirty="0">
                        <a:latin typeface="Cambria Math" panose="02040503050406030204" pitchFamily="18" charset="0"/>
                        <a:sym typeface="Symbol" pitchFamily="18" charset="2"/>
                      </a:rPr>
                      <m:t>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    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 pitchFamily="18" charset="2"/>
                      </a:rPr>
                      <m:t>1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 , 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Symbol" pitchFamily="18" charset="2"/>
                      </a:rPr>
                      <m:t>𝑚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Symbol" pitchFamily="18" charset="2"/>
                      </a:rPr>
                      <m:t>2</m:t>
                    </m:r>
                  </m:oMath>
                </a14:m>
                <a:endParaRPr lang="en-US" dirty="0">
                  <a:sym typeface="Symbol" pitchFamily="18" charset="2"/>
                </a:endParaRPr>
              </a:p>
            </p:txBody>
          </p:sp>
        </mc:Choice>
        <mc:Fallback xmlns="">
          <p:sp>
            <p:nvSpPr>
              <p:cNvPr id="35843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5077" y="841248"/>
                <a:ext cx="8674100" cy="609600"/>
              </a:xfrm>
              <a:blipFill>
                <a:blip r:embed="rId2"/>
                <a:stretch>
                  <a:fillRect l="-1462" t="-18367" b="-508163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4199586" y="4024820"/>
            <a:ext cx="1524000" cy="609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38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Project </a:t>
            </a:r>
            <a:r>
              <a:rPr lang="en-US" dirty="0" err="1"/>
              <a:t>Venona</a:t>
            </a:r>
            <a:endParaRPr lang="en-US" dirty="0"/>
          </a:p>
          <a:p>
            <a:r>
              <a:rPr lang="en-US" dirty="0"/>
              <a:t>MS-PPTP   (windows NT):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85801" y="5543112"/>
                <a:ext cx="4687373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Need different keys for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/>
                      </a:rPr>
                      <m:t>⟶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vi-VN" sz="20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/>
                      </a:rPr>
                      <m:t>⟶</m:t>
                    </m:r>
                    <m:r>
                      <a:rPr lang="en-US" sz="2000" i="1" dirty="0">
                        <a:latin typeface="Cambria Math" panose="02040503050406030204" pitchFamily="18" charset="0"/>
                        <a:sym typeface="Wingdings"/>
                      </a:rPr>
                      <m:t>𝐶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1" y="5543112"/>
                <a:ext cx="4687373" cy="400110"/>
              </a:xfrm>
              <a:prstGeom prst="rect">
                <a:avLst/>
              </a:prstGeom>
              <a:blipFill>
                <a:blip r:embed="rId3"/>
                <a:stretch>
                  <a:fillRect l="-1626" t="-9091" b="-24242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2BE8DB8B-A5CC-5447-A050-5F328B050851}"/>
              </a:ext>
            </a:extLst>
          </p:cNvPr>
          <p:cNvGrpSpPr/>
          <p:nvPr/>
        </p:nvGrpSpPr>
        <p:grpSpPr>
          <a:xfrm>
            <a:off x="603330" y="2803799"/>
            <a:ext cx="7823954" cy="2015694"/>
            <a:chOff x="603330" y="1946549"/>
            <a:chExt cx="7823954" cy="201569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flipH="1">
              <a:off x="6699330" y="2276345"/>
              <a:ext cx="1295400" cy="1308485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755730" y="2428745"/>
              <a:ext cx="1076739" cy="9906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603330" y="2504945"/>
                  <a:ext cx="4325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330" y="2504945"/>
                  <a:ext cx="432554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7994730" y="2500480"/>
                  <a:ext cx="432554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4730" y="2500480"/>
                  <a:ext cx="432554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9F8B0F4-39EF-5543-89C8-B7149EAF2840}"/>
                </a:ext>
              </a:extLst>
            </p:cNvPr>
            <p:cNvCxnSpPr/>
            <p:nvPr/>
          </p:nvCxnSpPr>
          <p:spPr>
            <a:xfrm>
              <a:off x="1898730" y="2724020"/>
              <a:ext cx="762000" cy="729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EA58C6C-ABEC-904C-B573-E0A11D60F57D}"/>
                </a:ext>
              </a:extLst>
            </p:cNvPr>
            <p:cNvCxnSpPr/>
            <p:nvPr/>
          </p:nvCxnSpPr>
          <p:spPr>
            <a:xfrm>
              <a:off x="1908669" y="3038345"/>
              <a:ext cx="7520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6683D07-7959-1E48-A093-87773446244F}"/>
                </a:ext>
              </a:extLst>
            </p:cNvPr>
            <p:cNvCxnSpPr/>
            <p:nvPr/>
          </p:nvCxnSpPr>
          <p:spPr>
            <a:xfrm>
              <a:off x="1908669" y="3397247"/>
              <a:ext cx="75206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08EB32-232A-C347-949C-4F818B32FB29}"/>
                </a:ext>
              </a:extLst>
            </p:cNvPr>
            <p:cNvSpPr txBox="1"/>
            <p:nvPr/>
          </p:nvSpPr>
          <p:spPr>
            <a:xfrm>
              <a:off x="2041585" y="2387954"/>
              <a:ext cx="52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m</a:t>
              </a:r>
              <a:r>
                <a:rPr lang="en-VN" baseline="-25000" dirty="0"/>
                <a:t>1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9618AB8-35BA-014A-BDB9-D7B28FF50B36}"/>
                </a:ext>
              </a:extLst>
            </p:cNvPr>
            <p:cNvSpPr txBox="1"/>
            <p:nvPr/>
          </p:nvSpPr>
          <p:spPr>
            <a:xfrm>
              <a:off x="2028999" y="2713150"/>
              <a:ext cx="52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m</a:t>
              </a:r>
              <a:r>
                <a:rPr lang="en-VN" baseline="-25000" dirty="0"/>
                <a:t>2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5FB7EAC-6BEA-AD4F-B4A5-799BA7D1707B}"/>
                </a:ext>
              </a:extLst>
            </p:cNvPr>
            <p:cNvSpPr txBox="1"/>
            <p:nvPr/>
          </p:nvSpPr>
          <p:spPr>
            <a:xfrm>
              <a:off x="2028999" y="3046117"/>
              <a:ext cx="52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m</a:t>
              </a:r>
              <a:r>
                <a:rPr lang="en-VN" baseline="-25000" dirty="0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C1318C2-C864-EC40-9D53-A2004FD5BBE2}"/>
                    </a:ext>
                  </a:extLst>
                </p:cNvPr>
                <p:cNvSpPr txBox="1"/>
                <p:nvPr/>
              </p:nvSpPr>
              <p:spPr>
                <a:xfrm>
                  <a:off x="645185" y="3592911"/>
                  <a:ext cx="1894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VN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VN" i="1" baseline="-2500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VN" i="1" baseline="-25000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m:rPr>
                            <m:sty m:val="p"/>
                          </m:rPr>
                          <a:rPr lang="en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vi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vi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a:rPr lang="vi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C1318C2-C864-EC40-9D53-A2004FD5B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185" y="3592911"/>
                  <a:ext cx="1894535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662" r="-11921" b="-1666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6F69BC53-3794-A54F-9155-C1113A2D8974}"/>
                </a:ext>
              </a:extLst>
            </p:cNvPr>
            <p:cNvCxnSpPr/>
            <p:nvPr/>
          </p:nvCxnSpPr>
          <p:spPr>
            <a:xfrm flipH="1">
              <a:off x="5708730" y="2572620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BB5A0344-88E7-DE41-8650-3014685B5407}"/>
                </a:ext>
              </a:extLst>
            </p:cNvPr>
            <p:cNvCxnSpPr/>
            <p:nvPr/>
          </p:nvCxnSpPr>
          <p:spPr>
            <a:xfrm flipH="1">
              <a:off x="5708730" y="2977966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D09E804-8DA6-414D-AC3F-1C3F6A73157E}"/>
                </a:ext>
              </a:extLst>
            </p:cNvPr>
            <p:cNvCxnSpPr/>
            <p:nvPr/>
          </p:nvCxnSpPr>
          <p:spPr>
            <a:xfrm flipH="1">
              <a:off x="5708730" y="3356220"/>
              <a:ext cx="990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0BF24C8-7C17-6441-B3EB-ACACD17C04CB}"/>
                </a:ext>
              </a:extLst>
            </p:cNvPr>
            <p:cNvSpPr txBox="1"/>
            <p:nvPr/>
          </p:nvSpPr>
          <p:spPr>
            <a:xfrm>
              <a:off x="5967743" y="2200145"/>
              <a:ext cx="52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S</a:t>
              </a:r>
              <a:r>
                <a:rPr lang="en-VN" baseline="-25000" dirty="0"/>
                <a:t>1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E180E9-E36C-3240-B331-89361AD63E58}"/>
                </a:ext>
              </a:extLst>
            </p:cNvPr>
            <p:cNvSpPr txBox="1"/>
            <p:nvPr/>
          </p:nvSpPr>
          <p:spPr>
            <a:xfrm>
              <a:off x="5977273" y="2608054"/>
              <a:ext cx="52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S</a:t>
              </a:r>
              <a:r>
                <a:rPr lang="en-VN" baseline="-25000" dirty="0"/>
                <a:t>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5F82EF9-DB4B-D041-83E3-2FCB9CA84713}"/>
                </a:ext>
              </a:extLst>
            </p:cNvPr>
            <p:cNvSpPr txBox="1"/>
            <p:nvPr/>
          </p:nvSpPr>
          <p:spPr>
            <a:xfrm>
              <a:off x="5967484" y="3012819"/>
              <a:ext cx="5213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S</a:t>
              </a:r>
              <a:r>
                <a:rPr lang="en-VN" baseline="-25000" dirty="0"/>
                <a:t>3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F434CE1-FCF3-4D40-9B98-B5281EDC63F2}"/>
                    </a:ext>
                  </a:extLst>
                </p:cNvPr>
                <p:cNvSpPr txBox="1"/>
                <p:nvPr/>
              </p:nvSpPr>
              <p:spPr>
                <a:xfrm>
                  <a:off x="5689926" y="3591701"/>
                  <a:ext cx="1894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m:rPr>
                            <m:sty m:val="p"/>
                          </m:rPr>
                          <a:rPr lang="en-VN" i="1" dirty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VN" i="1" baseline="-25000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sty m:val="p"/>
                          </m:rPr>
                          <a:rPr lang="en-VN" i="1" dirty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VN" i="1" baseline="-25000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||</m:t>
                        </m:r>
                        <m:r>
                          <m:rPr>
                            <m:sty m:val="p"/>
                          </m:rPr>
                          <a:rPr lang="en-VN" i="1" dirty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VN" i="1" baseline="-25000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VN" i="1" dirty="0"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a:rPr lang="en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⨁</m:t>
                        </m:r>
                        <m:r>
                          <m:rPr>
                            <m:sty m:val="p"/>
                          </m:rPr>
                          <a:rPr lang="en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  <m:r>
                          <a:rPr lang="vi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vi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k</m:t>
                        </m:r>
                        <m:r>
                          <a:rPr lang="vi-V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CF434CE1-FCF3-4D40-9B98-B5281EDC63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9926" y="3591701"/>
                  <a:ext cx="1894535" cy="369332"/>
                </a:xfrm>
                <a:prstGeom prst="rect">
                  <a:avLst/>
                </a:prstGeom>
                <a:blipFill>
                  <a:blip r:embed="rId9"/>
                  <a:stretch>
                    <a:fillRect r="-662" b="-16667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C8751F2-8B73-E14D-8D38-8B8E2F92F8B9}"/>
                    </a:ext>
                  </a:extLst>
                </p:cNvPr>
                <p:cNvSpPr txBox="1"/>
                <p:nvPr/>
              </p:nvSpPr>
              <p:spPr>
                <a:xfrm>
                  <a:off x="3206669" y="1946549"/>
                  <a:ext cx="1894535" cy="369332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K</m:t>
                        </m:r>
                        <m:r>
                          <a:rPr lang="vi-VN" i="1">
                            <a:latin typeface="Cambria Math" panose="02040503050406030204" pitchFamily="18" charset="0"/>
                          </a:rPr>
                          <m:t>=(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</a:rPr>
                              <m:t>c</m:t>
                            </m:r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  <m:r>
                          <a:rPr lang="vi-V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vi-V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</a:rPr>
                              <m:t>s</m:t>
                            </m:r>
                            <m:r>
                              <a:rPr lang="vi-VN" i="1"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m:rPr>
                                <m:sty m:val="p"/>
                              </m:rPr>
                              <a:rPr lang="vi-VN" i="1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  <m:r>
                          <a:rPr lang="vi-VN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C8751F2-8B73-E14D-8D38-8B8E2F92F8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6669" y="1946549"/>
                  <a:ext cx="1894535" cy="369332"/>
                </a:xfrm>
                <a:prstGeom prst="rect">
                  <a:avLst/>
                </a:prstGeom>
                <a:blipFill>
                  <a:blip r:embed="rId10"/>
                  <a:stretch>
                    <a:fillRect b="-12903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Elbow Connector 34">
              <a:extLst>
                <a:ext uri="{FF2B5EF4-FFF2-40B4-BE49-F238E27FC236}">
                  <a16:creationId xmlns:a16="http://schemas.microsoft.com/office/drawing/2014/main" id="{4596F1FE-C306-A849-9D8B-646639646E70}"/>
                </a:ext>
              </a:extLst>
            </p:cNvPr>
            <p:cNvCxnSpPr>
              <a:cxnSpLocks/>
            </p:cNvCxnSpPr>
            <p:nvPr/>
          </p:nvCxnSpPr>
          <p:spPr>
            <a:xfrm rot="10800000" flipV="1">
              <a:off x="1524000" y="2038350"/>
              <a:ext cx="1639337" cy="27753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Elbow Connector 37">
              <a:extLst>
                <a:ext uri="{FF2B5EF4-FFF2-40B4-BE49-F238E27FC236}">
                  <a16:creationId xmlns:a16="http://schemas.microsoft.com/office/drawing/2014/main" id="{78F7B076-9C3F-494B-A99B-C288566BDC8A}"/>
                </a:ext>
              </a:extLst>
            </p:cNvPr>
            <p:cNvCxnSpPr>
              <a:cxnSpLocks/>
            </p:cNvCxnSpPr>
            <p:nvPr/>
          </p:nvCxnSpPr>
          <p:spPr>
            <a:xfrm>
              <a:off x="5163125" y="2038350"/>
              <a:ext cx="1492158" cy="215614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9636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802.11b WEP: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Length of IV:     24 bits</a:t>
            </a:r>
          </a:p>
          <a:p>
            <a:r>
              <a:rPr lang="en-US" dirty="0"/>
              <a:t>Repeated IV after 2</a:t>
            </a:r>
            <a:r>
              <a:rPr lang="en-US" baseline="30000" dirty="0"/>
              <a:t>24</a:t>
            </a:r>
            <a:r>
              <a:rPr lang="en-US" dirty="0"/>
              <a:t> ≈ 16M frames</a:t>
            </a:r>
          </a:p>
          <a:p>
            <a:r>
              <a:rPr lang="en-US" dirty="0"/>
              <a:t>On some 802.11 cards:   IV resets to 0 after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14401" y="2743200"/>
            <a:ext cx="1076739" cy="99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81940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7270" y="2891136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810764"/>
            <a:ext cx="1041400" cy="770636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286000" y="3352800"/>
            <a:ext cx="4876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124200" y="2438400"/>
            <a:ext cx="2209800" cy="3048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410200" y="2438400"/>
            <a:ext cx="9144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CRC(m)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4200" y="2895600"/>
            <a:ext cx="32766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PRG(  IV  </a:t>
            </a:r>
            <a:r>
              <a:rPr lang="en-US" dirty="0" err="1"/>
              <a:t>ll</a:t>
            </a:r>
            <a:r>
              <a:rPr lang="en-US" dirty="0"/>
              <a:t>  k )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4200" y="3505200"/>
            <a:ext cx="32766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ciphetext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590800" y="3505200"/>
            <a:ext cx="4572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2724258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 related 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802.11b WEP: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key for frame #1:     (1 </a:t>
            </a:r>
            <a:r>
              <a:rPr lang="en-US" dirty="0" err="1"/>
              <a:t>ll</a:t>
            </a:r>
            <a:r>
              <a:rPr lang="en-US" dirty="0"/>
              <a:t> k)</a:t>
            </a:r>
          </a:p>
          <a:p>
            <a:pPr marL="0" indent="0">
              <a:buNone/>
            </a:pPr>
            <a:r>
              <a:rPr lang="en-US" dirty="0"/>
              <a:t>key for frame #2:     (2 </a:t>
            </a:r>
            <a:r>
              <a:rPr lang="en-US" dirty="0" err="1"/>
              <a:t>ll</a:t>
            </a:r>
            <a:r>
              <a:rPr lang="en-US" dirty="0"/>
              <a:t> k)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914401" y="2743200"/>
            <a:ext cx="1076739" cy="99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819401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37270" y="2891136"/>
            <a:ext cx="3257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k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2810764"/>
            <a:ext cx="1041400" cy="770636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286000" y="3352800"/>
            <a:ext cx="48768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124200" y="2438400"/>
            <a:ext cx="2209800" cy="304800"/>
          </a:xfrm>
          <a:prstGeom prst="rect">
            <a:avLst/>
          </a:prstGeom>
          <a:solidFill>
            <a:srgbClr val="C0504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m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5410200" y="2438400"/>
            <a:ext cx="9144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CRC(m)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24200" y="2895600"/>
            <a:ext cx="32766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PRG(  IV  </a:t>
            </a:r>
            <a:r>
              <a:rPr lang="en-US" dirty="0" err="1"/>
              <a:t>ll</a:t>
            </a:r>
            <a:r>
              <a:rPr lang="en-US" dirty="0"/>
              <a:t>  k )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4200" y="3505200"/>
            <a:ext cx="32766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err="1"/>
              <a:t>ciphetext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2590800" y="3505200"/>
            <a:ext cx="457200" cy="304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257801"/>
            <a:ext cx="3289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79E121-3248-B843-A34B-69D09DD569E6}"/>
                  </a:ext>
                </a:extLst>
              </p:cNvPr>
              <p:cNvSpPr txBox="1"/>
              <p:nvPr/>
            </p:nvSpPr>
            <p:spPr>
              <a:xfrm>
                <a:off x="4954954" y="4766087"/>
                <a:ext cx="4548092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VN" sz="2400" dirty="0"/>
                  <a:t>For the RC4 PRG: </a:t>
                </a:r>
              </a:p>
              <a:p>
                <a:r>
                  <a:rPr lang="en-VN" sz="2400" dirty="0"/>
                  <a:t>FMS 2001 -&gt; can recover K after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V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VN" sz="2400" i="1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vi-VN" sz="2400" i="1" dirty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VN" sz="2400" dirty="0"/>
                  <a:t> frames Recent attacks </a:t>
                </a:r>
                <a14:m>
                  <m:oMath xmlns:m="http://schemas.openxmlformats.org/officeDocument/2006/math">
                    <m:r>
                      <a:rPr lang="en-V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VN" sz="2400" i="1" dirty="0">
                        <a:latin typeface="Cambria Math" panose="02040503050406030204" pitchFamily="18" charset="0"/>
                      </a:rPr>
                      <m:t>40000</m:t>
                    </m:r>
                  </m:oMath>
                </a14:m>
                <a:r>
                  <a:rPr lang="en-VN" sz="2400" dirty="0"/>
                  <a:t> frames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A79E121-3248-B843-A34B-69D09DD5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4954" y="4766087"/>
                <a:ext cx="4548092" cy="1569660"/>
              </a:xfrm>
              <a:prstGeom prst="rect">
                <a:avLst/>
              </a:prstGeom>
              <a:blipFill>
                <a:blip r:embed="rId4"/>
                <a:stretch>
                  <a:fillRect l="-2228" t="-3226" b="-8065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F1B67F2A-48EC-6A40-B5DD-2CB9C91970B0}"/>
              </a:ext>
            </a:extLst>
          </p:cNvPr>
          <p:cNvSpPr txBox="1"/>
          <p:nvPr/>
        </p:nvSpPr>
        <p:spPr>
          <a:xfrm>
            <a:off x="4022345" y="493133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104 bits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C20F35-40FB-D547-B36B-014480FBAF17}"/>
              </a:ext>
            </a:extLst>
          </p:cNvPr>
          <p:cNvSpPr txBox="1"/>
          <p:nvPr/>
        </p:nvSpPr>
        <p:spPr>
          <a:xfrm>
            <a:off x="3104345" y="4931337"/>
            <a:ext cx="1002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24 bits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2ABD3280-3744-9444-876F-4173E2B99071}"/>
              </a:ext>
            </a:extLst>
          </p:cNvPr>
          <p:cNvCxnSpPr/>
          <p:nvPr/>
        </p:nvCxnSpPr>
        <p:spPr>
          <a:xfrm rot="5400000" flipH="1" flipV="1">
            <a:off x="3573924" y="4867892"/>
            <a:ext cx="228600" cy="762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2F4A3D4B-ED2A-A44F-A287-8A605803B72B}"/>
              </a:ext>
            </a:extLst>
          </p:cNvPr>
          <p:cNvCxnSpPr>
            <a:cxnSpLocks/>
          </p:cNvCxnSpPr>
          <p:nvPr/>
        </p:nvCxnSpPr>
        <p:spPr>
          <a:xfrm rot="10800000">
            <a:off x="4107324" y="4863428"/>
            <a:ext cx="265002" cy="9336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07646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tốt</a:t>
            </a:r>
            <a:r>
              <a:rPr lang="en-US" dirty="0"/>
              <a:t> </a:t>
            </a:r>
            <a:r>
              <a:rPr lang="en-US" dirty="0" err="1"/>
              <a:t>hơn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F6DD2-C493-857D-2AC6-F438F15BED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666" y="4229631"/>
            <a:ext cx="666392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⇒  now each frame has a pseudorandom key</a:t>
            </a:r>
          </a:p>
          <a:p>
            <a:pPr>
              <a:spcBef>
                <a:spcPts val="1200"/>
              </a:spcBef>
            </a:pPr>
            <a:r>
              <a:rPr lang="en-US" sz="2000" dirty="0"/>
              <a:t>better solution:   use stronger encryption method (as in WPA2)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3944F7-FA37-8942-A69B-D10869BD55A2}"/>
              </a:ext>
            </a:extLst>
          </p:cNvPr>
          <p:cNvSpPr txBox="1"/>
          <p:nvPr/>
        </p:nvSpPr>
        <p:spPr>
          <a:xfrm>
            <a:off x="7948444" y="3169299"/>
            <a:ext cx="1184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…..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A723876-703B-7E44-B388-A4BF734F8A09}"/>
              </a:ext>
            </a:extLst>
          </p:cNvPr>
          <p:cNvGrpSpPr/>
          <p:nvPr/>
        </p:nvGrpSpPr>
        <p:grpSpPr>
          <a:xfrm>
            <a:off x="685800" y="1981200"/>
            <a:ext cx="7696200" cy="1856076"/>
            <a:chOff x="685800" y="1123950"/>
            <a:chExt cx="7696200" cy="1856076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838200" y="1123950"/>
              <a:ext cx="1076739" cy="990600"/>
            </a:xfrm>
            <a:prstGeom prst="rect">
              <a:avLst/>
            </a:prstGeom>
          </p:spPr>
        </p:pic>
        <p:sp>
          <p:nvSpPr>
            <p:cNvPr id="5" name="TextBox 4"/>
            <p:cNvSpPr txBox="1"/>
            <p:nvPr/>
          </p:nvSpPr>
          <p:spPr>
            <a:xfrm>
              <a:off x="685800" y="1200150"/>
              <a:ext cx="3257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k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2971800" y="1352550"/>
              <a:ext cx="457200" cy="304800"/>
            </a:xfrm>
            <a:prstGeom prst="rect">
              <a:avLst/>
            </a:prstGeom>
            <a:solidFill>
              <a:srgbClr val="FF0000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/>
                <a:t>k</a:t>
              </a:r>
            </a:p>
          </p:txBody>
        </p:sp>
        <p:sp>
          <p:nvSpPr>
            <p:cNvPr id="8" name="Right Arrow 7"/>
            <p:cNvSpPr/>
            <p:nvPr/>
          </p:nvSpPr>
          <p:spPr>
            <a:xfrm>
              <a:off x="3810000" y="1428750"/>
              <a:ext cx="838200" cy="152400"/>
            </a:xfrm>
            <a:prstGeom prst="rightArrow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920928" y="1135618"/>
              <a:ext cx="5748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PRG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953000" y="1352550"/>
              <a:ext cx="685800" cy="304800"/>
            </a:xfrm>
            <a:prstGeom prst="rect">
              <a:avLst/>
            </a:prstGeom>
            <a:solidFill>
              <a:srgbClr val="FF0000"/>
            </a:solidFill>
            <a:ln w="28575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638800" y="1352550"/>
              <a:ext cx="685800" cy="304800"/>
            </a:xfrm>
            <a:prstGeom prst="rect">
              <a:avLst/>
            </a:prstGeom>
            <a:solidFill>
              <a:srgbClr val="FF0000"/>
            </a:solidFill>
            <a:ln w="28575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324600" y="1352550"/>
              <a:ext cx="685800" cy="304800"/>
            </a:xfrm>
            <a:prstGeom prst="rect">
              <a:avLst/>
            </a:prstGeom>
            <a:solidFill>
              <a:srgbClr val="FF0000"/>
            </a:solidFill>
            <a:ln w="28575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010400" y="1352550"/>
              <a:ext cx="685800" cy="304800"/>
            </a:xfrm>
            <a:prstGeom prst="rect">
              <a:avLst/>
            </a:prstGeom>
            <a:solidFill>
              <a:srgbClr val="FF0000"/>
            </a:solidFill>
            <a:ln w="28575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696200" y="1352550"/>
              <a:ext cx="685800" cy="304800"/>
            </a:xfrm>
            <a:prstGeom prst="rect">
              <a:avLst/>
            </a:prstGeom>
            <a:solidFill>
              <a:srgbClr val="FF0000"/>
            </a:solidFill>
            <a:ln w="28575" cmpd="sng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F14DA7D-F8BB-7C46-9A18-12700DF24E1D}"/>
                    </a:ext>
                  </a:extLst>
                </p:cNvPr>
                <p:cNvSpPr txBox="1"/>
                <p:nvPr/>
              </p:nvSpPr>
              <p:spPr>
                <a:xfrm>
                  <a:off x="2777966" y="2318348"/>
                  <a:ext cx="1346768" cy="646331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K</a:t>
                  </a:r>
                  <a:r>
                    <a:rPr lang="en-VN" dirty="0"/>
                    <a:t>ey for </a:t>
                  </a:r>
                </a:p>
                <a:p>
                  <a:r>
                    <a:rPr lang="en-VN" dirty="0"/>
                    <a:t>Frame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F14DA7D-F8BB-7C46-9A18-12700DF24E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7966" y="2318348"/>
                  <a:ext cx="1346768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3704" t="-1887" b="-15094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FA53B91-9B5D-404A-ACFA-A5BF5A13CCFC}"/>
                    </a:ext>
                  </a:extLst>
                </p:cNvPr>
                <p:cNvSpPr txBox="1"/>
                <p:nvPr/>
              </p:nvSpPr>
              <p:spPr>
                <a:xfrm>
                  <a:off x="4572000" y="2323120"/>
                  <a:ext cx="1346768" cy="646331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K</a:t>
                  </a:r>
                  <a:r>
                    <a:rPr lang="en-VN" dirty="0"/>
                    <a:t>ey for </a:t>
                  </a:r>
                </a:p>
                <a:p>
                  <a:r>
                    <a:rPr lang="en-VN" dirty="0"/>
                    <a:t>Frame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FA53B91-9B5D-404A-ACFA-A5BF5A13C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2323120"/>
                  <a:ext cx="134676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2778" t="-3774" b="-1320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5EFEC66-65FE-044C-AA53-6F934060558D}"/>
                    </a:ext>
                  </a:extLst>
                </p:cNvPr>
                <p:cNvSpPr txBox="1"/>
                <p:nvPr/>
              </p:nvSpPr>
              <p:spPr>
                <a:xfrm>
                  <a:off x="6213680" y="2333695"/>
                  <a:ext cx="1346768" cy="646331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K</a:t>
                  </a:r>
                  <a:r>
                    <a:rPr lang="en-VN" dirty="0"/>
                    <a:t>ey for </a:t>
                  </a:r>
                </a:p>
                <a:p>
                  <a:r>
                    <a:rPr lang="en-VN" dirty="0"/>
                    <a:t>Frame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vi-V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a14:m>
                  <a:endParaRPr lang="en-VN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15EFEC66-65FE-044C-AA53-6F934060558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3680" y="2333695"/>
                  <a:ext cx="1346768" cy="646331"/>
                </a:xfrm>
                <a:prstGeom prst="rect">
                  <a:avLst/>
                </a:prstGeom>
                <a:blipFill>
                  <a:blip r:embed="rId5"/>
                  <a:stretch>
                    <a:fillRect l="-2778" t="-3774" b="-13208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F5F0417-7DE0-424E-9972-E71CE52B4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24734" y="1721149"/>
              <a:ext cx="1120650" cy="5909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CF1B3A-B9FC-B84A-9277-E606F991410D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 flipH="1">
              <a:off x="5245384" y="1692223"/>
              <a:ext cx="828266" cy="6308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379630D-9EF2-FC40-B807-29A93883E6F3}"/>
                </a:ext>
              </a:extLst>
            </p:cNvPr>
            <p:cNvCxnSpPr>
              <a:cxnSpLocks/>
            </p:cNvCxnSpPr>
            <p:nvPr/>
          </p:nvCxnSpPr>
          <p:spPr>
            <a:xfrm>
              <a:off x="6667500" y="1758573"/>
              <a:ext cx="452677" cy="55347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77595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A713E-8F73-1140-9CF7-ACFF5374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Mã</a:t>
            </a:r>
            <a:r>
              <a:rPr lang="en-US" dirty="0"/>
              <a:t> </a:t>
            </a:r>
            <a:r>
              <a:rPr lang="en-US" dirty="0" err="1"/>
              <a:t>hoá</a:t>
            </a:r>
            <a:r>
              <a:rPr lang="en-US" dirty="0"/>
              <a:t> </a:t>
            </a:r>
            <a:r>
              <a:rPr lang="en-US" dirty="0" err="1"/>
              <a:t>ổ</a:t>
            </a:r>
            <a:r>
              <a:rPr lang="en-US" dirty="0"/>
              <a:t> </a:t>
            </a:r>
            <a:r>
              <a:rPr lang="en-US" dirty="0" err="1"/>
              <a:t>cứng</a:t>
            </a:r>
            <a:r>
              <a:rPr lang="en-US" dirty="0"/>
              <a:t> (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)</a:t>
            </a:r>
            <a:endParaRPr lang="en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AF5E2-5F04-37F1-478F-FDEB977937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E28EC6-50FF-A843-8BE1-204A08EB6DF4}"/>
              </a:ext>
            </a:extLst>
          </p:cNvPr>
          <p:cNvGrpSpPr/>
          <p:nvPr/>
        </p:nvGrpSpPr>
        <p:grpSpPr>
          <a:xfrm>
            <a:off x="0" y="2133601"/>
            <a:ext cx="8686800" cy="3425055"/>
            <a:chOff x="0" y="1276350"/>
            <a:chExt cx="8686800" cy="342505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E1349C-1F87-6B42-9D30-EFA3595AA001}"/>
                </a:ext>
              </a:extLst>
            </p:cNvPr>
            <p:cNvSpPr txBox="1"/>
            <p:nvPr/>
          </p:nvSpPr>
          <p:spPr>
            <a:xfrm>
              <a:off x="457200" y="1276350"/>
              <a:ext cx="1143000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VN" dirty="0"/>
                <a:t>To : Bob</a:t>
              </a:r>
            </a:p>
            <a:p>
              <a:r>
                <a:rPr lang="en-VN" dirty="0"/>
                <a:t>…….</a:t>
              </a:r>
            </a:p>
            <a:p>
              <a:r>
                <a:rPr lang="en-VN" dirty="0"/>
                <a:t>…….</a:t>
              </a:r>
            </a:p>
            <a:p>
              <a:r>
                <a:rPr lang="en-VN" dirty="0"/>
                <a:t>…….</a:t>
              </a:r>
            </a:p>
            <a:p>
              <a:r>
                <a:rPr lang="en-VN" dirty="0"/>
                <a:t>…….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6843F6-3F64-2241-BD1C-62310E2757A0}"/>
                </a:ext>
              </a:extLst>
            </p:cNvPr>
            <p:cNvSpPr txBox="1"/>
            <p:nvPr/>
          </p:nvSpPr>
          <p:spPr>
            <a:xfrm>
              <a:off x="457200" y="3224077"/>
              <a:ext cx="1143000" cy="14773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VN" dirty="0"/>
                <a:t>To : Eve </a:t>
              </a:r>
            </a:p>
            <a:p>
              <a:r>
                <a:rPr lang="en-VN" dirty="0"/>
                <a:t>…….</a:t>
              </a:r>
            </a:p>
            <a:p>
              <a:r>
                <a:rPr lang="en-VN" dirty="0"/>
                <a:t>…….</a:t>
              </a:r>
            </a:p>
            <a:p>
              <a:r>
                <a:rPr lang="en-VN" dirty="0"/>
                <a:t>…….</a:t>
              </a:r>
            </a:p>
            <a:p>
              <a:r>
                <a:rPr lang="en-VN" dirty="0"/>
                <a:t>…….</a:t>
              </a:r>
            </a:p>
          </p:txBody>
        </p:sp>
        <p:sp>
          <p:nvSpPr>
            <p:cNvPr id="7" name="Right Arrow 6">
              <a:extLst>
                <a:ext uri="{FF2B5EF4-FFF2-40B4-BE49-F238E27FC236}">
                  <a16:creationId xmlns:a16="http://schemas.microsoft.com/office/drawing/2014/main" id="{80B23FDD-E2FB-5542-A15B-E4CFFC821F7F}"/>
                </a:ext>
              </a:extLst>
            </p:cNvPr>
            <p:cNvSpPr/>
            <p:nvPr/>
          </p:nvSpPr>
          <p:spPr>
            <a:xfrm>
              <a:off x="1981200" y="1809750"/>
              <a:ext cx="2057400" cy="3810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9036C22E-5FB1-6E49-8EB3-73E4A699EAB3}"/>
                </a:ext>
              </a:extLst>
            </p:cNvPr>
            <p:cNvSpPr/>
            <p:nvPr/>
          </p:nvSpPr>
          <p:spPr>
            <a:xfrm>
              <a:off x="1993075" y="3772241"/>
              <a:ext cx="2057400" cy="3810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1768C6-A240-6343-ACEC-E575E1DAA143}"/>
                </a:ext>
              </a:extLst>
            </p:cNvPr>
            <p:cNvSpPr txBox="1"/>
            <p:nvPr/>
          </p:nvSpPr>
          <p:spPr>
            <a:xfrm>
              <a:off x="2209800" y="1428750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  <a:r>
                <a:rPr lang="en-VN" dirty="0"/>
                <a:t>nc. Disk 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CBD3313-24E0-3840-AE54-CA556E447764}"/>
                </a:ext>
              </a:extLst>
            </p:cNvPr>
            <p:cNvSpPr txBox="1"/>
            <p:nvPr/>
          </p:nvSpPr>
          <p:spPr>
            <a:xfrm>
              <a:off x="2209800" y="3402909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  <a:r>
                <a:rPr lang="en-VN" dirty="0"/>
                <a:t>nc. Disk 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1C9C155-53E5-E54F-B83D-5F069BBE885B}"/>
                </a:ext>
              </a:extLst>
            </p:cNvPr>
            <p:cNvSpPr txBox="1"/>
            <p:nvPr/>
          </p:nvSpPr>
          <p:spPr>
            <a:xfrm>
              <a:off x="4800600" y="1666999"/>
              <a:ext cx="3886200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VN" dirty="0"/>
                <a:t>To : Bob 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26FA96-C7A4-CC4F-A756-EE983330E5E9}"/>
                </a:ext>
              </a:extLst>
            </p:cNvPr>
            <p:cNvSpPr txBox="1"/>
            <p:nvPr/>
          </p:nvSpPr>
          <p:spPr>
            <a:xfrm>
              <a:off x="4800600" y="3696041"/>
              <a:ext cx="3886200" cy="369332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VN" dirty="0"/>
                <a:t>To : Eve 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767A4DB-72EC-7645-B739-D8DB2CED6F05}"/>
                </a:ext>
              </a:extLst>
            </p:cNvPr>
            <p:cNvSpPr txBox="1"/>
            <p:nvPr/>
          </p:nvSpPr>
          <p:spPr>
            <a:xfrm>
              <a:off x="0" y="2822496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VN" dirty="0"/>
                <a:t>Later </a:t>
              </a:r>
            </a:p>
          </p:txBody>
        </p:sp>
        <p:sp>
          <p:nvSpPr>
            <p:cNvPr id="14" name="Up-Down Arrow 13">
              <a:extLst>
                <a:ext uri="{FF2B5EF4-FFF2-40B4-BE49-F238E27FC236}">
                  <a16:creationId xmlns:a16="http://schemas.microsoft.com/office/drawing/2014/main" id="{57E80BDA-8256-C44D-BB23-875589511EA3}"/>
                </a:ext>
              </a:extLst>
            </p:cNvPr>
            <p:cNvSpPr/>
            <p:nvPr/>
          </p:nvSpPr>
          <p:spPr>
            <a:xfrm>
              <a:off x="5943600" y="2190750"/>
              <a:ext cx="381000" cy="1212159"/>
            </a:xfrm>
            <a:prstGeom prst="up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4B442CF-93BF-3F44-B770-F0B309B2540E}"/>
                </a:ext>
              </a:extLst>
            </p:cNvPr>
            <p:cNvSpPr txBox="1"/>
            <p:nvPr/>
          </p:nvSpPr>
          <p:spPr>
            <a:xfrm>
              <a:off x="6553200" y="2637830"/>
              <a:ext cx="1371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O</a:t>
              </a:r>
              <a:r>
                <a:rPr lang="en-VN" dirty="0"/>
                <a:t>nly change 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9C53F56-37D6-CC4A-BA56-021FFC7A97A4}"/>
              </a:ext>
            </a:extLst>
          </p:cNvPr>
          <p:cNvSpPr txBox="1"/>
          <p:nvPr/>
        </p:nvSpPr>
        <p:spPr>
          <a:xfrm>
            <a:off x="152400" y="1981200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337E91-7113-214F-AE41-F7A367A584E9}"/>
              </a:ext>
            </a:extLst>
          </p:cNvPr>
          <p:cNvSpPr txBox="1"/>
          <p:nvPr/>
        </p:nvSpPr>
        <p:spPr>
          <a:xfrm>
            <a:off x="133350" y="4043635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786765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time pad:  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Never use stream cipher key more than once !!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Network traffic:    negotiate new key for every session (e.g. TLS) </a:t>
            </a:r>
          </a:p>
          <a:p>
            <a:endParaRPr lang="en-US" dirty="0"/>
          </a:p>
          <a:p>
            <a:r>
              <a:rPr lang="en-US" dirty="0"/>
              <a:t>Disk encryption:   typically do not use a stream cipher</a:t>
            </a:r>
          </a:p>
        </p:txBody>
      </p:sp>
    </p:spTree>
    <p:extLst>
      <p:ext uri="{BB962C8B-B14F-4D97-AF65-F5344CB8AC3E}">
        <p14:creationId xmlns:p14="http://schemas.microsoft.com/office/powerpoint/2010/main" val="4415539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Attack 2:   no integrity   </a:t>
            </a:r>
            <a:r>
              <a:rPr lang="en-US" sz="3200" dirty="0"/>
              <a:t>(OTP is malleable)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Modifications to </a:t>
            </a:r>
            <a:r>
              <a:rPr lang="en-US" dirty="0" err="1"/>
              <a:t>ciphertext</a:t>
            </a:r>
            <a:r>
              <a:rPr lang="en-US" dirty="0"/>
              <a:t> are undetected and </a:t>
            </a:r>
            <a:br>
              <a:rPr lang="en-US" dirty="0"/>
            </a:br>
            <a:r>
              <a:rPr lang="en-US" dirty="0"/>
              <a:t>have </a:t>
            </a:r>
            <a:r>
              <a:rPr lang="en-US" b="1" u="sng" dirty="0"/>
              <a:t>predictable</a:t>
            </a:r>
            <a:r>
              <a:rPr lang="en-US" dirty="0"/>
              <a:t> impact on plaintext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81000" y="2438400"/>
            <a:ext cx="1828800" cy="381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743200" y="2590800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76600" y="2133601"/>
            <a:ext cx="15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enc</a:t>
            </a:r>
            <a:r>
              <a:rPr lang="en-US" sz="2400" dirty="0"/>
              <a:t>  ( ⊕k )</a:t>
            </a:r>
          </a:p>
        </p:txBody>
      </p:sp>
      <p:sp>
        <p:nvSpPr>
          <p:cNvPr id="9" name="Rectangle 8"/>
          <p:cNvSpPr/>
          <p:nvPr/>
        </p:nvSpPr>
        <p:spPr>
          <a:xfrm>
            <a:off x="5638800" y="2362200"/>
            <a:ext cx="1828800" cy="381000"/>
          </a:xfrm>
          <a:prstGeom prst="rect">
            <a:avLst/>
          </a:prstGeom>
          <a:pattFill prst="lgCheck">
            <a:fgClr>
              <a:schemeClr val="bg1">
                <a:lumMod val="75000"/>
              </a:schemeClr>
            </a:fgClr>
            <a:bgClr>
              <a:prstClr val="white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lang="en-US" sz="2400" b="1" dirty="0" err="1">
                <a:solidFill>
                  <a:srgbClr val="FF0000"/>
                </a:solidFill>
                <a:latin typeface="Courier New"/>
                <a:cs typeface="Courier New"/>
              </a:rPr>
              <a:t>⊕</a:t>
            </a:r>
            <a:r>
              <a:rPr lang="en-US" sz="2800" b="1" dirty="0" err="1">
                <a:solidFill>
                  <a:srgbClr val="FF0000"/>
                </a:solidFill>
                <a:latin typeface="Courier New"/>
                <a:cs typeface="Courier New"/>
              </a:rPr>
              <a:t>k</a:t>
            </a:r>
            <a:endParaRPr lang="en-US" sz="2800" b="1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819400" y="3729335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flipH="1">
            <a:off x="3352800" y="3272136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dec</a:t>
            </a:r>
            <a:r>
              <a:rPr lang="en-US" sz="2400" dirty="0"/>
              <a:t> ( ⊕k 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000" y="3505200"/>
            <a:ext cx="1828800" cy="381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err="1">
                <a:solidFill>
                  <a:srgbClr val="FF0000"/>
                </a:solidFill>
                <a:latin typeface="Courier New"/>
                <a:cs typeface="Courier New"/>
              </a:rPr>
              <a:t>m⊕p</a:t>
            </a:r>
            <a:endParaRPr lang="en-US" sz="2800" b="1" dirty="0">
              <a:solidFill>
                <a:srgbClr val="FF0000"/>
              </a:solidFill>
              <a:latin typeface="Courier New"/>
              <a:cs typeface="Courier New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410201" y="2438400"/>
            <a:ext cx="2751821" cy="1447800"/>
            <a:chOff x="5410200" y="1581150"/>
            <a:chExt cx="2751821" cy="1447800"/>
          </a:xfrm>
        </p:grpSpPr>
        <p:sp>
          <p:nvSpPr>
            <p:cNvPr id="10" name="Rectangle 9"/>
            <p:cNvSpPr/>
            <p:nvPr/>
          </p:nvSpPr>
          <p:spPr>
            <a:xfrm>
              <a:off x="5638800" y="2038350"/>
              <a:ext cx="1828800" cy="381000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p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638800" y="2647950"/>
              <a:ext cx="1828800" cy="381000"/>
            </a:xfrm>
            <a:prstGeom prst="rect">
              <a:avLst/>
            </a:prstGeom>
            <a:pattFill prst="lgCheck">
              <a:fgClr>
                <a:schemeClr val="bg1">
                  <a:lumMod val="65000"/>
                </a:schemeClr>
              </a:fgClr>
              <a:bgClr>
                <a:prstClr val="white"/>
              </a:bgClr>
            </a:patt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Courier New"/>
                  <a:cs typeface="Courier New"/>
                </a:rPr>
                <a:t>(</a:t>
              </a:r>
              <a:r>
                <a:rPr lang="en-US" sz="2400" b="1" dirty="0" err="1">
                  <a:solidFill>
                    <a:srgbClr val="FF0000"/>
                  </a:solidFill>
                  <a:latin typeface="Courier New"/>
                  <a:cs typeface="Courier New"/>
                </a:rPr>
                <a:t>m⊕k</a:t>
              </a:r>
              <a:r>
                <a:rPr lang="en-US" sz="2400" b="1" dirty="0">
                  <a:solidFill>
                    <a:srgbClr val="FF0000"/>
                  </a:solidFill>
                  <a:latin typeface="Courier New"/>
                  <a:cs typeface="Courier New"/>
                </a:rPr>
                <a:t>)⊕p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67600" y="1581150"/>
              <a:ext cx="69442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⊕</a:t>
              </a:r>
            </a:p>
          </p:txBody>
        </p:sp>
        <p:cxnSp>
          <p:nvCxnSpPr>
            <p:cNvPr id="18" name="Straight Connector 17"/>
            <p:cNvCxnSpPr/>
            <p:nvPr/>
          </p:nvCxnSpPr>
          <p:spPr>
            <a:xfrm>
              <a:off x="5410200" y="2533650"/>
              <a:ext cx="2667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Rectangle 3"/>
          <p:cNvSpPr/>
          <p:nvPr/>
        </p:nvSpPr>
        <p:spPr>
          <a:xfrm>
            <a:off x="838200" y="3505200"/>
            <a:ext cx="990600" cy="457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854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  <p:bldP spid="14" grpId="0" animBg="1"/>
      <p:bldP spid="4" grpId="0" animBg="1"/>
      <p:bldP spid="4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Attack 2:   no integrity   </a:t>
            </a:r>
            <a:r>
              <a:rPr lang="en-US" sz="3200" dirty="0"/>
              <a:t>(OTP is malleable)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Modifications to ciphertext are undetected and </a:t>
            </a:r>
            <a:br>
              <a:rPr lang="en-US" dirty="0"/>
            </a:br>
            <a:r>
              <a:rPr lang="en-US" dirty="0"/>
              <a:t>have predictable impact on plaintext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31882" y="2154198"/>
            <a:ext cx="1828800" cy="381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From: Bob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694082" y="2306598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27482" y="1849399"/>
            <a:ext cx="15376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enc</a:t>
            </a:r>
            <a:r>
              <a:rPr lang="en-US" sz="2400" dirty="0"/>
              <a:t>  ( ⊕k )</a:t>
            </a:r>
          </a:p>
        </p:txBody>
      </p:sp>
      <p:sp>
        <p:nvSpPr>
          <p:cNvPr id="9" name="Rectangle 8"/>
          <p:cNvSpPr/>
          <p:nvPr/>
        </p:nvSpPr>
        <p:spPr>
          <a:xfrm>
            <a:off x="5589682" y="2077998"/>
            <a:ext cx="1828800" cy="381000"/>
          </a:xfrm>
          <a:prstGeom prst="rect">
            <a:avLst/>
          </a:prstGeom>
          <a:pattFill prst="lgCheck">
            <a:fgClr>
              <a:schemeClr val="bg1">
                <a:lumMod val="65000"/>
              </a:schemeClr>
            </a:fgClr>
            <a:bgClr>
              <a:prstClr val="white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From: Bob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0282" y="2611398"/>
            <a:ext cx="609600" cy="381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⋯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89682" y="3220998"/>
            <a:ext cx="1828800" cy="381000"/>
          </a:xfrm>
          <a:prstGeom prst="rect">
            <a:avLst/>
          </a:prstGeom>
          <a:pattFill prst="lgCheck">
            <a:fgClr>
              <a:schemeClr val="bg1">
                <a:lumMod val="65000"/>
              </a:schemeClr>
            </a:fgClr>
            <a:bgClr>
              <a:prstClr val="white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From: Eve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2770282" y="3445133"/>
            <a:ext cx="22860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flipH="1">
            <a:off x="3303682" y="2987934"/>
            <a:ext cx="14686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/>
              <a:t>dec</a:t>
            </a:r>
            <a:r>
              <a:rPr lang="en-US" sz="2400" dirty="0"/>
              <a:t> ( ⊕k 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882" y="3220998"/>
            <a:ext cx="1828800" cy="38100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Courier New"/>
                <a:cs typeface="Courier New"/>
              </a:rPr>
              <a:t>From: 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18483" y="2154198"/>
            <a:ext cx="69442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⊕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5361082" y="3106698"/>
            <a:ext cx="2667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EBCE580-52CF-2847-AE5E-B38BBC7A7377}"/>
              </a:ext>
            </a:extLst>
          </p:cNvPr>
          <p:cNvSpPr txBox="1"/>
          <p:nvPr/>
        </p:nvSpPr>
        <p:spPr>
          <a:xfrm>
            <a:off x="662977" y="3810002"/>
            <a:ext cx="1573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dirty="0"/>
              <a:t>Bob </a:t>
            </a:r>
          </a:p>
          <a:p>
            <a:r>
              <a:rPr lang="en-VN" sz="2400" dirty="0"/>
              <a:t>42 6F 62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C04CA9-81A1-0B41-91BE-AF9D72E7B8D8}"/>
              </a:ext>
            </a:extLst>
          </p:cNvPr>
          <p:cNvSpPr txBox="1"/>
          <p:nvPr/>
        </p:nvSpPr>
        <p:spPr>
          <a:xfrm>
            <a:off x="2819401" y="3810001"/>
            <a:ext cx="14748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VN" dirty="0"/>
              <a:t>Eve</a:t>
            </a:r>
          </a:p>
          <a:p>
            <a:r>
              <a:rPr lang="en-VN" dirty="0"/>
              <a:t>45 76 65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CE81B4-72C0-0F42-8F48-6E062070DC6C}"/>
              </a:ext>
            </a:extLst>
          </p:cNvPr>
          <p:cNvSpPr txBox="1"/>
          <p:nvPr/>
        </p:nvSpPr>
        <p:spPr>
          <a:xfrm>
            <a:off x="5507599" y="3724870"/>
            <a:ext cx="19068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lang="en-VN" dirty="0"/>
              <a:t>Bob </a:t>
            </a:r>
            <a:r>
              <a:rPr lang="en-US" dirty="0"/>
              <a:t>⊕ </a:t>
            </a:r>
            <a:r>
              <a:rPr lang="en-VN" dirty="0"/>
              <a:t>Eve </a:t>
            </a:r>
          </a:p>
          <a:p>
            <a:r>
              <a:rPr lang="en-VN" dirty="0"/>
              <a:t>07 19 07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97EA7C-9DF6-464D-9BE0-06933DB152AC}"/>
              </a:ext>
            </a:extLst>
          </p:cNvPr>
          <p:cNvSpPr txBox="1"/>
          <p:nvPr/>
        </p:nvSpPr>
        <p:spPr>
          <a:xfrm>
            <a:off x="7662585" y="3769048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2400" dirty="0"/>
              <a:t>07 19 07 </a:t>
            </a:r>
          </a:p>
        </p:txBody>
      </p:sp>
      <p:cxnSp>
        <p:nvCxnSpPr>
          <p:cNvPr id="21" name="Elbow Connector 20">
            <a:extLst>
              <a:ext uri="{FF2B5EF4-FFF2-40B4-BE49-F238E27FC236}">
                <a16:creationId xmlns:a16="http://schemas.microsoft.com/office/drawing/2014/main" id="{F627185D-755D-AC4A-B10E-E8B3322A7E0F}"/>
              </a:ext>
            </a:extLst>
          </p:cNvPr>
          <p:cNvCxnSpPr>
            <a:cxnSpLocks/>
          </p:cNvCxnSpPr>
          <p:nvPr/>
        </p:nvCxnSpPr>
        <p:spPr>
          <a:xfrm rot="10800000">
            <a:off x="7639056" y="2987933"/>
            <a:ext cx="998626" cy="4572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5190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 animBg="1"/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A6A81D-5295-40E1-A537-AFABE2750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F3B588-C9A7-E475-646C-C7FF4E51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077" y="137375"/>
            <a:ext cx="8673846" cy="451739"/>
          </a:xfrm>
        </p:spPr>
        <p:txBody>
          <a:bodyPr/>
          <a:lstStyle/>
          <a:p>
            <a:r>
              <a:rPr lang="vi-VN" dirty="0"/>
              <a:t>Câu hỏi về RC4 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598A4D3-16B0-7670-F319-3F1D4A15A4BA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Alice and Bob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thoả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thuận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bí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mật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với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nhau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qua email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sử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dụng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lược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đồ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mã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hoá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RC4,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nhưng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muốn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tránh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việc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sử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dung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một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khoá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mật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mới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cho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mỗi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lần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truyền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. Alice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và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Bob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thoả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thuận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bí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mật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với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nhau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một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khoá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k 128-bit.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Để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mã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hoá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một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bản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tin m bao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gồm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một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chuỗi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các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bit,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và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được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thực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hiện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như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sau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 </a:t>
                </a:r>
              </a:p>
              <a:p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Chọn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ngẫu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nhiên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một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giá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trị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vi-VN" sz="2200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vi-VN" sz="2200" b="0" i="1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80-bit</a:t>
                </a:r>
              </a:p>
              <a:p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Generate the ciphertext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=</m:t>
                    </m:r>
                    <m:r>
                      <a:rPr lang="vi-VN" sz="2200" b="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vi-VN" sz="22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RC</m:t>
                    </m:r>
                    <m:r>
                      <a:rPr lang="vi-VN" sz="22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4(</m:t>
                    </m:r>
                    <m:r>
                      <m:rPr>
                        <m:sty m:val="p"/>
                      </m:rPr>
                      <a:rPr lang="vi-VN" sz="22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v</m:t>
                    </m:r>
                    <m:r>
                      <a:rPr lang="vi-VN" sz="22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|</m:t>
                    </m:r>
                    <m:d>
                      <m:dPr>
                        <m:begChr m:val="|"/>
                        <m:ctrlPr>
                          <a:rPr lang="vi-VN" sz="22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vi-VN" sz="2200" i="1" dirty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e>
                    </m:d>
                    <m:r>
                      <a:rPr lang="vi-VN" sz="22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⊕ </m:t>
                    </m:r>
                    <m:r>
                      <m:rPr>
                        <m:sty m:val="p"/>
                      </m:rPr>
                      <a:rPr lang="vi-VN" sz="2200" i="1" dirty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200" dirty="0">
                  <a:effectLst/>
                  <a:latin typeface="+mn-lt"/>
                </a:endParaRPr>
              </a:p>
              <a:p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Gửi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đi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chuỗi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bit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 || 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200" dirty="0"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2200" dirty="0" err="1">
                    <a:effectLst/>
                    <a:latin typeface="+mn-lt"/>
                  </a:rPr>
                  <a:t>Câu</a:t>
                </a:r>
                <a:r>
                  <a:rPr lang="en-US" sz="2200" dirty="0">
                    <a:effectLst/>
                    <a:latin typeface="+mn-lt"/>
                  </a:rPr>
                  <a:t> </a:t>
                </a:r>
                <a:r>
                  <a:rPr lang="en-US" sz="2200" dirty="0" err="1">
                    <a:effectLst/>
                    <a:latin typeface="+mn-lt"/>
                  </a:rPr>
                  <a:t>hỏi</a:t>
                </a:r>
                <a:r>
                  <a:rPr lang="en-US" sz="2200" dirty="0">
                    <a:latin typeface="+mn-lt"/>
                  </a:rPr>
                  <a:t>:</a:t>
                </a:r>
              </a:p>
              <a:p>
                <a:pPr marL="0" indent="0">
                  <a:buNone/>
                </a:pP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Giả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effectLst/>
                    <a:latin typeface="+mn-lt"/>
                  </a:rPr>
                  <a:t>sử</a:t>
                </a:r>
                <a:r>
                  <a:rPr lang="en-US" sz="2200" dirty="0">
                    <a:solidFill>
                      <a:srgbClr val="333333"/>
                    </a:solidFill>
                    <a:effectLst/>
                    <a:latin typeface="+mn-lt"/>
                  </a:rPr>
                  <a:t> Alice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sử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dụng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cách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này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để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gửi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bản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mã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của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m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cho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Bob,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mô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tả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các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Bob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khôi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phục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lại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m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từ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chuỗi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 || 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 dirty="0" smtClean="0">
                        <a:solidFill>
                          <a:srgbClr val="333333"/>
                        </a:solidFill>
                        <a:effectLst/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sz="2200" dirty="0">
                  <a:effectLst/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Nếu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một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kẻ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địch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(adversary)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quan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sát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được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giá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trị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các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cặp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(v1 || C1), (v2 || C2), ...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Truyền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qua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lại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giữa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Alice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và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Bob,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bằng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cách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nào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để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kẻ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địch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nhận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diện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được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khi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nào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khoá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dòng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được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bị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lặp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lại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cho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việc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mã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hai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</a:t>
                </a:r>
                <a:r>
                  <a:rPr lang="en-US" sz="2200" dirty="0" err="1">
                    <a:solidFill>
                      <a:srgbClr val="333333"/>
                    </a:solidFill>
                    <a:latin typeface="+mn-lt"/>
                  </a:rPr>
                  <a:t>bản</a:t>
                </a:r>
                <a:r>
                  <a:rPr lang="en-US" sz="2200" dirty="0">
                    <a:solidFill>
                      <a:srgbClr val="333333"/>
                    </a:solidFill>
                    <a:latin typeface="+mn-lt"/>
                  </a:rPr>
                  <a:t> tin</a:t>
                </a:r>
              </a:p>
              <a:p>
                <a:endParaRPr lang="en-US" sz="2200" dirty="0">
                  <a:effectLst/>
                </a:endParaRPr>
              </a:p>
              <a:p>
                <a:endParaRPr sz="2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598A4D3-16B0-7670-F319-3F1D4A15A4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877" t="-1435" r="-1316"/>
                </a:stretch>
              </a:blipFill>
            </p:spPr>
            <p:txBody>
              <a:bodyPr/>
              <a:lstStyle/>
              <a:p>
                <a:r>
                  <a:rPr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3">
            <a:extLst>
              <a:ext uri="{FF2B5EF4-FFF2-40B4-BE49-F238E27FC236}">
                <a16:creationId xmlns:a16="http://schemas.microsoft.com/office/drawing/2014/main" id="{63EF731C-CDFE-4D85-28AF-669FB1183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170765"/>
            <a:ext cx="26161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VN" altLang="en-V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endParaRPr kumimoji="0" lang="en-VN" altLang="en-VN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VN" altLang="en-V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279077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D28CAC-E772-D57E-E055-164CC9D3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F36DC71-C556-8CAC-22A6-AEC86532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Câu hỏi về RC4 </a:t>
            </a:r>
            <a:endParaRPr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3A822-2E93-D6F1-3C4C-2C9420E8E56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Sấp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xỉ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khoảng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bao </a:t>
            </a:r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nhiêu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tin </a:t>
            </a:r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nhắn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Alice </a:t>
            </a:r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có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thể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gửi</a:t>
            </a:r>
            <a:r>
              <a:rPr lang="en-US" sz="180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đi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được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trước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khi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khoá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dòng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bị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lặp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lại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?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Số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lượng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bản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tin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có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thể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được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mã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hoá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an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toàn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</a:t>
            </a:r>
            <a:r>
              <a:rPr lang="en-US" sz="1800" dirty="0" err="1">
                <a:solidFill>
                  <a:srgbClr val="333333"/>
                </a:solidFill>
                <a:latin typeface="Verdana" panose="020B0604030504040204" pitchFamily="34" charset="0"/>
              </a:rPr>
              <a:t>bởi</a:t>
            </a:r>
            <a:r>
              <a:rPr lang="en-US" sz="1800" dirty="0">
                <a:solidFill>
                  <a:srgbClr val="333333"/>
                </a:solidFill>
                <a:latin typeface="Verdana" panose="020B0604030504040204" pitchFamily="34" charset="0"/>
              </a:rPr>
              <a:t> k </a:t>
            </a:r>
          </a:p>
        </p:txBody>
      </p:sp>
    </p:spTree>
    <p:extLst>
      <p:ext uri="{BB962C8B-B14F-4D97-AF65-F5344CB8AC3E}">
        <p14:creationId xmlns:p14="http://schemas.microsoft.com/office/powerpoint/2010/main" val="33702455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(The birthday paradox)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   r</a:t>
            </a:r>
            <a:r>
              <a:rPr lang="en-US" baseline="-25000" dirty="0"/>
              <a:t>1</a:t>
            </a:r>
            <a:r>
              <a:rPr lang="en-US" dirty="0"/>
              <a:t>, …, </a:t>
            </a:r>
            <a:r>
              <a:rPr lang="en-US" dirty="0" err="1"/>
              <a:t>r</a:t>
            </a:r>
            <a:r>
              <a:rPr lang="en-US" baseline="-25000" dirty="0" err="1"/>
              <a:t>n</a:t>
            </a:r>
            <a:r>
              <a:rPr lang="en-US" dirty="0"/>
              <a:t> ∈ U    be </a:t>
            </a:r>
            <a:r>
              <a:rPr lang="en-US" dirty="0" err="1"/>
              <a:t>indep</a:t>
            </a:r>
            <a:r>
              <a:rPr lang="en-US" dirty="0"/>
              <a:t>. identically distributed random vars. </a:t>
            </a:r>
          </a:p>
          <a:p>
            <a:pPr marL="0" indent="0">
              <a:spcBef>
                <a:spcPts val="1824"/>
              </a:spcBef>
              <a:buNone/>
            </a:pPr>
            <a:r>
              <a:rPr lang="en-US" b="1" u="sng" dirty="0" err="1"/>
              <a:t>Thm</a:t>
            </a:r>
            <a:r>
              <a:rPr lang="en-US" dirty="0"/>
              <a:t>:   when  </a:t>
            </a:r>
            <a:r>
              <a:rPr lang="en-US" sz="3200" b="1" dirty="0">
                <a:solidFill>
                  <a:srgbClr val="FF0000"/>
                </a:solidFill>
              </a:rPr>
              <a:t>n</a:t>
            </a:r>
            <a:r>
              <a:rPr lang="en-US" dirty="0"/>
              <a:t>= 1.2 × </a:t>
            </a:r>
            <a:r>
              <a:rPr lang="en-US" b="1" dirty="0">
                <a:solidFill>
                  <a:srgbClr val="FF0000"/>
                </a:solidFill>
              </a:rPr>
              <a:t>|U|</a:t>
            </a:r>
            <a:r>
              <a:rPr lang="en-US" b="1" baseline="30000" dirty="0">
                <a:solidFill>
                  <a:srgbClr val="FF0000"/>
                </a:solidFill>
              </a:rPr>
              <a:t>1/2</a:t>
            </a:r>
            <a:r>
              <a:rPr lang="en-US" baseline="30000" dirty="0"/>
              <a:t> </a:t>
            </a:r>
            <a:r>
              <a:rPr lang="en-US" dirty="0"/>
              <a:t>    then    </a:t>
            </a:r>
            <a:r>
              <a:rPr lang="en-US" dirty="0" err="1"/>
              <a:t>Pr</a:t>
            </a:r>
            <a:r>
              <a:rPr lang="en-US" sz="3200" dirty="0"/>
              <a:t>[</a:t>
            </a:r>
            <a:r>
              <a:rPr lang="en-US" dirty="0"/>
              <a:t> ∃</a:t>
            </a:r>
            <a:r>
              <a:rPr lang="en-US" dirty="0" err="1"/>
              <a:t>i≠j</a:t>
            </a:r>
            <a:r>
              <a:rPr lang="en-US" dirty="0"/>
              <a:t>:   </a:t>
            </a:r>
            <a:r>
              <a:rPr lang="en-US" dirty="0" err="1"/>
              <a:t>r</a:t>
            </a:r>
            <a:r>
              <a:rPr lang="en-US" baseline="-25000" dirty="0" err="1"/>
              <a:t>i</a:t>
            </a:r>
            <a:r>
              <a:rPr lang="en-US" dirty="0"/>
              <a:t> = </a:t>
            </a:r>
            <a:r>
              <a:rPr lang="en-US" dirty="0" err="1"/>
              <a:t>r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sz="3200" dirty="0"/>
              <a:t>] </a:t>
            </a:r>
            <a:r>
              <a:rPr lang="en-US" dirty="0"/>
              <a:t>≥  ½ </a:t>
            </a:r>
          </a:p>
          <a:p>
            <a:pPr marL="0" indent="0">
              <a:spcBef>
                <a:spcPts val="4824"/>
              </a:spcBef>
              <a:buNone/>
            </a:pPr>
            <a:r>
              <a:rPr lang="en-US" u="sng" dirty="0"/>
              <a:t>Example</a:t>
            </a:r>
            <a:r>
              <a:rPr lang="en-US" dirty="0"/>
              <a:t>:          Let   U = {0,1}</a:t>
            </a:r>
            <a:r>
              <a:rPr lang="en-US" baseline="30000" dirty="0"/>
              <a:t>128</a:t>
            </a:r>
            <a:r>
              <a:rPr lang="en-US" dirty="0"/>
              <a:t>     </a:t>
            </a:r>
          </a:p>
          <a:p>
            <a:pPr marL="0" indent="0">
              <a:lnSpc>
                <a:spcPts val="4180"/>
              </a:lnSpc>
              <a:spcBef>
                <a:spcPts val="1824"/>
              </a:spcBef>
              <a:buNone/>
            </a:pPr>
            <a:r>
              <a:rPr lang="en-US" dirty="0"/>
              <a:t>	Sau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lấy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khoảng</a:t>
            </a:r>
            <a:r>
              <a:rPr lang="en-US" dirty="0"/>
              <a:t> 2</a:t>
            </a:r>
            <a:r>
              <a:rPr lang="en-US" baseline="30000" dirty="0"/>
              <a:t>64 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tin </a:t>
            </a:r>
            <a:r>
              <a:rPr lang="en-US" dirty="0" err="1"/>
              <a:t>ngẫu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U,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vài</a:t>
            </a:r>
            <a:r>
              <a:rPr lang="en-US" dirty="0"/>
              <a:t> 2 </a:t>
            </a:r>
            <a:r>
              <a:rPr lang="en-US" dirty="0" err="1"/>
              <a:t>cặp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gần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tự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  <a:endParaRPr lang="en-US" baseline="-25000" dirty="0"/>
          </a:p>
        </p:txBody>
      </p:sp>
      <p:sp>
        <p:nvSpPr>
          <p:cNvPr id="4" name="TextBox 3"/>
          <p:cNvSpPr txBox="1"/>
          <p:nvPr/>
        </p:nvSpPr>
        <p:spPr>
          <a:xfrm>
            <a:off x="5715000" y="3276600"/>
            <a:ext cx="2921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notation:  |U| is the size of U</a:t>
            </a:r>
          </a:p>
        </p:txBody>
      </p:sp>
    </p:spTree>
    <p:extLst>
      <p:ext uri="{BB962C8B-B14F-4D97-AF65-F5344CB8AC3E}">
        <p14:creationId xmlns:p14="http://schemas.microsoft.com/office/powerpoint/2010/main" val="2446510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8501" b="4938"/>
          <a:stretch/>
        </p:blipFill>
        <p:spPr>
          <a:xfrm>
            <a:off x="1092200" y="914752"/>
            <a:ext cx="7518400" cy="46478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1" y="990601"/>
            <a:ext cx="12348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|U|=10</a:t>
            </a:r>
            <a:r>
              <a:rPr lang="en-US" sz="2400" baseline="30000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1" y="5562600"/>
            <a:ext cx="1342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# samples  n</a:t>
            </a:r>
          </a:p>
        </p:txBody>
      </p:sp>
      <p:grpSp>
        <p:nvGrpSpPr>
          <p:cNvPr id="22" name="Group 21"/>
          <p:cNvGrpSpPr/>
          <p:nvPr/>
        </p:nvGrpSpPr>
        <p:grpSpPr>
          <a:xfrm>
            <a:off x="1447800" y="3276600"/>
            <a:ext cx="1600200" cy="1981200"/>
            <a:chOff x="1447800" y="2419350"/>
            <a:chExt cx="1600200" cy="1981200"/>
          </a:xfrm>
        </p:grpSpPr>
        <p:cxnSp>
          <p:nvCxnSpPr>
            <p:cNvPr id="9" name="Straight Connector 8"/>
            <p:cNvCxnSpPr/>
            <p:nvPr/>
          </p:nvCxnSpPr>
          <p:spPr>
            <a:xfrm>
              <a:off x="1447800" y="2444750"/>
              <a:ext cx="16002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3048000" y="2419350"/>
              <a:ext cx="0" cy="1981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1447800" y="1714500"/>
            <a:ext cx="2895600" cy="3543300"/>
            <a:chOff x="1447800" y="857250"/>
            <a:chExt cx="2895600" cy="3543300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1447800" y="857250"/>
              <a:ext cx="28956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4343400" y="895350"/>
              <a:ext cx="0" cy="35052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 rot="16200000">
            <a:off x="-291284" y="3339285"/>
            <a:ext cx="2018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collision probability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72929B-EBB4-77C3-62F0-0DE55F72C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2F7D63-0960-0EC7-BDDE-FEDED148A7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59150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6E0A591440FD4BB24A6FC7027A4F9B" ma:contentTypeVersion="0" ma:contentTypeDescription="Create a new document." ma:contentTypeScope="" ma:versionID="0cdb238342832eee5c5d1cab4933901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612FEC-1AE4-4490-8728-9218EA58F8A6}"/>
</file>

<file path=customXml/itemProps2.xml><?xml version="1.0" encoding="utf-8"?>
<ds:datastoreItem xmlns:ds="http://schemas.openxmlformats.org/officeDocument/2006/customXml" ds:itemID="{335A230B-2EAF-4BFF-90F2-54534BE4B56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D15C207-21C3-4174-AEA7-D347E0A1F101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4878</TotalTime>
  <Words>3676</Words>
  <Application>Microsoft Macintosh PowerPoint</Application>
  <PresentationFormat>On-screen Show (4:3)</PresentationFormat>
  <Paragraphs>426</Paragraphs>
  <Slides>47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9" baseType="lpstr">
      <vt:lpstr>Arial</vt:lpstr>
      <vt:lpstr>Calibri</vt:lpstr>
      <vt:lpstr>Cambria Math</vt:lpstr>
      <vt:lpstr>Courier</vt:lpstr>
      <vt:lpstr>Courier New</vt:lpstr>
      <vt:lpstr>Lato</vt:lpstr>
      <vt:lpstr>Symbol</vt:lpstr>
      <vt:lpstr>Times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CHƯƠNG 2: MẬT MÃ KHOÁ ĐỐI XỨNG </vt:lpstr>
      <vt:lpstr>Things to remember</vt:lpstr>
      <vt:lpstr>Mật mã học ứng dụng ở khắp mọi nơi </vt:lpstr>
      <vt:lpstr>Mật mã học ứng dụng ở khắp mọi nơi</vt:lpstr>
      <vt:lpstr>Đảm bảo tính chính xác trong các giao thức</vt:lpstr>
      <vt:lpstr>Đảm bảo tính chính xác trong các giao thức</vt:lpstr>
      <vt:lpstr>Mật mã học hiện đại – Các khái niệm </vt:lpstr>
      <vt:lpstr>Mật mã học hiện đại – Các khái niệm </vt:lpstr>
      <vt:lpstr>Mật mã khoá đối xứng </vt:lpstr>
      <vt:lpstr>Thế nào là mã mật bảo mật?</vt:lpstr>
      <vt:lpstr>Lý thuyết bảo mật thông tin (Shannon 1949) </vt:lpstr>
      <vt:lpstr>Mật mã dòng </vt:lpstr>
      <vt:lpstr>The One Time Pad (OTP) (Vernam 1917) </vt:lpstr>
      <vt:lpstr>Bộ phát số ngẫu nhiên - Pseudorandom Generators</vt:lpstr>
      <vt:lpstr>PRG không thể dự đoán (unpredictable)</vt:lpstr>
      <vt:lpstr>PRG không thể dự đoán (unpredictable)</vt:lpstr>
      <vt:lpstr>Chuỗi PRG yếu </vt:lpstr>
      <vt:lpstr>Ví dụ </vt:lpstr>
      <vt:lpstr>Chuỗi PRG yếu </vt:lpstr>
      <vt:lpstr>Chuỗi PRG yếu </vt:lpstr>
      <vt:lpstr>Bài tập </vt:lpstr>
      <vt:lpstr>Mật mã dòng </vt:lpstr>
      <vt:lpstr>RC4 </vt:lpstr>
      <vt:lpstr>Thuật toán mã dòng RC4 </vt:lpstr>
      <vt:lpstr>Thuật toán mã dòng RC4 </vt:lpstr>
      <vt:lpstr>Thuật toán mã dòng RC4 </vt:lpstr>
      <vt:lpstr>Thuật toán mã dòng RC4 </vt:lpstr>
      <vt:lpstr>Thuật toán mã dòng RC4 </vt:lpstr>
      <vt:lpstr>Bài tập </vt:lpstr>
      <vt:lpstr>Bài tập </vt:lpstr>
      <vt:lpstr>Câu hỏi về RC4 </vt:lpstr>
      <vt:lpstr>Review</vt:lpstr>
      <vt:lpstr>Attack 1:    two time pad is insecure !!</vt:lpstr>
      <vt:lpstr>Các ví dụ thực tế</vt:lpstr>
      <vt:lpstr>Real world examples</vt:lpstr>
      <vt:lpstr>Avoid related keys</vt:lpstr>
      <vt:lpstr>Cấu trúc tốt hơn</vt:lpstr>
      <vt:lpstr>Mã hoá ổ cứng (một ví dụ khác)</vt:lpstr>
      <vt:lpstr>Two time pad:   summary</vt:lpstr>
      <vt:lpstr>Attack 2:   no integrity   (OTP is malleable)</vt:lpstr>
      <vt:lpstr>Attack 2:   no integrity   (OTP is malleable)</vt:lpstr>
      <vt:lpstr>Câu hỏi về RC4 </vt:lpstr>
      <vt:lpstr>Câu hỏi về RC4 </vt:lpstr>
      <vt:lpstr>Bài toán ngày sinh (The birthday paradox)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Ta Thi Kim Hue</cp:lastModifiedBy>
  <cp:revision>47</cp:revision>
  <dcterms:created xsi:type="dcterms:W3CDTF">2021-05-28T04:32:29Z</dcterms:created>
  <dcterms:modified xsi:type="dcterms:W3CDTF">2025-03-04T08:16:43Z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0x010100796E0A591440FD4BB24A6FC7027A4F9B</vt:lpwstr>
  </property>
</Properties>
</file>