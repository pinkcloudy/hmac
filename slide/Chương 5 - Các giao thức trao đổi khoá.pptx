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8" r:id="rId3"/>
  </p:sldMasterIdLst>
  <p:notesMasterIdLst>
    <p:notesMasterId r:id="rId43"/>
  </p:notesMasterIdLst>
  <p:handoutMasterIdLst>
    <p:handoutMasterId r:id="rId44"/>
  </p:handoutMasterIdLst>
  <p:sldIdLst>
    <p:sldId id="259" r:id="rId4"/>
    <p:sldId id="257" r:id="rId5"/>
    <p:sldId id="414" r:id="rId6"/>
    <p:sldId id="382" r:id="rId7"/>
    <p:sldId id="383" r:id="rId8"/>
    <p:sldId id="415" r:id="rId9"/>
    <p:sldId id="384" r:id="rId10"/>
    <p:sldId id="385" r:id="rId11"/>
    <p:sldId id="381" r:id="rId12"/>
    <p:sldId id="376" r:id="rId13"/>
    <p:sldId id="377" r:id="rId14"/>
    <p:sldId id="378" r:id="rId15"/>
    <p:sldId id="379" r:id="rId16"/>
    <p:sldId id="373" r:id="rId17"/>
    <p:sldId id="392" r:id="rId18"/>
    <p:sldId id="396" r:id="rId19"/>
    <p:sldId id="398" r:id="rId20"/>
    <p:sldId id="413" r:id="rId21"/>
    <p:sldId id="399" r:id="rId22"/>
    <p:sldId id="416" r:id="rId23"/>
    <p:sldId id="418" r:id="rId24"/>
    <p:sldId id="405" r:id="rId25"/>
    <p:sldId id="406" r:id="rId26"/>
    <p:sldId id="408" r:id="rId27"/>
    <p:sldId id="375" r:id="rId28"/>
    <p:sldId id="433" r:id="rId29"/>
    <p:sldId id="446" r:id="rId30"/>
    <p:sldId id="380" r:id="rId31"/>
    <p:sldId id="438" r:id="rId32"/>
    <p:sldId id="436" r:id="rId33"/>
    <p:sldId id="437" r:id="rId34"/>
    <p:sldId id="402" r:id="rId35"/>
    <p:sldId id="403" r:id="rId36"/>
    <p:sldId id="404" r:id="rId37"/>
    <p:sldId id="441" r:id="rId38"/>
    <p:sldId id="442" r:id="rId39"/>
    <p:sldId id="444" r:id="rId40"/>
    <p:sldId id="443" r:id="rId41"/>
    <p:sldId id="445" r:id="rId4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46"/>
  </p:normalViewPr>
  <p:slideViewPr>
    <p:cSldViewPr snapToGrid="0">
      <p:cViewPr varScale="1">
        <p:scale>
          <a:sx n="99" d="100"/>
          <a:sy n="99" d="100"/>
        </p:scale>
        <p:origin x="19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theme" Target="theme/theme1.xml"/><Relationship Id="rId50" Type="http://schemas.openxmlformats.org/officeDocument/2006/relationships/customXml" Target="../customXml/item3.xml"/><Relationship Id="rId7" Type="http://schemas.openxmlformats.org/officeDocument/2006/relationships/slide" Target="slides/slide4.xml"/><Relationship Id="rId2" Type="http://schemas.openxmlformats.org/officeDocument/2006/relationships/customXml" Target="../customXml/item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microsoft.com/office/2016/11/relationships/changesInfo" Target="changesInfos/changesInfo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handoutMaster" Target="handoutMasters/handout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1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viewProps" Target="viewProps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 Thi Kim Hue" userId="af176dfe-ebe0-47e4-99a4-e0f4d40f7313" providerId="ADAL" clId="{54FE70A6-63C1-4E11-969B-F1F522CE7CAE}"/>
    <pc:docChg chg="undo custSel addSld modSld sldOrd">
      <pc:chgData name="Ta Thi Kim Hue" userId="af176dfe-ebe0-47e4-99a4-e0f4d40f7313" providerId="ADAL" clId="{54FE70A6-63C1-4E11-969B-F1F522CE7CAE}" dt="2022-10-26T11:54:59.244" v="3312" actId="20577"/>
      <pc:docMkLst>
        <pc:docMk/>
      </pc:docMkLst>
      <pc:sldChg chg="delSp mod">
        <pc:chgData name="Ta Thi Kim Hue" userId="af176dfe-ebe0-47e4-99a4-e0f4d40f7313" providerId="ADAL" clId="{54FE70A6-63C1-4E11-969B-F1F522CE7CAE}" dt="2022-10-26T08:44:52.452" v="535" actId="21"/>
        <pc:sldMkLst>
          <pc:docMk/>
          <pc:sldMk cId="2508839728" sldId="281"/>
        </pc:sldMkLst>
      </pc:sldChg>
      <pc:sldChg chg="ord">
        <pc:chgData name="Ta Thi Kim Hue" userId="af176dfe-ebe0-47e4-99a4-e0f4d40f7313" providerId="ADAL" clId="{54FE70A6-63C1-4E11-969B-F1F522CE7CAE}" dt="2022-10-26T11:49:52.645" v="2763"/>
        <pc:sldMkLst>
          <pc:docMk/>
          <pc:sldMk cId="3786551749" sldId="282"/>
        </pc:sldMkLst>
      </pc:sldChg>
      <pc:sldChg chg="modSp mod ord">
        <pc:chgData name="Ta Thi Kim Hue" userId="af176dfe-ebe0-47e4-99a4-e0f4d40f7313" providerId="ADAL" clId="{54FE70A6-63C1-4E11-969B-F1F522CE7CAE}" dt="2022-10-26T11:54:38.265" v="3265" actId="20577"/>
        <pc:sldMkLst>
          <pc:docMk/>
          <pc:sldMk cId="3252570683" sldId="283"/>
        </pc:sldMkLst>
      </pc:sldChg>
      <pc:sldChg chg="addSp delSp modSp new mod">
        <pc:chgData name="Ta Thi Kim Hue" userId="af176dfe-ebe0-47e4-99a4-e0f4d40f7313" providerId="ADAL" clId="{54FE70A6-63C1-4E11-969B-F1F522CE7CAE}" dt="2022-10-26T08:46:31.004" v="699" actId="20577"/>
        <pc:sldMkLst>
          <pc:docMk/>
          <pc:sldMk cId="3616470069" sldId="285"/>
        </pc:sldMkLst>
      </pc:sldChg>
      <pc:sldChg chg="addSp modSp new mod ord modAnim">
        <pc:chgData name="Ta Thi Kim Hue" userId="af176dfe-ebe0-47e4-99a4-e0f4d40f7313" providerId="ADAL" clId="{54FE70A6-63C1-4E11-969B-F1F522CE7CAE}" dt="2022-10-26T09:32:05.798" v="1619" actId="1076"/>
        <pc:sldMkLst>
          <pc:docMk/>
          <pc:sldMk cId="2502713918" sldId="286"/>
        </pc:sldMkLst>
      </pc:sldChg>
      <pc:sldChg chg="modSp new mod">
        <pc:chgData name="Ta Thi Kim Hue" userId="af176dfe-ebe0-47e4-99a4-e0f4d40f7313" providerId="ADAL" clId="{54FE70A6-63C1-4E11-969B-F1F522CE7CAE}" dt="2022-10-26T10:33:16.251" v="2565" actId="20577"/>
        <pc:sldMkLst>
          <pc:docMk/>
          <pc:sldMk cId="867654301" sldId="287"/>
        </pc:sldMkLst>
      </pc:sldChg>
      <pc:sldChg chg="addSp delSp modSp new mod">
        <pc:chgData name="Ta Thi Kim Hue" userId="af176dfe-ebe0-47e4-99a4-e0f4d40f7313" providerId="ADAL" clId="{54FE70A6-63C1-4E11-969B-F1F522CE7CAE}" dt="2022-10-26T10:39:45.807" v="2761"/>
        <pc:sldMkLst>
          <pc:docMk/>
          <pc:sldMk cId="4175955957" sldId="288"/>
        </pc:sldMkLst>
      </pc:sldChg>
      <pc:sldChg chg="modSp new mod">
        <pc:chgData name="Ta Thi Kim Hue" userId="af176dfe-ebe0-47e4-99a4-e0f4d40f7313" providerId="ADAL" clId="{54FE70A6-63C1-4E11-969B-F1F522CE7CAE}" dt="2022-10-26T11:54:59.244" v="3312" actId="20577"/>
        <pc:sldMkLst>
          <pc:docMk/>
          <pc:sldMk cId="1578274839" sldId="289"/>
        </pc:sldMkLst>
      </pc:sldChg>
    </pc:docChg>
  </pc:docChgLst>
  <pc:docChgLst>
    <pc:chgData name="Ta Thi Kim Hue" userId="af176dfe-ebe0-47e4-99a4-e0f4d40f7313" providerId="ADAL" clId="{E989CFCE-2C1D-B64D-A0FD-C29D24D229E2}"/>
    <pc:docChg chg="modSld">
      <pc:chgData name="Ta Thi Kim Hue" userId="af176dfe-ebe0-47e4-99a4-e0f4d40f7313" providerId="ADAL" clId="{E989CFCE-2C1D-B64D-A0FD-C29D24D229E2}" dt="2023-05-08T06:49:27.391" v="2"/>
      <pc:docMkLst>
        <pc:docMk/>
      </pc:docMkLst>
      <pc:sldChg chg="modSp">
        <pc:chgData name="Ta Thi Kim Hue" userId="af176dfe-ebe0-47e4-99a4-e0f4d40f7313" providerId="ADAL" clId="{E989CFCE-2C1D-B64D-A0FD-C29D24D229E2}" dt="2023-05-08T06:49:14.580" v="1"/>
        <pc:sldMkLst>
          <pc:docMk/>
          <pc:sldMk cId="2952713464" sldId="404"/>
        </pc:sldMkLst>
      </pc:sldChg>
      <pc:sldChg chg="modSp mod">
        <pc:chgData name="Ta Thi Kim Hue" userId="af176dfe-ebe0-47e4-99a4-e0f4d40f7313" providerId="ADAL" clId="{E989CFCE-2C1D-B64D-A0FD-C29D24D229E2}" dt="2023-05-08T06:49:27.391" v="2"/>
        <pc:sldMkLst>
          <pc:docMk/>
          <pc:sldMk cId="3636983464" sldId="441"/>
        </pc:sldMkLst>
      </pc:sldChg>
    </pc:docChg>
  </pc:docChgLst>
  <pc:docChgLst>
    <pc:chgData name="Tạ Thị Kim Huệ" userId="af176dfe-ebe0-47e4-99a4-e0f4d40f7313" providerId="ADAL" clId="{FCA2E6A7-9F7C-E24E-9DFF-3062A46F74CD}"/>
    <pc:docChg chg="custSel modSld">
      <pc:chgData name="Tạ Thị Kim Huệ" userId="af176dfe-ebe0-47e4-99a4-e0f4d40f7313" providerId="ADAL" clId="{FCA2E6A7-9F7C-E24E-9DFF-3062A46F74CD}" dt="2025-04-01T09:25:32.463" v="1" actId="478"/>
      <pc:docMkLst>
        <pc:docMk/>
      </pc:docMkLst>
      <pc:sldChg chg="delSp mod">
        <pc:chgData name="Tạ Thị Kim Huệ" userId="af176dfe-ebe0-47e4-99a4-e0f4d40f7313" providerId="ADAL" clId="{FCA2E6A7-9F7C-E24E-9DFF-3062A46F74CD}" dt="2025-04-01T09:25:32.463" v="1" actId="478"/>
        <pc:sldMkLst>
          <pc:docMk/>
          <pc:sldMk cId="404787738" sldId="414"/>
        </pc:sldMkLst>
        <pc:spChg chg="del">
          <ac:chgData name="Tạ Thị Kim Huệ" userId="af176dfe-ebe0-47e4-99a4-e0f4d40f7313" providerId="ADAL" clId="{FCA2E6A7-9F7C-E24E-9DFF-3062A46F74CD}" dt="2025-04-01T09:25:29.521" v="0" actId="478"/>
          <ac:spMkLst>
            <pc:docMk/>
            <pc:sldMk cId="404787738" sldId="414"/>
            <ac:spMk id="3" creationId="{6AD21913-BD69-2E4D-A066-0771843C3E99}"/>
          </ac:spMkLst>
        </pc:spChg>
        <pc:spChg chg="del">
          <ac:chgData name="Tạ Thị Kim Huệ" userId="af176dfe-ebe0-47e4-99a4-e0f4d40f7313" providerId="ADAL" clId="{FCA2E6A7-9F7C-E24E-9DFF-3062A46F74CD}" dt="2025-04-01T09:25:32.463" v="1" actId="478"/>
          <ac:spMkLst>
            <pc:docMk/>
            <pc:sldMk cId="404787738" sldId="414"/>
            <ac:spMk id="5" creationId="{2766337B-76FF-F249-9861-4BC1196BE6DF}"/>
          </ac:spMkLst>
        </pc:spChg>
      </pc:sldChg>
    </pc:docChg>
  </pc:docChgLst>
  <pc:docChgLst>
    <pc:chgData name="Ta Thi Kim Hue" userId="af176dfe-ebe0-47e4-99a4-e0f4d40f7313" providerId="ADAL" clId="{264C83AA-283C-D342-9895-92F40AF91AE0}"/>
    <pc:docChg chg="undo custSel addSld delSld modSld sldOrd">
      <pc:chgData name="Ta Thi Kim Hue" userId="af176dfe-ebe0-47e4-99a4-e0f4d40f7313" providerId="ADAL" clId="{264C83AA-283C-D342-9895-92F40AF91AE0}" dt="2022-10-03T17:25:56.322" v="351"/>
      <pc:docMkLst>
        <pc:docMk/>
      </pc:docMkLst>
      <pc:sldChg chg="addSp delSp modSp del mod">
        <pc:chgData name="Ta Thi Kim Hue" userId="af176dfe-ebe0-47e4-99a4-e0f4d40f7313" providerId="ADAL" clId="{264C83AA-283C-D342-9895-92F40AF91AE0}" dt="2022-10-03T17:18:29.436" v="204" actId="2696"/>
        <pc:sldMkLst>
          <pc:docMk/>
          <pc:sldMk cId="1234004128" sldId="256"/>
        </pc:sldMkLst>
      </pc:sldChg>
      <pc:sldChg chg="modSp mod">
        <pc:chgData name="Ta Thi Kim Hue" userId="af176dfe-ebe0-47e4-99a4-e0f4d40f7313" providerId="ADAL" clId="{264C83AA-283C-D342-9895-92F40AF91AE0}" dt="2022-10-03T17:16:38.018" v="147" actId="20577"/>
        <pc:sldMkLst>
          <pc:docMk/>
          <pc:sldMk cId="743172911" sldId="257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0" sldId="260"/>
        </pc:sldMkLst>
      </pc:sldChg>
      <pc:sldChg chg="addSp modSp mod">
        <pc:chgData name="Ta Thi Kim Hue" userId="af176dfe-ebe0-47e4-99a4-e0f4d40f7313" providerId="ADAL" clId="{264C83AA-283C-D342-9895-92F40AF91AE0}" dt="2022-10-03T17:24:25.193" v="340"/>
        <pc:sldMkLst>
          <pc:docMk/>
          <pc:sldMk cId="64084651" sldId="261"/>
        </pc:sldMkLst>
      </pc:sldChg>
      <pc:sldChg chg="addSp delSp modSp mod">
        <pc:chgData name="Ta Thi Kim Hue" userId="af176dfe-ebe0-47e4-99a4-e0f4d40f7313" providerId="ADAL" clId="{264C83AA-283C-D342-9895-92F40AF91AE0}" dt="2022-10-03T17:17:47.960" v="181"/>
        <pc:sldMkLst>
          <pc:docMk/>
          <pc:sldMk cId="292364014" sldId="265"/>
        </pc:sldMkLst>
      </pc:sldChg>
      <pc:sldChg chg="addSp modSp mod">
        <pc:chgData name="Ta Thi Kim Hue" userId="af176dfe-ebe0-47e4-99a4-e0f4d40f7313" providerId="ADAL" clId="{264C83AA-283C-D342-9895-92F40AF91AE0}" dt="2022-10-03T17:25:04.447" v="342"/>
        <pc:sldMkLst>
          <pc:docMk/>
          <pc:sldMk cId="2751358436" sldId="266"/>
        </pc:sldMkLst>
      </pc:sldChg>
      <pc:sldChg chg="addSp delSp modSp new mod">
        <pc:chgData name="Ta Thi Kim Hue" userId="af176dfe-ebe0-47e4-99a4-e0f4d40f7313" providerId="ADAL" clId="{264C83AA-283C-D342-9895-92F40AF91AE0}" dt="2022-10-03T17:22:52.601" v="305" actId="1076"/>
        <pc:sldMkLst>
          <pc:docMk/>
          <pc:sldMk cId="4020901606" sldId="270"/>
        </pc:sldMkLst>
      </pc:sldChg>
      <pc:sldChg chg="addSp modSp new mod ord">
        <pc:chgData name="Ta Thi Kim Hue" userId="af176dfe-ebe0-47e4-99a4-e0f4d40f7313" providerId="ADAL" clId="{264C83AA-283C-D342-9895-92F40AF91AE0}" dt="2022-10-03T17:20:54.593" v="233" actId="1076"/>
        <pc:sldMkLst>
          <pc:docMk/>
          <pc:sldMk cId="2807437432" sldId="271"/>
        </pc:sldMkLst>
      </pc:sldChg>
      <pc:sldChg chg="addSp modSp new mod">
        <pc:chgData name="Ta Thi Kim Hue" userId="af176dfe-ebe0-47e4-99a4-e0f4d40f7313" providerId="ADAL" clId="{264C83AA-283C-D342-9895-92F40AF91AE0}" dt="2022-10-03T17:23:58.430" v="338" actId="1076"/>
        <pc:sldMkLst>
          <pc:docMk/>
          <pc:sldMk cId="1774508242" sldId="272"/>
        </pc:sldMkLst>
      </pc:sldChg>
      <pc:sldChg chg="addSp modSp new mod">
        <pc:chgData name="Ta Thi Kim Hue" userId="af176dfe-ebe0-47e4-99a4-e0f4d40f7313" providerId="ADAL" clId="{264C83AA-283C-D342-9895-92F40AF91AE0}" dt="2022-10-03T17:25:56.322" v="351"/>
        <pc:sldMkLst>
          <pc:docMk/>
          <pc:sldMk cId="1132699619" sldId="273"/>
        </pc:sldMkLst>
      </pc:sldChg>
      <pc:sldChg chg="new">
        <pc:chgData name="Ta Thi Kim Hue" userId="af176dfe-ebe0-47e4-99a4-e0f4d40f7313" providerId="ADAL" clId="{264C83AA-283C-D342-9895-92F40AF91AE0}" dt="2022-10-03T17:25:16.831" v="344" actId="680"/>
        <pc:sldMkLst>
          <pc:docMk/>
          <pc:sldMk cId="4272548036" sldId="274"/>
        </pc:sldMkLst>
      </pc:sldChg>
      <pc:sldChg chg="new">
        <pc:chgData name="Ta Thi Kim Hue" userId="af176dfe-ebe0-47e4-99a4-e0f4d40f7313" providerId="ADAL" clId="{264C83AA-283C-D342-9895-92F40AF91AE0}" dt="2022-10-03T17:25:17.017" v="345" actId="680"/>
        <pc:sldMkLst>
          <pc:docMk/>
          <pc:sldMk cId="335698421" sldId="275"/>
        </pc:sldMkLst>
      </pc:sldChg>
      <pc:sldChg chg="modSp add del">
        <pc:chgData name="Ta Thi Kim Hue" userId="af176dfe-ebe0-47e4-99a4-e0f4d40f7313" providerId="ADAL" clId="{264C83AA-283C-D342-9895-92F40AF91AE0}" dt="2022-10-03T17:19:15.893" v="226"/>
        <pc:sldMkLst>
          <pc:docMk/>
          <pc:sldMk cId="1060001773" sldId="276"/>
        </pc:sldMkLst>
      </pc:sldChg>
      <pc:sldChg chg="modSp add del">
        <pc:chgData name="Ta Thi Kim Hue" userId="af176dfe-ebe0-47e4-99a4-e0f4d40f7313" providerId="ADAL" clId="{264C83AA-283C-D342-9895-92F40AF91AE0}" dt="2022-10-03T17:19:15.893" v="226"/>
        <pc:sldMkLst>
          <pc:docMk/>
          <pc:sldMk cId="3380892265" sldId="278"/>
        </pc:sldMkLst>
      </pc:sldChg>
      <pc:sldChg chg="modSp add del">
        <pc:chgData name="Ta Thi Kim Hue" userId="af176dfe-ebe0-47e4-99a4-e0f4d40f7313" providerId="ADAL" clId="{264C83AA-283C-D342-9895-92F40AF91AE0}" dt="2022-10-03T17:19:15.893" v="226"/>
        <pc:sldMkLst>
          <pc:docMk/>
          <pc:sldMk cId="1304547031" sldId="279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2718593708" sldId="280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2337578397" sldId="281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383108746" sldId="282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3346532803" sldId="285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3101646360" sldId="286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3403607449" sldId="287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150685867" sldId="288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922720921" sldId="289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2491362886" sldId="290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4017542271" sldId="291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2949204088" sldId="292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755352288" sldId="293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2778974140" sldId="294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2213517322" sldId="295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4049429688" sldId="296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3388174673" sldId="300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3824410857" sldId="305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1380352959" sldId="306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3670111722" sldId="307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0" sldId="308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797568543" sldId="369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14669266" sldId="370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2691938231" sldId="382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3547858971" sldId="383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349635482" sldId="384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3910591289" sldId="386"/>
        </pc:sldMkLst>
      </pc:sldChg>
      <pc:sldChg chg="modSp add del">
        <pc:chgData name="Ta Thi Kim Hue" userId="af176dfe-ebe0-47e4-99a4-e0f4d40f7313" providerId="ADAL" clId="{264C83AA-283C-D342-9895-92F40AF91AE0}" dt="2022-10-03T17:19:15.893" v="226"/>
        <pc:sldMkLst>
          <pc:docMk/>
          <pc:sldMk cId="4286006662" sldId="387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3286042638" sldId="389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612275083" sldId="390"/>
        </pc:sldMkLst>
      </pc:sldChg>
      <pc:sldChg chg="modSp add del mod">
        <pc:chgData name="Ta Thi Kim Hue" userId="af176dfe-ebe0-47e4-99a4-e0f4d40f7313" providerId="ADAL" clId="{264C83AA-283C-D342-9895-92F40AF91AE0}" dt="2022-10-03T17:19:15.893" v="226"/>
        <pc:sldMkLst>
          <pc:docMk/>
          <pc:sldMk cId="21265923" sldId="391"/>
        </pc:sldMkLst>
      </pc:sldChg>
      <pc:sldChg chg="modSp add del mod">
        <pc:chgData name="Ta Thi Kim Hue" userId="af176dfe-ebe0-47e4-99a4-e0f4d40f7313" providerId="ADAL" clId="{264C83AA-283C-D342-9895-92F40AF91AE0}" dt="2022-10-03T17:19:15.893" v="226"/>
        <pc:sldMkLst>
          <pc:docMk/>
          <pc:sldMk cId="2113586393" sldId="392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586158768" sldId="393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3565284658" sldId="394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1182829692" sldId="395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2452740296" sldId="396"/>
        </pc:sldMkLst>
      </pc:sldChg>
      <pc:sldChg chg="modSp add del mod">
        <pc:chgData name="Ta Thi Kim Hue" userId="af176dfe-ebe0-47e4-99a4-e0f4d40f7313" providerId="ADAL" clId="{264C83AA-283C-D342-9895-92F40AF91AE0}" dt="2022-10-03T17:19:15.893" v="226"/>
        <pc:sldMkLst>
          <pc:docMk/>
          <pc:sldMk cId="3376026375" sldId="397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4066310507" sldId="398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1205019817" sldId="402"/>
        </pc:sldMkLst>
      </pc:sldChg>
      <pc:sldChg chg="modSp add del mod">
        <pc:chgData name="Ta Thi Kim Hue" userId="af176dfe-ebe0-47e4-99a4-e0f4d40f7313" providerId="ADAL" clId="{264C83AA-283C-D342-9895-92F40AF91AE0}" dt="2022-10-03T17:19:15.893" v="226"/>
        <pc:sldMkLst>
          <pc:docMk/>
          <pc:sldMk cId="2623318352" sldId="403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1551701239" sldId="404"/>
        </pc:sldMkLst>
      </pc:sldChg>
      <pc:sldChg chg="modSp add del mod">
        <pc:chgData name="Ta Thi Kim Hue" userId="af176dfe-ebe0-47e4-99a4-e0f4d40f7313" providerId="ADAL" clId="{264C83AA-283C-D342-9895-92F40AF91AE0}" dt="2022-10-03T17:19:15.893" v="226"/>
        <pc:sldMkLst>
          <pc:docMk/>
          <pc:sldMk cId="201196844" sldId="407"/>
        </pc:sldMkLst>
      </pc:sldChg>
      <pc:sldChg chg="modSp add del mod">
        <pc:chgData name="Ta Thi Kim Hue" userId="af176dfe-ebe0-47e4-99a4-e0f4d40f7313" providerId="ADAL" clId="{264C83AA-283C-D342-9895-92F40AF91AE0}" dt="2022-10-03T17:19:15.893" v="226"/>
        <pc:sldMkLst>
          <pc:docMk/>
          <pc:sldMk cId="1951456656" sldId="409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1116260510" sldId="445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2880678901" sldId="446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3821036190" sldId="447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3527079919" sldId="448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2622715269" sldId="449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3540211018" sldId="450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1839962129" sldId="451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1253696549" sldId="452"/>
        </pc:sldMkLst>
      </pc:sldChg>
      <pc:sldChg chg="modSp add del mod">
        <pc:chgData name="Ta Thi Kim Hue" userId="af176dfe-ebe0-47e4-99a4-e0f4d40f7313" providerId="ADAL" clId="{264C83AA-283C-D342-9895-92F40AF91AE0}" dt="2022-10-03T17:19:15.893" v="226"/>
        <pc:sldMkLst>
          <pc:docMk/>
          <pc:sldMk cId="2165312837" sldId="456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3500639666" sldId="459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2825552731" sldId="460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4093278628" sldId="461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1744569391" sldId="462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255274137" sldId="463"/>
        </pc:sldMkLst>
      </pc:sldChg>
      <pc:sldChg chg="modSp add del">
        <pc:chgData name="Ta Thi Kim Hue" userId="af176dfe-ebe0-47e4-99a4-e0f4d40f7313" providerId="ADAL" clId="{264C83AA-283C-D342-9895-92F40AF91AE0}" dt="2022-10-03T17:19:15.893" v="226"/>
        <pc:sldMkLst>
          <pc:docMk/>
          <pc:sldMk cId="0" sldId="464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0" sldId="465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1789546242" sldId="466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2997619395" sldId="467"/>
        </pc:sldMkLst>
      </pc:sldChg>
      <pc:sldMasterChg chg="delSldLayout">
        <pc:chgData name="Ta Thi Kim Hue" userId="af176dfe-ebe0-47e4-99a4-e0f4d40f7313" providerId="ADAL" clId="{264C83AA-283C-D342-9895-92F40AF91AE0}" dt="2022-10-03T17:18:29.436" v="204" actId="2696"/>
        <pc:sldMasterMkLst>
          <pc:docMk/>
          <pc:sldMasterMk cId="2819895280" sldId="2147483658"/>
        </pc:sldMasterMkLst>
        <pc:sldLayoutChg chg="del">
          <pc:chgData name="Ta Thi Kim Hue" userId="af176dfe-ebe0-47e4-99a4-e0f4d40f7313" providerId="ADAL" clId="{264C83AA-283C-D342-9895-92F40AF91AE0}" dt="2022-10-03T17:18:29.436" v="204" actId="2696"/>
          <pc:sldLayoutMkLst>
            <pc:docMk/>
            <pc:sldMasterMk cId="2819895280" sldId="2147483658"/>
            <pc:sldLayoutMk cId="678804056" sldId="2147483671"/>
          </pc:sldLayoutMkLst>
        </pc:sldLayoutChg>
      </pc:sldMasterChg>
    </pc:docChg>
  </pc:docChgLst>
  <pc:docChgLst>
    <pc:chgData name="Ta Thi Kim Hue" userId="af176dfe-ebe0-47e4-99a4-e0f4d40f7313" providerId="ADAL" clId="{A008960E-999D-4739-8EB6-609E8CB6F5D1}"/>
    <pc:docChg chg="custSel delSld modSld">
      <pc:chgData name="Ta Thi Kim Hue" userId="af176dfe-ebe0-47e4-99a4-e0f4d40f7313" providerId="ADAL" clId="{A008960E-999D-4739-8EB6-609E8CB6F5D1}" dt="2023-05-08T05:45:43.248" v="182" actId="255"/>
      <pc:docMkLst>
        <pc:docMk/>
      </pc:docMkLst>
      <pc:sldChg chg="modSp mod">
        <pc:chgData name="Ta Thi Kim Hue" userId="af176dfe-ebe0-47e4-99a4-e0f4d40f7313" providerId="ADAL" clId="{A008960E-999D-4739-8EB6-609E8CB6F5D1}" dt="2023-05-08T05:31:51.340" v="132" actId="20577"/>
        <pc:sldMkLst>
          <pc:docMk/>
          <pc:sldMk cId="1542521287" sldId="408"/>
        </pc:sldMkLst>
      </pc:sldChg>
      <pc:sldChg chg="modSp mod">
        <pc:chgData name="Ta Thi Kim Hue" userId="af176dfe-ebe0-47e4-99a4-e0f4d40f7313" providerId="ADAL" clId="{A008960E-999D-4739-8EB6-609E8CB6F5D1}" dt="2023-05-08T05:30:35.610" v="128" actId="20577"/>
        <pc:sldMkLst>
          <pc:docMk/>
          <pc:sldMk cId="2672760128" sldId="413"/>
        </pc:sldMkLst>
      </pc:sldChg>
      <pc:sldChg chg="del">
        <pc:chgData name="Ta Thi Kim Hue" userId="af176dfe-ebe0-47e4-99a4-e0f4d40f7313" providerId="ADAL" clId="{A008960E-999D-4739-8EB6-609E8CB6F5D1}" dt="2023-05-08T05:31:41.348" v="131" actId="47"/>
        <pc:sldMkLst>
          <pc:docMk/>
          <pc:sldMk cId="370037218" sldId="423"/>
        </pc:sldMkLst>
      </pc:sldChg>
      <pc:sldChg chg="modSp">
        <pc:chgData name="Ta Thi Kim Hue" userId="af176dfe-ebe0-47e4-99a4-e0f4d40f7313" providerId="ADAL" clId="{A008960E-999D-4739-8EB6-609E8CB6F5D1}" dt="2023-05-08T05:35:24.182" v="180"/>
        <pc:sldMkLst>
          <pc:docMk/>
          <pc:sldMk cId="1452913270" sldId="436"/>
        </pc:sldMkLst>
      </pc:sldChg>
      <pc:sldChg chg="modSp mod">
        <pc:chgData name="Ta Thi Kim Hue" userId="af176dfe-ebe0-47e4-99a4-e0f4d40f7313" providerId="ADAL" clId="{A008960E-999D-4739-8EB6-609E8CB6F5D1}" dt="2023-05-08T05:45:43.248" v="182" actId="255"/>
        <pc:sldMkLst>
          <pc:docMk/>
          <pc:sldMk cId="1441771327" sldId="437"/>
        </pc:sldMkLst>
      </pc:sldChg>
      <pc:sldChg chg="modSp mod">
        <pc:chgData name="Ta Thi Kim Hue" userId="af176dfe-ebe0-47e4-99a4-e0f4d40f7313" providerId="ADAL" clId="{A008960E-999D-4739-8EB6-609E8CB6F5D1}" dt="2023-05-08T05:33:07.702" v="178"/>
        <pc:sldMkLst>
          <pc:docMk/>
          <pc:sldMk cId="761042548" sldId="446"/>
        </pc:sldMkLst>
      </pc:sldChg>
    </pc:docChg>
  </pc:docChgLst>
  <pc:docChgLst>
    <pc:chgData name="Ta Thi Kim Hue" userId="af176dfe-ebe0-47e4-99a4-e0f4d40f7313" providerId="ADAL" clId="{55F3777B-5B4D-F34F-95EB-4BC4C23D9DFD}"/>
    <pc:docChg chg="custSel addSld modSld sldOrd">
      <pc:chgData name="Ta Thi Kim Hue" userId="af176dfe-ebe0-47e4-99a4-e0f4d40f7313" providerId="ADAL" clId="{55F3777B-5B4D-F34F-95EB-4BC4C23D9DFD}" dt="2022-10-27T01:40:18.176" v="2189" actId="20577"/>
      <pc:docMkLst>
        <pc:docMk/>
      </pc:docMkLst>
      <pc:sldChg chg="modSp mod">
        <pc:chgData name="Ta Thi Kim Hue" userId="af176dfe-ebe0-47e4-99a4-e0f4d40f7313" providerId="ADAL" clId="{55F3777B-5B4D-F34F-95EB-4BC4C23D9DFD}" dt="2022-10-27T00:01:32.045" v="2177" actId="20577"/>
        <pc:sldMkLst>
          <pc:docMk/>
          <pc:sldMk cId="292364014" sldId="265"/>
        </pc:sldMkLst>
      </pc:sldChg>
      <pc:sldChg chg="modSp">
        <pc:chgData name="Ta Thi Kim Hue" userId="af176dfe-ebe0-47e4-99a4-e0f4d40f7313" providerId="ADAL" clId="{55F3777B-5B4D-F34F-95EB-4BC4C23D9DFD}" dt="2022-10-27T01:40:18.176" v="2189" actId="20577"/>
        <pc:sldMkLst>
          <pc:docMk/>
          <pc:sldMk cId="2508839728" sldId="281"/>
        </pc:sldMkLst>
      </pc:sldChg>
      <pc:sldChg chg="modSp mod ord">
        <pc:chgData name="Ta Thi Kim Hue" userId="af176dfe-ebe0-47e4-99a4-e0f4d40f7313" providerId="ADAL" clId="{55F3777B-5B4D-F34F-95EB-4BC4C23D9DFD}" dt="2022-10-26T15:18:56.510" v="604" actId="20578"/>
        <pc:sldMkLst>
          <pc:docMk/>
          <pc:sldMk cId="2256585216" sldId="284"/>
        </pc:sldMkLst>
      </pc:sldChg>
      <pc:sldChg chg="addSp delSp modSp mod">
        <pc:chgData name="Ta Thi Kim Hue" userId="af176dfe-ebe0-47e4-99a4-e0f4d40f7313" providerId="ADAL" clId="{55F3777B-5B4D-F34F-95EB-4BC4C23D9DFD}" dt="2022-10-26T15:07:16.454" v="5" actId="14100"/>
        <pc:sldMkLst>
          <pc:docMk/>
          <pc:sldMk cId="1578274839" sldId="289"/>
        </pc:sldMkLst>
      </pc:sldChg>
      <pc:sldChg chg="addSp modSp new mod">
        <pc:chgData name="Ta Thi Kim Hue" userId="af176dfe-ebe0-47e4-99a4-e0f4d40f7313" providerId="ADAL" clId="{55F3777B-5B4D-F34F-95EB-4BC4C23D9DFD}" dt="2022-10-26T23:49:05.858" v="1607" actId="208"/>
        <pc:sldMkLst>
          <pc:docMk/>
          <pc:sldMk cId="790159097" sldId="290"/>
        </pc:sldMkLst>
      </pc:sldChg>
      <pc:sldChg chg="addSp modSp new mod">
        <pc:chgData name="Ta Thi Kim Hue" userId="af176dfe-ebe0-47e4-99a4-e0f4d40f7313" providerId="ADAL" clId="{55F3777B-5B4D-F34F-95EB-4BC4C23D9DFD}" dt="2022-10-26T23:53:33.178" v="2163" actId="208"/>
        <pc:sldMkLst>
          <pc:docMk/>
          <pc:sldMk cId="1075757312" sldId="291"/>
        </pc:sldMkLst>
      </pc:sldChg>
      <pc:sldChg chg="modSp new mod">
        <pc:chgData name="Ta Thi Kim Hue" userId="af176dfe-ebe0-47e4-99a4-e0f4d40f7313" providerId="ADAL" clId="{55F3777B-5B4D-F34F-95EB-4BC4C23D9DFD}" dt="2022-10-26T15:29:27.696" v="1218" actId="20577"/>
        <pc:sldMkLst>
          <pc:docMk/>
          <pc:sldMk cId="2099988146" sldId="292"/>
        </pc:sldMkLst>
      </pc:sldChg>
      <pc:sldChg chg="addSp delSp modSp new mod ord">
        <pc:chgData name="Ta Thi Kim Hue" userId="af176dfe-ebe0-47e4-99a4-e0f4d40f7313" providerId="ADAL" clId="{55F3777B-5B4D-F34F-95EB-4BC4C23D9DFD}" dt="2022-10-26T23:49:27.646" v="1614" actId="208"/>
        <pc:sldMkLst>
          <pc:docMk/>
          <pc:sldMk cId="2394994378" sldId="293"/>
        </pc:sldMkLst>
      </pc:sldChg>
    </pc:docChg>
  </pc:docChgLst>
  <pc:docChgLst>
    <pc:chgData name="hue.tathikim@hust.edu.vn" userId="af176dfe-ebe0-47e4-99a4-e0f4d40f7313" providerId="ADAL" clId="{1F4E8022-28B5-4CB1-ADE6-2FBE4A23408A}"/>
    <pc:docChg chg="undo custSel addSld modSld">
      <pc:chgData name="hue.tathikim@hust.edu.vn" userId="af176dfe-ebe0-47e4-99a4-e0f4d40f7313" providerId="ADAL" clId="{1F4E8022-28B5-4CB1-ADE6-2FBE4A23408A}" dt="2022-10-12T04:36:37.739" v="1747" actId="20577"/>
      <pc:docMkLst>
        <pc:docMk/>
      </pc:docMkLst>
      <pc:sldChg chg="addSp modSp mod">
        <pc:chgData name="hue.tathikim@hust.edu.vn" userId="af176dfe-ebe0-47e4-99a4-e0f4d40f7313" providerId="ADAL" clId="{1F4E8022-28B5-4CB1-ADE6-2FBE4A23408A}" dt="2022-10-12T04:00:05.410" v="732" actId="14100"/>
        <pc:sldMkLst>
          <pc:docMk/>
          <pc:sldMk cId="757369366" sldId="266"/>
        </pc:sldMkLst>
      </pc:sldChg>
      <pc:sldChg chg="modSp new mod">
        <pc:chgData name="hue.tathikim@hust.edu.vn" userId="af176dfe-ebe0-47e4-99a4-e0f4d40f7313" providerId="ADAL" clId="{1F4E8022-28B5-4CB1-ADE6-2FBE4A23408A}" dt="2022-10-12T04:36:37.739" v="1747" actId="20577"/>
        <pc:sldMkLst>
          <pc:docMk/>
          <pc:sldMk cId="3057768725" sldId="273"/>
        </pc:sldMkLst>
      </pc:sldChg>
      <pc:sldChg chg="modSp new mod">
        <pc:chgData name="hue.tathikim@hust.edu.vn" userId="af176dfe-ebe0-47e4-99a4-e0f4d40f7313" providerId="ADAL" clId="{1F4E8022-28B5-4CB1-ADE6-2FBE4A23408A}" dt="2022-10-12T04:19:56.837" v="734"/>
        <pc:sldMkLst>
          <pc:docMk/>
          <pc:sldMk cId="4153716864" sldId="274"/>
        </pc:sldMkLst>
      </pc:sldChg>
      <pc:sldChg chg="new">
        <pc:chgData name="hue.tathikim@hust.edu.vn" userId="af176dfe-ebe0-47e4-99a4-e0f4d40f7313" providerId="ADAL" clId="{1F4E8022-28B5-4CB1-ADE6-2FBE4A23408A}" dt="2022-10-12T03:58:00.914" v="625" actId="680"/>
        <pc:sldMkLst>
          <pc:docMk/>
          <pc:sldMk cId="3928681518" sldId="275"/>
        </pc:sldMkLst>
      </pc:sldChg>
    </pc:docChg>
  </pc:docChgLst>
  <pc:docChgLst>
    <pc:chgData name="Ta Thi Kim Hue" userId="af176dfe-ebe0-47e4-99a4-e0f4d40f7313" providerId="ADAL" clId="{5102A2D8-25C3-D74E-A8BD-F4891B6EF312}"/>
    <pc:docChg chg="custSel addSld modSld">
      <pc:chgData name="Ta Thi Kim Hue" userId="af176dfe-ebe0-47e4-99a4-e0f4d40f7313" providerId="ADAL" clId="{5102A2D8-25C3-D74E-A8BD-F4891B6EF312}" dt="2022-11-02T16:47:39.804" v="174" actId="20577"/>
      <pc:docMkLst>
        <pc:docMk/>
      </pc:docMkLst>
      <pc:sldChg chg="addSp modSp mod modAnim">
        <pc:chgData name="Ta Thi Kim Hue" userId="af176dfe-ebe0-47e4-99a4-e0f4d40f7313" providerId="ADAL" clId="{5102A2D8-25C3-D74E-A8BD-F4891B6EF312}" dt="2022-11-02T10:50:01.940" v="10" actId="20577"/>
        <pc:sldMkLst>
          <pc:docMk/>
          <pc:sldMk cId="4175955957" sldId="288"/>
        </pc:sldMkLst>
      </pc:sldChg>
      <pc:sldChg chg="modSp new mod">
        <pc:chgData name="Ta Thi Kim Hue" userId="af176dfe-ebe0-47e4-99a4-e0f4d40f7313" providerId="ADAL" clId="{5102A2D8-25C3-D74E-A8BD-F4891B6EF312}" dt="2022-11-02T16:47:39.804" v="174" actId="20577"/>
        <pc:sldMkLst>
          <pc:docMk/>
          <pc:sldMk cId="1259703148" sldId="294"/>
        </pc:sldMkLst>
      </pc:sldChg>
    </pc:docChg>
  </pc:docChgLst>
  <pc:docChgLst>
    <pc:chgData name="Ta Thi Kim Hue" userId="af176dfe-ebe0-47e4-99a4-e0f4d40f7313" providerId="ADAL" clId="{D5937C0E-4453-2941-9763-BE33E1866A7B}"/>
    <pc:docChg chg="delSld modSld">
      <pc:chgData name="Ta Thi Kim Hue" userId="af176dfe-ebe0-47e4-99a4-e0f4d40f7313" providerId="ADAL" clId="{D5937C0E-4453-2941-9763-BE33E1866A7B}" dt="2023-02-13T10:45:01.197" v="53" actId="20577"/>
      <pc:docMkLst>
        <pc:docMk/>
      </pc:docMkLst>
      <pc:sldChg chg="addSp modSp mod delAnim">
        <pc:chgData name="Ta Thi Kim Hue" userId="af176dfe-ebe0-47e4-99a4-e0f4d40f7313" providerId="ADAL" clId="{D5937C0E-4453-2941-9763-BE33E1866A7B}" dt="2023-02-13T10:39:53.486" v="6" actId="1076"/>
        <pc:sldMkLst>
          <pc:docMk/>
          <pc:sldMk cId="7455884" sldId="379"/>
        </pc:sldMkLst>
      </pc:sldChg>
      <pc:sldChg chg="modSp mod">
        <pc:chgData name="Ta Thi Kim Hue" userId="af176dfe-ebe0-47e4-99a4-e0f4d40f7313" providerId="ADAL" clId="{D5937C0E-4453-2941-9763-BE33E1866A7B}" dt="2023-02-13T10:44:28.721" v="13" actId="255"/>
        <pc:sldMkLst>
          <pc:docMk/>
          <pc:sldMk cId="3645690278" sldId="381"/>
        </pc:sldMkLst>
      </pc:sldChg>
      <pc:sldChg chg="addSp modSp mod">
        <pc:chgData name="Ta Thi Kim Hue" userId="af176dfe-ebe0-47e4-99a4-e0f4d40f7313" providerId="ADAL" clId="{D5937C0E-4453-2941-9763-BE33E1866A7B}" dt="2023-02-13T10:39:08.888" v="1" actId="164"/>
        <pc:sldMkLst>
          <pc:docMk/>
          <pc:sldMk cId="2783508133" sldId="382"/>
        </pc:sldMkLst>
      </pc:sldChg>
      <pc:sldChg chg="addSp modSp mod">
        <pc:chgData name="Ta Thi Kim Hue" userId="af176dfe-ebe0-47e4-99a4-e0f4d40f7313" providerId="ADAL" clId="{D5937C0E-4453-2941-9763-BE33E1866A7B}" dt="2023-02-13T10:45:01.197" v="53" actId="20577"/>
        <pc:sldMkLst>
          <pc:docMk/>
          <pc:sldMk cId="3189137259" sldId="385"/>
        </pc:sldMkLst>
      </pc:sldChg>
      <pc:sldChg chg="del">
        <pc:chgData name="Ta Thi Kim Hue" userId="af176dfe-ebe0-47e4-99a4-e0f4d40f7313" providerId="ADAL" clId="{D5937C0E-4453-2941-9763-BE33E1866A7B}" dt="2023-02-13T10:40:09.603" v="7" actId="2696"/>
        <pc:sldMkLst>
          <pc:docMk/>
          <pc:sldMk cId="2590605739" sldId="390"/>
        </pc:sldMkLst>
      </pc:sldChg>
      <pc:sldChg chg="modSp mod">
        <pc:chgData name="Ta Thi Kim Hue" userId="af176dfe-ebe0-47e4-99a4-e0f4d40f7313" providerId="ADAL" clId="{D5937C0E-4453-2941-9763-BE33E1866A7B}" dt="2023-02-13T10:40:48.833" v="10" actId="1076"/>
        <pc:sldMkLst>
          <pc:docMk/>
          <pc:sldMk cId="3896778281" sldId="415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EAC724-B034-4F10-A9E8-56851A79B8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0872BB-3892-4F66-9266-36ADB83FAD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B45424-6BAC-416C-8F6C-5F9DE854A36B}" type="datetimeFigureOut">
              <a:rPr lang="en-US" smtClean="0"/>
              <a:t>4/1/25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CA138F-B9BA-4997-B3C2-DA8B17B6D5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E86FBF-0AC4-4904-8ED7-0BD6E9AC71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4D737-83BD-4FDE-8CF3-8BC01E7FC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07374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733702-C25A-40B9-9167-54BAA79B29B0}" type="datetimeFigureOut">
              <a:rPr lang="en-US" smtClean="0"/>
              <a:t>4/1/25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2FC7A4-3D1B-482D-8C9D-7642A2CE3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9265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2FC7A4-3D1B-482D-8C9D-7642A2CE307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4650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Users  u1, …, un.    And </a:t>
            </a:r>
            <a:r>
              <a:rPr lang="en-US" err="1"/>
              <a:t>alice</a:t>
            </a:r>
            <a:r>
              <a:rPr lang="en-US"/>
              <a:t> and bob.    They have</a:t>
            </a:r>
            <a:r>
              <a:rPr lang="en-US" baseline="0"/>
              <a:t> shared keys   </a:t>
            </a:r>
            <a:r>
              <a:rPr lang="en-US" baseline="0" err="1"/>
              <a:t>Ka</a:t>
            </a:r>
            <a:r>
              <a:rPr lang="en-US" baseline="0"/>
              <a:t>, Kb.    Every user only remembers one key.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3214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Any key</a:t>
            </a:r>
            <a:r>
              <a:rPr lang="en-US" baseline="0"/>
              <a:t> exchange protocol where participants make n queries to the cipher oracle, can be broken with O(n^2) queries to the cipher oracle.</a:t>
            </a:r>
            <a:endParaRPr lang="en-US"/>
          </a:p>
          <a:p>
            <a:r>
              <a:rPr lang="en-US"/>
              <a:t>2009:  Boaz Barak,</a:t>
            </a:r>
            <a:r>
              <a:rPr lang="en-US" baseline="0"/>
              <a:t>  </a:t>
            </a:r>
            <a:r>
              <a:rPr lang="en-US"/>
              <a:t>Mohammad </a:t>
            </a:r>
            <a:r>
              <a:rPr lang="en-US" err="1"/>
              <a:t>Mahmoody-Ghidary</a:t>
            </a:r>
            <a:endParaRPr lang="en-US"/>
          </a:p>
          <a:p>
            <a:r>
              <a:rPr lang="en-US"/>
              <a:t>1989:   </a:t>
            </a:r>
            <a:r>
              <a:rPr lang="en-US" err="1"/>
              <a:t>Impagliazzo</a:t>
            </a:r>
            <a:r>
              <a:rPr lang="en-US"/>
              <a:t> and </a:t>
            </a:r>
            <a:r>
              <a:rPr lang="en-US" err="1"/>
              <a:t>Rudich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2708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“Alice”,   A = </a:t>
            </a:r>
            <a:r>
              <a:rPr lang="en-US" err="1"/>
              <a:t>ga</a:t>
            </a:r>
            <a:r>
              <a:rPr lang="en-US"/>
              <a:t>  (mod</a:t>
            </a:r>
            <a:r>
              <a:rPr lang="en-US" baseline="0"/>
              <a:t> p)    ;     “Bob”,  B = </a:t>
            </a:r>
            <a:r>
              <a:rPr lang="en-US" baseline="0" err="1"/>
              <a:t>gb</a:t>
            </a:r>
            <a:r>
              <a:rPr lang="en-US" baseline="0"/>
              <a:t> (mod p)</a:t>
            </a:r>
            <a:r>
              <a:rPr lang="en-US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4613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ZN =</a:t>
            </a:r>
            <a:r>
              <a:rPr lang="en-US" baseline="0"/>
              <a:t> {0,1,…,n-1}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6469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Example:    2*12</a:t>
            </a:r>
            <a:r>
              <a:rPr lang="en-US" baseline="0"/>
              <a:t> – 18 = 6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2921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x</a:t>
            </a:r>
            <a:r>
              <a:rPr lang="en-US" baseline="0"/>
              <a:t> . y = 1 in Zn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6146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Not proved until Euler</a:t>
            </a:r>
            <a:r>
              <a:rPr lang="en-US" baseline="0"/>
              <a:t> (1750)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7279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Fermat test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3984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59802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64949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65DC4-1C94-9B48-9DFA-1F7502DD95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EB8EA0-E74D-F547-88C0-865DB21524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BEE05C-F94F-A944-A7A3-959B50682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123E4-866C-A742-A87E-F768C5674301}" type="datetimeFigureOut">
              <a:rPr lang="en-VN" smtClean="0"/>
              <a:t>01/04/2025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9450FF-033E-6648-BB4F-7DDD0FC59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D28DA5-F534-7C45-966B-1D818CB5B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AC7E7-6CF4-BA4C-9377-F5D691CB47FB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223060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C13C1-E17F-4643-8D9C-E4A0C9605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C733CF-D39F-0C46-B29F-D5A267A582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23E585-EB74-BB4A-8BF2-169EB53C1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123E4-866C-A742-A87E-F768C5674301}" type="datetimeFigureOut">
              <a:rPr lang="en-VN" smtClean="0"/>
              <a:t>01/04/2025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BDD642-D5B9-5542-9836-849727417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2C7F86-C4F4-394B-95F2-3239635A9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AC7E7-6CF4-BA4C-9377-F5D691CB47FB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5816448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42C0E-00A8-2F47-9911-58376B2E6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01A5C-E917-204C-B745-385FFBEC07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C98EC9-0D32-8247-9577-4F9608122D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A9C2E8-3417-3C43-A0C5-75093E90CD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123E4-866C-A742-A87E-F768C5674301}" type="datetimeFigureOut">
              <a:rPr lang="en-VN" smtClean="0"/>
              <a:t>01/04/2025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B9F04F-1DD2-3B44-84F5-3CF6AD5C6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9C012E-A921-F649-946F-932E30271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AC7E7-6CF4-BA4C-9377-F5D691CB47FB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2780434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2D9A40-67A4-0645-8509-7DCDAB46D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123E4-866C-A742-A87E-F768C5674301}" type="datetimeFigureOut">
              <a:rPr lang="en-VN" smtClean="0"/>
              <a:t>01/04/2025</a:t>
            </a:fld>
            <a:endParaRPr lang="en-V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58CA86-B909-2248-B917-013466448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8DC0E0-21A8-2946-834B-8411BD6DD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AC7E7-6CF4-BA4C-9377-F5D691CB47FB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40608637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4349F-7DE2-1A4F-A240-F6A764B2B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71D48E-6C69-A240-B01C-A7DF732C1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123E4-866C-A742-A87E-F768C5674301}" type="datetimeFigureOut">
              <a:rPr lang="en-VN" smtClean="0"/>
              <a:t>01/04/2025</a:t>
            </a:fld>
            <a:endParaRPr lang="en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E07931-A9C4-BD49-9848-F75C6B767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609870-D97D-5F4D-86F7-AFD12C5FF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AC7E7-6CF4-BA4C-9377-F5D691CB47FB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4298165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0FC03-A82E-4B34-AE4B-8AC40A0CD5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8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9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4/1/25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9FB7E-C73B-452D-861A-6C73FF59E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8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9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733BD-32DD-483E-A597-B70529CB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7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9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6">
            <a:extLst>
              <a:ext uri="{FF2B5EF4-FFF2-40B4-BE49-F238E27FC236}">
                <a16:creationId xmlns:a16="http://schemas.microsoft.com/office/drawing/2014/main" id="{44DCE4FD-DEE1-4DE9-A40E-616ACEB2FE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1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1: ………………………………………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90DFCEB3-810D-48E5-B7BA-1A6C924A64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5077" y="841249"/>
            <a:ext cx="8674100" cy="530339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789981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0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9895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2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6355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3" descr="Text&#10;&#10;Description automatically generated">
            <a:extLst>
              <a:ext uri="{FF2B5EF4-FFF2-40B4-BE49-F238E27FC236}">
                <a16:creationId xmlns:a16="http://schemas.microsoft.com/office/drawing/2014/main" id="{67FB4AA9-E9AF-4CE0-A0DC-99D7952890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012" y="317038"/>
            <a:ext cx="2576374" cy="936215"/>
          </a:xfrm>
          <a:prstGeom prst="rect">
            <a:avLst/>
          </a:prstGeom>
        </p:spPr>
      </p:pic>
      <p:sp>
        <p:nvSpPr>
          <p:cNvPr id="11" name="Title 6">
            <a:extLst>
              <a:ext uri="{FF2B5EF4-FFF2-40B4-BE49-F238E27FC236}">
                <a16:creationId xmlns:a16="http://schemas.microsoft.com/office/drawing/2014/main" id="{FF8BDF70-CFA6-4031-86B7-31F910D8115D}"/>
              </a:ext>
            </a:extLst>
          </p:cNvPr>
          <p:cNvSpPr txBox="1">
            <a:spLocks/>
          </p:cNvSpPr>
          <p:nvPr/>
        </p:nvSpPr>
        <p:spPr>
          <a:xfrm>
            <a:off x="413012" y="2421636"/>
            <a:ext cx="7342482" cy="84879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LÝ THUYẾT MẬT MÃ </a:t>
            </a:r>
          </a:p>
        </p:txBody>
      </p:sp>
      <p:sp>
        <p:nvSpPr>
          <p:cNvPr id="12" name="Title 6">
            <a:extLst>
              <a:ext uri="{FF2B5EF4-FFF2-40B4-BE49-F238E27FC236}">
                <a16:creationId xmlns:a16="http://schemas.microsoft.com/office/drawing/2014/main" id="{A4ACF486-B7D8-4A5A-B633-83527A2F99E2}"/>
              </a:ext>
            </a:extLst>
          </p:cNvPr>
          <p:cNvSpPr txBox="1">
            <a:spLocks/>
          </p:cNvSpPr>
          <p:nvPr/>
        </p:nvSpPr>
        <p:spPr>
          <a:xfrm>
            <a:off x="413012" y="3567622"/>
            <a:ext cx="7342482" cy="84879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2800" b="0"/>
              <a:t>TS. TẠ KIM HUỆ </a:t>
            </a:r>
          </a:p>
          <a:p>
            <a:r>
              <a:rPr lang="en-US" sz="2800" b="0"/>
              <a:t>TRƯỜNG ĐIỆN – ĐIỆN TỬ </a:t>
            </a:r>
          </a:p>
          <a:p>
            <a:endParaRPr lang="en-US" sz="2800" b="0"/>
          </a:p>
          <a:p>
            <a:endParaRPr lang="en-US" sz="2800" b="0"/>
          </a:p>
          <a:p>
            <a:endParaRPr lang="en-US" sz="2800" b="0"/>
          </a:p>
        </p:txBody>
      </p:sp>
    </p:spTree>
    <p:extLst>
      <p:ext uri="{BB962C8B-B14F-4D97-AF65-F5344CB8AC3E}">
        <p14:creationId xmlns:p14="http://schemas.microsoft.com/office/powerpoint/2010/main" val="7431729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ADCA5-5282-4D4D-9B97-45423A322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/>
              <a:t>A Key Hierarchy  (</a:t>
            </a:r>
            <a:r>
              <a:rPr lang="en-US" sz="3600" err="1"/>
              <a:t>phân</a:t>
            </a:r>
            <a:r>
              <a:rPr lang="en-US" sz="3600"/>
              <a:t> </a:t>
            </a:r>
            <a:r>
              <a:rPr lang="en-US" sz="3600" err="1"/>
              <a:t>cấp</a:t>
            </a:r>
            <a:r>
              <a:rPr lang="en-US" sz="3600"/>
              <a:t> </a:t>
            </a:r>
            <a:r>
              <a:rPr lang="en-US" sz="3600" err="1"/>
              <a:t>khoá</a:t>
            </a:r>
            <a:r>
              <a:rPr lang="en-US" sz="3600"/>
              <a:t>)</a:t>
            </a:r>
            <a:endParaRPr sz="360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9E870CB-D091-2742-AFA5-A6C4A555BAFA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2324100" y="1385094"/>
            <a:ext cx="44958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7877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err="1"/>
              <a:t>Quản</a:t>
            </a:r>
            <a:r>
              <a:rPr lang="en-US" sz="2800"/>
              <a:t> </a:t>
            </a:r>
            <a:r>
              <a:rPr lang="en-US" sz="2800" err="1"/>
              <a:t>lý</a:t>
            </a:r>
            <a:r>
              <a:rPr lang="en-US" sz="2800"/>
              <a:t> </a:t>
            </a:r>
            <a:r>
              <a:rPr lang="en-US" sz="2800" err="1"/>
              <a:t>khoá</a:t>
            </a:r>
            <a:r>
              <a:rPr lang="en-US" sz="2800"/>
              <a:t> (Key management)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err="1"/>
              <a:t>Vấn</a:t>
            </a:r>
            <a:r>
              <a:rPr lang="en-US"/>
              <a:t> </a:t>
            </a:r>
            <a:r>
              <a:rPr lang="en-US" err="1"/>
              <a:t>đề</a:t>
            </a:r>
            <a:r>
              <a:rPr lang="en-US"/>
              <a:t>: </a:t>
            </a:r>
            <a:r>
              <a:rPr lang="en-US" err="1"/>
              <a:t>có</a:t>
            </a:r>
            <a:r>
              <a:rPr lang="en-US"/>
              <a:t> n </a:t>
            </a:r>
            <a:r>
              <a:rPr lang="en-US" err="1"/>
              <a:t>người</a:t>
            </a:r>
            <a:r>
              <a:rPr lang="en-US"/>
              <a:t> </a:t>
            </a:r>
            <a:r>
              <a:rPr lang="en-US" err="1"/>
              <a:t>dùng</a:t>
            </a:r>
            <a:r>
              <a:rPr lang="en-US"/>
              <a:t> -&gt; </a:t>
            </a:r>
            <a:r>
              <a:rPr lang="en-US" err="1"/>
              <a:t>Rất</a:t>
            </a:r>
            <a:r>
              <a:rPr lang="en-US"/>
              <a:t> </a:t>
            </a:r>
            <a:r>
              <a:rPr lang="en-US" err="1"/>
              <a:t>khó</a:t>
            </a:r>
            <a:r>
              <a:rPr lang="en-US"/>
              <a:t> </a:t>
            </a:r>
            <a:r>
              <a:rPr lang="en-US" err="1"/>
              <a:t>để</a:t>
            </a:r>
            <a:r>
              <a:rPr lang="en-US"/>
              <a:t> </a:t>
            </a:r>
            <a:r>
              <a:rPr lang="en-US" err="1"/>
              <a:t>lưu</a:t>
            </a:r>
            <a:r>
              <a:rPr lang="en-US"/>
              <a:t> </a:t>
            </a:r>
            <a:r>
              <a:rPr lang="en-US" err="1"/>
              <a:t>trữ</a:t>
            </a:r>
            <a:r>
              <a:rPr lang="en-US"/>
              <a:t> </a:t>
            </a:r>
            <a:r>
              <a:rPr lang="en-US" err="1"/>
              <a:t>khoá</a:t>
            </a:r>
            <a:r>
              <a:rPr lang="en-US"/>
              <a:t> </a:t>
            </a:r>
            <a:r>
              <a:rPr lang="en-US" err="1"/>
              <a:t>mật</a:t>
            </a:r>
            <a:r>
              <a:rPr lang="en-US"/>
              <a:t> </a:t>
            </a:r>
            <a:r>
              <a:rPr lang="en-US" err="1"/>
              <a:t>một</a:t>
            </a:r>
            <a:r>
              <a:rPr lang="en-US"/>
              <a:t> </a:t>
            </a:r>
            <a:r>
              <a:rPr lang="en-US" err="1"/>
              <a:t>cách</a:t>
            </a:r>
            <a:r>
              <a:rPr lang="en-US"/>
              <a:t> </a:t>
            </a:r>
            <a:r>
              <a:rPr lang="en-US" err="1"/>
              <a:t>thủ</a:t>
            </a:r>
            <a:r>
              <a:rPr lang="en-US"/>
              <a:t> </a:t>
            </a:r>
            <a:r>
              <a:rPr lang="en-US" err="1"/>
              <a:t>công</a:t>
            </a: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Total:   O(n) keys per user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6304339-AEED-F273-2972-D715E8C70FFC}"/>
              </a:ext>
            </a:extLst>
          </p:cNvPr>
          <p:cNvGrpSpPr/>
          <p:nvPr/>
        </p:nvGrpSpPr>
        <p:grpSpPr>
          <a:xfrm>
            <a:off x="910010" y="2004852"/>
            <a:ext cx="5998790" cy="1840588"/>
            <a:chOff x="910010" y="2004852"/>
            <a:chExt cx="5998790" cy="1840588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3BEFB852-E9DE-0041-97A9-0F524F9D9A62}"/>
                </a:ext>
              </a:extLst>
            </p:cNvPr>
            <p:cNvSpPr/>
            <p:nvPr/>
          </p:nvSpPr>
          <p:spPr>
            <a:xfrm>
              <a:off x="965200" y="2316560"/>
              <a:ext cx="914400" cy="37584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1200"/>
                <a:t>User 1 </a:t>
              </a:r>
              <a:endParaRPr sz="1200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BD70C33E-579B-394F-9B41-7CA7FF4716EF}"/>
                </a:ext>
              </a:extLst>
            </p:cNvPr>
            <p:cNvSpPr/>
            <p:nvPr/>
          </p:nvSpPr>
          <p:spPr>
            <a:xfrm>
              <a:off x="1043920" y="3467795"/>
              <a:ext cx="914400" cy="37584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1200"/>
                <a:t>User 2 </a:t>
              </a:r>
              <a:endParaRPr sz="1200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E1401F6B-C3FB-B841-94D8-5F63F1D14AF1}"/>
                </a:ext>
              </a:extLst>
            </p:cNvPr>
            <p:cNvSpPr/>
            <p:nvPr/>
          </p:nvSpPr>
          <p:spPr>
            <a:xfrm>
              <a:off x="5994400" y="2175590"/>
              <a:ext cx="914400" cy="37584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1200"/>
                <a:t>User 3</a:t>
              </a:r>
              <a:endParaRPr sz="1200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95287D0F-CF96-BB48-AFF9-2403632F3F5E}"/>
                </a:ext>
              </a:extLst>
            </p:cNvPr>
            <p:cNvSpPr/>
            <p:nvPr/>
          </p:nvSpPr>
          <p:spPr>
            <a:xfrm>
              <a:off x="5994400" y="3469600"/>
              <a:ext cx="914400" cy="37584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1200"/>
                <a:t>User 4 </a:t>
              </a:r>
              <a:endParaRPr sz="1200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2B28E5F-132E-A744-A68F-DE4D760AE88F}"/>
                </a:ext>
              </a:extLst>
            </p:cNvPr>
            <p:cNvCxnSpPr>
              <a:stCxn id="6" idx="6"/>
              <a:endCxn id="9" idx="2"/>
            </p:cNvCxnSpPr>
            <p:nvPr/>
          </p:nvCxnSpPr>
          <p:spPr>
            <a:xfrm>
              <a:off x="1879600" y="2504480"/>
              <a:ext cx="4114800" cy="115304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2C303496-DBFC-0B47-970E-F0A52DDDC4A4}"/>
                </a:ext>
              </a:extLst>
            </p:cNvPr>
            <p:cNvCxnSpPr>
              <a:stCxn id="6" idx="4"/>
              <a:endCxn id="7" idx="0"/>
            </p:cNvCxnSpPr>
            <p:nvPr/>
          </p:nvCxnSpPr>
          <p:spPr>
            <a:xfrm>
              <a:off x="1422400" y="2692401"/>
              <a:ext cx="78720" cy="77539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A1CDE052-2727-AF45-8DA6-957F8FD8292D}"/>
                </a:ext>
              </a:extLst>
            </p:cNvPr>
            <p:cNvCxnSpPr>
              <a:stCxn id="7" idx="6"/>
              <a:endCxn id="9" idx="3"/>
            </p:cNvCxnSpPr>
            <p:nvPr/>
          </p:nvCxnSpPr>
          <p:spPr>
            <a:xfrm>
              <a:off x="1958321" y="3655716"/>
              <a:ext cx="4169991" cy="13468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4621BD2-E32D-194B-BF4B-DBDE76DC8CDE}"/>
                </a:ext>
              </a:extLst>
            </p:cNvPr>
            <p:cNvCxnSpPr>
              <a:stCxn id="9" idx="0"/>
              <a:endCxn id="8" idx="4"/>
            </p:cNvCxnSpPr>
            <p:nvPr/>
          </p:nvCxnSpPr>
          <p:spPr>
            <a:xfrm flipV="1">
              <a:off x="6451600" y="2551430"/>
              <a:ext cx="0" cy="91817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FCE78A78-B4CD-D041-8A02-5E1F3716BC43}"/>
                </a:ext>
              </a:extLst>
            </p:cNvPr>
            <p:cNvCxnSpPr>
              <a:cxnSpLocks/>
              <a:stCxn id="6" idx="7"/>
              <a:endCxn id="8" idx="2"/>
            </p:cNvCxnSpPr>
            <p:nvPr/>
          </p:nvCxnSpPr>
          <p:spPr>
            <a:xfrm flipV="1">
              <a:off x="1745690" y="2363510"/>
              <a:ext cx="4248711" cy="809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9D94CEDC-3C9D-F44D-B8AF-D51D18C1E2C4}"/>
                </a:ext>
              </a:extLst>
            </p:cNvPr>
            <p:cNvCxnSpPr>
              <a:stCxn id="8" idx="3"/>
              <a:endCxn id="7" idx="7"/>
            </p:cNvCxnSpPr>
            <p:nvPr/>
          </p:nvCxnSpPr>
          <p:spPr>
            <a:xfrm flipH="1">
              <a:off x="1824409" y="2496391"/>
              <a:ext cx="4303902" cy="102644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CC3D923-45BB-5A4F-ADF7-A1F3B5DDB039}"/>
                </a:ext>
              </a:extLst>
            </p:cNvPr>
            <p:cNvSpPr txBox="1"/>
            <p:nvPr/>
          </p:nvSpPr>
          <p:spPr>
            <a:xfrm>
              <a:off x="910010" y="2901951"/>
              <a:ext cx="45720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vi-VN" sz="1200"/>
                <a:t>K</a:t>
              </a:r>
              <a:r>
                <a:rPr lang="vi-VN" sz="1200" baseline="-25000"/>
                <a:t>1,2</a:t>
              </a:r>
              <a:endParaRPr sz="1200" baseline="-2500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1C268140-03C5-914A-861E-E1F142ADA7DE}"/>
                </a:ext>
              </a:extLst>
            </p:cNvPr>
            <p:cNvSpPr txBox="1"/>
            <p:nvPr/>
          </p:nvSpPr>
          <p:spPr>
            <a:xfrm>
              <a:off x="2919934" y="2004852"/>
              <a:ext cx="45720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vi-VN" sz="1200"/>
                <a:t>K</a:t>
              </a:r>
              <a:r>
                <a:rPr lang="vi-VN" sz="1200" baseline="-25000"/>
                <a:t>1,3</a:t>
              </a:r>
              <a:endParaRPr sz="1200" baseline="-2500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9DEFD51-49E1-4549-A073-908E91AA7B6A}"/>
                </a:ext>
              </a:extLst>
            </p:cNvPr>
            <p:cNvSpPr txBox="1"/>
            <p:nvPr/>
          </p:nvSpPr>
          <p:spPr>
            <a:xfrm>
              <a:off x="3022601" y="2573062"/>
              <a:ext cx="45720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vi-VN" sz="1200"/>
                <a:t>K</a:t>
              </a:r>
              <a:r>
                <a:rPr lang="vi-VN" sz="1200" baseline="-25000"/>
                <a:t>1,4</a:t>
              </a:r>
              <a:endParaRPr sz="1200" baseline="-2500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8CFBDCA-0902-7A49-B752-35835EED5656}"/>
                </a:ext>
              </a:extLst>
            </p:cNvPr>
            <p:cNvSpPr txBox="1"/>
            <p:nvPr/>
          </p:nvSpPr>
          <p:spPr>
            <a:xfrm>
              <a:off x="2284284" y="3067758"/>
              <a:ext cx="45720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vi-VN" sz="1200"/>
                <a:t>K</a:t>
              </a:r>
              <a:r>
                <a:rPr lang="vi-VN" sz="1200" baseline="-25000"/>
                <a:t>2,3</a:t>
              </a:r>
              <a:endParaRPr sz="1200" baseline="-2500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25EDEBBD-8C16-224E-A3B1-0C2ED7C6D76D}"/>
                </a:ext>
              </a:extLst>
            </p:cNvPr>
            <p:cNvSpPr txBox="1"/>
            <p:nvPr/>
          </p:nvSpPr>
          <p:spPr>
            <a:xfrm>
              <a:off x="3175005" y="3423403"/>
              <a:ext cx="45720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vi-VN" sz="1200"/>
                <a:t>K</a:t>
              </a:r>
              <a:r>
                <a:rPr lang="vi-VN" sz="1200" baseline="-25000"/>
                <a:t>2,4</a:t>
              </a:r>
              <a:endParaRPr sz="1200" baseline="-2500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C3ADBB74-9B57-3A44-9265-5A6FADBEE384}"/>
                </a:ext>
              </a:extLst>
            </p:cNvPr>
            <p:cNvSpPr txBox="1"/>
            <p:nvPr/>
          </p:nvSpPr>
          <p:spPr>
            <a:xfrm>
              <a:off x="6444535" y="2797391"/>
              <a:ext cx="45720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vi-VN" sz="1200"/>
                <a:t>K</a:t>
              </a:r>
              <a:r>
                <a:rPr lang="vi-VN" sz="1200" baseline="-25000"/>
                <a:t>3,4</a:t>
              </a:r>
              <a:endParaRPr sz="1200" baseline="-25000"/>
            </a:p>
          </p:txBody>
        </p:sp>
      </p:grpSp>
    </p:spTree>
    <p:extLst>
      <p:ext uri="{BB962C8B-B14F-4D97-AF65-F5344CB8AC3E}">
        <p14:creationId xmlns:p14="http://schemas.microsoft.com/office/powerpoint/2010/main" val="2783508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719" y="82883"/>
            <a:ext cx="8673846" cy="451739"/>
          </a:xfrm>
        </p:spPr>
        <p:txBody>
          <a:bodyPr/>
          <a:lstStyle/>
          <a:p>
            <a:r>
              <a:rPr lang="en-US" sz="2800" err="1"/>
              <a:t>Giải</a:t>
            </a:r>
            <a:r>
              <a:rPr lang="en-US" sz="2800"/>
              <a:t> </a:t>
            </a:r>
            <a:r>
              <a:rPr lang="en-US" sz="2800" err="1"/>
              <a:t>pháp</a:t>
            </a:r>
            <a:r>
              <a:rPr lang="en-US" sz="2800"/>
              <a:t> </a:t>
            </a:r>
            <a:r>
              <a:rPr lang="en-US" sz="2800" err="1"/>
              <a:t>tốt</a:t>
            </a:r>
            <a:r>
              <a:rPr lang="en-US" sz="2800"/>
              <a:t> </a:t>
            </a:r>
            <a:r>
              <a:rPr lang="en-US" sz="2800" err="1"/>
              <a:t>hơn</a:t>
            </a:r>
            <a:endParaRPr lang="en-US" sz="280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/>
              <a:t>Online Trusted 3</a:t>
            </a:r>
            <a:r>
              <a:rPr lang="en-US" baseline="30000"/>
              <a:t>rd</a:t>
            </a:r>
            <a:r>
              <a:rPr lang="en-US"/>
              <a:t> Party  (TTP) – </a:t>
            </a:r>
            <a:r>
              <a:rPr lang="en-US" err="1"/>
              <a:t>Sử</a:t>
            </a:r>
            <a:r>
              <a:rPr lang="en-US"/>
              <a:t> </a:t>
            </a:r>
            <a:r>
              <a:rPr lang="en-US" err="1"/>
              <a:t>dụng</a:t>
            </a:r>
            <a:r>
              <a:rPr lang="en-US"/>
              <a:t> </a:t>
            </a:r>
            <a:r>
              <a:rPr lang="en-US" err="1"/>
              <a:t>dịch</a:t>
            </a:r>
            <a:r>
              <a:rPr lang="en-US"/>
              <a:t> </a:t>
            </a:r>
            <a:r>
              <a:rPr lang="en-US" err="1"/>
              <a:t>vụ</a:t>
            </a:r>
            <a:r>
              <a:rPr lang="en-US"/>
              <a:t> </a:t>
            </a:r>
            <a:r>
              <a:rPr lang="en-US" err="1"/>
              <a:t>phân</a:t>
            </a:r>
            <a:r>
              <a:rPr lang="en-US"/>
              <a:t> </a:t>
            </a:r>
            <a:r>
              <a:rPr lang="en-US" err="1"/>
              <a:t>phối</a:t>
            </a:r>
            <a:r>
              <a:rPr lang="en-US"/>
              <a:t> </a:t>
            </a:r>
            <a:r>
              <a:rPr lang="en-US" err="1"/>
              <a:t>khoá</a:t>
            </a:r>
            <a:r>
              <a:rPr lang="en-US"/>
              <a:t> </a:t>
            </a:r>
            <a:r>
              <a:rPr lang="en-US" err="1"/>
              <a:t>từ</a:t>
            </a:r>
            <a:r>
              <a:rPr lang="en-US"/>
              <a:t> </a:t>
            </a:r>
            <a:r>
              <a:rPr lang="en-US" err="1"/>
              <a:t>bên</a:t>
            </a:r>
            <a:r>
              <a:rPr lang="en-US"/>
              <a:t> </a:t>
            </a:r>
            <a:r>
              <a:rPr lang="en-US" err="1"/>
              <a:t>thứ</a:t>
            </a:r>
            <a:r>
              <a:rPr lang="en-US"/>
              <a:t> 3 tin </a:t>
            </a:r>
            <a:r>
              <a:rPr lang="en-US" err="1"/>
              <a:t>cậy</a:t>
            </a:r>
            <a:r>
              <a:rPr lang="en-US"/>
              <a:t> 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42EE97F5-D559-CB49-85E1-972C5CA0AB5C}"/>
              </a:ext>
            </a:extLst>
          </p:cNvPr>
          <p:cNvGrpSpPr/>
          <p:nvPr/>
        </p:nvGrpSpPr>
        <p:grpSpPr>
          <a:xfrm>
            <a:off x="43543" y="2684330"/>
            <a:ext cx="5057263" cy="1947403"/>
            <a:chOff x="710709" y="1919747"/>
            <a:chExt cx="7380856" cy="2042788"/>
          </a:xfrm>
        </p:grpSpPr>
        <p:sp>
          <p:nvSpPr>
            <p:cNvPr id="4" name="Rounded Rectangle 3"/>
            <p:cNvSpPr/>
            <p:nvPr/>
          </p:nvSpPr>
          <p:spPr>
            <a:xfrm>
              <a:off x="3414789" y="2566245"/>
              <a:ext cx="1447800" cy="990600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>
                  <a:solidFill>
                    <a:srgbClr val="FF0000"/>
                  </a:solidFill>
                </a:rPr>
                <a:t>TTP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AA7D6F74-F403-BA4D-B0EA-1478ED96F658}"/>
                </a:ext>
              </a:extLst>
            </p:cNvPr>
            <p:cNvSpPr/>
            <p:nvPr/>
          </p:nvSpPr>
          <p:spPr>
            <a:xfrm>
              <a:off x="6687163" y="1919747"/>
              <a:ext cx="1352013" cy="37584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1200"/>
                <a:t>User 1 </a:t>
              </a:r>
              <a:endParaRPr sz="1200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E8058369-6840-6E43-A00F-0F745D6F1AB6}"/>
                </a:ext>
              </a:extLst>
            </p:cNvPr>
            <p:cNvSpPr/>
            <p:nvPr/>
          </p:nvSpPr>
          <p:spPr>
            <a:xfrm>
              <a:off x="6687161" y="3586695"/>
              <a:ext cx="1404404" cy="37584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1200"/>
                <a:t>User 2 </a:t>
              </a:r>
              <a:endParaRPr sz="1200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90349F6C-8396-D243-88EC-5FEDDD8B2BB5}"/>
                </a:ext>
              </a:extLst>
            </p:cNvPr>
            <p:cNvSpPr/>
            <p:nvPr/>
          </p:nvSpPr>
          <p:spPr>
            <a:xfrm>
              <a:off x="762000" y="2098416"/>
              <a:ext cx="1118091" cy="37584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1200"/>
                <a:t>Alice </a:t>
              </a:r>
              <a:endParaRPr sz="1200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3FAD1227-077C-4C4B-937C-858DF4C69EB0}"/>
                </a:ext>
              </a:extLst>
            </p:cNvPr>
            <p:cNvSpPr/>
            <p:nvPr/>
          </p:nvSpPr>
          <p:spPr>
            <a:xfrm>
              <a:off x="710709" y="3586695"/>
              <a:ext cx="1118091" cy="37584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1200"/>
                <a:t>Bob </a:t>
              </a:r>
              <a:endParaRPr sz="1200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DE06579E-5977-D842-A3BC-6A8D204C91FF}"/>
                </a:ext>
              </a:extLst>
            </p:cNvPr>
            <p:cNvCxnSpPr>
              <a:cxnSpLocks/>
              <a:stCxn id="9" idx="6"/>
              <a:endCxn id="4" idx="1"/>
            </p:cNvCxnSpPr>
            <p:nvPr/>
          </p:nvCxnSpPr>
          <p:spPr>
            <a:xfrm>
              <a:off x="1880091" y="2286336"/>
              <a:ext cx="1534697" cy="77520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CDCD8F01-E3DC-834A-913F-C610A7C4C3C3}"/>
                </a:ext>
              </a:extLst>
            </p:cNvPr>
            <p:cNvCxnSpPr>
              <a:cxnSpLocks/>
              <a:stCxn id="10" idx="6"/>
              <a:endCxn id="4" idx="1"/>
            </p:cNvCxnSpPr>
            <p:nvPr/>
          </p:nvCxnSpPr>
          <p:spPr>
            <a:xfrm flipV="1">
              <a:off x="1828800" y="3061546"/>
              <a:ext cx="1585989" cy="71307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EBBC0D2D-6BF4-3341-93CF-1343E0FC9327}"/>
                </a:ext>
              </a:extLst>
            </p:cNvPr>
            <p:cNvCxnSpPr>
              <a:cxnSpLocks/>
              <a:stCxn id="4" idx="3"/>
              <a:endCxn id="7" idx="2"/>
            </p:cNvCxnSpPr>
            <p:nvPr/>
          </p:nvCxnSpPr>
          <p:spPr>
            <a:xfrm flipV="1">
              <a:off x="4862589" y="2107668"/>
              <a:ext cx="1824575" cy="95387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C80E90AC-C92B-C140-A895-A577EB999DA7}"/>
                </a:ext>
              </a:extLst>
            </p:cNvPr>
            <p:cNvCxnSpPr>
              <a:cxnSpLocks/>
              <a:stCxn id="4" idx="3"/>
              <a:endCxn id="8" idx="2"/>
            </p:cNvCxnSpPr>
            <p:nvPr/>
          </p:nvCxnSpPr>
          <p:spPr>
            <a:xfrm>
              <a:off x="4862589" y="3061546"/>
              <a:ext cx="1824572" cy="71307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D585ACFE-3351-6B47-A44E-B39951A43811}"/>
                </a:ext>
              </a:extLst>
            </p:cNvPr>
            <p:cNvCxnSpPr>
              <a:cxnSpLocks/>
              <a:stCxn id="9" idx="4"/>
              <a:endCxn id="10" idx="0"/>
            </p:cNvCxnSpPr>
            <p:nvPr/>
          </p:nvCxnSpPr>
          <p:spPr>
            <a:xfrm flipH="1">
              <a:off x="1269755" y="2474256"/>
              <a:ext cx="51291" cy="1112439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FFB184B-3004-3442-947C-9E925066B4F3}"/>
                </a:ext>
              </a:extLst>
            </p:cNvPr>
            <p:cNvSpPr txBox="1"/>
            <p:nvPr/>
          </p:nvSpPr>
          <p:spPr>
            <a:xfrm>
              <a:off x="762000" y="2724150"/>
              <a:ext cx="609600" cy="4735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vi-VN" sz="1400"/>
                <a:t>K</a:t>
              </a:r>
              <a:r>
                <a:rPr lang="vi-VN" sz="1400" baseline="-25000"/>
                <a:t>AB</a:t>
              </a:r>
              <a:endParaRPr sz="1400" baseline="-2500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21158576-5337-D240-A09F-9A756440E46B}"/>
                </a:ext>
              </a:extLst>
            </p:cNvPr>
            <p:cNvSpPr txBox="1"/>
            <p:nvPr/>
          </p:nvSpPr>
          <p:spPr>
            <a:xfrm>
              <a:off x="2399280" y="3528977"/>
              <a:ext cx="609600" cy="3228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vi-VN" sz="1400"/>
                <a:t>K</a:t>
              </a:r>
              <a:r>
                <a:rPr lang="vi-VN" sz="1400" baseline="-25000"/>
                <a:t>B</a:t>
              </a:r>
              <a:endParaRPr sz="1400" baseline="-2500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1DC402E-069F-A544-9679-FA2E0B4718A1}"/>
                </a:ext>
              </a:extLst>
            </p:cNvPr>
            <p:cNvSpPr txBox="1"/>
            <p:nvPr/>
          </p:nvSpPr>
          <p:spPr>
            <a:xfrm>
              <a:off x="2399280" y="2233702"/>
              <a:ext cx="609600" cy="3228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vi-VN" sz="1400"/>
                <a:t>K</a:t>
              </a:r>
              <a:r>
                <a:rPr lang="vi-VN" sz="1400" baseline="-25000"/>
                <a:t>A</a:t>
              </a:r>
              <a:endParaRPr sz="1400" baseline="-2500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D51F50C-8A89-0D41-A9D4-B836DE8C0284}"/>
                </a:ext>
              </a:extLst>
            </p:cNvPr>
            <p:cNvSpPr txBox="1"/>
            <p:nvPr/>
          </p:nvSpPr>
          <p:spPr>
            <a:xfrm>
              <a:off x="5422182" y="2157002"/>
              <a:ext cx="609600" cy="3228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vi-VN" sz="1400"/>
                <a:t>K</a:t>
              </a:r>
              <a:r>
                <a:rPr lang="vi-VN" sz="1400" baseline="-25000"/>
                <a:t>1</a:t>
              </a:r>
              <a:endParaRPr sz="1400" baseline="-2500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EBF079F-DCC6-3F4F-86E1-32F0814B23FC}"/>
                </a:ext>
              </a:extLst>
            </p:cNvPr>
            <p:cNvSpPr txBox="1"/>
            <p:nvPr/>
          </p:nvSpPr>
          <p:spPr>
            <a:xfrm>
              <a:off x="5448377" y="3432806"/>
              <a:ext cx="609600" cy="3228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vi-VN" sz="1400"/>
                <a:t>K</a:t>
              </a:r>
              <a:r>
                <a:rPr lang="vi-VN" sz="1400" baseline="-25000"/>
                <a:t>2</a:t>
              </a:r>
              <a:endParaRPr sz="1400" baseline="-25000"/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35901358-F255-2D44-8E3C-B1E752C0CE1D}"/>
              </a:ext>
            </a:extLst>
          </p:cNvPr>
          <p:cNvSpPr txBox="1"/>
          <p:nvPr/>
        </p:nvSpPr>
        <p:spPr>
          <a:xfrm>
            <a:off x="533401" y="5257800"/>
            <a:ext cx="4914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/>
              <a:t>Mỗi User chỉ cần nhớ 1 khoá ? </a:t>
            </a:r>
            <a:endParaRPr/>
          </a:p>
        </p:txBody>
      </p:sp>
      <p:pic>
        <p:nvPicPr>
          <p:cNvPr id="35" name="Content Placeholder 3">
            <a:extLst>
              <a:ext uri="{FF2B5EF4-FFF2-40B4-BE49-F238E27FC236}">
                <a16:creationId xmlns:a16="http://schemas.microsoft.com/office/drawing/2014/main" id="{09A4E3CA-3D03-A942-BB26-ADDE14923E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0082" y="2500664"/>
            <a:ext cx="3868418" cy="2383913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405E83A2-C740-6541-A014-4707F5F51625}"/>
              </a:ext>
            </a:extLst>
          </p:cNvPr>
          <p:cNvSpPr txBox="1"/>
          <p:nvPr/>
        </p:nvSpPr>
        <p:spPr>
          <a:xfrm>
            <a:off x="4893146" y="5054263"/>
            <a:ext cx="459921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Automatic Key Distribution for Connection-Oriented Protocol </a:t>
            </a:r>
          </a:p>
        </p:txBody>
      </p:sp>
    </p:spTree>
    <p:extLst>
      <p:ext uri="{BB962C8B-B14F-4D97-AF65-F5344CB8AC3E}">
        <p14:creationId xmlns:p14="http://schemas.microsoft.com/office/powerpoint/2010/main" val="33704565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2CBC7-7790-3746-BC6E-604CE8787F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77" y="104013"/>
            <a:ext cx="9124823" cy="451739"/>
          </a:xfrm>
        </p:spPr>
        <p:txBody>
          <a:bodyPr>
            <a:noAutofit/>
          </a:bodyPr>
          <a:lstStyle/>
          <a:p>
            <a:r>
              <a:rPr lang="en-US" sz="2800" err="1"/>
              <a:t>Phân</a:t>
            </a:r>
            <a:r>
              <a:rPr lang="en-US" sz="2800"/>
              <a:t> </a:t>
            </a:r>
            <a:r>
              <a:rPr lang="en-US" sz="2800" err="1"/>
              <a:t>phối</a:t>
            </a:r>
            <a:r>
              <a:rPr lang="en-US" sz="2800"/>
              <a:t> </a:t>
            </a:r>
            <a:r>
              <a:rPr lang="en-US" sz="2800" err="1"/>
              <a:t>khoá</a:t>
            </a:r>
            <a:r>
              <a:rPr lang="en-US" sz="2800"/>
              <a:t> </a:t>
            </a:r>
            <a:r>
              <a:rPr lang="en-US" sz="2800" err="1"/>
              <a:t>đối</a:t>
            </a:r>
            <a:r>
              <a:rPr lang="en-US" sz="2800"/>
              <a:t> </a:t>
            </a:r>
            <a:r>
              <a:rPr lang="en-US" sz="2800" err="1"/>
              <a:t>xứng</a:t>
            </a:r>
            <a:r>
              <a:rPr lang="en-US" sz="2800"/>
              <a:t> </a:t>
            </a:r>
            <a:r>
              <a:rPr lang="en-US" sz="2800" err="1"/>
              <a:t>sử</a:t>
            </a:r>
            <a:r>
              <a:rPr lang="en-US" sz="2800"/>
              <a:t> </a:t>
            </a:r>
            <a:r>
              <a:rPr lang="en-US" sz="2800" err="1"/>
              <a:t>dụng</a:t>
            </a:r>
            <a:r>
              <a:rPr lang="en-US" sz="2800"/>
              <a:t> </a:t>
            </a:r>
            <a:r>
              <a:rPr lang="en-US" sz="2800" err="1"/>
              <a:t>mật</a:t>
            </a:r>
            <a:r>
              <a:rPr lang="en-US" sz="2800"/>
              <a:t> </a:t>
            </a:r>
            <a:r>
              <a:rPr lang="en-US" sz="2800" err="1"/>
              <a:t>mã</a:t>
            </a:r>
            <a:r>
              <a:rPr lang="en-US" sz="2800"/>
              <a:t> </a:t>
            </a:r>
            <a:r>
              <a:rPr lang="en-US" sz="2800" err="1"/>
              <a:t>khoá</a:t>
            </a:r>
            <a:r>
              <a:rPr lang="en-US" sz="2800"/>
              <a:t> </a:t>
            </a:r>
            <a:r>
              <a:rPr lang="en-US" sz="2800" err="1"/>
              <a:t>đối</a:t>
            </a:r>
            <a:r>
              <a:rPr lang="en-US" sz="2800"/>
              <a:t> </a:t>
            </a:r>
            <a:r>
              <a:rPr lang="en-US" sz="2800" err="1"/>
              <a:t>xứng</a:t>
            </a:r>
            <a:endParaRPr sz="280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FAEE516-B6B3-EE49-B493-526F208416A1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234950" y="1047543"/>
            <a:ext cx="8674100" cy="4891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7782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/>
              <a:t>Generating keys: Giao </a:t>
            </a:r>
            <a:r>
              <a:rPr lang="en-US" sz="2800" err="1"/>
              <a:t>thức</a:t>
            </a:r>
            <a:r>
              <a:rPr lang="en-US" sz="2800"/>
              <a:t> </a:t>
            </a:r>
            <a:r>
              <a:rPr lang="en-US" sz="2800" err="1"/>
              <a:t>trò</a:t>
            </a:r>
            <a:r>
              <a:rPr lang="en-US" sz="2800"/>
              <a:t> </a:t>
            </a:r>
            <a:r>
              <a:rPr lang="en-US" sz="2800" err="1"/>
              <a:t>chơi</a:t>
            </a:r>
            <a:r>
              <a:rPr lang="en-US" sz="2800"/>
              <a:t> (a toy protocol)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/>
              <a:t>Alice </a:t>
            </a:r>
            <a:r>
              <a:rPr lang="en-US" err="1"/>
              <a:t>muốn</a:t>
            </a:r>
            <a:r>
              <a:rPr lang="en-US"/>
              <a:t> </a:t>
            </a:r>
            <a:r>
              <a:rPr lang="en-US" err="1"/>
              <a:t>tạo</a:t>
            </a:r>
            <a:r>
              <a:rPr lang="en-US"/>
              <a:t> </a:t>
            </a:r>
            <a:r>
              <a:rPr lang="en-US" err="1"/>
              <a:t>khoá</a:t>
            </a:r>
            <a:r>
              <a:rPr lang="en-US"/>
              <a:t> chia </a:t>
            </a:r>
            <a:r>
              <a:rPr lang="en-US" err="1"/>
              <a:t>sẻ</a:t>
            </a:r>
            <a:r>
              <a:rPr lang="en-US"/>
              <a:t> </a:t>
            </a:r>
            <a:r>
              <a:rPr lang="en-US" err="1"/>
              <a:t>với</a:t>
            </a:r>
            <a:r>
              <a:rPr lang="en-US"/>
              <a:t> Bob. </a:t>
            </a:r>
            <a:r>
              <a:rPr lang="en-US" err="1"/>
              <a:t>Giả</a:t>
            </a:r>
            <a:r>
              <a:rPr lang="en-US"/>
              <a:t> </a:t>
            </a:r>
            <a:r>
              <a:rPr lang="en-US" err="1"/>
              <a:t>thiết</a:t>
            </a:r>
            <a:r>
              <a:rPr lang="en-US"/>
              <a:t> </a:t>
            </a:r>
            <a:r>
              <a:rPr lang="en-US" err="1"/>
              <a:t>chỉ</a:t>
            </a:r>
            <a:r>
              <a:rPr lang="en-US"/>
              <a:t> </a:t>
            </a:r>
            <a:r>
              <a:rPr lang="en-US" err="1"/>
              <a:t>chống</a:t>
            </a:r>
            <a:r>
              <a:rPr lang="en-US"/>
              <a:t> </a:t>
            </a:r>
            <a:r>
              <a:rPr lang="en-US" err="1"/>
              <a:t>nghe</a:t>
            </a:r>
            <a:r>
              <a:rPr lang="en-US"/>
              <a:t> </a:t>
            </a:r>
            <a:r>
              <a:rPr lang="en-US" err="1"/>
              <a:t>lén</a:t>
            </a:r>
            <a:r>
              <a:rPr lang="en-US"/>
              <a:t> (Eavesdropping) 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 b="1" u="sng"/>
              <a:t>Bob</a:t>
            </a:r>
            <a:r>
              <a:rPr lang="en-US" b="1"/>
              <a:t> </a:t>
            </a:r>
            <a:r>
              <a:rPr lang="en-US" b="1">
                <a:solidFill>
                  <a:srgbClr val="FF0000"/>
                </a:solidFill>
              </a:rPr>
              <a:t>(k</a:t>
            </a:r>
            <a:r>
              <a:rPr lang="en-US" b="1" baseline="-25000">
                <a:solidFill>
                  <a:srgbClr val="FF0000"/>
                </a:solidFill>
              </a:rPr>
              <a:t>B</a:t>
            </a:r>
            <a:r>
              <a:rPr lang="en-US" b="1">
                <a:solidFill>
                  <a:srgbClr val="FF0000"/>
                </a:solidFill>
              </a:rPr>
              <a:t>)</a:t>
            </a:r>
            <a:r>
              <a:rPr lang="en-US"/>
              <a:t>		</a:t>
            </a:r>
            <a:r>
              <a:rPr lang="en-US" b="1" u="sng"/>
              <a:t>Alice</a:t>
            </a:r>
            <a:r>
              <a:rPr lang="en-US" b="1"/>
              <a:t> </a:t>
            </a:r>
            <a:r>
              <a:rPr lang="en-US" b="1">
                <a:solidFill>
                  <a:srgbClr val="FF0000"/>
                </a:solidFill>
              </a:rPr>
              <a:t>(k</a:t>
            </a:r>
            <a:r>
              <a:rPr lang="en-US" b="1" baseline="-25000">
                <a:solidFill>
                  <a:srgbClr val="FF0000"/>
                </a:solidFill>
              </a:rPr>
              <a:t>A</a:t>
            </a:r>
            <a:r>
              <a:rPr lang="en-US" b="1">
                <a:solidFill>
                  <a:srgbClr val="FF0000"/>
                </a:solidFill>
              </a:rPr>
              <a:t>)</a:t>
            </a:r>
            <a:r>
              <a:rPr lang="en-US"/>
              <a:t>	                  </a:t>
            </a:r>
            <a:r>
              <a:rPr lang="en-US" b="1" u="sng"/>
              <a:t>TTP      </a:t>
            </a:r>
            <a:r>
              <a:rPr lang="en-US" b="1">
                <a:solidFill>
                  <a:srgbClr val="FF0000"/>
                </a:solidFill>
              </a:rPr>
              <a:t>(k</a:t>
            </a:r>
            <a:r>
              <a:rPr lang="en-US" b="1" baseline="-25000">
                <a:solidFill>
                  <a:srgbClr val="FF0000"/>
                </a:solidFill>
              </a:rPr>
              <a:t>A</a:t>
            </a:r>
            <a:r>
              <a:rPr lang="en-US" b="1">
                <a:solidFill>
                  <a:srgbClr val="FF0000"/>
                </a:solidFill>
              </a:rPr>
              <a:t> ,k</a:t>
            </a:r>
            <a:r>
              <a:rPr lang="en-US" b="1" baseline="-25000">
                <a:solidFill>
                  <a:srgbClr val="FF0000"/>
                </a:solidFill>
              </a:rPr>
              <a:t>B</a:t>
            </a:r>
            <a:r>
              <a:rPr lang="en-US" b="1">
                <a:solidFill>
                  <a:srgbClr val="FF0000"/>
                </a:solidFill>
              </a:rPr>
              <a:t>)</a:t>
            </a:r>
            <a:endParaRPr lang="en-US" b="1" u="sng"/>
          </a:p>
        </p:txBody>
      </p:sp>
      <p:cxnSp>
        <p:nvCxnSpPr>
          <p:cNvPr id="8" name="Straight Arrow Connector 7"/>
          <p:cNvCxnSpPr/>
          <p:nvPr/>
        </p:nvCxnSpPr>
        <p:spPr>
          <a:xfrm flipH="1">
            <a:off x="4038600" y="4419600"/>
            <a:ext cx="40386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5" name="Group 14"/>
          <p:cNvGrpSpPr/>
          <p:nvPr/>
        </p:nvGrpSpPr>
        <p:grpSpPr>
          <a:xfrm>
            <a:off x="533400" y="4267201"/>
            <a:ext cx="2667000" cy="461665"/>
            <a:chOff x="533400" y="3409950"/>
            <a:chExt cx="2667000" cy="461665"/>
          </a:xfrm>
        </p:grpSpPr>
        <p:cxnSp>
          <p:nvCxnSpPr>
            <p:cNvPr id="9" name="Straight Arrow Connector 8"/>
            <p:cNvCxnSpPr/>
            <p:nvPr/>
          </p:nvCxnSpPr>
          <p:spPr>
            <a:xfrm flipH="1">
              <a:off x="533400" y="3867150"/>
              <a:ext cx="266700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/>
            <p:cNvSpPr txBox="1"/>
            <p:nvPr/>
          </p:nvSpPr>
          <p:spPr>
            <a:xfrm>
              <a:off x="1447800" y="3409950"/>
              <a:ext cx="92006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/>
                <a:t>Ticket</a:t>
              </a: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304801" y="5029200"/>
            <a:ext cx="6912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err="1">
                <a:solidFill>
                  <a:srgbClr val="FF0000"/>
                </a:solidFill>
              </a:rPr>
              <a:t>k</a:t>
            </a:r>
            <a:r>
              <a:rPr lang="en-US" sz="2800" b="1" baseline="-25000" err="1">
                <a:solidFill>
                  <a:srgbClr val="FF0000"/>
                </a:solidFill>
              </a:rPr>
              <a:t>AB</a:t>
            </a:r>
            <a:r>
              <a:rPr lang="en-US" sz="2800" b="1" baseline="-2500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73748" y="5029200"/>
            <a:ext cx="6912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err="1">
                <a:solidFill>
                  <a:srgbClr val="FF0000"/>
                </a:solidFill>
              </a:rPr>
              <a:t>k</a:t>
            </a:r>
            <a:r>
              <a:rPr lang="en-US" sz="2800" b="1" baseline="-25000" err="1">
                <a:solidFill>
                  <a:srgbClr val="FF0000"/>
                </a:solidFill>
              </a:rPr>
              <a:t>AB</a:t>
            </a:r>
            <a:r>
              <a:rPr lang="en-US" sz="2800" b="1" baseline="-25000">
                <a:solidFill>
                  <a:srgbClr val="FF0000"/>
                </a:solidFill>
              </a:rPr>
              <a:t> 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4038600" y="3276600"/>
            <a:ext cx="4038600" cy="400110"/>
            <a:chOff x="4038600" y="2419350"/>
            <a:chExt cx="4038600" cy="400110"/>
          </a:xfrm>
        </p:grpSpPr>
        <p:cxnSp>
          <p:nvCxnSpPr>
            <p:cNvPr id="5" name="Straight Arrow Connector 4"/>
            <p:cNvCxnSpPr/>
            <p:nvPr/>
          </p:nvCxnSpPr>
          <p:spPr>
            <a:xfrm>
              <a:off x="4038600" y="2800350"/>
              <a:ext cx="403860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/>
            <p:cNvSpPr txBox="1"/>
            <p:nvPr/>
          </p:nvSpPr>
          <p:spPr>
            <a:xfrm>
              <a:off x="4648200" y="2419350"/>
              <a:ext cx="298879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/>
                <a:t>“Alice wants key with Bob”</a:t>
              </a:r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5638801" y="5257801"/>
            <a:ext cx="3419325" cy="461665"/>
          </a:xfrm>
          <a:prstGeom prst="rect">
            <a:avLst/>
          </a:prstGeom>
          <a:noFill/>
          <a:ln>
            <a:solidFill>
              <a:srgbClr val="008000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/>
              <a:t>(E,D) a CPA-secure cipher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03383" y="3657600"/>
            <a:ext cx="141148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/>
              <a:t>choose </a:t>
            </a:r>
            <a:br>
              <a:rPr lang="en-US" sz="2000"/>
            </a:br>
            <a:r>
              <a:rPr lang="en-US" sz="2000"/>
              <a:t>random </a:t>
            </a:r>
            <a:r>
              <a:rPr lang="en-US" sz="2000" err="1"/>
              <a:t>k</a:t>
            </a:r>
            <a:r>
              <a:rPr lang="en-US" sz="2400" baseline="-25000" err="1"/>
              <a:t>AB</a:t>
            </a:r>
            <a:endParaRPr lang="en-US" sz="2400" baseline="-250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4A15A67-1369-8B4F-A776-A4EF809E6B6E}"/>
              </a:ext>
            </a:extLst>
          </p:cNvPr>
          <p:cNvSpPr txBox="1"/>
          <p:nvPr/>
        </p:nvSpPr>
        <p:spPr>
          <a:xfrm>
            <a:off x="4953000" y="3705880"/>
            <a:ext cx="304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/>
              <a:t>E(K</a:t>
            </a:r>
            <a:r>
              <a:rPr lang="vi-VN" baseline="-25000"/>
              <a:t>A</a:t>
            </a:r>
            <a:r>
              <a:rPr lang="vi-VN"/>
              <a:t>, “A,B”|| K</a:t>
            </a:r>
            <a:r>
              <a:rPr lang="vi-VN" baseline="-25000"/>
              <a:t>AB</a:t>
            </a:r>
            <a:r>
              <a:rPr lang="vi-VN"/>
              <a:t>)</a:t>
            </a:r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BD67DBA-F00A-054B-A217-4C4DB10C79ED}"/>
              </a:ext>
            </a:extLst>
          </p:cNvPr>
          <p:cNvSpPr txBox="1"/>
          <p:nvPr/>
        </p:nvSpPr>
        <p:spPr>
          <a:xfrm>
            <a:off x="3282261" y="4569024"/>
            <a:ext cx="4163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/>
              <a:t>Ticket ←    E(K</a:t>
            </a:r>
            <a:r>
              <a:rPr lang="vi-VN" baseline="-25000"/>
              <a:t>B</a:t>
            </a:r>
            <a:r>
              <a:rPr lang="vi-VN"/>
              <a:t>, “A,B”|| K</a:t>
            </a:r>
            <a:r>
              <a:rPr lang="vi-VN" baseline="-25000"/>
              <a:t>AB</a:t>
            </a:r>
            <a:r>
              <a:rPr lang="vi-VN"/>
              <a:t>)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00734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909" y="74381"/>
            <a:ext cx="8673846" cy="451739"/>
          </a:xfrm>
        </p:spPr>
        <p:txBody>
          <a:bodyPr/>
          <a:lstStyle/>
          <a:p>
            <a:r>
              <a:rPr lang="en-US" sz="2800"/>
              <a:t>Generating keys: a toy protocol (</a:t>
            </a:r>
            <a:r>
              <a:rPr lang="en-US" sz="2800" err="1"/>
              <a:t>giao</a:t>
            </a:r>
            <a:r>
              <a:rPr lang="en-US" sz="2800"/>
              <a:t> </a:t>
            </a:r>
            <a:r>
              <a:rPr lang="en-US" sz="2800" err="1"/>
              <a:t>thức</a:t>
            </a:r>
            <a:r>
              <a:rPr lang="en-US" sz="2800"/>
              <a:t> </a:t>
            </a:r>
            <a:r>
              <a:rPr lang="en-US" sz="2800" err="1"/>
              <a:t>trò</a:t>
            </a:r>
            <a:r>
              <a:rPr lang="en-US" sz="2800"/>
              <a:t> </a:t>
            </a:r>
            <a:r>
              <a:rPr lang="en-US" sz="2800" err="1"/>
              <a:t>chơi</a:t>
            </a:r>
            <a:r>
              <a:rPr lang="en-US" sz="280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Alice </a:t>
            </a:r>
            <a:r>
              <a:rPr lang="en-US" err="1"/>
              <a:t>muốn</a:t>
            </a:r>
            <a:r>
              <a:rPr lang="en-US"/>
              <a:t> </a:t>
            </a:r>
            <a:r>
              <a:rPr lang="en-US" err="1"/>
              <a:t>có</a:t>
            </a:r>
            <a:r>
              <a:rPr lang="en-US"/>
              <a:t> </a:t>
            </a:r>
            <a:r>
              <a:rPr lang="en-US" err="1"/>
              <a:t>một</a:t>
            </a:r>
            <a:r>
              <a:rPr lang="en-US"/>
              <a:t> </a:t>
            </a:r>
            <a:r>
              <a:rPr lang="en-US" err="1"/>
              <a:t>khoá</a:t>
            </a:r>
            <a:r>
              <a:rPr lang="en-US"/>
              <a:t> chia </a:t>
            </a:r>
            <a:r>
              <a:rPr lang="en-US" err="1"/>
              <a:t>sẻ</a:t>
            </a:r>
            <a:r>
              <a:rPr lang="en-US"/>
              <a:t> (shared key) </a:t>
            </a:r>
            <a:r>
              <a:rPr lang="en-US" err="1"/>
              <a:t>với</a:t>
            </a:r>
            <a:r>
              <a:rPr lang="en-US"/>
              <a:t> Bob.     </a:t>
            </a:r>
            <a:r>
              <a:rPr lang="en-US" err="1"/>
              <a:t>Chỉ</a:t>
            </a:r>
            <a:r>
              <a:rPr lang="en-US"/>
              <a:t> </a:t>
            </a:r>
            <a:r>
              <a:rPr lang="en-US" err="1"/>
              <a:t>bảo</a:t>
            </a:r>
            <a:r>
              <a:rPr lang="en-US"/>
              <a:t> </a:t>
            </a:r>
            <a:r>
              <a:rPr lang="en-US" err="1"/>
              <a:t>mật</a:t>
            </a:r>
            <a:r>
              <a:rPr lang="en-US"/>
              <a:t> Eavesdropping</a:t>
            </a:r>
          </a:p>
          <a:p>
            <a:pPr marL="0" indent="0">
              <a:buNone/>
            </a:pPr>
            <a:r>
              <a:rPr lang="en-US" err="1"/>
              <a:t>Kẻ</a:t>
            </a:r>
            <a:r>
              <a:rPr lang="en-US"/>
              <a:t> </a:t>
            </a:r>
            <a:r>
              <a:rPr lang="en-US" err="1"/>
              <a:t>nghe</a:t>
            </a:r>
            <a:r>
              <a:rPr lang="en-US"/>
              <a:t> </a:t>
            </a:r>
            <a:r>
              <a:rPr lang="en-US" err="1"/>
              <a:t>lén</a:t>
            </a:r>
            <a:r>
              <a:rPr lang="en-US"/>
              <a:t> </a:t>
            </a:r>
            <a:r>
              <a:rPr lang="en-US" err="1"/>
              <a:t>chỉ</a:t>
            </a:r>
            <a:r>
              <a:rPr lang="en-US"/>
              <a:t> </a:t>
            </a:r>
            <a:r>
              <a:rPr lang="en-US" err="1"/>
              <a:t>nhìn</a:t>
            </a:r>
            <a:r>
              <a:rPr lang="en-US"/>
              <a:t> </a:t>
            </a:r>
            <a:r>
              <a:rPr lang="en-US" err="1"/>
              <a:t>thấy</a:t>
            </a:r>
            <a:r>
              <a:rPr lang="en-US"/>
              <a:t>: </a:t>
            </a:r>
            <a:r>
              <a:rPr lang="en-US">
                <a:solidFill>
                  <a:srgbClr val="FF0000"/>
                </a:solidFill>
              </a:rPr>
              <a:t>E(K</a:t>
            </a:r>
            <a:r>
              <a:rPr lang="en-US" baseline="-25000">
                <a:solidFill>
                  <a:srgbClr val="FF0000"/>
                </a:solidFill>
              </a:rPr>
              <a:t>A</a:t>
            </a:r>
            <a:r>
              <a:rPr lang="en-US">
                <a:solidFill>
                  <a:srgbClr val="FF0000"/>
                </a:solidFill>
              </a:rPr>
              <a:t>, “A, B” </a:t>
            </a:r>
            <a:r>
              <a:rPr lang="en-US" err="1">
                <a:solidFill>
                  <a:srgbClr val="FF0000"/>
                </a:solidFill>
              </a:rPr>
              <a:t>ll</a:t>
            </a:r>
            <a:r>
              <a:rPr lang="en-US">
                <a:solidFill>
                  <a:srgbClr val="FF0000"/>
                </a:solidFill>
              </a:rPr>
              <a:t> K</a:t>
            </a:r>
            <a:r>
              <a:rPr lang="en-US" baseline="-25000">
                <a:solidFill>
                  <a:srgbClr val="FF0000"/>
                </a:solidFill>
              </a:rPr>
              <a:t>AB</a:t>
            </a:r>
            <a:r>
              <a:rPr lang="en-US">
                <a:solidFill>
                  <a:srgbClr val="FF0000"/>
                </a:solidFill>
              </a:rPr>
              <a:t> ) </a:t>
            </a:r>
            <a:r>
              <a:rPr lang="en-US"/>
              <a:t>; </a:t>
            </a:r>
            <a:r>
              <a:rPr lang="en-US">
                <a:solidFill>
                  <a:srgbClr val="FF0000"/>
                </a:solidFill>
              </a:rPr>
              <a:t>E(K</a:t>
            </a:r>
            <a:r>
              <a:rPr lang="en-US" baseline="-25000">
                <a:solidFill>
                  <a:srgbClr val="FF0000"/>
                </a:solidFill>
              </a:rPr>
              <a:t>B</a:t>
            </a:r>
            <a:r>
              <a:rPr lang="en-US">
                <a:solidFill>
                  <a:srgbClr val="FF0000"/>
                </a:solidFill>
              </a:rPr>
              <a:t>, “A, B” </a:t>
            </a:r>
            <a:r>
              <a:rPr lang="en-US" err="1">
                <a:solidFill>
                  <a:srgbClr val="FF0000"/>
                </a:solidFill>
              </a:rPr>
              <a:t>ll</a:t>
            </a:r>
            <a:r>
              <a:rPr lang="en-US">
                <a:solidFill>
                  <a:srgbClr val="FF0000"/>
                </a:solidFill>
              </a:rPr>
              <a:t> K</a:t>
            </a:r>
            <a:r>
              <a:rPr lang="en-US" baseline="-25000">
                <a:solidFill>
                  <a:srgbClr val="FF0000"/>
                </a:solidFill>
              </a:rPr>
              <a:t>AB</a:t>
            </a:r>
            <a:r>
              <a:rPr lang="en-US">
                <a:solidFill>
                  <a:srgbClr val="FF0000"/>
                </a:solidFill>
              </a:rPr>
              <a:t> )</a:t>
            </a:r>
          </a:p>
          <a:p>
            <a:pPr marL="0" indent="0">
              <a:spcBef>
                <a:spcPts val="2424"/>
              </a:spcBef>
              <a:buNone/>
            </a:pPr>
            <a:r>
              <a:rPr lang="en-US"/>
              <a:t>(E,D) is CPA-secure  ⇒   </a:t>
            </a:r>
            <a:r>
              <a:rPr lang="en-US" err="1"/>
              <a:t>Kẻ</a:t>
            </a:r>
            <a:r>
              <a:rPr lang="en-US"/>
              <a:t> </a:t>
            </a:r>
            <a:r>
              <a:rPr lang="en-US" err="1"/>
              <a:t>nghe</a:t>
            </a:r>
            <a:r>
              <a:rPr lang="en-US"/>
              <a:t> </a:t>
            </a:r>
            <a:r>
              <a:rPr lang="en-US" err="1"/>
              <a:t>lén</a:t>
            </a:r>
            <a:r>
              <a:rPr lang="en-US"/>
              <a:t> </a:t>
            </a:r>
            <a:r>
              <a:rPr lang="en-US" err="1"/>
              <a:t>không</a:t>
            </a:r>
            <a:r>
              <a:rPr lang="en-US"/>
              <a:t> </a:t>
            </a:r>
            <a:r>
              <a:rPr lang="en-US" err="1"/>
              <a:t>thể</a:t>
            </a:r>
            <a:r>
              <a:rPr lang="en-US"/>
              <a:t> </a:t>
            </a:r>
            <a:r>
              <a:rPr lang="en-US" err="1"/>
              <a:t>tìm</a:t>
            </a:r>
            <a:r>
              <a:rPr lang="en-US"/>
              <a:t> ra </a:t>
            </a:r>
            <a:r>
              <a:rPr lang="en-US" err="1"/>
              <a:t>k</a:t>
            </a:r>
            <a:r>
              <a:rPr lang="en-US" baseline="-25000" err="1"/>
              <a:t>AB</a:t>
            </a:r>
            <a:endParaRPr lang="en-US" baseline="-25000"/>
          </a:p>
          <a:p>
            <a:pPr marL="0" indent="0">
              <a:spcBef>
                <a:spcPts val="3600"/>
              </a:spcBef>
              <a:buNone/>
            </a:pPr>
            <a:r>
              <a:rPr lang="en-US"/>
              <a:t>Note:  TTP </a:t>
            </a:r>
            <a:r>
              <a:rPr lang="en-US" err="1"/>
              <a:t>cần</a:t>
            </a:r>
            <a:r>
              <a:rPr lang="en-US"/>
              <a:t> </a:t>
            </a:r>
            <a:r>
              <a:rPr lang="en-US" err="1"/>
              <a:t>cho</a:t>
            </a:r>
            <a:r>
              <a:rPr lang="en-US"/>
              <a:t> </a:t>
            </a:r>
            <a:r>
              <a:rPr lang="en-US" err="1"/>
              <a:t>các</a:t>
            </a:r>
            <a:r>
              <a:rPr lang="en-US"/>
              <a:t> </a:t>
            </a:r>
            <a:r>
              <a:rPr lang="en-US" err="1"/>
              <a:t>giao</a:t>
            </a:r>
            <a:r>
              <a:rPr lang="en-US"/>
              <a:t> </a:t>
            </a:r>
            <a:r>
              <a:rPr lang="en-US" err="1"/>
              <a:t>thức</a:t>
            </a:r>
            <a:r>
              <a:rPr lang="en-US"/>
              <a:t> </a:t>
            </a:r>
            <a:r>
              <a:rPr lang="en-US" err="1"/>
              <a:t>trao</a:t>
            </a:r>
            <a:r>
              <a:rPr lang="en-US"/>
              <a:t> </a:t>
            </a:r>
            <a:r>
              <a:rPr lang="en-US" err="1"/>
              <a:t>đổi</a:t>
            </a:r>
            <a:r>
              <a:rPr lang="en-US"/>
              <a:t> </a:t>
            </a:r>
            <a:r>
              <a:rPr lang="en-US" err="1"/>
              <a:t>khoá</a:t>
            </a:r>
            <a:r>
              <a:rPr lang="en-US"/>
              <a:t>, </a:t>
            </a:r>
            <a:r>
              <a:rPr lang="en-US" err="1"/>
              <a:t>hiệu</a:t>
            </a:r>
            <a:r>
              <a:rPr lang="en-US"/>
              <a:t> </a:t>
            </a:r>
            <a:r>
              <a:rPr lang="en-US" err="1"/>
              <a:t>quả</a:t>
            </a:r>
            <a:r>
              <a:rPr lang="en-US"/>
              <a:t> </a:t>
            </a:r>
            <a:r>
              <a:rPr lang="en-US" err="1"/>
              <a:t>cho</a:t>
            </a:r>
            <a:r>
              <a:rPr lang="en-US"/>
              <a:t> </a:t>
            </a:r>
            <a:r>
              <a:rPr lang="en-US" err="1"/>
              <a:t>các</a:t>
            </a:r>
            <a:r>
              <a:rPr lang="en-US"/>
              <a:t> </a:t>
            </a:r>
            <a:r>
              <a:rPr lang="en-US" err="1"/>
              <a:t>khoá</a:t>
            </a:r>
            <a:r>
              <a:rPr lang="en-US"/>
              <a:t> </a:t>
            </a:r>
            <a:r>
              <a:rPr lang="en-US" err="1"/>
              <a:t>phiên</a:t>
            </a:r>
            <a:r>
              <a:rPr lang="en-US"/>
              <a:t> (session keys) - &gt; basis of Kerberos system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AD1C12-6B29-E9DF-E78A-0FA83BA43AA1}"/>
              </a:ext>
            </a:extLst>
          </p:cNvPr>
          <p:cNvSpPr txBox="1"/>
          <p:nvPr/>
        </p:nvSpPr>
        <p:spPr>
          <a:xfrm>
            <a:off x="4258101" y="30025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89137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95123" y="155130"/>
            <a:ext cx="9334246" cy="451739"/>
          </a:xfrm>
        </p:spPr>
        <p:txBody>
          <a:bodyPr>
            <a:noAutofit/>
          </a:bodyPr>
          <a:lstStyle/>
          <a:p>
            <a:r>
              <a:rPr lang="en-US" sz="2200"/>
              <a:t>Toy protocol:  </a:t>
            </a:r>
            <a:r>
              <a:rPr lang="en-US" sz="2200" err="1"/>
              <a:t>không</a:t>
            </a:r>
            <a:r>
              <a:rPr lang="en-US" sz="2200"/>
              <a:t> an </a:t>
            </a:r>
            <a:r>
              <a:rPr lang="en-US" sz="2200" err="1"/>
              <a:t>toàn</a:t>
            </a:r>
            <a:r>
              <a:rPr lang="en-US" sz="2200"/>
              <a:t> </a:t>
            </a:r>
            <a:r>
              <a:rPr lang="en-US" sz="2200" err="1"/>
              <a:t>để</a:t>
            </a:r>
            <a:r>
              <a:rPr lang="en-US" sz="2200"/>
              <a:t> </a:t>
            </a:r>
            <a:r>
              <a:rPr lang="en-US" sz="2200" err="1"/>
              <a:t>chống</a:t>
            </a:r>
            <a:r>
              <a:rPr lang="en-US" sz="2200"/>
              <a:t> </a:t>
            </a:r>
            <a:r>
              <a:rPr lang="en-US" sz="2200" err="1"/>
              <a:t>Tấn</a:t>
            </a:r>
            <a:r>
              <a:rPr lang="en-US" sz="2200"/>
              <a:t> </a:t>
            </a:r>
            <a:r>
              <a:rPr lang="en-US" sz="2200" err="1"/>
              <a:t>công</a:t>
            </a:r>
            <a:r>
              <a:rPr lang="en-US" sz="2200"/>
              <a:t> </a:t>
            </a:r>
            <a:r>
              <a:rPr lang="en-US" sz="2200" err="1"/>
              <a:t>chủ</a:t>
            </a:r>
            <a:r>
              <a:rPr lang="en-US" sz="2200"/>
              <a:t> </a:t>
            </a:r>
            <a:r>
              <a:rPr lang="en-US" sz="2200" err="1"/>
              <a:t>động</a:t>
            </a:r>
            <a:r>
              <a:rPr lang="en-US" sz="2200"/>
              <a:t> (active attacks)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235077" y="841249"/>
            <a:ext cx="8674100" cy="572465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/>
              <a:t>Example: </a:t>
            </a:r>
            <a:r>
              <a:rPr lang="en-US" err="1"/>
              <a:t>Không</a:t>
            </a:r>
            <a:r>
              <a:rPr lang="en-US"/>
              <a:t> </a:t>
            </a:r>
            <a:r>
              <a:rPr lang="en-US" err="1"/>
              <a:t>bảo</a:t>
            </a:r>
            <a:r>
              <a:rPr lang="en-US"/>
              <a:t> </a:t>
            </a:r>
            <a:r>
              <a:rPr lang="en-US" err="1"/>
              <a:t>mật</a:t>
            </a:r>
            <a:r>
              <a:rPr lang="en-US"/>
              <a:t> </a:t>
            </a:r>
            <a:r>
              <a:rPr lang="en-US" err="1"/>
              <a:t>để</a:t>
            </a:r>
            <a:r>
              <a:rPr lang="en-US"/>
              <a:t> </a:t>
            </a:r>
            <a:r>
              <a:rPr lang="en-US" err="1"/>
              <a:t>chống</a:t>
            </a:r>
            <a:r>
              <a:rPr lang="en-US"/>
              <a:t> </a:t>
            </a:r>
            <a:r>
              <a:rPr lang="en-US" err="1"/>
              <a:t>tấn</a:t>
            </a:r>
            <a:r>
              <a:rPr lang="en-US"/>
              <a:t> </a:t>
            </a:r>
            <a:r>
              <a:rPr lang="en-US" err="1"/>
              <a:t>công</a:t>
            </a:r>
            <a:r>
              <a:rPr lang="en-US"/>
              <a:t> </a:t>
            </a:r>
            <a:r>
              <a:rPr lang="en-US" err="1"/>
              <a:t>hồi</a:t>
            </a:r>
            <a:r>
              <a:rPr lang="en-US"/>
              <a:t> </a:t>
            </a:r>
            <a:r>
              <a:rPr lang="en-US" err="1"/>
              <a:t>tiếp</a:t>
            </a:r>
            <a:r>
              <a:rPr lang="en-US"/>
              <a:t> (replay attacks) </a:t>
            </a:r>
          </a:p>
          <a:p>
            <a:pPr marL="0" indent="0">
              <a:buNone/>
            </a:pPr>
            <a:r>
              <a:rPr lang="en-US" err="1"/>
              <a:t>Kẻ</a:t>
            </a:r>
            <a:r>
              <a:rPr lang="en-US"/>
              <a:t> </a:t>
            </a:r>
            <a:r>
              <a:rPr lang="en-US" err="1"/>
              <a:t>tấn</a:t>
            </a:r>
            <a:r>
              <a:rPr lang="en-US"/>
              <a:t> </a:t>
            </a:r>
            <a:r>
              <a:rPr lang="en-US" err="1"/>
              <a:t>công</a:t>
            </a:r>
            <a:r>
              <a:rPr lang="en-US"/>
              <a:t> </a:t>
            </a:r>
            <a:r>
              <a:rPr lang="en-US" err="1"/>
              <a:t>ghi</a:t>
            </a:r>
            <a:r>
              <a:rPr lang="en-US"/>
              <a:t> </a:t>
            </a:r>
            <a:r>
              <a:rPr lang="en-US" err="1"/>
              <a:t>lại</a:t>
            </a:r>
            <a:r>
              <a:rPr lang="en-US"/>
              <a:t> </a:t>
            </a:r>
            <a:r>
              <a:rPr lang="en-US" err="1"/>
              <a:t>các</a:t>
            </a:r>
            <a:r>
              <a:rPr lang="en-US"/>
              <a:t> </a:t>
            </a:r>
            <a:r>
              <a:rPr lang="en-US" err="1"/>
              <a:t>phiên</a:t>
            </a:r>
            <a:r>
              <a:rPr lang="en-US"/>
              <a:t> </a:t>
            </a:r>
            <a:r>
              <a:rPr lang="en-US" err="1"/>
              <a:t>giữa</a:t>
            </a:r>
            <a:r>
              <a:rPr lang="en-US"/>
              <a:t> Alice </a:t>
            </a:r>
            <a:r>
              <a:rPr lang="en-US" err="1"/>
              <a:t>và</a:t>
            </a:r>
            <a:r>
              <a:rPr lang="en-US"/>
              <a:t> Bob: </a:t>
            </a:r>
            <a:r>
              <a:rPr lang="en-US" err="1"/>
              <a:t>Ví</a:t>
            </a:r>
            <a:r>
              <a:rPr lang="en-US"/>
              <a:t> </a:t>
            </a:r>
            <a:r>
              <a:rPr lang="en-US" err="1"/>
              <a:t>dụ</a:t>
            </a:r>
            <a:r>
              <a:rPr lang="en-US"/>
              <a:t> </a:t>
            </a:r>
            <a:r>
              <a:rPr lang="en-US" err="1"/>
              <a:t>một</a:t>
            </a:r>
            <a:r>
              <a:rPr lang="en-US"/>
              <a:t> </a:t>
            </a:r>
            <a:r>
              <a:rPr lang="en-US" err="1"/>
              <a:t>dịch</a:t>
            </a:r>
            <a:r>
              <a:rPr lang="en-US"/>
              <a:t> </a:t>
            </a:r>
            <a:r>
              <a:rPr lang="en-US" err="1"/>
              <a:t>vụ</a:t>
            </a:r>
            <a:r>
              <a:rPr lang="en-US"/>
              <a:t> </a:t>
            </a:r>
            <a:r>
              <a:rPr lang="en-US" err="1"/>
              <a:t>mua</a:t>
            </a:r>
            <a:r>
              <a:rPr lang="en-US"/>
              <a:t> </a:t>
            </a:r>
            <a:r>
              <a:rPr lang="en-US" err="1"/>
              <a:t>sách</a:t>
            </a:r>
            <a:r>
              <a:rPr lang="en-US"/>
              <a:t> -&gt; </a:t>
            </a:r>
            <a:r>
              <a:rPr lang="en-US" err="1"/>
              <a:t>kẻ</a:t>
            </a:r>
            <a:r>
              <a:rPr lang="en-US"/>
              <a:t> </a:t>
            </a:r>
            <a:r>
              <a:rPr lang="en-US" err="1"/>
              <a:t>tấn</a:t>
            </a:r>
            <a:r>
              <a:rPr lang="en-US"/>
              <a:t> </a:t>
            </a:r>
            <a:r>
              <a:rPr lang="en-US" err="1"/>
              <a:t>công</a:t>
            </a:r>
            <a:r>
              <a:rPr lang="en-US"/>
              <a:t> </a:t>
            </a:r>
            <a:r>
              <a:rPr lang="en-US" err="1"/>
              <a:t>phát</a:t>
            </a:r>
            <a:r>
              <a:rPr lang="en-US"/>
              <a:t> </a:t>
            </a:r>
            <a:r>
              <a:rPr lang="en-US" err="1"/>
              <a:t>lại</a:t>
            </a:r>
            <a:r>
              <a:rPr lang="en-US"/>
              <a:t> </a:t>
            </a:r>
            <a:r>
              <a:rPr lang="en-US" err="1"/>
              <a:t>các</a:t>
            </a:r>
            <a:r>
              <a:rPr lang="en-US"/>
              <a:t> </a:t>
            </a:r>
            <a:r>
              <a:rPr lang="en-US" err="1"/>
              <a:t>phiên</a:t>
            </a:r>
            <a:r>
              <a:rPr lang="en-US"/>
              <a:t> </a:t>
            </a:r>
            <a:r>
              <a:rPr lang="en-US" err="1"/>
              <a:t>tới</a:t>
            </a:r>
            <a:r>
              <a:rPr lang="en-US"/>
              <a:t> Bob -&gt; Bob </a:t>
            </a:r>
            <a:r>
              <a:rPr lang="en-US" err="1"/>
              <a:t>nghĩ</a:t>
            </a:r>
            <a:r>
              <a:rPr lang="en-US"/>
              <a:t> Alice </a:t>
            </a:r>
            <a:r>
              <a:rPr lang="en-US" err="1"/>
              <a:t>đang</a:t>
            </a:r>
            <a:r>
              <a:rPr lang="en-US"/>
              <a:t> </a:t>
            </a:r>
            <a:r>
              <a:rPr lang="en-US" err="1"/>
              <a:t>yêu</a:t>
            </a:r>
            <a:r>
              <a:rPr lang="en-US"/>
              <a:t> </a:t>
            </a:r>
            <a:r>
              <a:rPr lang="en-US" err="1"/>
              <a:t>cầu</a:t>
            </a:r>
            <a:r>
              <a:rPr lang="en-US"/>
              <a:t> </a:t>
            </a:r>
            <a:r>
              <a:rPr lang="en-US" err="1"/>
              <a:t>lại</a:t>
            </a:r>
            <a:r>
              <a:rPr lang="en-US"/>
              <a:t> </a:t>
            </a:r>
            <a:r>
              <a:rPr lang="en-US" err="1"/>
              <a:t>một</a:t>
            </a:r>
            <a:r>
              <a:rPr lang="en-US"/>
              <a:t> </a:t>
            </a:r>
            <a:r>
              <a:rPr lang="en-US" err="1"/>
              <a:t>bản</a:t>
            </a:r>
            <a:r>
              <a:rPr lang="en-US"/>
              <a:t> </a:t>
            </a:r>
            <a:r>
              <a:rPr lang="en-US" err="1"/>
              <a:t>sao</a:t>
            </a:r>
            <a:r>
              <a:rPr lang="en-US"/>
              <a:t> </a:t>
            </a:r>
            <a:r>
              <a:rPr lang="en-US" err="1"/>
              <a:t>khác</a:t>
            </a:r>
            <a:r>
              <a:rPr lang="en-US"/>
              <a:t> </a:t>
            </a:r>
            <a:r>
              <a:rPr lang="en-US" err="1"/>
              <a:t>của</a:t>
            </a:r>
            <a:r>
              <a:rPr lang="en-US"/>
              <a:t> </a:t>
            </a:r>
            <a:r>
              <a:rPr lang="en-US" err="1"/>
              <a:t>quyển</a:t>
            </a:r>
            <a:r>
              <a:rPr lang="en-US"/>
              <a:t> </a:t>
            </a:r>
            <a:r>
              <a:rPr lang="en-US" err="1"/>
              <a:t>sách</a:t>
            </a:r>
            <a:r>
              <a:rPr lang="en-US"/>
              <a:t> -&gt; </a:t>
            </a:r>
            <a:r>
              <a:rPr lang="en-US" err="1"/>
              <a:t>gửi</a:t>
            </a:r>
            <a:r>
              <a:rPr lang="en-US"/>
              <a:t> </a:t>
            </a:r>
            <a:r>
              <a:rPr lang="en-US" err="1"/>
              <a:t>lại</a:t>
            </a:r>
            <a:r>
              <a:rPr lang="en-US"/>
              <a:t> </a:t>
            </a:r>
            <a:r>
              <a:rPr lang="en-US" err="1"/>
              <a:t>cho</a:t>
            </a:r>
            <a:r>
              <a:rPr lang="en-US"/>
              <a:t> Alice </a:t>
            </a:r>
            <a:r>
              <a:rPr lang="en-US" err="1"/>
              <a:t>bản</a:t>
            </a:r>
            <a:r>
              <a:rPr lang="en-US"/>
              <a:t> </a:t>
            </a:r>
            <a:r>
              <a:rPr lang="en-US" err="1"/>
              <a:t>sao</a:t>
            </a:r>
            <a:r>
              <a:rPr lang="en-US"/>
              <a:t> </a:t>
            </a:r>
            <a:r>
              <a:rPr lang="en-US" err="1"/>
              <a:t>khác</a:t>
            </a:r>
            <a:r>
              <a:rPr lang="en-US"/>
              <a:t> -&gt; </a:t>
            </a:r>
            <a:r>
              <a:rPr lang="en-US" err="1"/>
              <a:t>gây</a:t>
            </a:r>
            <a:r>
              <a:rPr lang="en-US"/>
              <a:t> </a:t>
            </a:r>
            <a:r>
              <a:rPr lang="en-US" err="1"/>
              <a:t>rắc</a:t>
            </a:r>
            <a:r>
              <a:rPr lang="en-US"/>
              <a:t> </a:t>
            </a:r>
            <a:r>
              <a:rPr lang="en-US" err="1"/>
              <a:t>rối</a:t>
            </a:r>
            <a:r>
              <a:rPr lang="en-US"/>
              <a:t> </a:t>
            </a:r>
            <a:r>
              <a:rPr lang="en-US" err="1"/>
              <a:t>cho</a:t>
            </a:r>
            <a:r>
              <a:rPr lang="en-US"/>
              <a:t> Alice </a:t>
            </a:r>
          </a:p>
          <a:p>
            <a:pPr>
              <a:buFontTx/>
              <a:buChar char="-"/>
            </a:pPr>
            <a:r>
              <a:rPr lang="en-US" err="1"/>
              <a:t>Có</a:t>
            </a:r>
            <a:r>
              <a:rPr lang="en-US"/>
              <a:t> </a:t>
            </a:r>
            <a:r>
              <a:rPr lang="en-US" err="1"/>
              <a:t>thể</a:t>
            </a:r>
            <a:r>
              <a:rPr lang="en-US"/>
              <a:t> </a:t>
            </a:r>
            <a:r>
              <a:rPr lang="en-US" err="1"/>
              <a:t>tạo</a:t>
            </a:r>
            <a:r>
              <a:rPr lang="en-US"/>
              <a:t> </a:t>
            </a:r>
            <a:r>
              <a:rPr lang="en-US" err="1"/>
              <a:t>các</a:t>
            </a:r>
            <a:r>
              <a:rPr lang="en-US"/>
              <a:t> </a:t>
            </a:r>
            <a:r>
              <a:rPr lang="en-US" err="1"/>
              <a:t>khoá</a:t>
            </a:r>
            <a:r>
              <a:rPr lang="en-US"/>
              <a:t> chia </a:t>
            </a:r>
            <a:r>
              <a:rPr lang="en-US" err="1"/>
              <a:t>sẻ</a:t>
            </a:r>
            <a:r>
              <a:rPr lang="en-US"/>
              <a:t> </a:t>
            </a:r>
            <a:r>
              <a:rPr lang="en-US" err="1"/>
              <a:t>mà</a:t>
            </a:r>
            <a:r>
              <a:rPr lang="en-US"/>
              <a:t> </a:t>
            </a:r>
            <a:r>
              <a:rPr lang="en-US" err="1"/>
              <a:t>không</a:t>
            </a:r>
            <a:r>
              <a:rPr lang="en-US"/>
              <a:t> </a:t>
            </a:r>
            <a:r>
              <a:rPr lang="en-US" err="1"/>
              <a:t>cần</a:t>
            </a:r>
            <a:r>
              <a:rPr lang="en-US"/>
              <a:t> </a:t>
            </a:r>
            <a:r>
              <a:rPr lang="en-US" err="1"/>
              <a:t>đến</a:t>
            </a:r>
            <a:r>
              <a:rPr lang="en-US"/>
              <a:t> </a:t>
            </a:r>
            <a:r>
              <a:rPr lang="en-US" err="1"/>
              <a:t>bên</a:t>
            </a:r>
            <a:r>
              <a:rPr lang="en-US"/>
              <a:t> </a:t>
            </a:r>
            <a:r>
              <a:rPr lang="en-US" err="1"/>
              <a:t>thứ</a:t>
            </a:r>
            <a:r>
              <a:rPr lang="en-US"/>
              <a:t> 3 tin </a:t>
            </a:r>
            <a:r>
              <a:rPr lang="en-US" err="1"/>
              <a:t>cậy</a:t>
            </a:r>
            <a:r>
              <a:rPr lang="en-US"/>
              <a:t> (</a:t>
            </a:r>
            <a:r>
              <a:rPr lang="en-US" b="1"/>
              <a:t>online</a:t>
            </a:r>
            <a:r>
              <a:rPr lang="en-US"/>
              <a:t> trusted 3</a:t>
            </a:r>
            <a:r>
              <a:rPr lang="en-US" baseline="30000"/>
              <a:t>rd</a:t>
            </a:r>
            <a:r>
              <a:rPr lang="en-US"/>
              <a:t> party) ?</a:t>
            </a:r>
          </a:p>
          <a:p>
            <a:pPr>
              <a:buFontTx/>
              <a:buChar char="-"/>
            </a:pPr>
            <a:r>
              <a:rPr lang="en-US" err="1"/>
              <a:t>Một</a:t>
            </a:r>
            <a:r>
              <a:rPr lang="en-US"/>
              <a:t> </a:t>
            </a:r>
            <a:r>
              <a:rPr lang="en-US" err="1"/>
              <a:t>số</a:t>
            </a:r>
            <a:r>
              <a:rPr lang="en-US"/>
              <a:t> </a:t>
            </a:r>
            <a:r>
              <a:rPr lang="en-US" err="1"/>
              <a:t>loại</a:t>
            </a:r>
            <a:r>
              <a:rPr lang="en-US"/>
              <a:t> </a:t>
            </a:r>
            <a:r>
              <a:rPr lang="en-US" err="1"/>
              <a:t>mật</a:t>
            </a:r>
            <a:r>
              <a:rPr lang="en-US"/>
              <a:t> </a:t>
            </a:r>
            <a:r>
              <a:rPr lang="en-US" err="1"/>
              <a:t>mã</a:t>
            </a:r>
            <a:r>
              <a:rPr lang="en-US"/>
              <a:t> </a:t>
            </a:r>
            <a:r>
              <a:rPr lang="en-US" err="1"/>
              <a:t>khoá</a:t>
            </a:r>
            <a:r>
              <a:rPr lang="en-US"/>
              <a:t> </a:t>
            </a:r>
            <a:r>
              <a:rPr lang="en-US" err="1"/>
              <a:t>công</a:t>
            </a:r>
            <a:r>
              <a:rPr lang="en-US"/>
              <a:t> </a:t>
            </a:r>
            <a:r>
              <a:rPr lang="en-US" err="1"/>
              <a:t>khai</a:t>
            </a:r>
            <a:r>
              <a:rPr lang="en-US"/>
              <a:t> (public-key cryptography):</a:t>
            </a:r>
          </a:p>
          <a:p>
            <a:pPr lvl="1">
              <a:spcBef>
                <a:spcPts val="1800"/>
              </a:spcBef>
            </a:pPr>
            <a:r>
              <a:rPr lang="en-US"/>
              <a:t>Merkle (1974) , Diffie-Hellman - Stanford (1976), RSA (Rivest, Shamir </a:t>
            </a:r>
            <a:r>
              <a:rPr lang="en-US" err="1"/>
              <a:t>và</a:t>
            </a:r>
            <a:r>
              <a:rPr lang="en-US"/>
              <a:t> Adleman) - MIT (1977)</a:t>
            </a:r>
          </a:p>
          <a:p>
            <a:pPr lvl="1">
              <a:spcBef>
                <a:spcPts val="1800"/>
              </a:spcBef>
            </a:pPr>
            <a:r>
              <a:rPr lang="en-US"/>
              <a:t>More recently:  ID-based enc. </a:t>
            </a:r>
            <a:r>
              <a:rPr lang="en-US" sz="2000"/>
              <a:t>(BF 2001)</a:t>
            </a:r>
            <a:r>
              <a:rPr lang="en-US"/>
              <a:t>, Functional enc. </a:t>
            </a:r>
            <a:r>
              <a:rPr lang="en-US" sz="2000"/>
              <a:t>(BSW 2011)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6902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" y="95038"/>
            <a:ext cx="9124823" cy="451739"/>
          </a:xfrm>
        </p:spPr>
        <p:txBody>
          <a:bodyPr>
            <a:noAutofit/>
          </a:bodyPr>
          <a:lstStyle/>
          <a:p>
            <a:r>
              <a:rPr lang="en-US" sz="2400"/>
              <a:t>Giao </a:t>
            </a:r>
            <a:r>
              <a:rPr lang="en-US" sz="2400" err="1"/>
              <a:t>thực</a:t>
            </a:r>
            <a:r>
              <a:rPr lang="en-US" sz="2400"/>
              <a:t> </a:t>
            </a:r>
            <a:r>
              <a:rPr lang="en-US" sz="2400" err="1"/>
              <a:t>thoả</a:t>
            </a:r>
            <a:r>
              <a:rPr lang="en-US" sz="2400"/>
              <a:t> </a:t>
            </a:r>
            <a:r>
              <a:rPr lang="en-US" sz="2400" err="1"/>
              <a:t>thuận</a:t>
            </a:r>
            <a:r>
              <a:rPr lang="en-US" sz="2400"/>
              <a:t> </a:t>
            </a:r>
            <a:r>
              <a:rPr lang="en-US" sz="2400" err="1"/>
              <a:t>khoá</a:t>
            </a:r>
            <a:r>
              <a:rPr lang="en-US" sz="2400"/>
              <a:t> (Key exchange) </a:t>
            </a:r>
            <a:r>
              <a:rPr lang="en-US" sz="2400" err="1"/>
              <a:t>không</a:t>
            </a:r>
            <a:r>
              <a:rPr lang="en-US" sz="2400"/>
              <a:t> </a:t>
            </a:r>
            <a:r>
              <a:rPr lang="en-US" sz="2400" err="1"/>
              <a:t>cần</a:t>
            </a:r>
            <a:r>
              <a:rPr lang="en-US" sz="2400"/>
              <a:t> online TTP?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6F0790-3AEE-2757-F172-26719D9210C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sz="2800"/>
              <a:t>Goal: Alice </a:t>
            </a:r>
            <a:r>
              <a:rPr lang="en-US" sz="2800" err="1"/>
              <a:t>và</a:t>
            </a:r>
            <a:r>
              <a:rPr lang="en-US" sz="2800"/>
              <a:t> Bob </a:t>
            </a:r>
            <a:r>
              <a:rPr lang="en-US" sz="2800" err="1"/>
              <a:t>muốn</a:t>
            </a:r>
            <a:r>
              <a:rPr lang="en-US" sz="2800"/>
              <a:t> chia </a:t>
            </a:r>
            <a:r>
              <a:rPr lang="en-US" sz="2800" err="1"/>
              <a:t>sẻ</a:t>
            </a:r>
            <a:r>
              <a:rPr lang="en-US" sz="2800"/>
              <a:t> </a:t>
            </a:r>
            <a:r>
              <a:rPr lang="en-US" sz="2800" err="1"/>
              <a:t>khoá</a:t>
            </a:r>
            <a:r>
              <a:rPr lang="en-US" sz="2800"/>
              <a:t>, </a:t>
            </a:r>
            <a:r>
              <a:rPr lang="en-US" sz="2800" err="1"/>
              <a:t>kẻ</a:t>
            </a:r>
            <a:r>
              <a:rPr lang="en-US" sz="2800"/>
              <a:t> </a:t>
            </a:r>
            <a:r>
              <a:rPr lang="en-US" sz="2800" err="1"/>
              <a:t>nghe</a:t>
            </a:r>
            <a:r>
              <a:rPr lang="en-US" sz="2800"/>
              <a:t> </a:t>
            </a:r>
            <a:r>
              <a:rPr lang="en-US" sz="2800" err="1"/>
              <a:t>lén</a:t>
            </a:r>
            <a:r>
              <a:rPr lang="en-US" sz="2800"/>
              <a:t> </a:t>
            </a:r>
            <a:r>
              <a:rPr lang="en-US" sz="2800" err="1"/>
              <a:t>không</a:t>
            </a:r>
            <a:r>
              <a:rPr lang="en-US" sz="2800"/>
              <a:t> </a:t>
            </a:r>
            <a:r>
              <a:rPr lang="en-US" sz="2800" err="1"/>
              <a:t>xác</a:t>
            </a:r>
            <a:r>
              <a:rPr lang="en-US" sz="2800"/>
              <a:t> </a:t>
            </a:r>
            <a:r>
              <a:rPr lang="en-US" sz="2800" err="1"/>
              <a:t>định</a:t>
            </a:r>
            <a:r>
              <a:rPr lang="en-US" sz="2800"/>
              <a:t> </a:t>
            </a:r>
            <a:r>
              <a:rPr lang="en-US" sz="2800" err="1"/>
              <a:t>được</a:t>
            </a:r>
            <a:endParaRPr lang="en-US" sz="2800"/>
          </a:p>
          <a:p>
            <a:pPr>
              <a:spcBef>
                <a:spcPts val="1800"/>
              </a:spcBef>
            </a:pPr>
            <a:r>
              <a:rPr lang="en-US" sz="2800" err="1"/>
              <a:t>Giả</a:t>
            </a:r>
            <a:r>
              <a:rPr lang="en-US" sz="2800"/>
              <a:t> </a:t>
            </a:r>
            <a:r>
              <a:rPr lang="en-US" sz="2800" err="1"/>
              <a:t>thiết</a:t>
            </a:r>
            <a:r>
              <a:rPr lang="en-US" sz="2800"/>
              <a:t> </a:t>
            </a:r>
            <a:r>
              <a:rPr lang="en-US" sz="2800" err="1"/>
              <a:t>bảo</a:t>
            </a:r>
            <a:r>
              <a:rPr lang="en-US" sz="2800"/>
              <a:t> </a:t>
            </a:r>
            <a:r>
              <a:rPr lang="en-US" sz="2800" err="1"/>
              <a:t>mật</a:t>
            </a:r>
            <a:r>
              <a:rPr lang="en-US" sz="2800"/>
              <a:t> </a:t>
            </a:r>
            <a:r>
              <a:rPr lang="en-US" sz="2800" err="1"/>
              <a:t>chỉ</a:t>
            </a:r>
            <a:r>
              <a:rPr lang="en-US" sz="2800"/>
              <a:t> </a:t>
            </a:r>
            <a:r>
              <a:rPr lang="en-US" sz="2800" err="1"/>
              <a:t>chống</a:t>
            </a:r>
            <a:r>
              <a:rPr lang="en-US" sz="2800"/>
              <a:t> </a:t>
            </a:r>
            <a:r>
              <a:rPr lang="en-US" sz="2800" err="1"/>
              <a:t>nghe</a:t>
            </a:r>
            <a:r>
              <a:rPr lang="en-US" sz="2800"/>
              <a:t> </a:t>
            </a:r>
            <a:r>
              <a:rPr lang="en-US" sz="2800" err="1"/>
              <a:t>lén</a:t>
            </a:r>
            <a:r>
              <a:rPr lang="en-US" sz="2800"/>
              <a:t> (no tampering – </a:t>
            </a:r>
            <a:r>
              <a:rPr lang="en-US" sz="2800" err="1"/>
              <a:t>không</a:t>
            </a:r>
            <a:r>
              <a:rPr lang="en-US" sz="2800"/>
              <a:t> </a:t>
            </a:r>
            <a:r>
              <a:rPr lang="en-US" sz="2800" err="1"/>
              <a:t>giả</a:t>
            </a:r>
            <a:r>
              <a:rPr lang="en-US" sz="2800"/>
              <a:t> </a:t>
            </a:r>
            <a:r>
              <a:rPr lang="en-US" sz="2800" err="1"/>
              <a:t>mạo</a:t>
            </a:r>
            <a:r>
              <a:rPr lang="en-US" sz="2800"/>
              <a:t>)</a:t>
            </a:r>
          </a:p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0" y="3424535"/>
            <a:ext cx="1066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Bob</a:t>
            </a:r>
          </a:p>
        </p:txBody>
      </p:sp>
      <p:sp>
        <p:nvSpPr>
          <p:cNvPr id="9" name="Rectangle 8"/>
          <p:cNvSpPr/>
          <p:nvPr/>
        </p:nvSpPr>
        <p:spPr>
          <a:xfrm>
            <a:off x="381000" y="3424535"/>
            <a:ext cx="1066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Alice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 flipH="1">
            <a:off x="1828800" y="3780135"/>
            <a:ext cx="51816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1734318" y="3505200"/>
            <a:ext cx="51816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1828800" y="4059535"/>
            <a:ext cx="51816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H="1">
            <a:off x="1828800" y="4338935"/>
            <a:ext cx="51816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648200" y="4643736"/>
            <a:ext cx="22677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eavesdropper ??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1001" y="5329536"/>
            <a:ext cx="63968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1800"/>
              </a:spcBef>
            </a:pPr>
            <a:r>
              <a:rPr lang="en-US" sz="2400"/>
              <a:t>Can this be done using generic symmetric crypto?</a:t>
            </a:r>
          </a:p>
        </p:txBody>
      </p:sp>
      <p:cxnSp>
        <p:nvCxnSpPr>
          <p:cNvPr id="5" name="Elbow Connector 4">
            <a:extLst>
              <a:ext uri="{FF2B5EF4-FFF2-40B4-BE49-F238E27FC236}">
                <a16:creationId xmlns:a16="http://schemas.microsoft.com/office/drawing/2014/main" id="{4A7F9F2C-FC9C-CA49-AA75-E9AEB2C139F7}"/>
              </a:ext>
            </a:extLst>
          </p:cNvPr>
          <p:cNvCxnSpPr/>
          <p:nvPr/>
        </p:nvCxnSpPr>
        <p:spPr>
          <a:xfrm rot="16200000" flipV="1">
            <a:off x="4076700" y="4465936"/>
            <a:ext cx="533400" cy="457200"/>
          </a:xfrm>
          <a:prstGeom prst="bentConnector3">
            <a:avLst>
              <a:gd name="adj1" fmla="val -52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AB48BBC-32C2-3A46-A785-E9CF5845CAE9}"/>
              </a:ext>
            </a:extLst>
          </p:cNvPr>
          <p:cNvSpPr txBox="1"/>
          <p:nvPr/>
        </p:nvSpPr>
        <p:spPr>
          <a:xfrm>
            <a:off x="647700" y="447614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/>
              <a:t>K</a:t>
            </a:r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33FF3E1-FC4A-AD4E-BEE5-DF1ECF303A9A}"/>
              </a:ext>
            </a:extLst>
          </p:cNvPr>
          <p:cNvSpPr txBox="1"/>
          <p:nvPr/>
        </p:nvSpPr>
        <p:spPr>
          <a:xfrm>
            <a:off x="7581900" y="4583857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/>
              <a:t>K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156397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err="1"/>
              <a:t>Merkle</a:t>
            </a:r>
            <a:r>
              <a:rPr lang="en-US" sz="2800"/>
              <a:t> Puzzles (1974)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Answer:   yes, but very inefficient </a:t>
            </a:r>
          </a:p>
          <a:p>
            <a:pPr marL="0" indent="0">
              <a:buNone/>
            </a:pPr>
            <a:r>
              <a:rPr lang="en-US" b="1" u="sng"/>
              <a:t>Main tool</a:t>
            </a:r>
            <a:r>
              <a:rPr lang="en-US"/>
              <a:t>:    puzzles (</a:t>
            </a:r>
            <a:r>
              <a:rPr lang="en-US" err="1"/>
              <a:t>mảng</a:t>
            </a:r>
            <a:r>
              <a:rPr lang="en-US"/>
              <a:t> </a:t>
            </a:r>
            <a:r>
              <a:rPr lang="en-US" err="1"/>
              <a:t>ghép</a:t>
            </a:r>
            <a:r>
              <a:rPr lang="en-US"/>
              <a:t> </a:t>
            </a:r>
            <a:r>
              <a:rPr lang="en-US" err="1"/>
              <a:t>trò</a:t>
            </a:r>
            <a:r>
              <a:rPr lang="en-US"/>
              <a:t> </a:t>
            </a:r>
            <a:r>
              <a:rPr lang="en-US" err="1"/>
              <a:t>chơi</a:t>
            </a:r>
            <a:r>
              <a:rPr lang="en-US"/>
              <a:t>)</a:t>
            </a:r>
          </a:p>
          <a:p>
            <a:r>
              <a:rPr lang="en-US" err="1"/>
              <a:t>Các</a:t>
            </a:r>
            <a:r>
              <a:rPr lang="en-US"/>
              <a:t> </a:t>
            </a:r>
            <a:r>
              <a:rPr lang="en-US" err="1"/>
              <a:t>vấn</a:t>
            </a:r>
            <a:r>
              <a:rPr lang="en-US"/>
              <a:t> </a:t>
            </a:r>
            <a:r>
              <a:rPr lang="en-US" err="1"/>
              <a:t>đề</a:t>
            </a:r>
            <a:r>
              <a:rPr lang="en-US"/>
              <a:t> </a:t>
            </a:r>
            <a:r>
              <a:rPr lang="en-US" err="1"/>
              <a:t>cần</a:t>
            </a:r>
            <a:r>
              <a:rPr lang="en-US"/>
              <a:t> </a:t>
            </a:r>
            <a:r>
              <a:rPr lang="en-US" err="1"/>
              <a:t>phải</a:t>
            </a:r>
            <a:r>
              <a:rPr lang="en-US"/>
              <a:t> </a:t>
            </a:r>
            <a:r>
              <a:rPr lang="en-US" err="1"/>
              <a:t>giải</a:t>
            </a:r>
            <a:r>
              <a:rPr lang="en-US"/>
              <a:t> </a:t>
            </a:r>
            <a:r>
              <a:rPr lang="en-US" err="1"/>
              <a:t>quyết</a:t>
            </a:r>
            <a:endParaRPr lang="en-US"/>
          </a:p>
          <a:p>
            <a:pPr>
              <a:lnSpc>
                <a:spcPct val="140000"/>
              </a:lnSpc>
            </a:pPr>
            <a:r>
              <a:rPr lang="en-US"/>
              <a:t>Example:      E(</a:t>
            </a:r>
            <a:r>
              <a:rPr lang="en-US" err="1"/>
              <a:t>k,m</a:t>
            </a:r>
            <a:r>
              <a:rPr lang="en-US"/>
              <a:t>)  </a:t>
            </a:r>
            <a:r>
              <a:rPr lang="en-US" err="1"/>
              <a:t>là</a:t>
            </a:r>
            <a:r>
              <a:rPr lang="en-US"/>
              <a:t> </a:t>
            </a:r>
            <a:r>
              <a:rPr lang="en-US" err="1"/>
              <a:t>mật</a:t>
            </a:r>
            <a:r>
              <a:rPr lang="en-US"/>
              <a:t> </a:t>
            </a:r>
            <a:r>
              <a:rPr lang="en-US" err="1"/>
              <a:t>mã</a:t>
            </a:r>
            <a:r>
              <a:rPr lang="en-US"/>
              <a:t> </a:t>
            </a:r>
            <a:r>
              <a:rPr lang="en-US" err="1"/>
              <a:t>đối</a:t>
            </a:r>
            <a:r>
              <a:rPr lang="en-US"/>
              <a:t> </a:t>
            </a:r>
            <a:r>
              <a:rPr lang="en-US" err="1"/>
              <a:t>xứng</a:t>
            </a:r>
            <a:r>
              <a:rPr lang="en-US"/>
              <a:t> </a:t>
            </a:r>
            <a:r>
              <a:rPr lang="en-US" err="1"/>
              <a:t>với</a:t>
            </a:r>
            <a:r>
              <a:rPr lang="en-US"/>
              <a:t> k ∈ {0,1}</a:t>
            </a:r>
            <a:r>
              <a:rPr lang="en-US" baseline="30000"/>
              <a:t>128</a:t>
            </a:r>
          </a:p>
          <a:p>
            <a:pPr lvl="1">
              <a:lnSpc>
                <a:spcPct val="140000"/>
              </a:lnSpc>
            </a:pPr>
            <a:r>
              <a:rPr lang="en-US" b="1"/>
              <a:t>puzzle(P)  =   E(P,  “message”)</a:t>
            </a:r>
            <a:r>
              <a:rPr lang="en-US"/>
              <a:t>   where     P = 0</a:t>
            </a:r>
            <a:r>
              <a:rPr lang="en-US" baseline="30000"/>
              <a:t>96 </a:t>
            </a:r>
            <a:r>
              <a:rPr lang="en-US" err="1"/>
              <a:t>ll</a:t>
            </a:r>
            <a:r>
              <a:rPr lang="en-US"/>
              <a:t> b</a:t>
            </a:r>
            <a:r>
              <a:rPr lang="en-US" baseline="-25000"/>
              <a:t>1</a:t>
            </a:r>
            <a:r>
              <a:rPr lang="en-US"/>
              <a:t>… b</a:t>
            </a:r>
            <a:r>
              <a:rPr lang="en-US" baseline="-25000"/>
              <a:t>32</a:t>
            </a:r>
          </a:p>
          <a:p>
            <a:pPr lvl="1">
              <a:lnSpc>
                <a:spcPct val="140000"/>
              </a:lnSpc>
            </a:pPr>
            <a:r>
              <a:rPr lang="en-US"/>
              <a:t>Goal:    </a:t>
            </a:r>
            <a:r>
              <a:rPr lang="en-US" err="1"/>
              <a:t>Tìm</a:t>
            </a:r>
            <a:r>
              <a:rPr lang="en-US"/>
              <a:t>  P  </a:t>
            </a:r>
            <a:r>
              <a:rPr lang="en-US" err="1"/>
              <a:t>bằng</a:t>
            </a:r>
            <a:r>
              <a:rPr lang="en-US"/>
              <a:t> </a:t>
            </a:r>
            <a:r>
              <a:rPr lang="en-US" err="1"/>
              <a:t>việc</a:t>
            </a:r>
            <a:r>
              <a:rPr lang="en-US"/>
              <a:t> </a:t>
            </a:r>
            <a:r>
              <a:rPr lang="en-US" err="1"/>
              <a:t>thử</a:t>
            </a:r>
            <a:r>
              <a:rPr lang="en-US"/>
              <a:t> </a:t>
            </a:r>
            <a:r>
              <a:rPr lang="en-US" err="1"/>
              <a:t>tất</a:t>
            </a:r>
            <a:r>
              <a:rPr lang="en-US"/>
              <a:t> </a:t>
            </a:r>
            <a:r>
              <a:rPr lang="en-US" err="1"/>
              <a:t>cả</a:t>
            </a:r>
            <a:r>
              <a:rPr lang="en-US"/>
              <a:t> 2</a:t>
            </a:r>
            <a:r>
              <a:rPr lang="en-US" baseline="30000"/>
              <a:t>32</a:t>
            </a:r>
            <a:r>
              <a:rPr lang="en-US"/>
              <a:t>  </a:t>
            </a:r>
            <a:r>
              <a:rPr lang="en-US" err="1"/>
              <a:t>trường</a:t>
            </a:r>
            <a:r>
              <a:rPr lang="en-US"/>
              <a:t> </a:t>
            </a:r>
            <a:r>
              <a:rPr lang="en-US" err="1"/>
              <a:t>hợp</a:t>
            </a:r>
            <a:r>
              <a:rPr lang="en-US"/>
              <a:t> </a:t>
            </a:r>
            <a:r>
              <a:rPr lang="en-US" err="1"/>
              <a:t>có</a:t>
            </a:r>
            <a:r>
              <a:rPr lang="en-US"/>
              <a:t> </a:t>
            </a:r>
            <a:r>
              <a:rPr lang="en-US" err="1"/>
              <a:t>thể</a:t>
            </a:r>
            <a:r>
              <a:rPr lang="en-US"/>
              <a:t> </a:t>
            </a:r>
            <a:r>
              <a:rPr lang="en-US" err="1"/>
              <a:t>xảy</a:t>
            </a:r>
            <a:r>
              <a:rPr lang="en-US"/>
              <a:t> ra</a:t>
            </a:r>
          </a:p>
        </p:txBody>
      </p:sp>
    </p:spTree>
    <p:extLst>
      <p:ext uri="{BB962C8B-B14F-4D97-AF65-F5344CB8AC3E}">
        <p14:creationId xmlns:p14="http://schemas.microsoft.com/office/powerpoint/2010/main" val="8448590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err="1"/>
              <a:t>Merkle</a:t>
            </a:r>
            <a:r>
              <a:rPr lang="en-US" sz="2800"/>
              <a:t> puzzles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u="sng"/>
              <a:t>Alice</a:t>
            </a:r>
            <a:r>
              <a:rPr lang="en-US"/>
              <a:t>:   </a:t>
            </a:r>
            <a:r>
              <a:rPr lang="en-US" err="1"/>
              <a:t>chuẩn</a:t>
            </a:r>
            <a:r>
              <a:rPr lang="en-US"/>
              <a:t> </a:t>
            </a:r>
            <a:r>
              <a:rPr lang="en-US" err="1"/>
              <a:t>bị</a:t>
            </a:r>
            <a:r>
              <a:rPr lang="en-US"/>
              <a:t>  2</a:t>
            </a:r>
            <a:r>
              <a:rPr lang="en-US" baseline="30000"/>
              <a:t>32</a:t>
            </a:r>
            <a:r>
              <a:rPr lang="en-US"/>
              <a:t>   puzzles</a:t>
            </a:r>
          </a:p>
          <a:p>
            <a:r>
              <a:rPr lang="en-US"/>
              <a:t>For  </a:t>
            </a:r>
            <a:r>
              <a:rPr lang="en-US" err="1"/>
              <a:t>i</a:t>
            </a:r>
            <a:r>
              <a:rPr lang="en-US"/>
              <a:t>=1, …, 2</a:t>
            </a:r>
            <a:r>
              <a:rPr lang="en-US" baseline="30000"/>
              <a:t>32</a:t>
            </a:r>
            <a:r>
              <a:rPr lang="en-US"/>
              <a:t>  </a:t>
            </a:r>
            <a:r>
              <a:rPr lang="en-US" err="1"/>
              <a:t>chọn</a:t>
            </a:r>
            <a:r>
              <a:rPr lang="en-US"/>
              <a:t> </a:t>
            </a:r>
            <a:r>
              <a:rPr lang="en-US" err="1"/>
              <a:t>ngẫu</a:t>
            </a:r>
            <a:r>
              <a:rPr lang="en-US"/>
              <a:t> </a:t>
            </a:r>
            <a:r>
              <a:rPr lang="en-US" err="1"/>
              <a:t>nhiên</a:t>
            </a:r>
            <a:r>
              <a:rPr lang="en-US"/>
              <a:t>  </a:t>
            </a:r>
            <a:r>
              <a:rPr lang="en-US" b="1"/>
              <a:t>P</a:t>
            </a:r>
            <a:r>
              <a:rPr lang="en-US" b="1" baseline="-25000"/>
              <a:t>i </a:t>
            </a:r>
            <a:r>
              <a:rPr lang="en-US" b="1"/>
              <a:t>∈{0,1}</a:t>
            </a:r>
            <a:r>
              <a:rPr lang="en-US" b="1" baseline="30000"/>
              <a:t>32</a:t>
            </a:r>
            <a:r>
              <a:rPr lang="en-US" b="1" baseline="-25000"/>
              <a:t>   </a:t>
            </a:r>
            <a:r>
              <a:rPr lang="en-US" err="1"/>
              <a:t>và</a:t>
            </a:r>
            <a:r>
              <a:rPr lang="en-US"/>
              <a:t>   </a:t>
            </a:r>
            <a:r>
              <a:rPr lang="en-US" b="1"/>
              <a:t>x</a:t>
            </a:r>
            <a:r>
              <a:rPr lang="en-US" b="1" baseline="-25000"/>
              <a:t>i</a:t>
            </a:r>
            <a:r>
              <a:rPr lang="en-US" b="1"/>
              <a:t>, </a:t>
            </a:r>
            <a:r>
              <a:rPr lang="en-US" b="1" err="1"/>
              <a:t>k</a:t>
            </a:r>
            <a:r>
              <a:rPr lang="en-US" b="1" baseline="-25000" err="1"/>
              <a:t>i</a:t>
            </a:r>
            <a:r>
              <a:rPr lang="en-US" b="1"/>
              <a:t> ∈{0,1}</a:t>
            </a:r>
            <a:r>
              <a:rPr lang="en-US" b="1" baseline="30000"/>
              <a:t>128</a:t>
            </a:r>
            <a:endParaRPr lang="en-US" b="1" baseline="-25000"/>
          </a:p>
          <a:p>
            <a:pPr marL="0" indent="0">
              <a:buNone/>
            </a:pPr>
            <a:r>
              <a:rPr lang="en-US" err="1"/>
              <a:t>thiết</a:t>
            </a:r>
            <a:r>
              <a:rPr lang="en-US"/>
              <a:t> </a:t>
            </a:r>
            <a:r>
              <a:rPr lang="en-US" err="1"/>
              <a:t>lập</a:t>
            </a:r>
            <a:r>
              <a:rPr lang="en-US"/>
              <a:t> </a:t>
            </a:r>
            <a:r>
              <a:rPr lang="en-US" err="1"/>
              <a:t>puzzle</a:t>
            </a:r>
            <a:r>
              <a:rPr lang="en-US" baseline="-25000" err="1"/>
              <a:t>i</a:t>
            </a:r>
            <a:r>
              <a:rPr lang="en-US"/>
              <a:t>   ⟵   E( 0</a:t>
            </a:r>
            <a:r>
              <a:rPr lang="en-US" baseline="30000"/>
              <a:t>96 </a:t>
            </a:r>
            <a:r>
              <a:rPr lang="en-US" err="1"/>
              <a:t>ll</a:t>
            </a:r>
            <a:r>
              <a:rPr lang="en-US"/>
              <a:t> </a:t>
            </a:r>
            <a:r>
              <a:rPr lang="en-US" b="1"/>
              <a:t>P</a:t>
            </a:r>
            <a:r>
              <a:rPr lang="en-US" b="1" baseline="-25000"/>
              <a:t>i</a:t>
            </a:r>
            <a:r>
              <a:rPr lang="en-US" baseline="-25000"/>
              <a:t> </a:t>
            </a:r>
            <a:r>
              <a:rPr lang="en-US"/>
              <a:t>,  </a:t>
            </a:r>
            <a:r>
              <a:rPr lang="en-US" b="1">
                <a:solidFill>
                  <a:srgbClr val="FF0000"/>
                </a:solidFill>
              </a:rPr>
              <a:t>“Puzzle # x</a:t>
            </a:r>
            <a:r>
              <a:rPr lang="en-US" b="1" baseline="-25000">
                <a:solidFill>
                  <a:srgbClr val="FF0000"/>
                </a:solidFill>
              </a:rPr>
              <a:t>i</a:t>
            </a:r>
            <a:r>
              <a:rPr lang="en-US" b="1">
                <a:solidFill>
                  <a:srgbClr val="FF0000"/>
                </a:solidFill>
              </a:rPr>
              <a:t>”  </a:t>
            </a:r>
            <a:r>
              <a:rPr lang="en-US" b="1" err="1">
                <a:solidFill>
                  <a:srgbClr val="FF0000"/>
                </a:solidFill>
              </a:rPr>
              <a:t>ll</a:t>
            </a:r>
            <a:r>
              <a:rPr lang="en-US" b="1">
                <a:solidFill>
                  <a:srgbClr val="FF0000"/>
                </a:solidFill>
              </a:rPr>
              <a:t>   </a:t>
            </a:r>
            <a:r>
              <a:rPr lang="en-US" b="1" err="1">
                <a:solidFill>
                  <a:srgbClr val="FF0000"/>
                </a:solidFill>
              </a:rPr>
              <a:t>k</a:t>
            </a:r>
            <a:r>
              <a:rPr lang="en-US" b="1" baseline="-25000" err="1">
                <a:solidFill>
                  <a:srgbClr val="FF0000"/>
                </a:solidFill>
              </a:rPr>
              <a:t>i</a:t>
            </a:r>
            <a:r>
              <a:rPr lang="en-US" b="1">
                <a:solidFill>
                  <a:srgbClr val="FF0000"/>
                </a:solidFill>
              </a:rPr>
              <a:t> </a:t>
            </a:r>
            <a:r>
              <a:rPr lang="en-US"/>
              <a:t> ), </a:t>
            </a:r>
            <a:r>
              <a:rPr lang="en-US" err="1"/>
              <a:t>cặp</a:t>
            </a:r>
            <a:r>
              <a:rPr lang="en-US"/>
              <a:t> (</a:t>
            </a:r>
            <a:r>
              <a:rPr lang="en-US" b="1"/>
              <a:t>x</a:t>
            </a:r>
            <a:r>
              <a:rPr lang="en-US" b="1" baseline="-25000"/>
              <a:t>i</a:t>
            </a:r>
            <a:r>
              <a:rPr lang="en-US" b="1"/>
              <a:t>, </a:t>
            </a:r>
            <a:r>
              <a:rPr lang="en-US" b="1" err="1"/>
              <a:t>k</a:t>
            </a:r>
            <a:r>
              <a:rPr lang="en-US" b="1" baseline="-25000" err="1"/>
              <a:t>i</a:t>
            </a:r>
            <a:r>
              <a:rPr lang="en-US" b="1"/>
              <a:t> ) </a:t>
            </a:r>
            <a:r>
              <a:rPr lang="en-US" err="1"/>
              <a:t>luôn</a:t>
            </a:r>
            <a:r>
              <a:rPr lang="en-US"/>
              <a:t> </a:t>
            </a:r>
            <a:r>
              <a:rPr lang="en-US" err="1"/>
              <a:t>là</a:t>
            </a:r>
            <a:r>
              <a:rPr lang="en-US"/>
              <a:t> </a:t>
            </a:r>
            <a:r>
              <a:rPr lang="en-US" err="1"/>
              <a:t>duy</a:t>
            </a:r>
            <a:r>
              <a:rPr lang="en-US"/>
              <a:t> </a:t>
            </a:r>
            <a:r>
              <a:rPr lang="en-US" err="1"/>
              <a:t>nhất</a:t>
            </a:r>
            <a:r>
              <a:rPr lang="en-US"/>
              <a:t> </a:t>
            </a:r>
          </a:p>
          <a:p>
            <a:r>
              <a:rPr lang="en-US" err="1"/>
              <a:t>Gửi</a:t>
            </a:r>
            <a:r>
              <a:rPr lang="en-US"/>
              <a:t>   puzzle</a:t>
            </a:r>
            <a:r>
              <a:rPr lang="en-US" baseline="-25000"/>
              <a:t>1</a:t>
            </a:r>
            <a:r>
              <a:rPr lang="en-US"/>
              <a:t> , … , puzzle</a:t>
            </a:r>
            <a:r>
              <a:rPr lang="en-US" baseline="-25000"/>
              <a:t>2</a:t>
            </a:r>
            <a:r>
              <a:rPr lang="en-US" baseline="-5000"/>
              <a:t>32</a:t>
            </a:r>
            <a:r>
              <a:rPr lang="en-US"/>
              <a:t>  </a:t>
            </a:r>
            <a:r>
              <a:rPr lang="en-US" err="1"/>
              <a:t>tới</a:t>
            </a:r>
            <a:r>
              <a:rPr lang="en-US"/>
              <a:t> Bob</a:t>
            </a:r>
          </a:p>
          <a:p>
            <a:pPr marL="0" indent="0">
              <a:buNone/>
            </a:pPr>
            <a:r>
              <a:rPr lang="en-US" b="1" u="sng"/>
              <a:t>Bob</a:t>
            </a:r>
            <a:r>
              <a:rPr lang="en-US"/>
              <a:t>:   </a:t>
            </a:r>
            <a:r>
              <a:rPr lang="en-US" err="1"/>
              <a:t>chọn</a:t>
            </a:r>
            <a:r>
              <a:rPr lang="en-US"/>
              <a:t> </a:t>
            </a:r>
            <a:r>
              <a:rPr lang="en-US" err="1"/>
              <a:t>ngẫu</a:t>
            </a:r>
            <a:r>
              <a:rPr lang="en-US"/>
              <a:t> </a:t>
            </a:r>
            <a:r>
              <a:rPr lang="en-US" err="1"/>
              <a:t>nhiên</a:t>
            </a:r>
            <a:r>
              <a:rPr lang="en-US"/>
              <a:t> </a:t>
            </a:r>
            <a:r>
              <a:rPr lang="en-US" err="1"/>
              <a:t>puzzle</a:t>
            </a:r>
            <a:r>
              <a:rPr lang="en-US" baseline="-25000" err="1"/>
              <a:t>j</a:t>
            </a:r>
            <a:r>
              <a:rPr lang="en-US"/>
              <a:t>  </a:t>
            </a:r>
            <a:r>
              <a:rPr lang="en-US" err="1"/>
              <a:t>và</a:t>
            </a:r>
            <a:r>
              <a:rPr lang="en-US"/>
              <a:t> </a:t>
            </a:r>
            <a:r>
              <a:rPr lang="en-US" err="1"/>
              <a:t>tìm</a:t>
            </a:r>
            <a:r>
              <a:rPr lang="en-US"/>
              <a:t> </a:t>
            </a:r>
            <a:r>
              <a:rPr lang="en-US" err="1"/>
              <a:t>kiếm</a:t>
            </a:r>
            <a:r>
              <a:rPr lang="en-US"/>
              <a:t> </a:t>
            </a:r>
            <a:r>
              <a:rPr lang="en-US" err="1"/>
              <a:t>vét</a:t>
            </a:r>
            <a:r>
              <a:rPr lang="en-US"/>
              <a:t> </a:t>
            </a:r>
            <a:r>
              <a:rPr lang="en-US" err="1"/>
              <a:t>cạn</a:t>
            </a:r>
            <a:r>
              <a:rPr lang="en-US"/>
              <a:t> </a:t>
            </a:r>
            <a:r>
              <a:rPr lang="en-US" err="1"/>
              <a:t>để</a:t>
            </a:r>
            <a:r>
              <a:rPr lang="en-US"/>
              <a:t> </a:t>
            </a:r>
            <a:r>
              <a:rPr lang="en-US" err="1"/>
              <a:t>tìm</a:t>
            </a:r>
            <a:r>
              <a:rPr lang="en-US"/>
              <a:t> ra ( </a:t>
            </a:r>
            <a:r>
              <a:rPr lang="en-US" err="1"/>
              <a:t>x</a:t>
            </a:r>
            <a:r>
              <a:rPr lang="en-US" baseline="-25000" err="1"/>
              <a:t>j</a:t>
            </a:r>
            <a:r>
              <a:rPr lang="en-US"/>
              <a:t>, </a:t>
            </a:r>
            <a:r>
              <a:rPr lang="en-US" err="1"/>
              <a:t>k</a:t>
            </a:r>
            <a:r>
              <a:rPr lang="en-US" baseline="-25000" err="1"/>
              <a:t>j</a:t>
            </a:r>
            <a:r>
              <a:rPr lang="en-US" baseline="-25000"/>
              <a:t> </a:t>
            </a:r>
            <a:r>
              <a:rPr lang="en-US"/>
              <a:t>)</a:t>
            </a:r>
          </a:p>
          <a:p>
            <a:r>
              <a:rPr lang="en-US" err="1"/>
              <a:t>Gửi</a:t>
            </a:r>
            <a:r>
              <a:rPr lang="en-US"/>
              <a:t> </a:t>
            </a:r>
            <a:r>
              <a:rPr lang="en-US" err="1"/>
              <a:t>puzzle</a:t>
            </a:r>
            <a:r>
              <a:rPr lang="en-US" baseline="-25000" err="1"/>
              <a:t>j</a:t>
            </a:r>
            <a:r>
              <a:rPr lang="en-US"/>
              <a:t> </a:t>
            </a:r>
            <a:r>
              <a:rPr lang="en-US" err="1"/>
              <a:t>và</a:t>
            </a:r>
            <a:r>
              <a:rPr lang="en-US"/>
              <a:t> </a:t>
            </a:r>
            <a:r>
              <a:rPr lang="en-US" err="1"/>
              <a:t>x</a:t>
            </a:r>
            <a:r>
              <a:rPr lang="en-US" baseline="-25000" err="1"/>
              <a:t>j</a:t>
            </a:r>
            <a:r>
              <a:rPr lang="en-US"/>
              <a:t>  </a:t>
            </a:r>
            <a:r>
              <a:rPr lang="en-US" err="1"/>
              <a:t>tới</a:t>
            </a:r>
            <a:r>
              <a:rPr lang="en-US"/>
              <a:t> Alice</a:t>
            </a:r>
          </a:p>
          <a:p>
            <a:pPr marL="0" indent="0">
              <a:buNone/>
            </a:pPr>
            <a:r>
              <a:rPr lang="en-US" b="1" u="sng"/>
              <a:t>Alice</a:t>
            </a:r>
            <a:r>
              <a:rPr lang="en-US"/>
              <a:t>:    </a:t>
            </a:r>
            <a:r>
              <a:rPr lang="en-US" err="1"/>
              <a:t>tìm</a:t>
            </a:r>
            <a:r>
              <a:rPr lang="en-US"/>
              <a:t> puzzle </a:t>
            </a:r>
            <a:r>
              <a:rPr lang="en-US" err="1"/>
              <a:t>với</a:t>
            </a:r>
            <a:r>
              <a:rPr lang="en-US"/>
              <a:t> </a:t>
            </a:r>
            <a:r>
              <a:rPr lang="en-US" err="1"/>
              <a:t>thứ</a:t>
            </a:r>
            <a:r>
              <a:rPr lang="en-US"/>
              <a:t> </a:t>
            </a:r>
            <a:r>
              <a:rPr lang="en-US" err="1"/>
              <a:t>tự</a:t>
            </a:r>
            <a:r>
              <a:rPr lang="en-US"/>
              <a:t> </a:t>
            </a:r>
            <a:r>
              <a:rPr lang="en-US" err="1"/>
              <a:t>theo</a:t>
            </a:r>
            <a:r>
              <a:rPr lang="en-US"/>
              <a:t> </a:t>
            </a:r>
            <a:r>
              <a:rPr lang="en-US" err="1"/>
              <a:t>x</a:t>
            </a:r>
            <a:r>
              <a:rPr lang="en-US" baseline="-25000" err="1"/>
              <a:t>j</a:t>
            </a:r>
            <a:r>
              <a:rPr lang="en-US" baseline="-25000"/>
              <a:t> </a:t>
            </a:r>
            <a:r>
              <a:rPr lang="en-US"/>
              <a:t>.  </a:t>
            </a:r>
            <a:r>
              <a:rPr lang="en-US" err="1"/>
              <a:t>Sử</a:t>
            </a:r>
            <a:r>
              <a:rPr lang="en-US"/>
              <a:t> </a:t>
            </a:r>
            <a:r>
              <a:rPr lang="en-US" err="1"/>
              <a:t>dụng</a:t>
            </a:r>
            <a:r>
              <a:rPr lang="en-US"/>
              <a:t> </a:t>
            </a:r>
            <a:r>
              <a:rPr lang="en-US" err="1"/>
              <a:t>k</a:t>
            </a:r>
            <a:r>
              <a:rPr lang="en-US" baseline="-25000" err="1"/>
              <a:t>j</a:t>
            </a:r>
            <a:r>
              <a:rPr lang="en-US"/>
              <a:t>  </a:t>
            </a:r>
            <a:r>
              <a:rPr lang="en-US" err="1"/>
              <a:t>là</a:t>
            </a:r>
            <a:r>
              <a:rPr lang="en-US"/>
              <a:t> </a:t>
            </a:r>
            <a:r>
              <a:rPr lang="en-US" err="1"/>
              <a:t>khoá</a:t>
            </a:r>
            <a:r>
              <a:rPr lang="en-US"/>
              <a:t> </a:t>
            </a:r>
            <a:r>
              <a:rPr lang="en-US" err="1"/>
              <a:t>bí</a:t>
            </a:r>
            <a:r>
              <a:rPr lang="en-US"/>
              <a:t> </a:t>
            </a:r>
            <a:r>
              <a:rPr lang="en-US" err="1"/>
              <a:t>mật</a:t>
            </a:r>
            <a:r>
              <a:rPr lang="en-US"/>
              <a:t> (shared secret)</a:t>
            </a:r>
            <a:endParaRPr lang="en-US" baseline="-25000"/>
          </a:p>
        </p:txBody>
      </p:sp>
    </p:spTree>
    <p:extLst>
      <p:ext uri="{BB962C8B-B14F-4D97-AF65-F5344CB8AC3E}">
        <p14:creationId xmlns:p14="http://schemas.microsoft.com/office/powerpoint/2010/main" val="2334776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/>
              <a:t>In a figure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394209" y="777304"/>
            <a:ext cx="8674100" cy="1934412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Alice’s work: O(n) (prepare  n  puzzles)</a:t>
            </a:r>
          </a:p>
          <a:p>
            <a:pPr marL="0" indent="0">
              <a:buNone/>
              <a:tabLst>
                <a:tab pos="3251200" algn="l"/>
              </a:tabLst>
            </a:pPr>
            <a:r>
              <a:rPr lang="en-US"/>
              <a:t>Bob’s work: O(n) (solve one puzzle)  </a:t>
            </a:r>
          </a:p>
          <a:p>
            <a:pPr marL="0" indent="0">
              <a:buNone/>
              <a:tabLst>
                <a:tab pos="3251200" algn="l"/>
              </a:tabLst>
            </a:pPr>
            <a:r>
              <a:rPr lang="en-US"/>
              <a:t>Eavesdropper’s work:     O( n</a:t>
            </a:r>
            <a:r>
              <a:rPr lang="en-US" baseline="30000"/>
              <a:t>2 </a:t>
            </a:r>
            <a:r>
              <a:rPr lang="en-US"/>
              <a:t>)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C7130E1-A629-A550-CA81-ADF01DCD06A2}"/>
              </a:ext>
            </a:extLst>
          </p:cNvPr>
          <p:cNvGrpSpPr/>
          <p:nvPr/>
        </p:nvGrpSpPr>
        <p:grpSpPr>
          <a:xfrm>
            <a:off x="674086" y="3351275"/>
            <a:ext cx="8114346" cy="1590019"/>
            <a:chOff x="794577" y="3993876"/>
            <a:chExt cx="8114346" cy="1590019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E81AC2BD-931F-39BB-DDE4-0AF1B22741F6}"/>
                </a:ext>
              </a:extLst>
            </p:cNvPr>
            <p:cNvGrpSpPr/>
            <p:nvPr/>
          </p:nvGrpSpPr>
          <p:grpSpPr>
            <a:xfrm>
              <a:off x="794577" y="3993876"/>
              <a:ext cx="8114346" cy="1590019"/>
              <a:chOff x="381000" y="1828801"/>
              <a:chExt cx="8114346" cy="1590019"/>
            </a:xfrm>
          </p:grpSpPr>
          <p:sp>
            <p:nvSpPr>
              <p:cNvPr id="4" name="Rectangle 3"/>
              <p:cNvSpPr/>
              <p:nvPr/>
            </p:nvSpPr>
            <p:spPr>
              <a:xfrm>
                <a:off x="7315200" y="1981200"/>
                <a:ext cx="1066800" cy="914400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/>
                  <a:t>Bob</a:t>
                </a:r>
              </a:p>
            </p:txBody>
          </p:sp>
          <p:sp>
            <p:nvSpPr>
              <p:cNvPr id="5" name="Rectangle 4"/>
              <p:cNvSpPr/>
              <p:nvPr/>
            </p:nvSpPr>
            <p:spPr>
              <a:xfrm>
                <a:off x="381000" y="1981200"/>
                <a:ext cx="1066800" cy="914400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/>
                  <a:t>Alice</a:t>
                </a:r>
              </a:p>
            </p:txBody>
          </p:sp>
          <p:cxnSp>
            <p:nvCxnSpPr>
              <p:cNvPr id="7" name="Straight Arrow Connector 6"/>
              <p:cNvCxnSpPr/>
              <p:nvPr/>
            </p:nvCxnSpPr>
            <p:spPr>
              <a:xfrm>
                <a:off x="1828800" y="2286000"/>
                <a:ext cx="5181600" cy="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Arrow Connector 8"/>
              <p:cNvCxnSpPr/>
              <p:nvPr/>
            </p:nvCxnSpPr>
            <p:spPr>
              <a:xfrm flipH="1">
                <a:off x="1828800" y="2819400"/>
                <a:ext cx="5181600" cy="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TextBox 9"/>
              <p:cNvSpPr txBox="1"/>
              <p:nvPr/>
            </p:nvSpPr>
            <p:spPr>
              <a:xfrm>
                <a:off x="2971801" y="1828801"/>
                <a:ext cx="269176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/>
                  <a:t>puzzle</a:t>
                </a:r>
                <a:r>
                  <a:rPr lang="en-US" sz="2400" baseline="-25000"/>
                  <a:t>1</a:t>
                </a:r>
                <a:r>
                  <a:rPr lang="en-US" sz="2400"/>
                  <a:t> , … , </a:t>
                </a:r>
                <a:r>
                  <a:rPr lang="en-US" sz="2400" err="1"/>
                  <a:t>puzzle</a:t>
                </a:r>
                <a:r>
                  <a:rPr lang="en-US" sz="2400" baseline="-25000" err="1"/>
                  <a:t>n</a:t>
                </a:r>
                <a:r>
                  <a:rPr lang="en-US" sz="2400"/>
                  <a:t> </a:t>
                </a:r>
              </a:p>
            </p:txBody>
          </p:sp>
          <p:sp>
            <p:nvSpPr>
              <p:cNvPr id="11" name="TextBox 10"/>
              <p:cNvSpPr txBox="1"/>
              <p:nvPr/>
            </p:nvSpPr>
            <p:spPr>
              <a:xfrm>
                <a:off x="4191000" y="2362201"/>
                <a:ext cx="43633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err="1"/>
                  <a:t>x</a:t>
                </a:r>
                <a:r>
                  <a:rPr lang="en-US" sz="2400" baseline="-25000" err="1"/>
                  <a:t>j</a:t>
                </a:r>
                <a:r>
                  <a:rPr lang="en-US" sz="2400"/>
                  <a:t> </a:t>
                </a:r>
              </a:p>
            </p:txBody>
          </p:sp>
          <p:sp>
            <p:nvSpPr>
              <p:cNvPr id="12" name="TextBox 11"/>
              <p:cNvSpPr txBox="1"/>
              <p:nvPr/>
            </p:nvSpPr>
            <p:spPr>
              <a:xfrm>
                <a:off x="381001" y="2895600"/>
                <a:ext cx="41814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b="1" err="1">
                    <a:solidFill>
                      <a:srgbClr val="FF0000"/>
                    </a:solidFill>
                  </a:rPr>
                  <a:t>k</a:t>
                </a:r>
                <a:r>
                  <a:rPr lang="en-US" sz="2800" b="1" baseline="-25000" err="1">
                    <a:solidFill>
                      <a:srgbClr val="FF0000"/>
                    </a:solidFill>
                  </a:rPr>
                  <a:t>j</a:t>
                </a:r>
                <a:endParaRPr lang="en-US" sz="2800" b="1" baseline="-25000">
                  <a:solidFill>
                    <a:srgbClr val="FF0000"/>
                  </a:solidFill>
                </a:endParaRPr>
              </a:p>
            </p:txBody>
          </p:sp>
          <p:sp>
            <p:nvSpPr>
              <p:cNvPr id="13" name="TextBox 12"/>
              <p:cNvSpPr txBox="1"/>
              <p:nvPr/>
            </p:nvSpPr>
            <p:spPr>
              <a:xfrm>
                <a:off x="8077201" y="2895600"/>
                <a:ext cx="41814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b="1" err="1">
                    <a:solidFill>
                      <a:srgbClr val="FF0000"/>
                    </a:solidFill>
                  </a:rPr>
                  <a:t>k</a:t>
                </a:r>
                <a:r>
                  <a:rPr lang="en-US" sz="2800" b="1" baseline="-25000" err="1">
                    <a:solidFill>
                      <a:srgbClr val="FF0000"/>
                    </a:solidFill>
                  </a:rPr>
                  <a:t>j</a:t>
                </a:r>
                <a:endParaRPr lang="en-US" sz="2800" b="1" baseline="-25000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8" name="TextBox 7"/>
            <p:cNvSpPr txBox="1"/>
            <p:nvPr/>
          </p:nvSpPr>
          <p:spPr>
            <a:xfrm>
              <a:off x="5486400" y="5105401"/>
              <a:ext cx="206068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/>
                <a:t>(e.g.   2</a:t>
              </a:r>
              <a:r>
                <a:rPr lang="en-US" sz="2400" baseline="30000"/>
                <a:t>64  </a:t>
              </a:r>
              <a:r>
                <a:rPr lang="en-US" sz="2400"/>
                <a:t>time)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4558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/>
              <a:t>Impossibility Result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/>
              <a:t>Can we achieve a better gap using a general symmetric cipher?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/>
              <a:t>Answer:    unknown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/>
              <a:t>But:  roughly speaking, quadratic gap is best possible if we treat cipher as a black box oracle   </a:t>
            </a:r>
            <a:r>
              <a:rPr lang="en-US" sz="2000"/>
              <a:t>[IR’89, BM’09]</a:t>
            </a:r>
            <a:endParaRPr lang="en-US"/>
          </a:p>
          <a:p>
            <a:pPr marL="0" indent="0">
              <a:lnSpc>
                <a:spcPct val="130000"/>
              </a:lnSpc>
              <a:buNone/>
            </a:pP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76A4D3-D858-9948-A233-89D49C23F3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3682093"/>
            <a:ext cx="6673850" cy="2062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6688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/>
              <a:t>Giao </a:t>
            </a:r>
            <a:r>
              <a:rPr lang="en-US" sz="2800" err="1"/>
              <a:t>thức</a:t>
            </a:r>
            <a:r>
              <a:rPr lang="en-US" sz="2800"/>
              <a:t> Diffie-Hellman (informally)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err="1"/>
              <a:t>Chọn</a:t>
            </a:r>
            <a:r>
              <a:rPr lang="en-US"/>
              <a:t> </a:t>
            </a:r>
            <a:r>
              <a:rPr lang="en-US" err="1"/>
              <a:t>cố</a:t>
            </a:r>
            <a:r>
              <a:rPr lang="en-US"/>
              <a:t> </a:t>
            </a:r>
            <a:r>
              <a:rPr lang="en-US" err="1"/>
              <a:t>định</a:t>
            </a:r>
            <a:r>
              <a:rPr lang="en-US"/>
              <a:t> </a:t>
            </a:r>
            <a:r>
              <a:rPr lang="en-US" err="1"/>
              <a:t>một</a:t>
            </a:r>
            <a:r>
              <a:rPr lang="en-US"/>
              <a:t> </a:t>
            </a:r>
            <a:r>
              <a:rPr lang="en-US" err="1"/>
              <a:t>số</a:t>
            </a:r>
            <a:r>
              <a:rPr lang="en-US"/>
              <a:t> </a:t>
            </a:r>
            <a:r>
              <a:rPr lang="en-US" err="1"/>
              <a:t>nguyên</a:t>
            </a:r>
            <a:r>
              <a:rPr lang="en-US"/>
              <a:t> </a:t>
            </a:r>
            <a:r>
              <a:rPr lang="en-US" err="1"/>
              <a:t>tố</a:t>
            </a:r>
            <a:r>
              <a:rPr lang="en-US"/>
              <a:t> </a:t>
            </a:r>
            <a:r>
              <a:rPr lang="en-US" err="1"/>
              <a:t>lớn</a:t>
            </a:r>
            <a:r>
              <a:rPr lang="en-US"/>
              <a:t> p (e.g.   600 digits)</a:t>
            </a:r>
          </a:p>
          <a:p>
            <a:pPr marL="0" indent="0">
              <a:buNone/>
            </a:pPr>
            <a:r>
              <a:rPr lang="en-US" err="1"/>
              <a:t>Chọn</a:t>
            </a:r>
            <a:r>
              <a:rPr lang="en-US"/>
              <a:t> </a:t>
            </a:r>
            <a:r>
              <a:rPr lang="en-US" err="1"/>
              <a:t>cố</a:t>
            </a:r>
            <a:r>
              <a:rPr lang="en-US"/>
              <a:t> </a:t>
            </a:r>
            <a:r>
              <a:rPr lang="en-US" err="1"/>
              <a:t>định</a:t>
            </a:r>
            <a:r>
              <a:rPr lang="en-US"/>
              <a:t> </a:t>
            </a:r>
            <a:r>
              <a:rPr lang="en-US" err="1"/>
              <a:t>một</a:t>
            </a:r>
            <a:r>
              <a:rPr lang="en-US"/>
              <a:t> </a:t>
            </a:r>
            <a:r>
              <a:rPr lang="en-US" err="1"/>
              <a:t>số</a:t>
            </a:r>
            <a:r>
              <a:rPr lang="en-US"/>
              <a:t> </a:t>
            </a:r>
            <a:r>
              <a:rPr lang="en-US" err="1"/>
              <a:t>nguyên</a:t>
            </a:r>
            <a:r>
              <a:rPr lang="en-US"/>
              <a:t> g </a:t>
            </a:r>
            <a:r>
              <a:rPr lang="en-US" err="1"/>
              <a:t>trong</a:t>
            </a:r>
            <a:r>
              <a:rPr lang="en-US"/>
              <a:t> </a:t>
            </a:r>
            <a:r>
              <a:rPr lang="en-US" err="1"/>
              <a:t>khoảng</a:t>
            </a:r>
            <a:r>
              <a:rPr lang="en-US"/>
              <a:t> {1, …, p}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895601"/>
            <a:ext cx="8060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u="sng"/>
              <a:t>Alice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0" y="2895601"/>
            <a:ext cx="6878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u="sng"/>
              <a:t>Bob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817" y="3352801"/>
            <a:ext cx="37649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err="1"/>
              <a:t>Chọn</a:t>
            </a:r>
            <a:r>
              <a:rPr lang="en-US" sz="2000"/>
              <a:t> </a:t>
            </a:r>
            <a:r>
              <a:rPr lang="en-US" sz="2000" err="1"/>
              <a:t>ngẫu</a:t>
            </a:r>
            <a:r>
              <a:rPr lang="en-US" sz="2000"/>
              <a:t> </a:t>
            </a:r>
            <a:r>
              <a:rPr lang="en-US" sz="2000" err="1"/>
              <a:t>nhiên</a:t>
            </a:r>
            <a:r>
              <a:rPr lang="en-US" sz="2000"/>
              <a:t> </a:t>
            </a:r>
            <a:r>
              <a:rPr lang="en-US" sz="2400" b="1"/>
              <a:t>a</a:t>
            </a:r>
            <a:r>
              <a:rPr lang="en-US" sz="2000"/>
              <a:t> </a:t>
            </a:r>
            <a:r>
              <a:rPr lang="en-US" sz="2000" err="1"/>
              <a:t>trong</a:t>
            </a:r>
            <a:r>
              <a:rPr lang="en-US" sz="2000"/>
              <a:t> {1,…,p-1}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66236" y="3352801"/>
            <a:ext cx="37777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err="1"/>
              <a:t>Chọn</a:t>
            </a:r>
            <a:r>
              <a:rPr lang="en-US" sz="2000"/>
              <a:t> </a:t>
            </a:r>
            <a:r>
              <a:rPr lang="en-US" sz="2000" err="1"/>
              <a:t>ngẫu</a:t>
            </a:r>
            <a:r>
              <a:rPr lang="en-US" sz="2000"/>
              <a:t> </a:t>
            </a:r>
            <a:r>
              <a:rPr lang="en-US" sz="2000" err="1"/>
              <a:t>nhiên</a:t>
            </a:r>
            <a:r>
              <a:rPr lang="en-US" sz="2000"/>
              <a:t> </a:t>
            </a:r>
            <a:r>
              <a:rPr lang="en-US" sz="2400" b="1"/>
              <a:t>b</a:t>
            </a:r>
            <a:r>
              <a:rPr lang="en-US" sz="2000"/>
              <a:t> </a:t>
            </a:r>
            <a:r>
              <a:rPr lang="en-US" sz="2000" err="1"/>
              <a:t>trong</a:t>
            </a:r>
            <a:r>
              <a:rPr lang="en-US" sz="2000"/>
              <a:t> {1,…,p-1}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 flipH="1">
            <a:off x="838200" y="4800600"/>
            <a:ext cx="69342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838200" y="4267200"/>
            <a:ext cx="69342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267332" y="5181601"/>
            <a:ext cx="22190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err="1"/>
              <a:t>k</a:t>
            </a:r>
            <a:r>
              <a:rPr lang="en-US" sz="2400" b="1" baseline="-25000" err="1"/>
              <a:t>AB</a:t>
            </a:r>
            <a:r>
              <a:rPr lang="en-US" sz="2400" b="1"/>
              <a:t> = g</a:t>
            </a:r>
            <a:r>
              <a:rPr lang="en-US" sz="2800" b="1" baseline="30000"/>
              <a:t>ab</a:t>
            </a:r>
            <a:r>
              <a:rPr lang="en-US" sz="2400" b="1"/>
              <a:t>  </a:t>
            </a:r>
            <a:r>
              <a:rPr lang="en-US"/>
              <a:t>(mod p)</a:t>
            </a:r>
            <a:endParaRPr lang="en-US" baseline="-25000"/>
          </a:p>
        </p:txBody>
      </p:sp>
      <p:sp>
        <p:nvSpPr>
          <p:cNvPr id="12" name="TextBox 11"/>
          <p:cNvSpPr txBox="1"/>
          <p:nvPr/>
        </p:nvSpPr>
        <p:spPr>
          <a:xfrm>
            <a:off x="5715000" y="5117050"/>
            <a:ext cx="31777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=      </a:t>
            </a:r>
            <a:r>
              <a:rPr lang="en-US" sz="2800"/>
              <a:t>(</a:t>
            </a:r>
            <a:r>
              <a:rPr lang="en-US" sz="2400" err="1"/>
              <a:t>g</a:t>
            </a:r>
            <a:r>
              <a:rPr lang="en-US" sz="2800" baseline="30000" err="1"/>
              <a:t>a</a:t>
            </a:r>
            <a:r>
              <a:rPr lang="en-US" sz="2800"/>
              <a:t>)</a:t>
            </a:r>
            <a:r>
              <a:rPr lang="en-US" sz="2800" baseline="50000"/>
              <a:t>b</a:t>
            </a:r>
            <a:r>
              <a:rPr lang="en-US" sz="2800"/>
              <a:t>     </a:t>
            </a:r>
            <a:r>
              <a:rPr lang="en-US" sz="2400"/>
              <a:t>=</a:t>
            </a:r>
            <a:r>
              <a:rPr lang="en-US" sz="2800"/>
              <a:t>  </a:t>
            </a:r>
            <a:r>
              <a:rPr lang="en-US" sz="2400" b="1" err="1"/>
              <a:t>A</a:t>
            </a:r>
            <a:r>
              <a:rPr lang="en-US" sz="2800" b="1" baseline="30000" err="1"/>
              <a:t>b</a:t>
            </a:r>
            <a:r>
              <a:rPr lang="en-US" sz="2800" baseline="30000"/>
              <a:t> </a:t>
            </a:r>
            <a:r>
              <a:rPr lang="en-US" sz="2800"/>
              <a:t> </a:t>
            </a:r>
            <a:r>
              <a:rPr lang="en-US" sz="1600"/>
              <a:t>(mod p)</a:t>
            </a:r>
            <a:endParaRPr lang="en-US" sz="1600" baseline="30000"/>
          </a:p>
        </p:txBody>
      </p:sp>
      <p:sp>
        <p:nvSpPr>
          <p:cNvPr id="13" name="TextBox 12"/>
          <p:cNvSpPr txBox="1"/>
          <p:nvPr/>
        </p:nvSpPr>
        <p:spPr>
          <a:xfrm>
            <a:off x="228600" y="5128700"/>
            <a:ext cx="28621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  </a:t>
            </a:r>
            <a:r>
              <a:rPr lang="en-US" sz="2400" b="1"/>
              <a:t>B</a:t>
            </a:r>
            <a:r>
              <a:rPr lang="en-US" sz="2800" b="1" baseline="30000"/>
              <a:t>a</a:t>
            </a:r>
            <a:r>
              <a:rPr lang="en-US" sz="2800" baseline="30000"/>
              <a:t>  </a:t>
            </a:r>
            <a:r>
              <a:rPr lang="en-US" sz="1600"/>
              <a:t>(mod p)   </a:t>
            </a:r>
            <a:r>
              <a:rPr lang="en-US" sz="2400"/>
              <a:t>=    </a:t>
            </a:r>
            <a:r>
              <a:rPr lang="en-US" sz="2800"/>
              <a:t>(</a:t>
            </a:r>
            <a:r>
              <a:rPr lang="en-US" sz="2400" err="1"/>
              <a:t>g</a:t>
            </a:r>
            <a:r>
              <a:rPr lang="en-US" sz="2800" baseline="30000" err="1"/>
              <a:t>b</a:t>
            </a:r>
            <a:r>
              <a:rPr lang="en-US" sz="2800"/>
              <a:t>)</a:t>
            </a:r>
            <a:r>
              <a:rPr lang="en-US" sz="2800" baseline="50000"/>
              <a:t>a</a:t>
            </a:r>
            <a:r>
              <a:rPr lang="en-US" sz="2800"/>
              <a:t>  </a:t>
            </a:r>
            <a:r>
              <a:rPr lang="en-US" sz="2400"/>
              <a:t>=</a:t>
            </a:r>
            <a:endParaRPr lang="en-US" sz="2400" baseline="300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A508469-8163-C04D-B2DC-3FED8DE16123}"/>
              </a:ext>
            </a:extLst>
          </p:cNvPr>
          <p:cNvSpPr txBox="1"/>
          <p:nvPr/>
        </p:nvSpPr>
        <p:spPr>
          <a:xfrm>
            <a:off x="3090748" y="3897868"/>
            <a:ext cx="2786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/>
              <a:t>“Alice”, A ← g</a:t>
            </a:r>
            <a:r>
              <a:rPr lang="vi-VN" baseline="30000"/>
              <a:t>a</a:t>
            </a:r>
            <a:r>
              <a:rPr lang="vi-VN"/>
              <a:t> (mod p)</a:t>
            </a:r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B637FB7-2A77-734C-9F9F-D6D552C90547}"/>
              </a:ext>
            </a:extLst>
          </p:cNvPr>
          <p:cNvSpPr txBox="1"/>
          <p:nvPr/>
        </p:nvSpPr>
        <p:spPr>
          <a:xfrm>
            <a:off x="3090748" y="4431267"/>
            <a:ext cx="2786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/>
              <a:t>“Bob”, B ← g</a:t>
            </a:r>
            <a:r>
              <a:rPr lang="vi-VN" baseline="30000"/>
              <a:t>b</a:t>
            </a:r>
            <a:r>
              <a:rPr lang="vi-VN"/>
              <a:t> (mod p)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55277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Security   </a:t>
            </a:r>
            <a:r>
              <a:rPr lang="en-US" sz="2800"/>
              <a:t>(much more on this later)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/>
              <a:t>Eavesdropper </a:t>
            </a:r>
            <a:r>
              <a:rPr lang="en-US" err="1"/>
              <a:t>nhận</a:t>
            </a:r>
            <a:r>
              <a:rPr lang="en-US"/>
              <a:t> ra </a:t>
            </a:r>
            <a:r>
              <a:rPr lang="en-US" err="1"/>
              <a:t>cặp</a:t>
            </a:r>
            <a:r>
              <a:rPr lang="en-US"/>
              <a:t>:  p, g, A=</a:t>
            </a:r>
            <a:r>
              <a:rPr lang="en-US" err="1"/>
              <a:t>g</a:t>
            </a:r>
            <a:r>
              <a:rPr lang="en-US" baseline="30000" err="1"/>
              <a:t>a</a:t>
            </a:r>
            <a:r>
              <a:rPr lang="en-US"/>
              <a:t> (mod p), and B=</a:t>
            </a:r>
            <a:r>
              <a:rPr lang="en-US" err="1"/>
              <a:t>g</a:t>
            </a:r>
            <a:r>
              <a:rPr lang="en-US" baseline="30000" err="1"/>
              <a:t>b</a:t>
            </a:r>
            <a:r>
              <a:rPr lang="en-US"/>
              <a:t> (mod p) </a:t>
            </a:r>
          </a:p>
          <a:p>
            <a:pPr marL="0" indent="0">
              <a:buNone/>
            </a:pPr>
            <a:r>
              <a:rPr lang="en-US" err="1"/>
              <a:t>Có</a:t>
            </a:r>
            <a:r>
              <a:rPr lang="en-US"/>
              <a:t> </a:t>
            </a:r>
            <a:r>
              <a:rPr lang="en-US" err="1"/>
              <a:t>thể</a:t>
            </a:r>
            <a:r>
              <a:rPr lang="en-US"/>
              <a:t> </a:t>
            </a:r>
            <a:r>
              <a:rPr lang="en-US" err="1"/>
              <a:t>tính</a:t>
            </a:r>
            <a:r>
              <a:rPr lang="en-US"/>
              <a:t> g</a:t>
            </a:r>
            <a:r>
              <a:rPr lang="en-US" baseline="30000"/>
              <a:t>ab</a:t>
            </a:r>
            <a:r>
              <a:rPr lang="en-US"/>
              <a:t>  (mod p)   ??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More generally:       define     </a:t>
            </a:r>
            <a:r>
              <a:rPr lang="en-US" err="1"/>
              <a:t>DH</a:t>
            </a:r>
            <a:r>
              <a:rPr lang="en-US" baseline="-25000" err="1"/>
              <a:t>g</a:t>
            </a:r>
            <a:r>
              <a:rPr lang="en-US"/>
              <a:t>(</a:t>
            </a:r>
            <a:r>
              <a:rPr lang="en-US" err="1"/>
              <a:t>g</a:t>
            </a:r>
            <a:r>
              <a:rPr lang="en-US" baseline="30000" err="1"/>
              <a:t>a</a:t>
            </a:r>
            <a:r>
              <a:rPr lang="en-US"/>
              <a:t>, </a:t>
            </a:r>
            <a:r>
              <a:rPr lang="en-US" err="1"/>
              <a:t>g</a:t>
            </a:r>
            <a:r>
              <a:rPr lang="en-US" baseline="30000" err="1"/>
              <a:t>b</a:t>
            </a:r>
            <a:r>
              <a:rPr lang="en-US"/>
              <a:t>) = g</a:t>
            </a:r>
            <a:r>
              <a:rPr lang="en-US" baseline="30000"/>
              <a:t>ab   </a:t>
            </a:r>
            <a:r>
              <a:rPr lang="en-US"/>
              <a:t>    (mod p)</a:t>
            </a:r>
          </a:p>
          <a:p>
            <a:pPr marL="0" indent="0">
              <a:buNone/>
            </a:pPr>
            <a:endParaRPr lang="en-US" baseline="30000"/>
          </a:p>
          <a:p>
            <a:pPr marL="0" indent="0">
              <a:buNone/>
            </a:pPr>
            <a:r>
              <a:rPr lang="en-US"/>
              <a:t>How hard is the DH function mod p? - &gt; </a:t>
            </a:r>
            <a:r>
              <a:rPr lang="en-US" err="1"/>
              <a:t>độ</a:t>
            </a:r>
            <a:r>
              <a:rPr lang="en-US"/>
              <a:t> </a:t>
            </a:r>
            <a:r>
              <a:rPr lang="en-US" err="1"/>
              <a:t>khó</a:t>
            </a:r>
            <a:r>
              <a:rPr lang="en-US"/>
              <a:t> </a:t>
            </a:r>
            <a:r>
              <a:rPr lang="en-US" err="1"/>
              <a:t>của</a:t>
            </a:r>
            <a:r>
              <a:rPr lang="en-US"/>
              <a:t> </a:t>
            </a:r>
            <a:r>
              <a:rPr lang="en-US" err="1"/>
              <a:t>hàm</a:t>
            </a:r>
            <a:r>
              <a:rPr lang="en-US"/>
              <a:t> DH mod p </a:t>
            </a:r>
            <a:r>
              <a:rPr lang="en-US" err="1"/>
              <a:t>được</a:t>
            </a:r>
            <a:r>
              <a:rPr lang="en-US"/>
              <a:t> </a:t>
            </a:r>
            <a:r>
              <a:rPr lang="en-US" err="1"/>
              <a:t>đánh</a:t>
            </a:r>
            <a:r>
              <a:rPr lang="en-US"/>
              <a:t> </a:t>
            </a:r>
            <a:r>
              <a:rPr lang="en-US" err="1"/>
              <a:t>giá</a:t>
            </a:r>
            <a:r>
              <a:rPr lang="en-US"/>
              <a:t> </a:t>
            </a:r>
            <a:r>
              <a:rPr lang="en-US" err="1"/>
              <a:t>như</a:t>
            </a:r>
            <a:r>
              <a:rPr lang="en-US"/>
              <a:t> </a:t>
            </a:r>
            <a:r>
              <a:rPr lang="en-US" err="1"/>
              <a:t>thế</a:t>
            </a:r>
            <a:r>
              <a:rPr lang="en-US"/>
              <a:t> </a:t>
            </a:r>
            <a:r>
              <a:rPr lang="en-US" err="1"/>
              <a:t>nào</a:t>
            </a:r>
            <a:r>
              <a:rPr lang="en-US"/>
              <a:t> ?</a:t>
            </a:r>
          </a:p>
        </p:txBody>
      </p:sp>
    </p:spTree>
    <p:extLst>
      <p:ext uri="{BB962C8B-B14F-4D97-AF65-F5344CB8AC3E}">
        <p14:creationId xmlns:p14="http://schemas.microsoft.com/office/powerpoint/2010/main" val="32242135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How hard is the DH function mod p?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err="1"/>
              <a:t>Giả</a:t>
            </a:r>
            <a:r>
              <a:rPr lang="en-US"/>
              <a:t> </a:t>
            </a:r>
            <a:r>
              <a:rPr lang="en-US" err="1"/>
              <a:t>sử</a:t>
            </a:r>
            <a:r>
              <a:rPr lang="en-US"/>
              <a:t> </a:t>
            </a:r>
            <a:r>
              <a:rPr lang="en-US" err="1"/>
              <a:t>số</a:t>
            </a:r>
            <a:r>
              <a:rPr lang="en-US"/>
              <a:t> </a:t>
            </a:r>
            <a:r>
              <a:rPr lang="en-US" err="1"/>
              <a:t>nguyên</a:t>
            </a:r>
            <a:r>
              <a:rPr lang="en-US"/>
              <a:t> </a:t>
            </a:r>
            <a:r>
              <a:rPr lang="en-US" err="1"/>
              <a:t>tố</a:t>
            </a:r>
            <a:r>
              <a:rPr lang="en-US"/>
              <a:t> p </a:t>
            </a:r>
            <a:r>
              <a:rPr lang="en-US" err="1"/>
              <a:t>có</a:t>
            </a:r>
            <a:r>
              <a:rPr lang="en-US"/>
              <a:t> </a:t>
            </a:r>
            <a:r>
              <a:rPr lang="en-US" err="1"/>
              <a:t>chiều</a:t>
            </a:r>
            <a:r>
              <a:rPr lang="en-US"/>
              <a:t> </a:t>
            </a:r>
            <a:r>
              <a:rPr lang="en-US" err="1"/>
              <a:t>dài</a:t>
            </a:r>
            <a:r>
              <a:rPr lang="en-US"/>
              <a:t> n bits. </a:t>
            </a:r>
          </a:p>
          <a:p>
            <a:pPr marL="0" indent="0">
              <a:buNone/>
            </a:pPr>
            <a:r>
              <a:rPr lang="en-US" err="1"/>
              <a:t>Thuật</a:t>
            </a:r>
            <a:r>
              <a:rPr lang="en-US"/>
              <a:t> </a:t>
            </a:r>
            <a:r>
              <a:rPr lang="en-US" err="1"/>
              <a:t>toán</a:t>
            </a:r>
            <a:r>
              <a:rPr lang="en-US"/>
              <a:t> </a:t>
            </a:r>
            <a:r>
              <a:rPr lang="en-US" err="1"/>
              <a:t>tìm</a:t>
            </a:r>
            <a:r>
              <a:rPr lang="en-US"/>
              <a:t> </a:t>
            </a:r>
            <a:r>
              <a:rPr lang="en-US" err="1"/>
              <a:t>kiếm</a:t>
            </a:r>
            <a:r>
              <a:rPr lang="en-US"/>
              <a:t> </a:t>
            </a:r>
            <a:r>
              <a:rPr lang="en-US" err="1"/>
              <a:t>tốt</a:t>
            </a:r>
            <a:r>
              <a:rPr lang="en-US"/>
              <a:t> </a:t>
            </a:r>
            <a:r>
              <a:rPr lang="en-US" err="1"/>
              <a:t>nhất</a:t>
            </a:r>
            <a:r>
              <a:rPr lang="en-US"/>
              <a:t> (GNFS): </a:t>
            </a:r>
            <a:r>
              <a:rPr lang="en-US" err="1"/>
              <a:t>thời</a:t>
            </a:r>
            <a:r>
              <a:rPr lang="en-US"/>
              <a:t> </a:t>
            </a:r>
            <a:r>
              <a:rPr lang="en-US" err="1"/>
              <a:t>gian</a:t>
            </a:r>
            <a:r>
              <a:rPr lang="en-US"/>
              <a:t> </a:t>
            </a:r>
            <a:r>
              <a:rPr lang="en-US" err="1"/>
              <a:t>thực</a:t>
            </a:r>
            <a:r>
              <a:rPr lang="en-US"/>
              <a:t> </a:t>
            </a:r>
            <a:r>
              <a:rPr lang="en-US" err="1"/>
              <a:t>thi</a:t>
            </a:r>
            <a:r>
              <a:rPr lang="en-US"/>
              <a:t>  exp(              )</a:t>
            </a:r>
          </a:p>
          <a:p>
            <a:pPr>
              <a:spcBef>
                <a:spcPts val="6024"/>
              </a:spcBef>
              <a:buNone/>
            </a:pPr>
            <a:r>
              <a:rPr lang="en-US">
                <a:solidFill>
                  <a:schemeClr val="bg2"/>
                </a:solidFill>
              </a:rPr>
              <a:t>	</a:t>
            </a:r>
            <a:r>
              <a:rPr lang="en-US" u="sng"/>
              <a:t>cipher key size</a:t>
            </a:r>
            <a:r>
              <a:rPr lang="en-US"/>
              <a:t>		</a:t>
            </a:r>
            <a:r>
              <a:rPr lang="en-US" u="sng"/>
              <a:t>modulus size</a:t>
            </a:r>
            <a:r>
              <a:rPr lang="en-US"/>
              <a:t>		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/>
              <a:t>	   80 bits			  1024 bits		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/>
              <a:t>	  128 bits			  3072 bits		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/>
              <a:t>	  256 bits (AES)		</a:t>
            </a:r>
            <a:r>
              <a:rPr lang="en-US" b="1" u="sng"/>
              <a:t>15360</a:t>
            </a:r>
            <a:r>
              <a:rPr lang="en-US"/>
              <a:t> bits 		</a:t>
            </a:r>
          </a:p>
          <a:p>
            <a:pPr marL="0" indent="0">
              <a:spcBef>
                <a:spcPts val="3024"/>
              </a:spcBef>
              <a:buNone/>
            </a:pPr>
            <a:r>
              <a:rPr lang="en-US"/>
              <a:t>As a result:    slow transition away from (mod p) to elliptic curves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7201" y="1817418"/>
            <a:ext cx="762000" cy="319768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6450586" y="2962026"/>
            <a:ext cx="1805001" cy="695575"/>
            <a:chOff x="6348399" y="1733550"/>
            <a:chExt cx="1805001" cy="695575"/>
          </a:xfrm>
        </p:grpSpPr>
        <p:sp>
          <p:nvSpPr>
            <p:cNvPr id="7" name="TextBox 6"/>
            <p:cNvSpPr txBox="1"/>
            <p:nvPr/>
          </p:nvSpPr>
          <p:spPr>
            <a:xfrm>
              <a:off x="6348399" y="1733550"/>
              <a:ext cx="1805001" cy="6955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sz="2400"/>
                <a:t>Elliptic Curve</a:t>
              </a:r>
              <a:br>
                <a:rPr lang="en-US" sz="2400"/>
              </a:br>
              <a:r>
                <a:rPr lang="en-US" sz="2400"/>
                <a:t>size</a:t>
              </a:r>
            </a:p>
          </p:txBody>
        </p:sp>
        <p:cxnSp>
          <p:nvCxnSpPr>
            <p:cNvPr id="9" name="Straight Connector 8"/>
            <p:cNvCxnSpPr/>
            <p:nvPr/>
          </p:nvCxnSpPr>
          <p:spPr>
            <a:xfrm>
              <a:off x="6400800" y="2372344"/>
              <a:ext cx="17526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extBox 10"/>
          <p:cNvSpPr txBox="1"/>
          <p:nvPr/>
        </p:nvSpPr>
        <p:spPr>
          <a:xfrm>
            <a:off x="6746774" y="3581401"/>
            <a:ext cx="1178027" cy="13049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sz="2400"/>
              <a:t>160 bits</a:t>
            </a:r>
          </a:p>
          <a:p>
            <a:pPr>
              <a:lnSpc>
                <a:spcPct val="110000"/>
              </a:lnSpc>
            </a:pPr>
            <a:r>
              <a:rPr lang="en-US" sz="2400"/>
              <a:t>256 bits</a:t>
            </a:r>
          </a:p>
          <a:p>
            <a:pPr>
              <a:lnSpc>
                <a:spcPct val="110000"/>
              </a:lnSpc>
            </a:pPr>
            <a:r>
              <a:rPr lang="en-US" sz="2400"/>
              <a:t>512 bits</a:t>
            </a:r>
          </a:p>
        </p:txBody>
      </p:sp>
    </p:spTree>
    <p:extLst>
      <p:ext uri="{BB962C8B-B14F-4D97-AF65-F5344CB8AC3E}">
        <p14:creationId xmlns:p14="http://schemas.microsoft.com/office/powerpoint/2010/main" val="1495669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327F6-83C3-52C7-2BFF-26968107B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SSL – Chứng chỉ chứng thực số </a:t>
            </a:r>
            <a:endParaRPr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quarter" idx="13"/>
          </p:nvPr>
        </p:nvPicPr>
        <p:blipFill rotWithShape="1">
          <a:blip r:embed="rId2"/>
          <a:stretch/>
        </p:blipFill>
        <p:spPr>
          <a:xfrm>
            <a:off x="3302000" y="2636044"/>
            <a:ext cx="2540000" cy="1714500"/>
          </a:xfrm>
        </p:spPr>
      </p:pic>
      <p:sp>
        <p:nvSpPr>
          <p:cNvPr id="5" name="Rounded Rectangle 4"/>
          <p:cNvSpPr/>
          <p:nvPr/>
        </p:nvSpPr>
        <p:spPr>
          <a:xfrm>
            <a:off x="4267200" y="3733800"/>
            <a:ext cx="1600200" cy="609600"/>
          </a:xfrm>
          <a:prstGeom prst="roundRect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eeform 5"/>
          <p:cNvSpPr/>
          <p:nvPr/>
        </p:nvSpPr>
        <p:spPr>
          <a:xfrm>
            <a:off x="4965931" y="4466975"/>
            <a:ext cx="756650" cy="770455"/>
          </a:xfrm>
          <a:custGeom>
            <a:avLst/>
            <a:gdLst>
              <a:gd name="connsiteX0" fmla="*/ 756650 w 756650"/>
              <a:gd name="connsiteY0" fmla="*/ 770455 h 770455"/>
              <a:gd name="connsiteX1" fmla="*/ 114465 w 756650"/>
              <a:gd name="connsiteY1" fmla="*/ 570707 h 770455"/>
              <a:gd name="connsiteX2" fmla="*/ 299 w 756650"/>
              <a:gd name="connsiteY2" fmla="*/ 0 h 7704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6650" h="770455">
                <a:moveTo>
                  <a:pt x="756650" y="770455"/>
                </a:moveTo>
                <a:cubicBezTo>
                  <a:pt x="498586" y="734785"/>
                  <a:pt x="240523" y="699116"/>
                  <a:pt x="114465" y="570707"/>
                </a:cubicBezTo>
                <a:cubicBezTo>
                  <a:pt x="-11593" y="442298"/>
                  <a:pt x="299" y="0"/>
                  <a:pt x="299" y="0"/>
                </a:cubicBezTo>
              </a:path>
            </a:pathLst>
          </a:custGeom>
          <a:ln w="57150" cmpd="sng"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5715000" y="4876801"/>
            <a:ext cx="198173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/>
              <a:t>Elliptic curve</a:t>
            </a:r>
            <a:br>
              <a:rPr lang="en-US" sz="2400"/>
            </a:br>
            <a:r>
              <a:rPr lang="en-US" sz="2400" err="1"/>
              <a:t>Diffie</a:t>
            </a:r>
            <a:r>
              <a:rPr lang="en-US" sz="2400"/>
              <a:t>-Hellman</a:t>
            </a:r>
          </a:p>
        </p:txBody>
      </p:sp>
    </p:spTree>
    <p:extLst>
      <p:ext uri="{BB962C8B-B14F-4D97-AF65-F5344CB8AC3E}">
        <p14:creationId xmlns:p14="http://schemas.microsoft.com/office/powerpoint/2010/main" val="26727601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800" err="1"/>
              <a:t>Mật</a:t>
            </a:r>
            <a:r>
              <a:rPr lang="en-US" sz="3800"/>
              <a:t> </a:t>
            </a:r>
            <a:r>
              <a:rPr lang="en-US" sz="3800" err="1"/>
              <a:t>mã</a:t>
            </a:r>
            <a:r>
              <a:rPr lang="en-US" sz="3800"/>
              <a:t> </a:t>
            </a:r>
            <a:r>
              <a:rPr lang="en-US" sz="3800" err="1"/>
              <a:t>khoá</a:t>
            </a:r>
            <a:r>
              <a:rPr lang="en-US" sz="3800"/>
              <a:t> </a:t>
            </a:r>
            <a:r>
              <a:rPr lang="en-US" sz="3800" err="1"/>
              <a:t>công</a:t>
            </a:r>
            <a:r>
              <a:rPr lang="en-US" sz="3800"/>
              <a:t> </a:t>
            </a:r>
            <a:r>
              <a:rPr lang="en-US" sz="3800" err="1"/>
              <a:t>khai</a:t>
            </a:r>
            <a:r>
              <a:rPr lang="en-US" sz="3800"/>
              <a:t> (Public key encryption)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3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u="sng"/>
                  <a:t>Def</a:t>
                </a:r>
                <a:r>
                  <a:rPr lang="en-US"/>
                  <a:t>:   </a:t>
                </a:r>
                <a:r>
                  <a:rPr lang="en-US" err="1"/>
                  <a:t>Hệ</a:t>
                </a:r>
                <a:r>
                  <a:rPr lang="en-US"/>
                  <a:t> </a:t>
                </a:r>
                <a:r>
                  <a:rPr lang="en-US" err="1"/>
                  <a:t>mật</a:t>
                </a:r>
                <a:r>
                  <a:rPr lang="en-US"/>
                  <a:t> </a:t>
                </a:r>
                <a:r>
                  <a:rPr lang="en-US" err="1"/>
                  <a:t>mã</a:t>
                </a:r>
                <a:r>
                  <a:rPr lang="en-US"/>
                  <a:t> </a:t>
                </a:r>
                <a:r>
                  <a:rPr lang="en-US" err="1"/>
                  <a:t>khoá</a:t>
                </a:r>
                <a:r>
                  <a:rPr lang="en-US"/>
                  <a:t> </a:t>
                </a:r>
                <a:r>
                  <a:rPr lang="en-US" err="1"/>
                  <a:t>công</a:t>
                </a:r>
                <a:r>
                  <a:rPr lang="en-US"/>
                  <a:t> </a:t>
                </a:r>
                <a:r>
                  <a:rPr lang="en-US" err="1"/>
                  <a:t>khai</a:t>
                </a:r>
                <a:r>
                  <a:rPr lang="en-US"/>
                  <a:t> </a:t>
                </a:r>
                <a:r>
                  <a:rPr lang="en-US" err="1"/>
                  <a:t>là</a:t>
                </a:r>
                <a:r>
                  <a:rPr lang="en-US"/>
                  <a:t> </a:t>
                </a:r>
                <a:r>
                  <a:rPr lang="en-US" err="1"/>
                  <a:t>một</a:t>
                </a:r>
                <a:r>
                  <a:rPr lang="en-US"/>
                  <a:t> </a:t>
                </a:r>
                <a:r>
                  <a:rPr lang="en-US" err="1"/>
                  <a:t>bộ</a:t>
                </a:r>
                <a:r>
                  <a:rPr lang="en-US"/>
                  <a:t> 3 </a:t>
                </a:r>
                <a:r>
                  <a:rPr lang="en-US" err="1"/>
                  <a:t>thuật</a:t>
                </a:r>
                <a:r>
                  <a:rPr lang="en-US"/>
                  <a:t> </a:t>
                </a:r>
                <a:r>
                  <a:rPr lang="en-US" err="1"/>
                  <a:t>toán</a:t>
                </a:r>
                <a:r>
                  <a:rPr lang="en-US"/>
                  <a:t> (G, E, D)</a:t>
                </a:r>
              </a:p>
              <a:p>
                <a:pPr>
                  <a:spcBef>
                    <a:spcPts val="1800"/>
                  </a:spcBef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():  </m:t>
                    </m:r>
                  </m:oMath>
                </a14:m>
                <a:r>
                  <a:rPr lang="en-US" err="1"/>
                  <a:t>là</a:t>
                </a:r>
                <a:r>
                  <a:rPr lang="en-US"/>
                  <a:t> </a:t>
                </a:r>
                <a:r>
                  <a:rPr lang="en-US" err="1"/>
                  <a:t>một</a:t>
                </a:r>
                <a:r>
                  <a:rPr lang="en-US"/>
                  <a:t> </a:t>
                </a:r>
                <a:r>
                  <a:rPr lang="en-US" err="1"/>
                  <a:t>thuật</a:t>
                </a:r>
                <a:r>
                  <a:rPr lang="en-US"/>
                  <a:t> </a:t>
                </a:r>
                <a:r>
                  <a:rPr lang="en-US" err="1"/>
                  <a:t>toán</a:t>
                </a:r>
                <a:r>
                  <a:rPr lang="en-US"/>
                  <a:t> </a:t>
                </a:r>
                <a:r>
                  <a:rPr lang="en-US" err="1"/>
                  <a:t>ngẫu</a:t>
                </a:r>
                <a:r>
                  <a:rPr lang="en-US"/>
                  <a:t> </a:t>
                </a:r>
                <a:r>
                  <a:rPr lang="en-US" err="1"/>
                  <a:t>nhiên</a:t>
                </a:r>
                <a:r>
                  <a:rPr lang="en-US"/>
                  <a:t> </a:t>
                </a:r>
                <a:r>
                  <a:rPr lang="en-US" err="1"/>
                  <a:t>tạo</a:t>
                </a:r>
                <a:r>
                  <a:rPr lang="en-US"/>
                  <a:t> ra </a:t>
                </a:r>
                <a:r>
                  <a:rPr lang="en-US" err="1"/>
                  <a:t>cặp</a:t>
                </a:r>
                <a:r>
                  <a:rPr lang="en-US"/>
                  <a:t> </a:t>
                </a:r>
                <a:r>
                  <a:rPr lang="en-US" err="1"/>
                  <a:t>khoá</a:t>
                </a:r>
                <a:r>
                  <a:rPr lang="en-US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𝑝𝑘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𝑠𝑘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/>
              </a:p>
              <a:p>
                <a:pPr>
                  <a:spcBef>
                    <a:spcPts val="1800"/>
                  </a:spcBef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𝑝𝑘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):  </m:t>
                    </m:r>
                  </m:oMath>
                </a14:m>
                <a:r>
                  <a:rPr lang="en-US" err="1"/>
                  <a:t>thuật</a:t>
                </a:r>
                <a:r>
                  <a:rPr lang="en-US"/>
                  <a:t> </a:t>
                </a:r>
                <a:r>
                  <a:rPr lang="en-US" err="1"/>
                  <a:t>toán</a:t>
                </a:r>
                <a:r>
                  <a:rPr lang="en-US"/>
                  <a:t> </a:t>
                </a:r>
                <a:r>
                  <a:rPr lang="en-US" err="1"/>
                  <a:t>ngẫu</a:t>
                </a:r>
                <a:r>
                  <a:rPr lang="en-US"/>
                  <a:t> </a:t>
                </a:r>
                <a:r>
                  <a:rPr lang="en-US" err="1"/>
                  <a:t>nhiên</a:t>
                </a:r>
                <a:r>
                  <a:rPr lang="en-US"/>
                  <a:t> (randomized alg.) </a:t>
                </a:r>
                <a:r>
                  <a:rPr lang="en-US" err="1"/>
                  <a:t>có</a:t>
                </a:r>
                <a:r>
                  <a:rPr lang="en-US"/>
                  <a:t> </a:t>
                </a:r>
                <a:r>
                  <a:rPr lang="en-US" err="1"/>
                  <a:t>được</a:t>
                </a:r>
                <a:r>
                  <a:rPr lang="en-US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err="1"/>
                  <a:t>và</a:t>
                </a:r>
                <a:r>
                  <a:rPr lang="en-US"/>
                  <a:t> </a:t>
                </a:r>
                <a:r>
                  <a:rPr lang="en-US" err="1"/>
                  <a:t>đầu</a:t>
                </a:r>
                <a:r>
                  <a:rPr lang="en-US"/>
                  <a:t> ra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∈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lang="en-US"/>
              </a:p>
              <a:p>
                <a:pPr>
                  <a:spcBef>
                    <a:spcPts val="1800"/>
                  </a:spcBef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𝑠𝑘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): </m:t>
                    </m:r>
                  </m:oMath>
                </a14:m>
                <a:r>
                  <a:rPr lang="en-US" err="1"/>
                  <a:t>là</a:t>
                </a:r>
                <a:r>
                  <a:rPr lang="en-US"/>
                  <a:t> </a:t>
                </a:r>
                <a:r>
                  <a:rPr lang="en-US" err="1"/>
                  <a:t>thuật</a:t>
                </a:r>
                <a:r>
                  <a:rPr lang="en-US"/>
                  <a:t> </a:t>
                </a:r>
                <a:r>
                  <a:rPr lang="en-US" err="1"/>
                  <a:t>toán</a:t>
                </a:r>
                <a:r>
                  <a:rPr lang="en-US"/>
                  <a:t> </a:t>
                </a:r>
                <a:r>
                  <a:rPr lang="en-US" err="1"/>
                  <a:t>xác</a:t>
                </a:r>
                <a:r>
                  <a:rPr lang="en-US"/>
                  <a:t> </a:t>
                </a:r>
                <a:r>
                  <a:rPr lang="en-US" err="1"/>
                  <a:t>định</a:t>
                </a:r>
                <a:r>
                  <a:rPr lang="en-US"/>
                  <a:t> (det.  alg.) </a:t>
                </a:r>
                <a:r>
                  <a:rPr lang="en-US" err="1"/>
                  <a:t>tạo</a:t>
                </a:r>
                <a:r>
                  <a:rPr lang="en-US"/>
                  <a:t> ra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/>
                  <a:t> </a:t>
                </a:r>
                <a:r>
                  <a:rPr lang="en-US" err="1"/>
                  <a:t>và</a:t>
                </a:r>
                <a:r>
                  <a:rPr lang="en-US"/>
                  <a:t> </a:t>
                </a:r>
                <a:r>
                  <a:rPr lang="en-US" err="1"/>
                  <a:t>đầu</a:t>
                </a:r>
                <a:r>
                  <a:rPr lang="en-US"/>
                  <a:t> ra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/>
                  <a:t>or ⊥ (up tack/</a:t>
                </a:r>
                <a:r>
                  <a:rPr lang="en-US" err="1"/>
                  <a:t>falsum</a:t>
                </a:r>
                <a:r>
                  <a:rPr lang="en-US"/>
                  <a:t>)</a:t>
                </a:r>
              </a:p>
              <a:p>
                <a:pPr marL="0" indent="0">
                  <a:spcBef>
                    <a:spcPts val="1800"/>
                  </a:spcBef>
                  <a:buNone/>
                </a:pPr>
                <a:r>
                  <a:rPr lang="en-US" err="1"/>
                  <a:t>Tính</a:t>
                </a:r>
                <a:r>
                  <a:rPr lang="en-US"/>
                  <a:t> </a:t>
                </a:r>
                <a:r>
                  <a:rPr lang="en-US" err="1"/>
                  <a:t>đồng</a:t>
                </a:r>
                <a:r>
                  <a:rPr lang="en-US"/>
                  <a:t> </a:t>
                </a:r>
                <a:r>
                  <a:rPr lang="en-US" err="1"/>
                  <a:t>nhất</a:t>
                </a:r>
                <a:r>
                  <a:rPr lang="en-US"/>
                  <a:t>: ∀(pk,  </a:t>
                </a:r>
                <a:r>
                  <a:rPr lang="en-US" err="1"/>
                  <a:t>sk</a:t>
                </a:r>
                <a:r>
                  <a:rPr lang="en-US"/>
                  <a:t>) output by G, ∀</a:t>
                </a:r>
                <a:r>
                  <a:rPr lang="en-US" err="1"/>
                  <a:t>m∈M</a:t>
                </a:r>
                <a:r>
                  <a:rPr lang="en-US"/>
                  <a:t>: D(</a:t>
                </a:r>
                <a:r>
                  <a:rPr lang="en-US" err="1"/>
                  <a:t>sk</a:t>
                </a:r>
                <a:r>
                  <a:rPr lang="en-US"/>
                  <a:t>,  E(pk, m) ) = m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blipFill>
                <a:blip r:embed="rId2"/>
                <a:stretch>
                  <a:fillRect l="-1477" t="-1954" r="-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572953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0343F-56E2-784E-B39E-83208434D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Public-Key Cryptography 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F75DC4-8F97-2ECB-0843-EB40AD2ECAB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F3A4E5-FAF6-994A-81C5-39B0FFF3A6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358" y="841249"/>
            <a:ext cx="7417541" cy="432407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123B50B-A1FF-394B-874B-7D44837AF3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8276" y="5120203"/>
            <a:ext cx="2571623" cy="1514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7257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7E874-6D0B-D546-8D2A-B4BCE464C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Public-Key Cryptosystem</a:t>
            </a:r>
            <a:endParaRPr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07D3AEC-0174-F84D-B45D-68C8E017ED3B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254000" y="985044"/>
            <a:ext cx="8636000" cy="50165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68D6A2E-BB8A-604B-A46F-962EEC5B46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4065" y="3493294"/>
            <a:ext cx="4274679" cy="241422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361DB13-5FDE-394B-9A4F-B4D2C78199D9}"/>
              </a:ext>
            </a:extLst>
          </p:cNvPr>
          <p:cNvSpPr txBox="1"/>
          <p:nvPr/>
        </p:nvSpPr>
        <p:spPr>
          <a:xfrm>
            <a:off x="5410200" y="6001544"/>
            <a:ext cx="2743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latin typeface="TimesTen"/>
              </a:rPr>
              <a:t>Authentication (</a:t>
            </a:r>
            <a:r>
              <a:rPr lang="en-US" err="1">
                <a:latin typeface="TimesTen"/>
              </a:rPr>
              <a:t>xác</a:t>
            </a:r>
            <a:r>
              <a:rPr lang="en-US">
                <a:latin typeface="TimesTen"/>
              </a:rPr>
              <a:t> </a:t>
            </a:r>
            <a:r>
              <a:rPr lang="en-US" err="1">
                <a:latin typeface="TimesTen"/>
              </a:rPr>
              <a:t>thực</a:t>
            </a:r>
            <a:r>
              <a:rPr lang="en-US">
                <a:latin typeface="TimesTen"/>
              </a:rPr>
              <a:t>)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848E948-ECF8-A043-BE32-A548D359C8B2}"/>
              </a:ext>
            </a:extLst>
          </p:cNvPr>
          <p:cNvSpPr txBox="1"/>
          <p:nvPr/>
        </p:nvSpPr>
        <p:spPr>
          <a:xfrm>
            <a:off x="1066800" y="5336721"/>
            <a:ext cx="1981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latin typeface="TimesTen"/>
              </a:rPr>
              <a:t>Secrecy (</a:t>
            </a:r>
            <a:r>
              <a:rPr lang="en-US" err="1">
                <a:latin typeface="TimesTen"/>
              </a:rPr>
              <a:t>bí</a:t>
            </a:r>
            <a:r>
              <a:rPr lang="en-US">
                <a:latin typeface="TimesTen"/>
              </a:rPr>
              <a:t> </a:t>
            </a:r>
            <a:r>
              <a:rPr lang="en-US" err="1">
                <a:latin typeface="TimesTen"/>
              </a:rPr>
              <a:t>mật</a:t>
            </a:r>
            <a:r>
              <a:rPr lang="en-US">
                <a:latin typeface="TimesTen"/>
              </a:rPr>
              <a:t> )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57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err="1"/>
              <a:t>Bảo</a:t>
            </a:r>
            <a:r>
              <a:rPr lang="en-US"/>
              <a:t> </a:t>
            </a:r>
            <a:r>
              <a:rPr lang="en-US" err="1"/>
              <a:t>mật</a:t>
            </a:r>
            <a:r>
              <a:rPr lang="en-US"/>
              <a:t> </a:t>
            </a:r>
            <a:r>
              <a:rPr lang="en-US" err="1"/>
              <a:t>ngữ</a:t>
            </a:r>
            <a:r>
              <a:rPr lang="en-US"/>
              <a:t> </a:t>
            </a:r>
            <a:r>
              <a:rPr lang="en-US" err="1"/>
              <a:t>nghĩa</a:t>
            </a:r>
            <a:r>
              <a:rPr lang="en-US"/>
              <a:t> (Semantic Security)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AF7848-B100-17E6-0668-6DC2F2CB714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228600" y="1752600"/>
            <a:ext cx="8686800" cy="4191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buNone/>
            </a:pPr>
            <a:r>
              <a:rPr lang="en-US"/>
              <a:t>For   b=0,1   define experiments EXP(0) and EXP(1) as:</a:t>
            </a:r>
          </a:p>
          <a:p>
            <a:pPr>
              <a:lnSpc>
                <a:spcPct val="90000"/>
              </a:lnSpc>
            </a:pPr>
            <a:endParaRPr lang="en-US"/>
          </a:p>
          <a:p>
            <a:pPr>
              <a:lnSpc>
                <a:spcPct val="90000"/>
              </a:lnSpc>
            </a:pPr>
            <a:endParaRPr lang="en-US"/>
          </a:p>
          <a:p>
            <a:pPr>
              <a:lnSpc>
                <a:spcPct val="90000"/>
              </a:lnSpc>
            </a:pPr>
            <a:endParaRPr lang="en-US"/>
          </a:p>
          <a:p>
            <a:pPr marL="0" indent="0">
              <a:lnSpc>
                <a:spcPct val="90000"/>
              </a:lnSpc>
              <a:spcBef>
                <a:spcPct val="100000"/>
              </a:spcBef>
              <a:buNone/>
            </a:pPr>
            <a:endParaRPr lang="en-US"/>
          </a:p>
          <a:p>
            <a:pPr marL="0" indent="0">
              <a:lnSpc>
                <a:spcPct val="120000"/>
              </a:lnSpc>
              <a:spcBef>
                <a:spcPts val="5032"/>
              </a:spcBef>
              <a:buNone/>
            </a:pPr>
            <a:r>
              <a:rPr lang="en-US" err="1"/>
              <a:t>Def</a:t>
            </a:r>
            <a:r>
              <a:rPr lang="en-US"/>
              <a:t>:  </a:t>
            </a:r>
            <a:r>
              <a:rPr lang="en-US">
                <a:latin typeface="Castellar" pitchFamily="18" charset="0"/>
              </a:rPr>
              <a:t>E =</a:t>
            </a:r>
            <a:r>
              <a:rPr lang="en-US"/>
              <a:t>(G,E,D) is sem. secure (</a:t>
            </a:r>
            <a:r>
              <a:rPr lang="en-US" err="1"/>
              <a:t>a.k.a</a:t>
            </a:r>
            <a:r>
              <a:rPr lang="en-US"/>
              <a:t> IND-CPA) if for all efficient  A:</a:t>
            </a:r>
            <a:br>
              <a:rPr lang="en-US"/>
            </a:br>
            <a:r>
              <a:rPr lang="en-US"/>
              <a:t>	</a:t>
            </a:r>
            <a:r>
              <a:rPr lang="en-US" err="1">
                <a:solidFill>
                  <a:schemeClr val="accent2"/>
                </a:solidFill>
              </a:rPr>
              <a:t>Adv</a:t>
            </a:r>
            <a:r>
              <a:rPr lang="en-US" baseline="-25000" err="1">
                <a:solidFill>
                  <a:schemeClr val="accent2"/>
                </a:solidFill>
              </a:rPr>
              <a:t>SS</a:t>
            </a:r>
            <a:r>
              <a:rPr lang="en-US">
                <a:solidFill>
                  <a:schemeClr val="accent2"/>
                </a:solidFill>
              </a:rPr>
              <a:t> [A,</a:t>
            </a:r>
            <a:r>
              <a:rPr lang="en-US">
                <a:latin typeface="Castellar" pitchFamily="18" charset="0"/>
              </a:rPr>
              <a:t>E</a:t>
            </a:r>
            <a:r>
              <a:rPr lang="en-US">
                <a:solidFill>
                  <a:schemeClr val="accent2"/>
                </a:solidFill>
              </a:rPr>
              <a:t>]  =  </a:t>
            </a:r>
            <a:r>
              <a:rPr lang="en-US" sz="3600">
                <a:solidFill>
                  <a:schemeClr val="accent2"/>
                </a:solidFill>
              </a:rPr>
              <a:t>|</a:t>
            </a:r>
            <a:r>
              <a:rPr lang="en-US" err="1">
                <a:solidFill>
                  <a:schemeClr val="accent2"/>
                </a:solidFill>
              </a:rPr>
              <a:t>Pr</a:t>
            </a:r>
            <a:r>
              <a:rPr lang="en-US">
                <a:solidFill>
                  <a:schemeClr val="accent2"/>
                </a:solidFill>
              </a:rPr>
              <a:t>[EXP(0)=1] – </a:t>
            </a:r>
            <a:r>
              <a:rPr lang="en-US" err="1">
                <a:solidFill>
                  <a:schemeClr val="accent2"/>
                </a:solidFill>
              </a:rPr>
              <a:t>Pr</a:t>
            </a:r>
            <a:r>
              <a:rPr lang="en-US">
                <a:solidFill>
                  <a:schemeClr val="accent2"/>
                </a:solidFill>
              </a:rPr>
              <a:t>[EXP(1)=1] </a:t>
            </a:r>
            <a:r>
              <a:rPr lang="en-US" sz="3600">
                <a:solidFill>
                  <a:schemeClr val="accent2"/>
                </a:solidFill>
              </a:rPr>
              <a:t>|  </a:t>
            </a:r>
            <a:r>
              <a:rPr lang="en-US"/>
              <a:t>&lt;   negligible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289050" y="2667000"/>
            <a:ext cx="1295400" cy="1377714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algn="ctr"/>
            <a:r>
              <a:rPr lang="en-US"/>
              <a:t>Chal.</a:t>
            </a:r>
          </a:p>
        </p:txBody>
      </p:sp>
      <p:sp>
        <p:nvSpPr>
          <p:cNvPr id="6" name="Line 5"/>
          <p:cNvSpPr>
            <a:spLocks noChangeShapeType="1"/>
          </p:cNvSpPr>
          <p:nvPr/>
        </p:nvSpPr>
        <p:spPr bwMode="auto">
          <a:xfrm flipV="1">
            <a:off x="222250" y="3046968"/>
            <a:ext cx="1066800" cy="103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333082" y="2665969"/>
            <a:ext cx="34636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/>
              <a:t>b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6470650" y="2667000"/>
            <a:ext cx="1295400" cy="1377714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algn="ctr"/>
            <a:r>
              <a:rPr lang="en-US"/>
              <a:t>Adv. A</a:t>
            </a:r>
          </a:p>
        </p:txBody>
      </p:sp>
      <p:sp>
        <p:nvSpPr>
          <p:cNvPr id="9" name="Text Box 8"/>
          <p:cNvSpPr txBox="1">
            <a:spLocks noChangeArrowheads="1"/>
          </p:cNvSpPr>
          <p:nvPr/>
        </p:nvSpPr>
        <p:spPr bwMode="auto">
          <a:xfrm>
            <a:off x="1289051" y="3210085"/>
            <a:ext cx="131707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sym typeface="Symbol" pitchFamily="18" charset="2"/>
              </a:rPr>
              <a:t>(</a:t>
            </a:r>
            <a:r>
              <a:rPr lang="en-US" err="1">
                <a:sym typeface="Symbol" pitchFamily="18" charset="2"/>
              </a:rPr>
              <a:t>pk,sk</a:t>
            </a:r>
            <a:r>
              <a:rPr lang="en-US">
                <a:sym typeface="Symbol" pitchFamily="18" charset="2"/>
              </a:rPr>
              <a:t>)G()</a:t>
            </a:r>
            <a:endParaRPr lang="en-US" b="1">
              <a:cs typeface="Arial" charset="0"/>
              <a:sym typeface="Symbol" pitchFamily="18" charset="2"/>
            </a:endParaRPr>
          </a:p>
        </p:txBody>
      </p:sp>
      <p:grpSp>
        <p:nvGrpSpPr>
          <p:cNvPr id="10" name="Group 21"/>
          <p:cNvGrpSpPr>
            <a:grpSpLocks/>
          </p:cNvGrpSpPr>
          <p:nvPr/>
        </p:nvGrpSpPr>
        <p:grpSpPr bwMode="auto">
          <a:xfrm>
            <a:off x="2660650" y="2939813"/>
            <a:ext cx="3810000" cy="403622"/>
            <a:chOff x="1776" y="1783"/>
            <a:chExt cx="2400" cy="339"/>
          </a:xfrm>
        </p:grpSpPr>
        <p:sp>
          <p:nvSpPr>
            <p:cNvPr id="11" name="Line 10"/>
            <p:cNvSpPr>
              <a:spLocks noChangeShapeType="1"/>
            </p:cNvSpPr>
            <p:nvPr/>
          </p:nvSpPr>
          <p:spPr bwMode="auto">
            <a:xfrm flipH="1">
              <a:off x="1776" y="2122"/>
              <a:ext cx="2400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 Box 11"/>
            <p:cNvSpPr txBox="1">
              <a:spLocks noChangeArrowheads="1"/>
            </p:cNvSpPr>
            <p:nvPr/>
          </p:nvSpPr>
          <p:spPr bwMode="auto">
            <a:xfrm>
              <a:off x="1968" y="1783"/>
              <a:ext cx="1980" cy="3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000"/>
                <a:t>m</a:t>
              </a:r>
              <a:r>
                <a:rPr lang="en-US" sz="2000" baseline="-25000"/>
                <a:t>0</a:t>
              </a:r>
              <a:r>
                <a:rPr lang="en-US" sz="2000"/>
                <a:t> , m</a:t>
              </a:r>
              <a:r>
                <a:rPr lang="en-US" sz="2000" baseline="-25000"/>
                <a:t>1  </a:t>
              </a:r>
              <a:r>
                <a:rPr lang="en-US" sz="2000">
                  <a:sym typeface="Symbol" pitchFamily="18" charset="2"/>
                </a:rPr>
                <a:t> M :    |m</a:t>
              </a:r>
              <a:r>
                <a:rPr lang="en-US" sz="2000" baseline="-25000">
                  <a:sym typeface="Symbol" pitchFamily="18" charset="2"/>
                </a:rPr>
                <a:t>0</a:t>
              </a:r>
              <a:r>
                <a:rPr lang="en-US" sz="2000">
                  <a:sym typeface="Symbol" pitchFamily="18" charset="2"/>
                </a:rPr>
                <a:t>| = |m</a:t>
              </a:r>
              <a:r>
                <a:rPr lang="en-US" sz="2000" baseline="-25000">
                  <a:sym typeface="Symbol" pitchFamily="18" charset="2"/>
                </a:rPr>
                <a:t>1</a:t>
              </a:r>
              <a:r>
                <a:rPr lang="en-US" sz="2000">
                  <a:sym typeface="Symbol" pitchFamily="18" charset="2"/>
                </a:rPr>
                <a:t>|</a:t>
              </a:r>
            </a:p>
          </p:txBody>
        </p:sp>
      </p:grpSp>
      <p:grpSp>
        <p:nvGrpSpPr>
          <p:cNvPr id="13" name="Group 20"/>
          <p:cNvGrpSpPr>
            <a:grpSpLocks/>
          </p:cNvGrpSpPr>
          <p:nvPr/>
        </p:nvGrpSpPr>
        <p:grpSpPr bwMode="auto">
          <a:xfrm>
            <a:off x="2660650" y="3397017"/>
            <a:ext cx="3733800" cy="461963"/>
            <a:chOff x="1776" y="2051"/>
            <a:chExt cx="2352" cy="388"/>
          </a:xfrm>
        </p:grpSpPr>
        <p:sp>
          <p:nvSpPr>
            <p:cNvPr id="14" name="Line 13"/>
            <p:cNvSpPr>
              <a:spLocks noChangeShapeType="1"/>
            </p:cNvSpPr>
            <p:nvPr/>
          </p:nvSpPr>
          <p:spPr bwMode="auto">
            <a:xfrm>
              <a:off x="1776" y="2410"/>
              <a:ext cx="2352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 Box 14"/>
            <p:cNvSpPr txBox="1">
              <a:spLocks noChangeArrowheads="1"/>
            </p:cNvSpPr>
            <p:nvPr/>
          </p:nvSpPr>
          <p:spPr bwMode="auto">
            <a:xfrm>
              <a:off x="2448" y="2051"/>
              <a:ext cx="1056" cy="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000"/>
                <a:t>c </a:t>
              </a:r>
              <a:r>
                <a:rPr lang="en-US" sz="2000">
                  <a:sym typeface="Symbol" pitchFamily="18" charset="2"/>
                </a:rPr>
                <a:t> </a:t>
              </a:r>
              <a:r>
                <a:rPr lang="en-US" sz="2000"/>
                <a:t>E(</a:t>
              </a:r>
              <a:r>
                <a:rPr lang="en-US" sz="2000" err="1"/>
                <a:t>pk</a:t>
              </a:r>
              <a:r>
                <a:rPr lang="en-US" sz="2000"/>
                <a:t>, </a:t>
              </a:r>
              <a:r>
                <a:rPr lang="en-US" sz="2400" b="1" err="1"/>
                <a:t>m</a:t>
              </a:r>
              <a:r>
                <a:rPr lang="en-US" sz="2400" b="1" baseline="-25000" err="1"/>
                <a:t>b</a:t>
              </a:r>
              <a:r>
                <a:rPr lang="en-US" sz="2000"/>
                <a:t>)</a:t>
              </a:r>
            </a:p>
          </p:txBody>
        </p:sp>
      </p:grpSp>
      <p:grpSp>
        <p:nvGrpSpPr>
          <p:cNvPr id="16" name="Group 22"/>
          <p:cNvGrpSpPr>
            <a:grpSpLocks/>
          </p:cNvGrpSpPr>
          <p:nvPr/>
        </p:nvGrpSpPr>
        <p:grpSpPr bwMode="auto">
          <a:xfrm>
            <a:off x="7766050" y="3519491"/>
            <a:ext cx="1377950" cy="461962"/>
            <a:chOff x="4560" y="2726"/>
            <a:chExt cx="868" cy="388"/>
          </a:xfrm>
        </p:grpSpPr>
        <p:sp>
          <p:nvSpPr>
            <p:cNvPr id="17" name="Line 16"/>
            <p:cNvSpPr>
              <a:spLocks noChangeShapeType="1"/>
            </p:cNvSpPr>
            <p:nvPr/>
          </p:nvSpPr>
          <p:spPr bwMode="auto">
            <a:xfrm>
              <a:off x="4560" y="3098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 Box 17"/>
            <p:cNvSpPr txBox="1">
              <a:spLocks noChangeArrowheads="1"/>
            </p:cNvSpPr>
            <p:nvPr/>
          </p:nvSpPr>
          <p:spPr bwMode="auto">
            <a:xfrm>
              <a:off x="4568" y="2726"/>
              <a:ext cx="860" cy="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400"/>
                <a:t>b’ </a:t>
              </a:r>
              <a:r>
                <a:rPr lang="en-US" sz="2400">
                  <a:sym typeface="Symbol" pitchFamily="18" charset="2"/>
                </a:rPr>
                <a:t> {0,1}</a:t>
              </a:r>
              <a:endParaRPr lang="en-US" sz="2400"/>
            </a:p>
          </p:txBody>
        </p:sp>
      </p:grpSp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831850" y="2438400"/>
            <a:ext cx="7315200" cy="1777764"/>
          </a:xfrm>
          <a:prstGeom prst="rect">
            <a:avLst/>
          </a:prstGeom>
          <a:noFill/>
          <a:ln w="38100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8229600" y="4038600"/>
            <a:ext cx="797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EXP(b)</a:t>
            </a:r>
          </a:p>
        </p:txBody>
      </p:sp>
      <p:grpSp>
        <p:nvGrpSpPr>
          <p:cNvPr id="21" name="Group 20"/>
          <p:cNvGrpSpPr>
            <a:grpSpLocks/>
          </p:cNvGrpSpPr>
          <p:nvPr/>
        </p:nvGrpSpPr>
        <p:grpSpPr bwMode="auto">
          <a:xfrm>
            <a:off x="2660650" y="2495554"/>
            <a:ext cx="3733800" cy="400051"/>
            <a:chOff x="1776" y="2103"/>
            <a:chExt cx="2352" cy="336"/>
          </a:xfrm>
        </p:grpSpPr>
        <p:sp>
          <p:nvSpPr>
            <p:cNvPr id="22" name="Line 13"/>
            <p:cNvSpPr>
              <a:spLocks noChangeShapeType="1"/>
            </p:cNvSpPr>
            <p:nvPr/>
          </p:nvSpPr>
          <p:spPr bwMode="auto">
            <a:xfrm>
              <a:off x="1776" y="2410"/>
              <a:ext cx="2352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 Box 14"/>
            <p:cNvSpPr txBox="1">
              <a:spLocks noChangeArrowheads="1"/>
            </p:cNvSpPr>
            <p:nvPr/>
          </p:nvSpPr>
          <p:spPr bwMode="auto">
            <a:xfrm>
              <a:off x="2746" y="2103"/>
              <a:ext cx="278" cy="3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000" err="1"/>
                <a:t>pk</a:t>
              </a:r>
              <a:endParaRPr lang="en-US" sz="2000"/>
            </a:p>
          </p:txBody>
        </p:sp>
      </p:grpSp>
    </p:spTree>
    <p:extLst>
      <p:ext uri="{BB962C8B-B14F-4D97-AF65-F5344CB8AC3E}">
        <p14:creationId xmlns:p14="http://schemas.microsoft.com/office/powerpoint/2010/main" val="1564981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err="1"/>
              <a:t>Thiết</a:t>
            </a:r>
            <a:r>
              <a:rPr lang="en-US" sz="3600"/>
              <a:t> </a:t>
            </a:r>
            <a:r>
              <a:rPr lang="en-US" sz="3600" err="1"/>
              <a:t>lập</a:t>
            </a:r>
            <a:r>
              <a:rPr lang="en-US" sz="3600"/>
              <a:t> chia </a:t>
            </a:r>
            <a:r>
              <a:rPr lang="en-US" sz="3600" err="1"/>
              <a:t>sẻ</a:t>
            </a:r>
            <a:r>
              <a:rPr lang="en-US" sz="3600"/>
              <a:t> </a:t>
            </a:r>
            <a:r>
              <a:rPr lang="en-US" sz="3600" err="1"/>
              <a:t>khoá</a:t>
            </a:r>
            <a:r>
              <a:rPr lang="en-US" sz="3600"/>
              <a:t> </a:t>
            </a:r>
            <a:r>
              <a:rPr lang="en-US" sz="3600" err="1"/>
              <a:t>mật</a:t>
            </a:r>
            <a:r>
              <a:rPr lang="en-US" sz="3600"/>
              <a:t> (a shared secret)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76FB2-1D6C-EA08-18CD-6BDA4AB8AF7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981201"/>
            <a:ext cx="8060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u="sng"/>
              <a:t>Alice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0" y="1981201"/>
            <a:ext cx="6878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u="sng"/>
              <a:t>Bob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14601"/>
            <a:ext cx="19624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(</a:t>
            </a:r>
            <a:r>
              <a:rPr lang="en-US" sz="2400" err="1"/>
              <a:t>pk</a:t>
            </a:r>
            <a:r>
              <a:rPr lang="en-US" sz="2400"/>
              <a:t>, </a:t>
            </a:r>
            <a:r>
              <a:rPr lang="en-US" sz="2400" err="1"/>
              <a:t>sk</a:t>
            </a:r>
            <a:r>
              <a:rPr lang="en-US" sz="2400"/>
              <a:t>) ⟵ G()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1066800" y="3048001"/>
            <a:ext cx="6781800" cy="461665"/>
            <a:chOff x="1066800" y="2190750"/>
            <a:chExt cx="6781800" cy="461665"/>
          </a:xfrm>
        </p:grpSpPr>
        <p:cxnSp>
          <p:nvCxnSpPr>
            <p:cNvPr id="7" name="Straight Arrow Connector 6"/>
            <p:cNvCxnSpPr/>
            <p:nvPr/>
          </p:nvCxnSpPr>
          <p:spPr>
            <a:xfrm>
              <a:off x="1066800" y="2647950"/>
              <a:ext cx="678180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/>
            <p:cNvSpPr txBox="1"/>
            <p:nvPr/>
          </p:nvSpPr>
          <p:spPr>
            <a:xfrm>
              <a:off x="3505200" y="2190750"/>
              <a:ext cx="163378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/>
                <a:t>“Alice”,   </a:t>
              </a:r>
              <a:r>
                <a:rPr lang="en-US" sz="2400" err="1"/>
                <a:t>pk</a:t>
              </a:r>
              <a:endParaRPr lang="en-US" sz="2400"/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7136226" y="3505200"/>
            <a:ext cx="185935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/>
              <a:t>choose random </a:t>
            </a:r>
          </a:p>
          <a:p>
            <a:pPr algn="ctr"/>
            <a:r>
              <a:rPr lang="en-US" sz="2000"/>
              <a:t>x ∈ {0,1}</a:t>
            </a:r>
            <a:r>
              <a:rPr lang="en-US" sz="2000" baseline="30000"/>
              <a:t>128</a:t>
            </a:r>
            <a:endParaRPr lang="en-US" sz="2400" baseline="30000"/>
          </a:p>
        </p:txBody>
      </p:sp>
      <p:cxnSp>
        <p:nvCxnSpPr>
          <p:cNvPr id="12" name="Straight Arrow Connector 11"/>
          <p:cNvCxnSpPr/>
          <p:nvPr/>
        </p:nvCxnSpPr>
        <p:spPr>
          <a:xfrm flipH="1">
            <a:off x="1066800" y="4648200"/>
            <a:ext cx="67818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4043E984-4CAB-7E4C-883F-70F1C9E124A3}"/>
              </a:ext>
            </a:extLst>
          </p:cNvPr>
          <p:cNvSpPr txBox="1"/>
          <p:nvPr/>
        </p:nvSpPr>
        <p:spPr>
          <a:xfrm>
            <a:off x="3202036" y="3552352"/>
            <a:ext cx="25113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“Bob”, c ← E(pk, x)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21B1068-8529-744A-9AFD-8B6DDEDF5081}"/>
              </a:ext>
            </a:extLst>
          </p:cNvPr>
          <p:cNvSpPr txBox="1"/>
          <p:nvPr/>
        </p:nvSpPr>
        <p:spPr>
          <a:xfrm>
            <a:off x="3352801" y="4705631"/>
            <a:ext cx="17139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D(</a:t>
            </a:r>
            <a:r>
              <a:rPr lang="en-US" sz="2400" err="1"/>
              <a:t>sk</a:t>
            </a:r>
            <a:r>
              <a:rPr lang="en-US" sz="2400"/>
              <a:t>, c) → x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BC5311E-8098-B94F-97DD-567715B1B4E3}"/>
              </a:ext>
            </a:extLst>
          </p:cNvPr>
          <p:cNvSpPr txBox="1"/>
          <p:nvPr/>
        </p:nvSpPr>
        <p:spPr>
          <a:xfrm>
            <a:off x="1263280" y="5447288"/>
            <a:ext cx="23069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x : Shared secret </a:t>
            </a:r>
          </a:p>
        </p:txBody>
      </p:sp>
    </p:spTree>
    <p:extLst>
      <p:ext uri="{BB962C8B-B14F-4D97-AF65-F5344CB8AC3E}">
        <p14:creationId xmlns:p14="http://schemas.microsoft.com/office/powerpoint/2010/main" val="938347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/>
              <a:t>Public key encryption:  constructions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vi-VN"/>
              <a:t>Các cấu trúc thường dựa trên các bài toán khó từ lý thuyết số và đại số</a:t>
            </a:r>
          </a:p>
          <a:p>
            <a:pPr marL="0" indent="0">
              <a:buNone/>
            </a:pPr>
            <a:r>
              <a:rPr lang="en-US"/>
              <a:t>We will use a bit of number theory to construct:</a:t>
            </a:r>
          </a:p>
          <a:p>
            <a:r>
              <a:rPr lang="en-US"/>
              <a:t>Key exchange protocols</a:t>
            </a:r>
          </a:p>
          <a:p>
            <a:r>
              <a:rPr lang="en-US"/>
              <a:t>Digital signatures</a:t>
            </a:r>
          </a:p>
          <a:p>
            <a:r>
              <a:rPr lang="en-US"/>
              <a:t>Public-key encryption</a:t>
            </a: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5212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Nhắc</a:t>
            </a:r>
            <a:r>
              <a:rPr lang="en-US"/>
              <a:t> </a:t>
            </a:r>
            <a:r>
              <a:rPr lang="en-US" err="1"/>
              <a:t>lại</a:t>
            </a:r>
            <a:r>
              <a:rPr lang="en-US"/>
              <a:t> </a:t>
            </a:r>
            <a:r>
              <a:rPr lang="en-US" err="1"/>
              <a:t>một</a:t>
            </a:r>
            <a:r>
              <a:rPr lang="en-US"/>
              <a:t> </a:t>
            </a:r>
            <a:r>
              <a:rPr lang="en-US" err="1"/>
              <a:t>số</a:t>
            </a:r>
            <a:r>
              <a:rPr lang="en-US"/>
              <a:t> </a:t>
            </a:r>
            <a:r>
              <a:rPr lang="en-US" err="1"/>
              <a:t>ký</a:t>
            </a:r>
            <a:r>
              <a:rPr lang="en-US"/>
              <a:t> </a:t>
            </a:r>
            <a:r>
              <a:rPr lang="en-US" err="1"/>
              <a:t>hiệu</a:t>
            </a:r>
            <a:r>
              <a:rPr lang="en-US"/>
              <a:t> (Notation)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235077" y="710551"/>
                <a:ext cx="8674100" cy="2574295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From here on:   </a:t>
                </a:r>
              </a:p>
              <a:p>
                <a:r>
                  <a:rPr lang="en-US"/>
                  <a:t>N </a:t>
                </a:r>
                <a:r>
                  <a:rPr lang="en-US" err="1"/>
                  <a:t>ký</a:t>
                </a:r>
                <a:r>
                  <a:rPr lang="en-US"/>
                  <a:t> </a:t>
                </a:r>
                <a:r>
                  <a:rPr lang="en-US" err="1"/>
                  <a:t>hiệu</a:t>
                </a:r>
                <a:r>
                  <a:rPr lang="en-US"/>
                  <a:t> </a:t>
                </a:r>
                <a:r>
                  <a:rPr lang="en-US" err="1"/>
                  <a:t>là</a:t>
                </a:r>
                <a:r>
                  <a:rPr lang="en-US"/>
                  <a:t> </a:t>
                </a:r>
                <a:r>
                  <a:rPr lang="en-US" err="1"/>
                  <a:t>số</a:t>
                </a:r>
                <a:r>
                  <a:rPr lang="en-US"/>
                  <a:t> </a:t>
                </a:r>
                <a:r>
                  <a:rPr lang="en-US" err="1"/>
                  <a:t>nguyên</a:t>
                </a:r>
                <a:r>
                  <a:rPr lang="en-US"/>
                  <a:t> </a:t>
                </a:r>
                <a:r>
                  <a:rPr lang="en-US" err="1"/>
                  <a:t>dương</a:t>
                </a:r>
                <a:r>
                  <a:rPr lang="en-US"/>
                  <a:t>. </a:t>
                </a:r>
              </a:p>
              <a:p>
                <a:r>
                  <a:rPr lang="en-US"/>
                  <a:t>p </a:t>
                </a:r>
                <a:r>
                  <a:rPr lang="en-US" err="1"/>
                  <a:t>ký</a:t>
                </a:r>
                <a:r>
                  <a:rPr lang="en-US"/>
                  <a:t> </a:t>
                </a:r>
                <a:r>
                  <a:rPr lang="en-US" err="1"/>
                  <a:t>hiệu</a:t>
                </a:r>
                <a:r>
                  <a:rPr lang="en-US"/>
                  <a:t> </a:t>
                </a:r>
                <a:r>
                  <a:rPr lang="en-US" err="1"/>
                  <a:t>là</a:t>
                </a:r>
                <a:r>
                  <a:rPr lang="en-US"/>
                  <a:t> </a:t>
                </a:r>
                <a:r>
                  <a:rPr lang="en-US" err="1"/>
                  <a:t>số</a:t>
                </a:r>
                <a:r>
                  <a:rPr lang="en-US"/>
                  <a:t> </a:t>
                </a:r>
                <a:r>
                  <a:rPr lang="en-US" err="1"/>
                  <a:t>nguyên</a:t>
                </a:r>
                <a:r>
                  <a:rPr lang="en-US"/>
                  <a:t> </a:t>
                </a:r>
                <a:r>
                  <a:rPr lang="en-US" err="1"/>
                  <a:t>tố</a:t>
                </a:r>
                <a:r>
                  <a:rPr lang="en-US"/>
                  <a:t>.</a:t>
                </a:r>
              </a:p>
              <a:p>
                <a:pPr marL="0" indent="0">
                  <a:buNone/>
                </a:pPr>
                <a:r>
                  <a:rPr lang="en-US"/>
                  <a:t>Notation:  </a:t>
                </a:r>
                <a14:m>
                  <m:oMath xmlns:m="http://schemas.openxmlformats.org/officeDocument/2006/math">
                    <m:r>
                      <a:rPr lang="vi-VN" b="0" i="1" smtClean="0">
                        <a:latin typeface="Cambria Math" panose="02040503050406030204" pitchFamily="18" charset="0"/>
                      </a:rPr>
                      <m:t>𝑍</m:t>
                    </m:r>
                    <m:r>
                      <m:rPr>
                        <m:sty m:val="p"/>
                      </m:rPr>
                      <a:rPr lang="vi-VN" i="1" baseline="-25000">
                        <a:latin typeface="Cambria Math" panose="02040503050406030204" pitchFamily="18" charset="0"/>
                      </a:rPr>
                      <m:t>N</m:t>
                    </m:r>
                    <m:r>
                      <a:rPr lang="vi-VN" b="0" i="1" smtClean="0">
                        <a:latin typeface="Cambria Math" panose="02040503050406030204" pitchFamily="18" charset="0"/>
                      </a:rPr>
                      <m:t>=[0,1,2…,</m:t>
                    </m:r>
                    <m:r>
                      <m:rPr>
                        <m:sty m:val="p"/>
                      </m:rPr>
                      <a:rPr lang="vi-VN" i="1">
                        <a:latin typeface="Cambria Math" panose="02040503050406030204" pitchFamily="18" charset="0"/>
                      </a:rPr>
                      <m:t>N</m:t>
                    </m:r>
                    <m:r>
                      <a:rPr lang="vi-VN" b="0" i="1" smtClean="0">
                        <a:latin typeface="Cambria Math" panose="02040503050406030204" pitchFamily="18" charset="0"/>
                      </a:rPr>
                      <m:t>−1]</m:t>
                    </m:r>
                  </m:oMath>
                </a14:m>
                <a:r>
                  <a:rPr lang="en-US" baseline="-25000"/>
                  <a:t> </a:t>
                </a:r>
                <a:endParaRPr lang="en-US"/>
              </a:p>
              <a:p>
                <a:pPr marL="0" indent="0">
                  <a:buNone/>
                </a:pPr>
                <a:r>
                  <a:rPr lang="en-US" err="1"/>
                  <a:t>Có</a:t>
                </a:r>
                <a:r>
                  <a:rPr lang="en-US"/>
                  <a:t> </a:t>
                </a:r>
                <a:r>
                  <a:rPr lang="en-US" err="1"/>
                  <a:t>thể</a:t>
                </a:r>
                <a:r>
                  <a:rPr lang="en-US"/>
                  <a:t> </a:t>
                </a:r>
                <a:r>
                  <a:rPr lang="en-US" err="1"/>
                  <a:t>thực</a:t>
                </a:r>
                <a:r>
                  <a:rPr lang="en-US"/>
                  <a:t> </a:t>
                </a:r>
                <a:r>
                  <a:rPr lang="en-US" err="1"/>
                  <a:t>hiện</a:t>
                </a:r>
                <a:r>
                  <a:rPr lang="en-US"/>
                  <a:t> </a:t>
                </a:r>
                <a:r>
                  <a:rPr lang="en-US" err="1"/>
                  <a:t>phép</a:t>
                </a:r>
                <a:r>
                  <a:rPr lang="en-US"/>
                  <a:t> </a:t>
                </a:r>
                <a:r>
                  <a:rPr lang="en-US" err="1"/>
                  <a:t>cộng</a:t>
                </a:r>
                <a:r>
                  <a:rPr lang="en-US"/>
                  <a:t> </a:t>
                </a:r>
                <a:r>
                  <a:rPr lang="en-US" err="1"/>
                  <a:t>và</a:t>
                </a:r>
                <a:r>
                  <a:rPr lang="en-US"/>
                  <a:t> </a:t>
                </a:r>
                <a:r>
                  <a:rPr lang="en-US" err="1"/>
                  <a:t>nhân</a:t>
                </a:r>
                <a:r>
                  <a:rPr lang="en-US"/>
                  <a:t> modulo N ? </a:t>
                </a:r>
              </a:p>
              <a:p>
                <a:pPr marL="0" indent="0">
                  <a:buNone/>
                </a:pPr>
                <a:r>
                  <a:rPr lang="en-US" err="1"/>
                  <a:t>Ví</a:t>
                </a:r>
                <a:r>
                  <a:rPr lang="en-US"/>
                  <a:t> </a:t>
                </a:r>
                <a:r>
                  <a:rPr lang="en-US" err="1"/>
                  <a:t>dụ</a:t>
                </a:r>
                <a:r>
                  <a:rPr lang="en-US"/>
                  <a:t>: N = 12 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 err="1"/>
                  <a:t>Trong</a:t>
                </a:r>
                <a:r>
                  <a:rPr lang="en-US"/>
                  <a:t> </a:t>
                </a:r>
                <a14:m>
                  <m:oMath xmlns:m="http://schemas.openxmlformats.org/officeDocument/2006/math">
                    <m:r>
                      <a:rPr lang="vi-VN" b="0" i="1" smtClean="0">
                        <a:latin typeface="Cambria Math" panose="02040503050406030204" pitchFamily="18" charset="0"/>
                      </a:rPr>
                      <m:t>𝑍</m:t>
                    </m:r>
                    <m:r>
                      <m:rPr>
                        <m:sty m:val="p"/>
                      </m:rPr>
                      <a:rPr lang="vi-VN" i="1" baseline="-25000"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lang="en-US"/>
                  <a:t> luôn </a:t>
                </a:r>
                <a:r>
                  <a:rPr lang="en-US" err="1"/>
                  <a:t>thoả</a:t>
                </a:r>
                <a:r>
                  <a:rPr lang="en-US"/>
                  <a:t> </a:t>
                </a:r>
                <a:r>
                  <a:rPr lang="en-US" err="1"/>
                  <a:t>mãn</a:t>
                </a:r>
                <a:r>
                  <a:rPr lang="en-US"/>
                  <a:t>: x.(</a:t>
                </a:r>
                <a:r>
                  <a:rPr lang="en-US" err="1"/>
                  <a:t>y+z</a:t>
                </a:r>
                <a:r>
                  <a:rPr lang="en-US"/>
                  <a:t>) = </a:t>
                </a:r>
                <a:r>
                  <a:rPr lang="en-US" err="1"/>
                  <a:t>x.y</a:t>
                </a:r>
                <a:r>
                  <a:rPr lang="en-US"/>
                  <a:t> + </a:t>
                </a:r>
                <a:r>
                  <a:rPr lang="en-US" err="1"/>
                  <a:t>x.z</a:t>
                </a:r>
                <a:r>
                  <a:rPr lang="en-US"/>
                  <a:t> </a:t>
                </a:r>
                <a:r>
                  <a:rPr lang="en-US" err="1"/>
                  <a:t>thuộc</a:t>
                </a:r>
                <a:r>
                  <a:rPr lang="en-US"/>
                  <a:t> </a:t>
                </a:r>
                <a14:m>
                  <m:oMath xmlns:m="http://schemas.openxmlformats.org/officeDocument/2006/math">
                    <m:r>
                      <a:rPr lang="vi-VN" i="1">
                        <a:latin typeface="Cambria Math" panose="02040503050406030204" pitchFamily="18" charset="0"/>
                      </a:rPr>
                      <m:t>𝑍</m:t>
                    </m:r>
                    <m:r>
                      <m:rPr>
                        <m:sty m:val="p"/>
                      </m:rPr>
                      <a:rPr lang="vi-VN" i="1" baseline="-25000"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lang="en-US"/>
                  <a:t>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235077" y="710551"/>
                <a:ext cx="8674100" cy="2574295"/>
              </a:xfrm>
              <a:blipFill>
                <a:blip r:embed="rId3"/>
                <a:stretch>
                  <a:fillRect l="-1477" t="-4265" b="-1037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84323668-C2FC-C0B1-7AAE-6220F82869FA}"/>
              </a:ext>
            </a:extLst>
          </p:cNvPr>
          <p:cNvGrpSpPr/>
          <p:nvPr/>
        </p:nvGrpSpPr>
        <p:grpSpPr>
          <a:xfrm>
            <a:off x="1638300" y="3733800"/>
            <a:ext cx="2111191" cy="1292662"/>
            <a:chOff x="2044700" y="4076700"/>
            <a:chExt cx="2111191" cy="1292662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64C9C0C1-90C0-D637-52EC-72BDD7167F14}"/>
                </a:ext>
              </a:extLst>
            </p:cNvPr>
            <p:cNvSpPr txBox="1"/>
            <p:nvPr/>
          </p:nvSpPr>
          <p:spPr>
            <a:xfrm>
              <a:off x="2044700" y="4076700"/>
              <a:ext cx="1904689" cy="129266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/>
                <a:t>9 + 8  =   5       in    </a:t>
              </a:r>
            </a:p>
            <a:p>
              <a:endParaRPr lang="en-US" sz="1800" baseline="-25000"/>
            </a:p>
            <a:p>
              <a:r>
                <a:rPr lang="en-US" sz="1800"/>
                <a:t>5 × 7  =  11      in    </a:t>
              </a:r>
              <a:endParaRPr lang="en-US" sz="1800" baseline="-25000"/>
            </a:p>
            <a:p>
              <a:endParaRPr lang="en-US" sz="1800" baseline="-25000"/>
            </a:p>
            <a:p>
              <a:r>
                <a:rPr lang="en-US" sz="1800"/>
                <a:t>5 − 7  =   10     in</a:t>
              </a:r>
              <a:endParaRPr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601D509B-0FA4-3A98-61C9-48C26575225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742887" y="4184390"/>
              <a:ext cx="413004" cy="261395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2E49319-2F48-E09C-D7B0-47F269EB129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742887" y="4572029"/>
              <a:ext cx="413004" cy="261395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A7727C25-B437-DACD-9260-2A3FE0D4132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742887" y="5013623"/>
              <a:ext cx="413004" cy="26139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652951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Greatest common divisor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3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b="1" u="sng"/>
                  <a:t>Def</a:t>
                </a:r>
                <a:r>
                  <a:rPr lang="en-US"/>
                  <a:t>:   For </a:t>
                </a:r>
                <a:r>
                  <a:rPr lang="en-US" err="1"/>
                  <a:t>ints</a:t>
                </a:r>
                <a:r>
                  <a:rPr lang="en-US"/>
                  <a:t>.  </a:t>
                </a:r>
                <a:r>
                  <a:rPr lang="en-US" err="1"/>
                  <a:t>x,y</a:t>
                </a:r>
                <a:r>
                  <a:rPr lang="en-US"/>
                  <a:t>:     </a:t>
                </a:r>
                <a:r>
                  <a:rPr lang="en-US" b="1" err="1"/>
                  <a:t>gcd</a:t>
                </a:r>
                <a:r>
                  <a:rPr lang="en-US" b="1"/>
                  <a:t>(x, y)   </a:t>
                </a:r>
                <a:r>
                  <a:rPr lang="en-US"/>
                  <a:t>is the </a:t>
                </a:r>
                <a:r>
                  <a:rPr lang="en-US" u="sng"/>
                  <a:t>greatest common divisor </a:t>
                </a:r>
                <a:r>
                  <a:rPr lang="en-US"/>
                  <a:t>of  </a:t>
                </a:r>
                <a:r>
                  <a:rPr lang="en-US" err="1"/>
                  <a:t>x,y</a:t>
                </a:r>
                <a:endParaRPr lang="en-US"/>
              </a:p>
              <a:p>
                <a:pPr marL="0" indent="0">
                  <a:spcBef>
                    <a:spcPts val="2376"/>
                  </a:spcBef>
                  <a:buNone/>
                </a:pPr>
                <a:r>
                  <a:rPr lang="en-US"/>
                  <a:t>Example:	</a:t>
                </a:r>
                <a:r>
                  <a:rPr lang="en-US" err="1"/>
                  <a:t>gcd</a:t>
                </a:r>
                <a:r>
                  <a:rPr lang="en-US"/>
                  <a:t>( 12, 18 )  =   6 </a:t>
                </a:r>
                <a:r>
                  <a:rPr lang="en-US" err="1"/>
                  <a:t>luôn</a:t>
                </a:r>
                <a:r>
                  <a:rPr lang="en-US"/>
                  <a:t> </a:t>
                </a:r>
                <a:r>
                  <a:rPr lang="en-US" err="1"/>
                  <a:t>tại</a:t>
                </a:r>
                <a:r>
                  <a:rPr lang="en-US"/>
                  <a:t> </a:t>
                </a:r>
                <a:r>
                  <a:rPr lang="en-US" err="1"/>
                  <a:t>đẳng</a:t>
                </a:r>
                <a:r>
                  <a:rPr lang="en-US"/>
                  <a:t> </a:t>
                </a:r>
                <a:r>
                  <a:rPr lang="en-US" err="1"/>
                  <a:t>thức</a:t>
                </a:r>
                <a:r>
                  <a:rPr lang="en-US"/>
                  <a:t> </a:t>
                </a:r>
              </a:p>
              <a:p>
                <a:pPr marL="0" indent="0">
                  <a:spcBef>
                    <a:spcPts val="2376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vi-VN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vi-V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×12−1×18=6</m:t>
                      </m:r>
                    </m:oMath>
                  </m:oMathPara>
                </a14:m>
                <a:endParaRPr lang="en-US"/>
              </a:p>
              <a:p>
                <a:pPr marL="0" indent="0">
                  <a:spcBef>
                    <a:spcPts val="3576"/>
                  </a:spcBef>
                  <a:buNone/>
                </a:pPr>
                <a:r>
                  <a:rPr lang="en-US" b="1" u="sng"/>
                  <a:t>Fact</a:t>
                </a:r>
                <a:r>
                  <a:rPr lang="en-US"/>
                  <a:t>:   for all </a:t>
                </a:r>
                <a:r>
                  <a:rPr lang="en-US" err="1"/>
                  <a:t>ints</a:t>
                </a:r>
                <a:r>
                  <a:rPr lang="en-US"/>
                  <a:t>.   </a:t>
                </a:r>
                <a:r>
                  <a:rPr lang="en-US" err="1"/>
                  <a:t>x,y</a:t>
                </a:r>
                <a:r>
                  <a:rPr lang="en-US"/>
                  <a:t>   there exist </a:t>
                </a:r>
                <a:r>
                  <a:rPr lang="en-US" err="1"/>
                  <a:t>ints</a:t>
                </a:r>
                <a:r>
                  <a:rPr lang="en-US"/>
                  <a:t>.   </a:t>
                </a:r>
                <a:r>
                  <a:rPr lang="en-US" err="1"/>
                  <a:t>a,b</a:t>
                </a:r>
                <a:r>
                  <a:rPr lang="en-US"/>
                  <a:t>   such that</a:t>
                </a:r>
              </a:p>
              <a:p>
                <a:pPr marL="0" indent="0">
                  <a:buNone/>
                </a:pPr>
                <a:r>
                  <a:rPr lang="en-US"/>
                  <a:t>			</a:t>
                </a:r>
                <a:r>
                  <a:rPr lang="en-US" b="1" err="1">
                    <a:solidFill>
                      <a:srgbClr val="FF0000"/>
                    </a:solidFill>
                  </a:rPr>
                  <a:t>a⋅x</a:t>
                </a:r>
                <a:r>
                  <a:rPr lang="en-US" b="1">
                    <a:solidFill>
                      <a:srgbClr val="FF0000"/>
                    </a:solidFill>
                  </a:rPr>
                  <a:t> + </a:t>
                </a:r>
                <a:r>
                  <a:rPr lang="en-US" b="1" err="1">
                    <a:solidFill>
                      <a:srgbClr val="FF0000"/>
                    </a:solidFill>
                  </a:rPr>
                  <a:t>b⋅y</a:t>
                </a:r>
                <a:r>
                  <a:rPr lang="en-US" b="1">
                    <a:solidFill>
                      <a:srgbClr val="FF0000"/>
                    </a:solidFill>
                  </a:rPr>
                  <a:t> = </a:t>
                </a:r>
                <a:r>
                  <a:rPr lang="en-US" b="1" err="1">
                    <a:solidFill>
                      <a:srgbClr val="FF0000"/>
                    </a:solidFill>
                  </a:rPr>
                  <a:t>gcd</a:t>
                </a:r>
                <a:r>
                  <a:rPr lang="en-US" b="1">
                    <a:solidFill>
                      <a:srgbClr val="FF0000"/>
                    </a:solidFill>
                  </a:rPr>
                  <a:t>(</a:t>
                </a:r>
                <a:r>
                  <a:rPr lang="en-US" b="1" err="1">
                    <a:solidFill>
                      <a:srgbClr val="FF0000"/>
                    </a:solidFill>
                  </a:rPr>
                  <a:t>x,y</a:t>
                </a:r>
                <a:r>
                  <a:rPr lang="en-US" b="1">
                    <a:solidFill>
                      <a:srgbClr val="FF0000"/>
                    </a:solidFill>
                  </a:rPr>
                  <a:t>)</a:t>
                </a:r>
              </a:p>
              <a:p>
                <a:pPr marL="0" indent="0">
                  <a:buNone/>
                </a:pPr>
                <a:r>
                  <a:rPr lang="en-US"/>
                  <a:t>	</a:t>
                </a:r>
                <a:r>
                  <a:rPr lang="en-US" err="1"/>
                  <a:t>a,b</a:t>
                </a:r>
                <a:r>
                  <a:rPr lang="en-US"/>
                  <a:t> </a:t>
                </a:r>
                <a:r>
                  <a:rPr lang="en-US" err="1"/>
                  <a:t>có</a:t>
                </a:r>
                <a:r>
                  <a:rPr lang="en-US"/>
                  <a:t> </a:t>
                </a:r>
                <a:r>
                  <a:rPr lang="en-US" err="1"/>
                  <a:t>thể</a:t>
                </a:r>
                <a:r>
                  <a:rPr lang="en-US"/>
                  <a:t> </a:t>
                </a:r>
                <a:r>
                  <a:rPr lang="en-US" err="1"/>
                  <a:t>tìm</a:t>
                </a:r>
                <a:r>
                  <a:rPr lang="en-US"/>
                  <a:t> </a:t>
                </a:r>
                <a:r>
                  <a:rPr lang="en-US" err="1"/>
                  <a:t>bằng</a:t>
                </a:r>
                <a:r>
                  <a:rPr lang="en-US"/>
                  <a:t> </a:t>
                </a:r>
                <a:r>
                  <a:rPr lang="en-US" err="1"/>
                  <a:t>thuật</a:t>
                </a:r>
                <a:r>
                  <a:rPr lang="en-US"/>
                  <a:t> </a:t>
                </a:r>
                <a:r>
                  <a:rPr lang="en-US" err="1"/>
                  <a:t>toán</a:t>
                </a:r>
                <a:r>
                  <a:rPr lang="en-US"/>
                  <a:t> </a:t>
                </a:r>
                <a:r>
                  <a:rPr lang="en-US" err="1"/>
                  <a:t>Euclide</a:t>
                </a:r>
                <a:r>
                  <a:rPr lang="en-US"/>
                  <a:t> </a:t>
                </a:r>
                <a:r>
                  <a:rPr lang="en-US" err="1"/>
                  <a:t>mở</a:t>
                </a:r>
                <a:r>
                  <a:rPr lang="en-US"/>
                  <a:t> </a:t>
                </a:r>
                <a:r>
                  <a:rPr lang="en-US" err="1"/>
                  <a:t>rộng</a:t>
                </a:r>
                <a:endParaRPr lang="en-US"/>
              </a:p>
              <a:p>
                <a:pPr marL="0" indent="0">
                  <a:spcBef>
                    <a:spcPts val="3576"/>
                  </a:spcBef>
                  <a:buNone/>
                </a:pPr>
                <a:r>
                  <a:rPr lang="en-US" err="1"/>
                  <a:t>Nếu</a:t>
                </a:r>
                <a:r>
                  <a:rPr lang="en-US"/>
                  <a:t>  </a:t>
                </a:r>
                <a:r>
                  <a:rPr lang="en-US" err="1"/>
                  <a:t>gcd</a:t>
                </a:r>
                <a:r>
                  <a:rPr lang="en-US"/>
                  <a:t>(</a:t>
                </a:r>
                <a:r>
                  <a:rPr lang="en-US" err="1"/>
                  <a:t>x,y</a:t>
                </a:r>
                <a:r>
                  <a:rPr lang="en-US"/>
                  <a:t>)=1 </a:t>
                </a:r>
                <a:r>
                  <a:rPr lang="en-US" err="1"/>
                  <a:t>có</a:t>
                </a:r>
                <a:r>
                  <a:rPr lang="en-US"/>
                  <a:t> </a:t>
                </a:r>
                <a:r>
                  <a:rPr lang="en-US" err="1"/>
                  <a:t>thể</a:t>
                </a:r>
                <a:r>
                  <a:rPr lang="en-US"/>
                  <a:t> </a:t>
                </a:r>
                <a:r>
                  <a:rPr lang="en-US" err="1"/>
                  <a:t>nói</a:t>
                </a:r>
                <a:r>
                  <a:rPr lang="en-US"/>
                  <a:t> </a:t>
                </a:r>
                <a:r>
                  <a:rPr lang="en-US" err="1"/>
                  <a:t>x,y</a:t>
                </a:r>
                <a:r>
                  <a:rPr lang="en-US"/>
                  <a:t> </a:t>
                </a:r>
                <a:r>
                  <a:rPr lang="en-US" err="1"/>
                  <a:t>là</a:t>
                </a:r>
                <a:r>
                  <a:rPr lang="en-US"/>
                  <a:t> </a:t>
                </a:r>
                <a:r>
                  <a:rPr lang="en-US" err="1"/>
                  <a:t>nguyên</a:t>
                </a:r>
                <a:r>
                  <a:rPr lang="en-US"/>
                  <a:t> </a:t>
                </a:r>
                <a:r>
                  <a:rPr lang="en-US" err="1"/>
                  <a:t>tố</a:t>
                </a:r>
                <a:r>
                  <a:rPr lang="en-US"/>
                  <a:t> </a:t>
                </a:r>
                <a:r>
                  <a:rPr lang="en-US" err="1"/>
                  <a:t>cùng</a:t>
                </a:r>
                <a:r>
                  <a:rPr lang="en-US"/>
                  <a:t> </a:t>
                </a:r>
                <a:r>
                  <a:rPr lang="en-US" err="1"/>
                  <a:t>nhau</a:t>
                </a:r>
                <a:r>
                  <a:rPr lang="en-US"/>
                  <a:t> (</a:t>
                </a:r>
                <a:r>
                  <a:rPr lang="en-US" b="1" u="sng"/>
                  <a:t>relatively prime)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blipFill>
                <a:blip r:embed="rId3"/>
                <a:stretch>
                  <a:fillRect l="-1477" t="-2759" r="-13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118118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0CEFBFF-AF95-8517-E8B1-5847A7CB7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7D5CDB8-9F68-4BE4-98A4-8A032BDB9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Phần tử khả nghịch </a:t>
            </a:r>
            <a:r>
              <a:rPr lang="en-US"/>
              <a:t>(Modular inversion)</a:t>
            </a:r>
            <a:endParaRPr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33DE69-C598-CE3F-FA63-ACFDDE2E5B8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 defTabSz="919163">
              <a:buNone/>
              <a:tabLst>
                <a:tab pos="1833563" algn="l"/>
                <a:tab pos="1885950" algn="l"/>
              </a:tabLst>
            </a:pPr>
            <a:r>
              <a:rPr lang="en-US" b="1" u="sng"/>
              <a:t>Def:</a:t>
            </a:r>
            <a:r>
              <a:rPr lang="en-US"/>
              <a:t>        = (</a:t>
            </a:r>
            <a:r>
              <a:rPr lang="en-US" err="1"/>
              <a:t>là</a:t>
            </a:r>
            <a:r>
              <a:rPr lang="en-US"/>
              <a:t> </a:t>
            </a:r>
            <a:r>
              <a:rPr lang="en-US" err="1"/>
              <a:t>tập</a:t>
            </a:r>
            <a:r>
              <a:rPr lang="en-US"/>
              <a:t> </a:t>
            </a:r>
            <a:r>
              <a:rPr lang="en-US" err="1"/>
              <a:t>các</a:t>
            </a:r>
            <a:r>
              <a:rPr lang="en-US"/>
              <a:t> </a:t>
            </a:r>
            <a:r>
              <a:rPr lang="en-US" err="1"/>
              <a:t>phần</a:t>
            </a:r>
            <a:r>
              <a:rPr lang="en-US"/>
              <a:t> </a:t>
            </a:r>
            <a:r>
              <a:rPr lang="en-US" err="1"/>
              <a:t>tử</a:t>
            </a:r>
            <a:r>
              <a:rPr lang="en-US"/>
              <a:t> </a:t>
            </a:r>
            <a:r>
              <a:rPr lang="en-US" err="1"/>
              <a:t>có</a:t>
            </a:r>
            <a:r>
              <a:rPr lang="en-US"/>
              <a:t> </a:t>
            </a:r>
            <a:r>
              <a:rPr lang="en-US" err="1"/>
              <a:t>nghịch</a:t>
            </a:r>
            <a:r>
              <a:rPr lang="en-US"/>
              <a:t> </a:t>
            </a:r>
            <a:r>
              <a:rPr lang="en-US" err="1"/>
              <a:t>đảo</a:t>
            </a:r>
            <a:r>
              <a:rPr lang="en-US"/>
              <a:t> </a:t>
            </a:r>
            <a:r>
              <a:rPr lang="en-US" err="1"/>
              <a:t>trong</a:t>
            </a:r>
            <a:r>
              <a:rPr lang="en-US"/>
              <a:t>      )   </a:t>
            </a:r>
          </a:p>
          <a:p>
            <a:pPr marL="0" indent="0">
              <a:buNone/>
              <a:tabLst>
                <a:tab pos="1833563" algn="l"/>
              </a:tabLst>
            </a:pPr>
            <a:r>
              <a:rPr lang="en-US"/>
              <a:t>	=   </a:t>
            </a:r>
            <a:r>
              <a:rPr lang="en-US" sz="2800"/>
              <a:t>{  </a:t>
            </a:r>
            <a:r>
              <a:rPr lang="en-US"/>
              <a:t>x∈        :   </a:t>
            </a:r>
            <a:r>
              <a:rPr lang="en-US" err="1"/>
              <a:t>gcd</a:t>
            </a:r>
            <a:r>
              <a:rPr lang="en-US"/>
              <a:t>(</a:t>
            </a:r>
            <a:r>
              <a:rPr lang="en-US" err="1"/>
              <a:t>x,N</a:t>
            </a:r>
            <a:r>
              <a:rPr lang="en-US"/>
              <a:t>) = 1 </a:t>
            </a:r>
            <a:r>
              <a:rPr lang="en-US" sz="2800"/>
              <a:t>}</a:t>
            </a:r>
            <a:endParaRPr lang="en-US" sz="2800" baseline="-25000"/>
          </a:p>
          <a:p>
            <a:pPr marL="0" indent="0">
              <a:spcBef>
                <a:spcPts val="1776"/>
              </a:spcBef>
              <a:buNone/>
              <a:tabLst>
                <a:tab pos="1833563" algn="l"/>
              </a:tabLst>
            </a:pPr>
            <a:r>
              <a:rPr lang="en-US" err="1"/>
              <a:t>Ví</a:t>
            </a:r>
            <a:r>
              <a:rPr lang="en-US"/>
              <a:t> </a:t>
            </a:r>
            <a:r>
              <a:rPr lang="en-US" err="1"/>
              <a:t>dụ</a:t>
            </a:r>
            <a:r>
              <a:rPr lang="en-US"/>
              <a:t>:   </a:t>
            </a:r>
          </a:p>
          <a:p>
            <a:pPr marL="857250" lvl="1" indent="-457200">
              <a:spcBef>
                <a:spcPts val="1776"/>
              </a:spcBef>
              <a:buFont typeface="+mj-lt"/>
              <a:buAutoNum type="arabicPeriod"/>
              <a:tabLst>
                <a:tab pos="1833563" algn="l"/>
              </a:tabLst>
            </a:pPr>
            <a:r>
              <a:rPr lang="en-US"/>
              <a:t>for prime p, </a:t>
            </a:r>
          </a:p>
          <a:p>
            <a:pPr marL="857250" lvl="1" indent="-457200">
              <a:spcBef>
                <a:spcPts val="1776"/>
              </a:spcBef>
              <a:buFont typeface="+mj-lt"/>
              <a:buAutoNum type="arabicPeriod"/>
              <a:tabLst>
                <a:tab pos="1833563" algn="l"/>
              </a:tabLst>
            </a:pPr>
            <a:r>
              <a:rPr lang="en-US" sz="2000"/>
              <a:t>  </a:t>
            </a:r>
            <a:r>
              <a:rPr lang="en-US" baseline="30000"/>
              <a:t> </a:t>
            </a:r>
            <a:r>
              <a:rPr lang="en-US"/>
              <a:t>        = { 1, 5, 7, 11} </a:t>
            </a:r>
            <a:endParaRPr lang="en-US" sz="2000"/>
          </a:p>
          <a:p>
            <a:pPr marL="0" indent="0">
              <a:spcBef>
                <a:spcPts val="3576"/>
              </a:spcBef>
              <a:buNone/>
              <a:tabLst>
                <a:tab pos="1833563" algn="l"/>
              </a:tabLst>
            </a:pPr>
            <a:r>
              <a:rPr lang="en-US"/>
              <a:t>For  x in       , </a:t>
            </a:r>
            <a:r>
              <a:rPr lang="en-US" err="1"/>
              <a:t>có</a:t>
            </a:r>
            <a:r>
              <a:rPr lang="en-US"/>
              <a:t> </a:t>
            </a:r>
            <a:r>
              <a:rPr lang="en-US" err="1"/>
              <a:t>thể</a:t>
            </a:r>
            <a:r>
              <a:rPr lang="en-US"/>
              <a:t> </a:t>
            </a:r>
            <a:r>
              <a:rPr lang="en-US" err="1"/>
              <a:t>tìm</a:t>
            </a:r>
            <a:r>
              <a:rPr lang="en-US"/>
              <a:t>  x</a:t>
            </a:r>
            <a:r>
              <a:rPr lang="en-US" baseline="30000"/>
              <a:t>-1</a:t>
            </a:r>
            <a:r>
              <a:rPr lang="en-US"/>
              <a:t>  </a:t>
            </a:r>
            <a:r>
              <a:rPr lang="en-US" err="1"/>
              <a:t>sử</a:t>
            </a:r>
            <a:r>
              <a:rPr lang="en-US"/>
              <a:t> </a:t>
            </a:r>
            <a:r>
              <a:rPr lang="en-US" err="1"/>
              <a:t>dụng</a:t>
            </a:r>
            <a:r>
              <a:rPr lang="en-US"/>
              <a:t> </a:t>
            </a:r>
            <a:r>
              <a:rPr lang="en-US" err="1"/>
              <a:t>Euclide</a:t>
            </a:r>
            <a:r>
              <a:rPr lang="en-US"/>
              <a:t> </a:t>
            </a:r>
            <a:r>
              <a:rPr lang="en-US" err="1"/>
              <a:t>mở</a:t>
            </a:r>
            <a:r>
              <a:rPr lang="en-US"/>
              <a:t> </a:t>
            </a:r>
            <a:r>
              <a:rPr lang="en-US" err="1"/>
              <a:t>rộng</a:t>
            </a:r>
            <a:r>
              <a:rPr lang="en-US"/>
              <a:t> -&gt; </a:t>
            </a:r>
            <a:r>
              <a:rPr lang="en-US" err="1"/>
              <a:t>xem</a:t>
            </a:r>
            <a:r>
              <a:rPr lang="en-US"/>
              <a:t> </a:t>
            </a:r>
            <a:r>
              <a:rPr lang="en-US" err="1"/>
              <a:t>lại</a:t>
            </a:r>
            <a:r>
              <a:rPr lang="en-US"/>
              <a:t> </a:t>
            </a:r>
            <a:r>
              <a:rPr lang="en-US" err="1"/>
              <a:t>chương</a:t>
            </a:r>
            <a:r>
              <a:rPr lang="en-US"/>
              <a:t> 2-3. </a:t>
            </a:r>
            <a:endParaRPr lang="en-US" sz="2800"/>
          </a:p>
          <a:p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ECB598-E8EB-9471-20BC-C0D7181751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730" y="938768"/>
            <a:ext cx="530216" cy="421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177598A-D206-89CA-BC7B-714CD2D125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2900" y="2656914"/>
            <a:ext cx="4419600" cy="3686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8E6292B-378E-80A4-EAAE-9CE0202675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6330" y="1520482"/>
            <a:ext cx="347473" cy="2286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23A75D2-9CFD-C1AA-5933-2DC2471BBD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9728" y="4039252"/>
            <a:ext cx="414842" cy="32954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A60A31D-D2F8-B302-9A32-BF7E8DA0D6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1" y="975874"/>
            <a:ext cx="347473" cy="2286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D0F9EF8-B86B-8E66-BAF6-BA45DD61FD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57249" y="3197862"/>
            <a:ext cx="469900" cy="363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1042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err="1"/>
              <a:t>Phần</a:t>
            </a:r>
            <a:r>
              <a:rPr lang="en-US"/>
              <a:t> </a:t>
            </a:r>
            <a:r>
              <a:rPr lang="en-US" err="1"/>
              <a:t>tử</a:t>
            </a:r>
            <a:r>
              <a:rPr lang="en-US"/>
              <a:t> </a:t>
            </a:r>
            <a:r>
              <a:rPr lang="en-US" err="1"/>
              <a:t>khả</a:t>
            </a:r>
            <a:r>
              <a:rPr lang="en-US"/>
              <a:t> </a:t>
            </a:r>
            <a:r>
              <a:rPr lang="en-US" err="1"/>
              <a:t>nghịch</a:t>
            </a:r>
            <a:r>
              <a:rPr lang="en-US"/>
              <a:t> (Modular inversion)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3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US"/>
                  <a:t>Về </a:t>
                </a:r>
                <a:r>
                  <a:rPr lang="en-US" err="1"/>
                  <a:t>mặt</a:t>
                </a:r>
                <a:r>
                  <a:rPr lang="en-US"/>
                  <a:t> </a:t>
                </a:r>
                <a:r>
                  <a:rPr lang="en-US" err="1"/>
                  <a:t>nguyên</a:t>
                </a:r>
                <a:r>
                  <a:rPr lang="en-US"/>
                  <a:t> </a:t>
                </a:r>
                <a:r>
                  <a:rPr lang="en-US" err="1"/>
                  <a:t>lý</a:t>
                </a:r>
                <a:r>
                  <a:rPr lang="en-US"/>
                  <a:t>, </a:t>
                </a:r>
                <a:r>
                  <a:rPr lang="en-US" err="1"/>
                  <a:t>nghịch</a:t>
                </a:r>
                <a:r>
                  <a:rPr lang="en-US"/>
                  <a:t> </a:t>
                </a:r>
                <a:r>
                  <a:rPr lang="en-US" err="1"/>
                  <a:t>đảo</a:t>
                </a:r>
                <a:r>
                  <a:rPr lang="en-US"/>
                  <a:t> </a:t>
                </a:r>
                <a:r>
                  <a:rPr lang="en-US" err="1"/>
                  <a:t>của</a:t>
                </a:r>
                <a:r>
                  <a:rPr lang="en-US"/>
                  <a:t> 2 </a:t>
                </a:r>
                <a:r>
                  <a:rPr lang="en-US" err="1"/>
                  <a:t>là</a:t>
                </a:r>
                <a:r>
                  <a:rPr lang="en-US"/>
                  <a:t>  ½, </a:t>
                </a:r>
                <a:r>
                  <a:rPr lang="en-US" err="1"/>
                  <a:t>trong</a:t>
                </a:r>
                <a:r>
                  <a:rPr lang="en-US"/>
                  <a:t> </a:t>
                </a:r>
                <a:r>
                  <a:rPr lang="en-US" err="1"/>
                  <a:t>trường</a:t>
                </a:r>
                <a:r>
                  <a:rPr lang="en-US"/>
                  <a:t> </a:t>
                </a:r>
                <a:r>
                  <a:rPr lang="en-US" err="1"/>
                  <a:t>hữu</a:t>
                </a:r>
                <a:r>
                  <a:rPr lang="en-US"/>
                  <a:t> </a:t>
                </a:r>
                <a:r>
                  <a:rPr lang="en-US" err="1"/>
                  <a:t>hạn</a:t>
                </a:r>
                <a:r>
                  <a:rPr lang="en-US"/>
                  <a:t> 𝕫</a:t>
                </a:r>
                <a:r>
                  <a:rPr lang="en-US" baseline="-25000"/>
                  <a:t>N </a:t>
                </a:r>
                <a:r>
                  <a:rPr lang="en-US" err="1"/>
                  <a:t>giá</a:t>
                </a:r>
                <a:r>
                  <a:rPr lang="en-US"/>
                  <a:t> </a:t>
                </a:r>
                <a:r>
                  <a:rPr lang="en-US" err="1"/>
                  <a:t>trị</a:t>
                </a:r>
                <a:r>
                  <a:rPr lang="en-US"/>
                  <a:t> </a:t>
                </a:r>
                <a:r>
                  <a:rPr lang="en-US" err="1"/>
                  <a:t>là</a:t>
                </a:r>
                <a:r>
                  <a:rPr lang="en-US"/>
                  <a:t> bao </a:t>
                </a:r>
                <a:r>
                  <a:rPr lang="en-US" err="1"/>
                  <a:t>nhiêu</a:t>
                </a:r>
                <a:r>
                  <a:rPr lang="en-US"/>
                  <a:t>? </a:t>
                </a:r>
                <a:endParaRPr lang="en-US" baseline="-25000"/>
              </a:p>
              <a:p>
                <a:pPr marL="0" indent="0">
                  <a:buNone/>
                </a:pPr>
                <a:r>
                  <a:rPr lang="en-US" b="1" u="sng"/>
                  <a:t>Def</a:t>
                </a:r>
                <a:r>
                  <a:rPr lang="en-US"/>
                  <a:t>:    </a:t>
                </a:r>
                <a:r>
                  <a:rPr lang="en-US" err="1"/>
                  <a:t>Nghịch</a:t>
                </a:r>
                <a:r>
                  <a:rPr lang="en-US"/>
                  <a:t> </a:t>
                </a:r>
                <a:r>
                  <a:rPr lang="en-US" err="1"/>
                  <a:t>đảo</a:t>
                </a:r>
                <a:r>
                  <a:rPr lang="en-US"/>
                  <a:t> </a:t>
                </a:r>
                <a:r>
                  <a:rPr lang="en-US" err="1"/>
                  <a:t>của</a:t>
                </a:r>
                <a:r>
                  <a:rPr lang="en-US"/>
                  <a:t> x </a:t>
                </a:r>
                <a:r>
                  <a:rPr lang="en-US" err="1"/>
                  <a:t>trong</a:t>
                </a:r>
                <a:r>
                  <a:rPr lang="en-US"/>
                  <a:t> 𝕫</a:t>
                </a:r>
                <a:r>
                  <a:rPr lang="en-US" baseline="-25000"/>
                  <a:t>N </a:t>
                </a:r>
                <a:r>
                  <a:rPr lang="en-US" err="1"/>
                  <a:t>là</a:t>
                </a:r>
                <a:r>
                  <a:rPr lang="en-US"/>
                  <a:t> y </a:t>
                </a:r>
                <a:r>
                  <a:rPr lang="en-US" err="1"/>
                  <a:t>sao</a:t>
                </a:r>
                <a:r>
                  <a:rPr lang="en-US"/>
                  <a:t> </a:t>
                </a:r>
                <a:r>
                  <a:rPr lang="en-US" err="1"/>
                  <a:t>cho</a:t>
                </a:r>
                <a:r>
                  <a:rPr lang="en-US"/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 dirty="0">
                        <a:latin typeface="Cambria Math" panose="02040503050406030204" pitchFamily="18" charset="0"/>
                      </a:rPr>
                      <m:t>x</m:t>
                    </m:r>
                    <m:r>
                      <a:rPr lang="vi-VN" b="0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m:rPr>
                        <m:sty m:val="p"/>
                      </m:rPr>
                      <a:rPr lang="vi-VN" i="1" dirty="0">
                        <a:latin typeface="Cambria Math" panose="02040503050406030204" pitchFamily="18" charset="0"/>
                      </a:rPr>
                      <m:t>y</m:t>
                    </m:r>
                    <m:r>
                      <a:rPr lang="vi-VN" b="0" i="1" dirty="0" smtClean="0">
                        <a:latin typeface="Cambria Math" panose="02040503050406030204" pitchFamily="18" charset="0"/>
                      </a:rPr>
                      <m:t>=1 </m:t>
                    </m:r>
                    <m:r>
                      <m:rPr>
                        <m:sty m:val="p"/>
                      </m:rPr>
                      <a:rPr lang="vi-VN" i="1" dirty="0">
                        <a:latin typeface="Cambria Math" panose="02040503050406030204" pitchFamily="18" charset="0"/>
                      </a:rPr>
                      <m:t>in</m:t>
                    </m:r>
                    <m:r>
                      <a:rPr lang="vi-VN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dirty="0"/>
                      <m:t>𝕫</m:t>
                    </m:r>
                    <m:r>
                      <m:rPr>
                        <m:nor/>
                      </m:rPr>
                      <a:rPr lang="en-US" baseline="-25000" dirty="0"/>
                      <m:t>N</m:t>
                    </m:r>
                  </m:oMath>
                </a14:m>
                <a:r>
                  <a:rPr lang="en-US"/>
                  <a:t>, y = x</a:t>
                </a:r>
                <a:r>
                  <a:rPr lang="en-US" baseline="30000"/>
                  <a:t>-1</a:t>
                </a:r>
                <a:endParaRPr lang="en-US"/>
              </a:p>
              <a:p>
                <a:pPr marL="0" indent="0">
                  <a:buNone/>
                </a:pPr>
                <a:r>
                  <a:rPr lang="en-US" err="1"/>
                  <a:t>Ví</a:t>
                </a:r>
                <a:r>
                  <a:rPr lang="en-US"/>
                  <a:t> </a:t>
                </a:r>
                <a:r>
                  <a:rPr lang="en-US" err="1"/>
                  <a:t>dụ</a:t>
                </a:r>
                <a:r>
                  <a:rPr lang="en-US"/>
                  <a:t>: N </a:t>
                </a:r>
                <a:r>
                  <a:rPr lang="en-US" err="1"/>
                  <a:t>là</a:t>
                </a:r>
                <a:r>
                  <a:rPr lang="en-US"/>
                  <a:t> </a:t>
                </a:r>
                <a:r>
                  <a:rPr lang="en-US" err="1"/>
                  <a:t>một</a:t>
                </a:r>
                <a:r>
                  <a:rPr lang="en-US"/>
                  <a:t> </a:t>
                </a:r>
                <a:r>
                  <a:rPr lang="en-US" err="1"/>
                  <a:t>số</a:t>
                </a:r>
                <a:r>
                  <a:rPr lang="en-US"/>
                  <a:t> </a:t>
                </a:r>
                <a:r>
                  <a:rPr lang="en-US" err="1"/>
                  <a:t>nguyên</a:t>
                </a:r>
                <a:r>
                  <a:rPr lang="en-US"/>
                  <a:t> </a:t>
                </a:r>
                <a:r>
                  <a:rPr lang="en-US" err="1"/>
                  <a:t>dương</a:t>
                </a:r>
                <a:r>
                  <a:rPr lang="en-US"/>
                  <a:t> </a:t>
                </a:r>
                <a:r>
                  <a:rPr lang="en-US" err="1"/>
                  <a:t>lẻ</a:t>
                </a:r>
                <a:r>
                  <a:rPr lang="en-US"/>
                  <a:t>, </a:t>
                </a:r>
                <a:r>
                  <a:rPr lang="en-US" err="1"/>
                  <a:t>tìm</a:t>
                </a:r>
                <a:r>
                  <a:rPr lang="en-US"/>
                  <a:t> </a:t>
                </a:r>
                <a:r>
                  <a:rPr lang="en-US" err="1"/>
                  <a:t>nghịch</a:t>
                </a:r>
                <a:r>
                  <a:rPr lang="en-US"/>
                  <a:t> </a:t>
                </a:r>
                <a:r>
                  <a:rPr lang="en-US" err="1"/>
                  <a:t>đảo</a:t>
                </a:r>
                <a:r>
                  <a:rPr lang="en-US"/>
                  <a:t> </a:t>
                </a:r>
                <a:r>
                  <a:rPr lang="en-US" err="1"/>
                  <a:t>của</a:t>
                </a:r>
                <a:r>
                  <a:rPr lang="en-US"/>
                  <a:t> 2 </a:t>
                </a:r>
                <a:r>
                  <a:rPr lang="en-US" err="1"/>
                  <a:t>trong</a:t>
                </a:r>
                <a:r>
                  <a:rPr lang="en-US"/>
                  <a:t> 𝕫</a:t>
                </a:r>
                <a:r>
                  <a:rPr lang="en-US" baseline="-25000"/>
                  <a:t>N</a:t>
                </a:r>
                <a:r>
                  <a:rPr lang="en-US"/>
                  <a:t> </a:t>
                </a:r>
                <a:r>
                  <a:rPr lang="en-US" err="1"/>
                  <a:t>là</a:t>
                </a:r>
                <a:r>
                  <a:rPr lang="en-US"/>
                  <a:t> (N+1)/2</a:t>
                </a:r>
              </a:p>
              <a:p>
                <a:pPr marL="0" indent="0">
                  <a:buNone/>
                </a:pPr>
                <a:r>
                  <a:rPr lang="en-US"/>
                  <a:t>Ta </a:t>
                </a:r>
                <a:r>
                  <a:rPr lang="en-US" err="1"/>
                  <a:t>có</a:t>
                </a:r>
                <a:r>
                  <a:rPr lang="en-US"/>
                  <a:t> : 2. (N+1)/2 = N+1 </a:t>
                </a:r>
                <a:r>
                  <a:rPr lang="en-US" err="1"/>
                  <a:t>đồng</a:t>
                </a:r>
                <a:r>
                  <a:rPr lang="en-US"/>
                  <a:t> </a:t>
                </a:r>
                <a:r>
                  <a:rPr lang="en-US" err="1"/>
                  <a:t>dư</a:t>
                </a:r>
                <a:r>
                  <a:rPr lang="en-US"/>
                  <a:t> </a:t>
                </a:r>
                <a:r>
                  <a:rPr lang="en-US" err="1"/>
                  <a:t>với</a:t>
                </a:r>
                <a:r>
                  <a:rPr lang="en-US"/>
                  <a:t> 1 </a:t>
                </a:r>
                <a:r>
                  <a:rPr lang="en-US" err="1"/>
                  <a:t>trong</a:t>
                </a:r>
                <a:r>
                  <a:rPr lang="en-US"/>
                  <a:t> </a:t>
                </a:r>
                <a:r>
                  <a:rPr lang="en-US" err="1"/>
                  <a:t>phép</a:t>
                </a:r>
                <a:r>
                  <a:rPr lang="en-US"/>
                  <a:t> chia modular </a:t>
                </a:r>
                <a:r>
                  <a:rPr lang="en-US" err="1"/>
                  <a:t>với</a:t>
                </a:r>
                <a:r>
                  <a:rPr lang="en-US"/>
                  <a:t> N </a:t>
                </a:r>
              </a:p>
              <a:p>
                <a:pPr marL="0" indent="0">
                  <a:buNone/>
                </a:pPr>
                <a:r>
                  <a:rPr lang="en-US"/>
                  <a:t>-&gt; 2. (N+1)/2 = N+1 = 1 in 𝕫</a:t>
                </a:r>
                <a:r>
                  <a:rPr lang="en-US" baseline="-25000"/>
                  <a:t>N</a:t>
                </a:r>
              </a:p>
              <a:p>
                <a:pPr marL="0" indent="0">
                  <a:buNone/>
                </a:pPr>
                <a:r>
                  <a:rPr lang="en-US" err="1"/>
                  <a:t>Vậy</a:t>
                </a:r>
                <a:r>
                  <a:rPr lang="en-US"/>
                  <a:t> </a:t>
                </a:r>
                <a:r>
                  <a:rPr lang="en-US" err="1"/>
                  <a:t>phần</a:t>
                </a:r>
                <a:r>
                  <a:rPr lang="en-US"/>
                  <a:t> </a:t>
                </a:r>
                <a:r>
                  <a:rPr lang="en-US" err="1"/>
                  <a:t>tử</a:t>
                </a:r>
                <a:r>
                  <a:rPr lang="en-US"/>
                  <a:t> </a:t>
                </a:r>
                <a:r>
                  <a:rPr lang="en-US" err="1"/>
                  <a:t>nào</a:t>
                </a:r>
                <a:r>
                  <a:rPr lang="en-US"/>
                  <a:t> </a:t>
                </a:r>
                <a:r>
                  <a:rPr lang="en-US" err="1"/>
                  <a:t>tồn</a:t>
                </a:r>
                <a:r>
                  <a:rPr lang="en-US"/>
                  <a:t> </a:t>
                </a:r>
                <a:r>
                  <a:rPr lang="en-US" err="1"/>
                  <a:t>tại</a:t>
                </a:r>
                <a:r>
                  <a:rPr lang="en-US"/>
                  <a:t> </a:t>
                </a:r>
                <a:r>
                  <a:rPr lang="en-US" err="1"/>
                  <a:t>nghịch</a:t>
                </a:r>
                <a:r>
                  <a:rPr lang="en-US"/>
                  <a:t> </a:t>
                </a:r>
                <a:r>
                  <a:rPr lang="en-US" err="1"/>
                  <a:t>đảo</a:t>
                </a:r>
                <a:r>
                  <a:rPr lang="en-US"/>
                  <a:t> </a:t>
                </a:r>
                <a:r>
                  <a:rPr lang="en-US" err="1"/>
                  <a:t>trong</a:t>
                </a:r>
                <a:r>
                  <a:rPr lang="en-US"/>
                  <a:t> 𝕫</a:t>
                </a:r>
                <a:r>
                  <a:rPr lang="en-US" baseline="-25000"/>
                  <a:t>N</a:t>
                </a:r>
                <a:r>
                  <a:rPr lang="en-US"/>
                  <a:t>?</a:t>
                </a:r>
              </a:p>
              <a:p>
                <a:pPr marL="0" indent="0">
                  <a:buNone/>
                </a:pPr>
                <a:r>
                  <a:rPr lang="en-US" b="1" u="sng"/>
                  <a:t>Lemma</a:t>
                </a:r>
                <a:r>
                  <a:rPr lang="en-US"/>
                  <a:t>: x </a:t>
                </a:r>
                <a:r>
                  <a:rPr lang="en-US" err="1"/>
                  <a:t>là</a:t>
                </a:r>
                <a:r>
                  <a:rPr lang="en-US"/>
                  <a:t> </a:t>
                </a:r>
                <a:r>
                  <a:rPr lang="en-US" err="1"/>
                  <a:t>một</a:t>
                </a:r>
                <a:r>
                  <a:rPr lang="en-US"/>
                  <a:t> </a:t>
                </a:r>
                <a:r>
                  <a:rPr lang="en-US" err="1"/>
                  <a:t>phần</a:t>
                </a:r>
                <a:r>
                  <a:rPr lang="en-US"/>
                  <a:t> </a:t>
                </a:r>
                <a:r>
                  <a:rPr lang="en-US" err="1"/>
                  <a:t>tử</a:t>
                </a:r>
                <a:r>
                  <a:rPr lang="en-US"/>
                  <a:t> </a:t>
                </a:r>
                <a:r>
                  <a:rPr lang="en-US" err="1"/>
                  <a:t>tồn</a:t>
                </a:r>
                <a:r>
                  <a:rPr lang="en-US"/>
                  <a:t> </a:t>
                </a:r>
                <a:r>
                  <a:rPr lang="en-US" err="1"/>
                  <a:t>tại</a:t>
                </a:r>
                <a:r>
                  <a:rPr lang="en-US"/>
                  <a:t> </a:t>
                </a:r>
                <a:r>
                  <a:rPr lang="en-US" err="1"/>
                  <a:t>nghịch</a:t>
                </a:r>
                <a:r>
                  <a:rPr lang="en-US"/>
                  <a:t> </a:t>
                </a:r>
                <a:r>
                  <a:rPr lang="en-US" err="1"/>
                  <a:t>đảo</a:t>
                </a:r>
                <a:r>
                  <a:rPr lang="en-US"/>
                  <a:t> </a:t>
                </a:r>
                <a:r>
                  <a:rPr lang="en-US" err="1"/>
                  <a:t>nếu</a:t>
                </a:r>
                <a:r>
                  <a:rPr lang="en-US"/>
                  <a:t> </a:t>
                </a:r>
                <a:r>
                  <a:rPr lang="en-US" err="1"/>
                  <a:t>và</a:t>
                </a:r>
                <a:r>
                  <a:rPr lang="en-US"/>
                  <a:t> </a:t>
                </a:r>
                <a:r>
                  <a:rPr lang="en-US" err="1"/>
                  <a:t>chỉ</a:t>
                </a:r>
                <a:r>
                  <a:rPr lang="en-US"/>
                  <a:t> </a:t>
                </a:r>
                <a:r>
                  <a:rPr lang="en-US" err="1"/>
                  <a:t>nếu</a:t>
                </a:r>
                <a:r>
                  <a:rPr lang="en-US"/>
                  <a:t> </a:t>
                </a:r>
                <a:r>
                  <a:rPr lang="en-US" err="1"/>
                  <a:t>gcd</a:t>
                </a:r>
                <a:r>
                  <a:rPr lang="en-US"/>
                  <a:t>(</a:t>
                </a:r>
                <a:r>
                  <a:rPr lang="en-US" err="1"/>
                  <a:t>x,N</a:t>
                </a:r>
                <a:r>
                  <a:rPr lang="en-US"/>
                  <a:t>) = 1</a:t>
                </a:r>
              </a:p>
              <a:p>
                <a:pPr marL="0" indent="0">
                  <a:buNone/>
                </a:pPr>
                <a:r>
                  <a:rPr lang="en-US"/>
                  <a:t>-&gt; N </a:t>
                </a:r>
                <a:r>
                  <a:rPr lang="en-US" err="1"/>
                  <a:t>là</a:t>
                </a:r>
                <a:r>
                  <a:rPr lang="en-US"/>
                  <a:t> </a:t>
                </a:r>
                <a:r>
                  <a:rPr lang="en-US" err="1"/>
                  <a:t>số</a:t>
                </a:r>
                <a:r>
                  <a:rPr lang="en-US"/>
                  <a:t> </a:t>
                </a:r>
                <a:r>
                  <a:rPr lang="en-US" err="1"/>
                  <a:t>nguyên</a:t>
                </a:r>
                <a:r>
                  <a:rPr lang="en-US"/>
                  <a:t> </a:t>
                </a:r>
                <a:r>
                  <a:rPr lang="en-US" err="1"/>
                  <a:t>tố</a:t>
                </a:r>
                <a:r>
                  <a:rPr lang="en-US"/>
                  <a:t> </a:t>
                </a:r>
                <a:r>
                  <a:rPr lang="en-US" err="1"/>
                  <a:t>thì</a:t>
                </a:r>
                <a:r>
                  <a:rPr lang="en-US"/>
                  <a:t> </a:t>
                </a:r>
                <a:r>
                  <a:rPr lang="en-US" err="1"/>
                  <a:t>các</a:t>
                </a:r>
                <a:r>
                  <a:rPr lang="en-US"/>
                  <a:t> </a:t>
                </a:r>
                <a:r>
                  <a:rPr lang="en-US" err="1"/>
                  <a:t>số</a:t>
                </a:r>
                <a:r>
                  <a:rPr lang="en-US"/>
                  <a:t> </a:t>
                </a:r>
                <a:r>
                  <a:rPr lang="en-US" err="1"/>
                  <a:t>trong</a:t>
                </a:r>
                <a:r>
                  <a:rPr lang="en-US"/>
                  <a:t> 𝕫</a:t>
                </a:r>
                <a:r>
                  <a:rPr lang="en-US" baseline="-25000"/>
                  <a:t>N</a:t>
                </a:r>
                <a:r>
                  <a:rPr lang="en-US"/>
                  <a:t> </a:t>
                </a:r>
                <a:r>
                  <a:rPr lang="en-US" err="1"/>
                  <a:t>luôn</a:t>
                </a:r>
                <a:r>
                  <a:rPr lang="en-US"/>
                  <a:t> </a:t>
                </a:r>
                <a:r>
                  <a:rPr lang="en-US" err="1"/>
                  <a:t>tồn</a:t>
                </a:r>
                <a:r>
                  <a:rPr lang="en-US"/>
                  <a:t> </a:t>
                </a:r>
                <a:r>
                  <a:rPr lang="en-US" err="1"/>
                  <a:t>tại</a:t>
                </a:r>
                <a:r>
                  <a:rPr lang="en-US"/>
                  <a:t> </a:t>
                </a:r>
                <a:r>
                  <a:rPr lang="en-US" err="1"/>
                  <a:t>nghịch</a:t>
                </a:r>
                <a:r>
                  <a:rPr lang="en-US"/>
                  <a:t> </a:t>
                </a:r>
                <a:r>
                  <a:rPr lang="en-US" err="1"/>
                  <a:t>đảo</a:t>
                </a:r>
                <a:r>
                  <a:rPr lang="en-US"/>
                  <a:t> </a:t>
                </a:r>
                <a:endParaRPr lang="en-US" baseline="-25000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 baseline="3000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blipFill>
                <a:blip r:embed="rId3"/>
                <a:stretch>
                  <a:fillRect l="-1266" t="-3103" r="-14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070998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1D40E-F7A6-FF48-A309-0AE8D7098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</a:t>
            </a:r>
            <a:r>
              <a:rPr lang="en-VN"/>
              <a:t>í dụ 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630C0D-0C86-D44C-9BA1-53F38774104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VN"/>
              <a:t>Tìm </a:t>
            </a:r>
            <a:r>
              <a:rPr lang="en-US"/>
              <a:t>𝕫*</a:t>
            </a:r>
            <a:r>
              <a:rPr lang="en-US" baseline="-25000"/>
              <a:t>28</a:t>
            </a:r>
            <a:r>
              <a:rPr lang="en-VN"/>
              <a:t> , </a:t>
            </a:r>
            <a:r>
              <a:rPr lang="en-US"/>
              <a:t>𝕫*</a:t>
            </a:r>
            <a:r>
              <a:rPr lang="en-US" baseline="-25000"/>
              <a:t>1021 </a:t>
            </a:r>
            <a:r>
              <a:rPr lang="en-US" err="1"/>
              <a:t>là</a:t>
            </a:r>
            <a:r>
              <a:rPr lang="en-US"/>
              <a:t> </a:t>
            </a:r>
            <a:r>
              <a:rPr lang="en-US" err="1"/>
              <a:t>tập</a:t>
            </a:r>
            <a:r>
              <a:rPr lang="en-US"/>
              <a:t> </a:t>
            </a:r>
            <a:r>
              <a:rPr lang="en-US" err="1"/>
              <a:t>của</a:t>
            </a:r>
            <a:r>
              <a:rPr lang="en-US"/>
              <a:t> </a:t>
            </a:r>
            <a:r>
              <a:rPr lang="en-US" err="1"/>
              <a:t>các</a:t>
            </a:r>
            <a:r>
              <a:rPr lang="en-US"/>
              <a:t> </a:t>
            </a:r>
            <a:r>
              <a:rPr lang="en-US" err="1"/>
              <a:t>phần</a:t>
            </a:r>
            <a:r>
              <a:rPr lang="en-US"/>
              <a:t> </a:t>
            </a:r>
            <a:r>
              <a:rPr lang="en-US" err="1"/>
              <a:t>tử</a:t>
            </a:r>
            <a:r>
              <a:rPr lang="en-US"/>
              <a:t> </a:t>
            </a:r>
            <a:r>
              <a:rPr lang="en-US" err="1"/>
              <a:t>khả</a:t>
            </a:r>
            <a:r>
              <a:rPr lang="en-US"/>
              <a:t> </a:t>
            </a:r>
            <a:r>
              <a:rPr lang="en-US" err="1"/>
              <a:t>nghịch</a:t>
            </a:r>
            <a:r>
              <a:rPr lang="en-US"/>
              <a:t> </a:t>
            </a:r>
            <a:r>
              <a:rPr lang="en-US" err="1"/>
              <a:t>trong</a:t>
            </a:r>
            <a:r>
              <a:rPr lang="en-US"/>
              <a:t> 2 </a:t>
            </a:r>
            <a:r>
              <a:rPr lang="en-US" err="1"/>
              <a:t>trường</a:t>
            </a:r>
            <a:r>
              <a:rPr lang="en-US"/>
              <a:t> </a:t>
            </a:r>
            <a:r>
              <a:rPr lang="en-US" err="1"/>
              <a:t>hợp</a:t>
            </a:r>
            <a:r>
              <a:rPr lang="en-US"/>
              <a:t> N = 28, </a:t>
            </a:r>
            <a:r>
              <a:rPr lang="en-VN"/>
              <a:t> N = 1021 </a:t>
            </a:r>
          </a:p>
          <a:p>
            <a:r>
              <a:rPr lang="en-VN"/>
              <a:t>Tìm tất cả các giá trị nghịch đảo của phần tử trong </a:t>
            </a:r>
            <a:r>
              <a:rPr lang="en-US"/>
              <a:t>𝕫*</a:t>
            </a:r>
            <a:r>
              <a:rPr lang="en-US" baseline="-25000"/>
              <a:t>N</a:t>
            </a:r>
            <a:r>
              <a:rPr lang="en-VN"/>
              <a:t> </a:t>
            </a:r>
          </a:p>
          <a:p>
            <a:r>
              <a:rPr lang="en-US"/>
              <a:t>𝕫*</a:t>
            </a:r>
            <a:r>
              <a:rPr lang="en-US" baseline="-25000"/>
              <a:t>28 </a:t>
            </a:r>
            <a:r>
              <a:rPr lang="en-US"/>
              <a:t>= (1, 3, 5, 9, 11, 13, 15, 17, 19, 23, 25, 27)</a:t>
            </a:r>
          </a:p>
          <a:p>
            <a:r>
              <a:rPr lang="en-US"/>
              <a:t>𝕫*</a:t>
            </a:r>
            <a:r>
              <a:rPr lang="en-US" baseline="-25000"/>
              <a:t>1021  </a:t>
            </a:r>
            <a:r>
              <a:rPr lang="en-US"/>
              <a:t>= 𝕫*</a:t>
            </a:r>
            <a:r>
              <a:rPr lang="en-US" baseline="-25000"/>
              <a:t>1021</a:t>
            </a:r>
            <a:r>
              <a:rPr lang="en-US"/>
              <a:t>\{0} = {1,2,3,4…1020}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1108333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5077" y="78613"/>
            <a:ext cx="4248023" cy="451739"/>
          </a:xfrm>
        </p:spPr>
        <p:txBody>
          <a:bodyPr/>
          <a:lstStyle/>
          <a:p>
            <a:r>
              <a:rPr lang="en-US" sz="2800" err="1"/>
              <a:t>Định</a:t>
            </a:r>
            <a:r>
              <a:rPr lang="en-US" sz="2800"/>
              <a:t> </a:t>
            </a:r>
            <a:r>
              <a:rPr lang="en-US" sz="2800" err="1"/>
              <a:t>lý</a:t>
            </a:r>
            <a:r>
              <a:rPr lang="en-US" sz="2800"/>
              <a:t> Fermat    (1640)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235077" y="841249"/>
            <a:ext cx="8674100" cy="36164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u="sng" err="1"/>
              <a:t>Thm</a:t>
            </a:r>
            <a:r>
              <a:rPr lang="en-US" b="1"/>
              <a:t>:     </a:t>
            </a:r>
            <a:r>
              <a:rPr lang="en-US"/>
              <a:t>p </a:t>
            </a:r>
            <a:r>
              <a:rPr lang="en-US" err="1"/>
              <a:t>là</a:t>
            </a:r>
            <a:r>
              <a:rPr lang="en-US"/>
              <a:t> </a:t>
            </a:r>
            <a:r>
              <a:rPr lang="en-US" err="1"/>
              <a:t>một</a:t>
            </a:r>
            <a:r>
              <a:rPr lang="en-US"/>
              <a:t> </a:t>
            </a:r>
            <a:r>
              <a:rPr lang="en-US" err="1"/>
              <a:t>số</a:t>
            </a:r>
            <a:r>
              <a:rPr lang="en-US"/>
              <a:t> </a:t>
            </a:r>
            <a:r>
              <a:rPr lang="en-US" err="1"/>
              <a:t>nguyên</a:t>
            </a:r>
            <a:r>
              <a:rPr lang="en-US"/>
              <a:t> </a:t>
            </a:r>
            <a:r>
              <a:rPr lang="en-US" err="1"/>
              <a:t>tố</a:t>
            </a:r>
            <a:r>
              <a:rPr lang="en-US"/>
              <a:t> </a:t>
            </a:r>
            <a:endParaRPr lang="en-US" b="1"/>
          </a:p>
          <a:p>
            <a:pPr marL="0" indent="0">
              <a:spcBef>
                <a:spcPts val="1824"/>
              </a:spcBef>
              <a:buNone/>
            </a:pPr>
            <a:r>
              <a:rPr lang="en-US" b="1">
                <a:solidFill>
                  <a:srgbClr val="FF0000"/>
                </a:solidFill>
              </a:rPr>
              <a:t>		</a:t>
            </a:r>
            <a:r>
              <a:rPr lang="en-US" b="1"/>
              <a:t>∀ x ∈ (</a:t>
            </a:r>
            <a:r>
              <a:rPr lang="en-US" b="1" err="1"/>
              <a:t>Z</a:t>
            </a:r>
            <a:r>
              <a:rPr lang="en-US" b="1" baseline="-25000" err="1"/>
              <a:t>p</a:t>
            </a:r>
            <a:r>
              <a:rPr lang="en-US" b="1"/>
              <a:t>)</a:t>
            </a:r>
            <a:r>
              <a:rPr lang="en-US" b="1" baseline="30000"/>
              <a:t>*</a:t>
            </a:r>
            <a:r>
              <a:rPr lang="en-US" b="1"/>
              <a:t> :      </a:t>
            </a:r>
            <a:r>
              <a:rPr lang="en-US" b="1">
                <a:solidFill>
                  <a:srgbClr val="FF0000"/>
                </a:solidFill>
              </a:rPr>
              <a:t>x</a:t>
            </a:r>
            <a:r>
              <a:rPr lang="en-US" sz="3200" b="1" baseline="30000">
                <a:solidFill>
                  <a:srgbClr val="FF0000"/>
                </a:solidFill>
              </a:rPr>
              <a:t>p-1</a:t>
            </a:r>
            <a:r>
              <a:rPr lang="en-US" b="1">
                <a:solidFill>
                  <a:srgbClr val="FF0000"/>
                </a:solidFill>
              </a:rPr>
              <a:t>  ≡  1  in </a:t>
            </a:r>
            <a:r>
              <a:rPr lang="en-US" b="1" err="1">
                <a:solidFill>
                  <a:srgbClr val="FF0000"/>
                </a:solidFill>
              </a:rPr>
              <a:t>Z</a:t>
            </a:r>
            <a:r>
              <a:rPr lang="en-US" b="1" baseline="-25000" err="1">
                <a:solidFill>
                  <a:srgbClr val="FF0000"/>
                </a:solidFill>
              </a:rPr>
              <a:t>p</a:t>
            </a:r>
            <a:r>
              <a:rPr lang="en-US" b="1" baseline="-25000">
                <a:solidFill>
                  <a:srgbClr val="FF0000"/>
                </a:solidFill>
              </a:rPr>
              <a:t> </a:t>
            </a:r>
          </a:p>
          <a:p>
            <a:pPr marL="0" indent="0">
              <a:buNone/>
            </a:pPr>
            <a:r>
              <a:rPr lang="en-US">
                <a:solidFill>
                  <a:srgbClr val="000000"/>
                </a:solidFill>
              </a:rPr>
              <a:t>Example:    p = 5 ta </a:t>
            </a:r>
            <a:r>
              <a:rPr lang="en-US" err="1">
                <a:solidFill>
                  <a:srgbClr val="000000"/>
                </a:solidFill>
              </a:rPr>
              <a:t>có</a:t>
            </a:r>
            <a:r>
              <a:rPr lang="en-US">
                <a:solidFill>
                  <a:srgbClr val="000000"/>
                </a:solidFill>
              </a:rPr>
              <a:t> 3</a:t>
            </a:r>
            <a:r>
              <a:rPr lang="en-US" baseline="30000">
                <a:solidFill>
                  <a:srgbClr val="000000"/>
                </a:solidFill>
              </a:rPr>
              <a:t>4</a:t>
            </a:r>
            <a:r>
              <a:rPr lang="en-US">
                <a:solidFill>
                  <a:srgbClr val="000000"/>
                </a:solidFill>
              </a:rPr>
              <a:t> = 81 </a:t>
            </a:r>
            <a:r>
              <a:rPr lang="en-US" b="1">
                <a:solidFill>
                  <a:srgbClr val="FF0000"/>
                </a:solidFill>
              </a:rPr>
              <a:t>≡</a:t>
            </a:r>
            <a:r>
              <a:rPr lang="en-US">
                <a:solidFill>
                  <a:srgbClr val="000000"/>
                </a:solidFill>
              </a:rPr>
              <a:t> 1 </a:t>
            </a:r>
            <a:r>
              <a:rPr lang="en-US" err="1">
                <a:solidFill>
                  <a:srgbClr val="000000"/>
                </a:solidFill>
              </a:rPr>
              <a:t>thuộc</a:t>
            </a:r>
            <a:r>
              <a:rPr lang="en-US">
                <a:solidFill>
                  <a:srgbClr val="000000"/>
                </a:solidFill>
              </a:rPr>
              <a:t>  Z</a:t>
            </a:r>
            <a:r>
              <a:rPr lang="en-US" baseline="-25000">
                <a:solidFill>
                  <a:srgbClr val="000000"/>
                </a:solidFill>
              </a:rPr>
              <a:t>5</a:t>
            </a:r>
          </a:p>
          <a:p>
            <a:pPr marL="0" indent="0">
              <a:buNone/>
            </a:pPr>
            <a:r>
              <a:rPr lang="en-US" err="1">
                <a:solidFill>
                  <a:srgbClr val="000000"/>
                </a:solidFill>
              </a:rPr>
              <a:t>Vì</a:t>
            </a:r>
            <a:r>
              <a:rPr lang="en-US">
                <a:solidFill>
                  <a:srgbClr val="000000"/>
                </a:solidFill>
              </a:rPr>
              <a:t> x </a:t>
            </a:r>
            <a:r>
              <a:rPr lang="en-US"/>
              <a:t>∈ (</a:t>
            </a:r>
            <a:r>
              <a:rPr lang="en-US" err="1"/>
              <a:t>Z</a:t>
            </a:r>
            <a:r>
              <a:rPr lang="en-US" baseline="-25000" err="1"/>
              <a:t>p</a:t>
            </a:r>
            <a:r>
              <a:rPr lang="en-US"/>
              <a:t>)</a:t>
            </a:r>
            <a:r>
              <a:rPr lang="en-US" baseline="30000"/>
              <a:t>*</a:t>
            </a:r>
            <a:r>
              <a:rPr lang="en-US"/>
              <a:t> ⇒    x⋅x</a:t>
            </a:r>
            <a:r>
              <a:rPr lang="en-US" baseline="30000"/>
              <a:t>p-2</a:t>
            </a:r>
            <a:r>
              <a:rPr lang="en-US"/>
              <a:t>  =  1      ⇒    x</a:t>
            </a:r>
            <a:r>
              <a:rPr lang="en-US" baseline="30000"/>
              <a:t>−1</a:t>
            </a:r>
            <a:r>
              <a:rPr lang="en-US"/>
              <a:t> = x</a:t>
            </a:r>
            <a:r>
              <a:rPr lang="en-US" baseline="30000"/>
              <a:t>p-2</a:t>
            </a:r>
            <a:r>
              <a:rPr lang="en-US"/>
              <a:t>    in  </a:t>
            </a:r>
            <a:r>
              <a:rPr lang="en-US" err="1"/>
              <a:t>Z</a:t>
            </a:r>
            <a:r>
              <a:rPr lang="en-US" baseline="-25000" err="1"/>
              <a:t>p</a:t>
            </a:r>
            <a:endParaRPr lang="en-US" baseline="-25000"/>
          </a:p>
          <a:p>
            <a:pPr marL="0" indent="0">
              <a:spcBef>
                <a:spcPts val="2424"/>
              </a:spcBef>
              <a:buNone/>
            </a:pPr>
            <a:r>
              <a:rPr lang="en-US">
                <a:solidFill>
                  <a:srgbClr val="FF0000"/>
                </a:solidFill>
              </a:rPr>
              <a:t>     </a:t>
            </a:r>
            <a:r>
              <a:rPr lang="en-US" err="1">
                <a:solidFill>
                  <a:srgbClr val="FF0000"/>
                </a:solidFill>
              </a:rPr>
              <a:t>đây</a:t>
            </a:r>
            <a:r>
              <a:rPr lang="en-US">
                <a:solidFill>
                  <a:srgbClr val="FF0000"/>
                </a:solidFill>
              </a:rPr>
              <a:t> </a:t>
            </a:r>
            <a:r>
              <a:rPr lang="en-US" err="1">
                <a:solidFill>
                  <a:srgbClr val="FF0000"/>
                </a:solidFill>
              </a:rPr>
              <a:t>là</a:t>
            </a:r>
            <a:r>
              <a:rPr lang="en-US">
                <a:solidFill>
                  <a:srgbClr val="FF0000"/>
                </a:solidFill>
              </a:rPr>
              <a:t> </a:t>
            </a:r>
            <a:r>
              <a:rPr lang="en-US" err="1">
                <a:solidFill>
                  <a:srgbClr val="FF0000"/>
                </a:solidFill>
              </a:rPr>
              <a:t>một</a:t>
            </a:r>
            <a:r>
              <a:rPr lang="en-US">
                <a:solidFill>
                  <a:srgbClr val="FF0000"/>
                </a:solidFill>
              </a:rPr>
              <a:t> </a:t>
            </a:r>
            <a:r>
              <a:rPr lang="en-US" err="1">
                <a:solidFill>
                  <a:srgbClr val="FF0000"/>
                </a:solidFill>
              </a:rPr>
              <a:t>cách</a:t>
            </a:r>
            <a:r>
              <a:rPr lang="en-US">
                <a:solidFill>
                  <a:srgbClr val="FF0000"/>
                </a:solidFill>
              </a:rPr>
              <a:t> </a:t>
            </a:r>
            <a:r>
              <a:rPr lang="en-US" err="1">
                <a:solidFill>
                  <a:srgbClr val="FF0000"/>
                </a:solidFill>
              </a:rPr>
              <a:t>tìm</a:t>
            </a:r>
            <a:r>
              <a:rPr lang="en-US">
                <a:solidFill>
                  <a:srgbClr val="FF0000"/>
                </a:solidFill>
              </a:rPr>
              <a:t> </a:t>
            </a:r>
            <a:r>
              <a:rPr lang="en-US" err="1">
                <a:solidFill>
                  <a:srgbClr val="FF0000"/>
                </a:solidFill>
              </a:rPr>
              <a:t>phần</a:t>
            </a:r>
            <a:r>
              <a:rPr lang="en-US">
                <a:solidFill>
                  <a:srgbClr val="FF0000"/>
                </a:solidFill>
              </a:rPr>
              <a:t> </a:t>
            </a:r>
            <a:r>
              <a:rPr lang="en-US" err="1">
                <a:solidFill>
                  <a:srgbClr val="FF0000"/>
                </a:solidFill>
              </a:rPr>
              <a:t>tử</a:t>
            </a:r>
            <a:r>
              <a:rPr lang="en-US">
                <a:solidFill>
                  <a:srgbClr val="FF0000"/>
                </a:solidFill>
              </a:rPr>
              <a:t> </a:t>
            </a:r>
            <a:r>
              <a:rPr lang="en-US" err="1">
                <a:solidFill>
                  <a:srgbClr val="FF0000"/>
                </a:solidFill>
              </a:rPr>
              <a:t>nghịch</a:t>
            </a:r>
            <a:r>
              <a:rPr lang="en-US">
                <a:solidFill>
                  <a:srgbClr val="FF0000"/>
                </a:solidFill>
              </a:rPr>
              <a:t> </a:t>
            </a:r>
            <a:r>
              <a:rPr lang="en-US" err="1">
                <a:solidFill>
                  <a:srgbClr val="FF0000"/>
                </a:solidFill>
              </a:rPr>
              <a:t>đảo</a:t>
            </a:r>
            <a:r>
              <a:rPr lang="en-US">
                <a:solidFill>
                  <a:srgbClr val="FF0000"/>
                </a:solidFill>
              </a:rPr>
              <a:t>, </a:t>
            </a:r>
            <a:r>
              <a:rPr lang="en-US" err="1">
                <a:solidFill>
                  <a:srgbClr val="FF0000"/>
                </a:solidFill>
              </a:rPr>
              <a:t>nhưng</a:t>
            </a:r>
            <a:r>
              <a:rPr lang="en-US">
                <a:solidFill>
                  <a:srgbClr val="FF0000"/>
                </a:solidFill>
              </a:rPr>
              <a:t> </a:t>
            </a:r>
            <a:r>
              <a:rPr lang="en-US" err="1">
                <a:solidFill>
                  <a:srgbClr val="FF0000"/>
                </a:solidFill>
              </a:rPr>
              <a:t>ít</a:t>
            </a:r>
            <a:r>
              <a:rPr lang="en-US">
                <a:solidFill>
                  <a:srgbClr val="FF0000"/>
                </a:solidFill>
              </a:rPr>
              <a:t> </a:t>
            </a:r>
            <a:r>
              <a:rPr lang="en-US" err="1">
                <a:solidFill>
                  <a:srgbClr val="FF0000"/>
                </a:solidFill>
              </a:rPr>
              <a:t>hiệu</a:t>
            </a:r>
            <a:r>
              <a:rPr lang="en-US">
                <a:solidFill>
                  <a:srgbClr val="FF0000"/>
                </a:solidFill>
              </a:rPr>
              <a:t> </a:t>
            </a:r>
            <a:r>
              <a:rPr lang="en-US" err="1">
                <a:solidFill>
                  <a:srgbClr val="FF0000"/>
                </a:solidFill>
              </a:rPr>
              <a:t>quả</a:t>
            </a:r>
            <a:r>
              <a:rPr lang="en-US">
                <a:solidFill>
                  <a:srgbClr val="FF0000"/>
                </a:solidFill>
              </a:rPr>
              <a:t> </a:t>
            </a:r>
            <a:r>
              <a:rPr lang="en-US" err="1">
                <a:solidFill>
                  <a:srgbClr val="FF0000"/>
                </a:solidFill>
              </a:rPr>
              <a:t>hơn</a:t>
            </a:r>
            <a:r>
              <a:rPr lang="en-US">
                <a:solidFill>
                  <a:srgbClr val="FF0000"/>
                </a:solidFill>
              </a:rPr>
              <a:t> </a:t>
            </a:r>
            <a:r>
              <a:rPr lang="en-US" err="1">
                <a:solidFill>
                  <a:srgbClr val="FF0000"/>
                </a:solidFill>
              </a:rPr>
              <a:t>thuật</a:t>
            </a:r>
            <a:r>
              <a:rPr lang="en-US">
                <a:solidFill>
                  <a:srgbClr val="FF0000"/>
                </a:solidFill>
              </a:rPr>
              <a:t> </a:t>
            </a:r>
            <a:r>
              <a:rPr lang="en-US" err="1">
                <a:solidFill>
                  <a:srgbClr val="FF0000"/>
                </a:solidFill>
              </a:rPr>
              <a:t>toán</a:t>
            </a:r>
            <a:r>
              <a:rPr lang="en-US">
                <a:solidFill>
                  <a:srgbClr val="FF0000"/>
                </a:solidFill>
              </a:rPr>
              <a:t> </a:t>
            </a:r>
            <a:r>
              <a:rPr lang="en-US">
                <a:solidFill>
                  <a:srgbClr val="000000"/>
                </a:solidFill>
              </a:rPr>
              <a:t>Euclid</a:t>
            </a:r>
            <a:endParaRPr 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2913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err="1"/>
              <a:t>Ứng</a:t>
            </a:r>
            <a:r>
              <a:rPr lang="en-US" sz="3200"/>
              <a:t> </a:t>
            </a:r>
            <a:r>
              <a:rPr lang="en-US" sz="3200" err="1"/>
              <a:t>dụng</a:t>
            </a:r>
            <a:r>
              <a:rPr lang="en-US" sz="3200"/>
              <a:t>:  </a:t>
            </a:r>
            <a:r>
              <a:rPr lang="en-US" sz="3200" err="1"/>
              <a:t>tạo</a:t>
            </a:r>
            <a:r>
              <a:rPr lang="en-US" sz="3200"/>
              <a:t> ra </a:t>
            </a:r>
            <a:r>
              <a:rPr lang="en-US" sz="3200" err="1"/>
              <a:t>một</a:t>
            </a:r>
            <a:r>
              <a:rPr lang="en-US" sz="3200"/>
              <a:t> </a:t>
            </a:r>
            <a:r>
              <a:rPr lang="en-US" sz="3200" err="1"/>
              <a:t>số</a:t>
            </a:r>
            <a:r>
              <a:rPr lang="en-US" sz="3200"/>
              <a:t> </a:t>
            </a:r>
            <a:r>
              <a:rPr lang="en-US" sz="3200" err="1"/>
              <a:t>nguyên</a:t>
            </a:r>
            <a:r>
              <a:rPr lang="en-US" sz="3200"/>
              <a:t> </a:t>
            </a:r>
            <a:r>
              <a:rPr lang="en-US" sz="3200" err="1"/>
              <a:t>tố</a:t>
            </a:r>
            <a:r>
              <a:rPr lang="en-US" sz="3200"/>
              <a:t> </a:t>
            </a:r>
            <a:r>
              <a:rPr lang="en-US" sz="3200" err="1"/>
              <a:t>ngẫu</a:t>
            </a:r>
            <a:r>
              <a:rPr lang="en-US" sz="3200"/>
              <a:t> </a:t>
            </a:r>
            <a:r>
              <a:rPr lang="en-US" sz="3200" err="1"/>
              <a:t>nhiên</a:t>
            </a:r>
            <a:endParaRPr lang="en-US" sz="320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err="1"/>
              <a:t>Giả</a:t>
            </a:r>
            <a:r>
              <a:rPr lang="en-US"/>
              <a:t> </a:t>
            </a:r>
            <a:r>
              <a:rPr lang="en-US" err="1"/>
              <a:t>sử</a:t>
            </a:r>
            <a:r>
              <a:rPr lang="en-US"/>
              <a:t> </a:t>
            </a:r>
            <a:r>
              <a:rPr lang="en-US" err="1"/>
              <a:t>muốn</a:t>
            </a:r>
            <a:r>
              <a:rPr lang="en-US"/>
              <a:t> </a:t>
            </a:r>
            <a:r>
              <a:rPr lang="en-US" err="1"/>
              <a:t>tạo</a:t>
            </a:r>
            <a:r>
              <a:rPr lang="en-US"/>
              <a:t> ra </a:t>
            </a:r>
            <a:r>
              <a:rPr lang="en-US" err="1"/>
              <a:t>một</a:t>
            </a:r>
            <a:r>
              <a:rPr lang="en-US"/>
              <a:t> </a:t>
            </a:r>
            <a:r>
              <a:rPr lang="en-US" err="1"/>
              <a:t>số</a:t>
            </a:r>
            <a:r>
              <a:rPr lang="en-US"/>
              <a:t> </a:t>
            </a:r>
            <a:r>
              <a:rPr lang="en-US" err="1"/>
              <a:t>nguyên</a:t>
            </a:r>
            <a:r>
              <a:rPr lang="en-US"/>
              <a:t> </a:t>
            </a:r>
            <a:r>
              <a:rPr lang="en-US" err="1"/>
              <a:t>tố</a:t>
            </a:r>
            <a:r>
              <a:rPr lang="en-US"/>
              <a:t> </a:t>
            </a:r>
            <a:r>
              <a:rPr lang="en-US" err="1"/>
              <a:t>lớn</a:t>
            </a:r>
            <a:r>
              <a:rPr lang="en-US"/>
              <a:t> p </a:t>
            </a:r>
            <a:r>
              <a:rPr lang="en-US" err="1"/>
              <a:t>có</a:t>
            </a:r>
            <a:r>
              <a:rPr lang="en-US"/>
              <a:t> </a:t>
            </a:r>
            <a:r>
              <a:rPr lang="en-US" err="1"/>
              <a:t>chiều</a:t>
            </a:r>
            <a:r>
              <a:rPr lang="en-US"/>
              <a:t> </a:t>
            </a:r>
            <a:r>
              <a:rPr lang="en-US" err="1"/>
              <a:t>dài</a:t>
            </a:r>
            <a:r>
              <a:rPr lang="en-US"/>
              <a:t> 1024 bit ( i.e.   p ≈ 2</a:t>
            </a:r>
            <a:r>
              <a:rPr lang="en-US" baseline="30000"/>
              <a:t>1024 </a:t>
            </a:r>
            <a:r>
              <a:rPr lang="en-US"/>
              <a:t>)</a:t>
            </a:r>
          </a:p>
          <a:p>
            <a:pPr marL="0" indent="0">
              <a:buNone/>
            </a:pPr>
            <a:r>
              <a:rPr lang="en-US"/>
              <a:t>Step 1:  </a:t>
            </a:r>
            <a:r>
              <a:rPr lang="en-US" err="1"/>
              <a:t>chọn</a:t>
            </a:r>
            <a:r>
              <a:rPr lang="en-US"/>
              <a:t> </a:t>
            </a:r>
            <a:r>
              <a:rPr lang="en-US" err="1"/>
              <a:t>một</a:t>
            </a:r>
            <a:r>
              <a:rPr lang="en-US"/>
              <a:t> </a:t>
            </a:r>
            <a:r>
              <a:rPr lang="en-US" err="1"/>
              <a:t>số</a:t>
            </a:r>
            <a:r>
              <a:rPr lang="en-US"/>
              <a:t> </a:t>
            </a:r>
            <a:r>
              <a:rPr lang="en-US" err="1"/>
              <a:t>nguyên</a:t>
            </a:r>
            <a:r>
              <a:rPr lang="en-US"/>
              <a:t> </a:t>
            </a:r>
            <a:r>
              <a:rPr lang="en-US" err="1"/>
              <a:t>ngẫu</a:t>
            </a:r>
            <a:r>
              <a:rPr lang="en-US"/>
              <a:t> </a:t>
            </a:r>
            <a:r>
              <a:rPr lang="en-US" err="1"/>
              <a:t>nhiên</a:t>
            </a:r>
            <a:r>
              <a:rPr lang="en-US"/>
              <a:t> p ∈ [  2</a:t>
            </a:r>
            <a:r>
              <a:rPr lang="en-US" baseline="30000"/>
              <a:t>1024</a:t>
            </a:r>
            <a:r>
              <a:rPr lang="en-US"/>
              <a:t>  ,  2</a:t>
            </a:r>
            <a:r>
              <a:rPr lang="en-US" baseline="30000"/>
              <a:t>1025</a:t>
            </a:r>
            <a:r>
              <a:rPr lang="en-US"/>
              <a:t>-1 ]</a:t>
            </a:r>
          </a:p>
          <a:p>
            <a:pPr marL="0" indent="0">
              <a:buNone/>
            </a:pPr>
            <a:r>
              <a:rPr lang="en-US"/>
              <a:t>Step 2: </a:t>
            </a:r>
            <a:r>
              <a:rPr lang="en-US" err="1"/>
              <a:t>kiểm</a:t>
            </a:r>
            <a:r>
              <a:rPr lang="en-US"/>
              <a:t> </a:t>
            </a:r>
            <a:r>
              <a:rPr lang="en-US" err="1"/>
              <a:t>tra</a:t>
            </a:r>
            <a:r>
              <a:rPr lang="en-US"/>
              <a:t> </a:t>
            </a:r>
            <a:r>
              <a:rPr lang="en-US" err="1"/>
              <a:t>nếu</a:t>
            </a:r>
            <a:r>
              <a:rPr lang="en-US"/>
              <a:t> 2</a:t>
            </a:r>
            <a:r>
              <a:rPr lang="en-US" baseline="30000"/>
              <a:t>p-1</a:t>
            </a:r>
            <a:r>
              <a:rPr lang="en-US"/>
              <a:t> </a:t>
            </a:r>
            <a:r>
              <a:rPr lang="en-US" b="1">
                <a:solidFill>
                  <a:srgbClr val="FF0000"/>
                </a:solidFill>
              </a:rPr>
              <a:t>≡</a:t>
            </a:r>
            <a:r>
              <a:rPr lang="en-US"/>
              <a:t> 1 </a:t>
            </a:r>
            <a:r>
              <a:rPr lang="en-US" err="1"/>
              <a:t>trong</a:t>
            </a:r>
            <a:r>
              <a:rPr lang="en-US"/>
              <a:t>  </a:t>
            </a:r>
            <a:r>
              <a:rPr lang="en-US" err="1"/>
              <a:t>Z</a:t>
            </a:r>
            <a:r>
              <a:rPr lang="en-US" baseline="-25000" err="1"/>
              <a:t>p</a:t>
            </a:r>
            <a:r>
              <a:rPr lang="en-US" baseline="-25000"/>
              <a:t> </a:t>
            </a:r>
            <a:r>
              <a:rPr lang="en-US"/>
              <a:t> (2</a:t>
            </a:r>
            <a:r>
              <a:rPr lang="en-US" baseline="30000"/>
              <a:t>p-1</a:t>
            </a:r>
            <a:r>
              <a:rPr lang="en-US"/>
              <a:t> ≡ 1 mod p)</a:t>
            </a:r>
          </a:p>
          <a:p>
            <a:pPr marL="0" indent="0">
              <a:buNone/>
              <a:tabLst>
                <a:tab pos="1204913" algn="l"/>
              </a:tabLst>
            </a:pPr>
            <a:r>
              <a:rPr lang="en-US"/>
              <a:t>	</a:t>
            </a:r>
            <a:r>
              <a:rPr lang="en-US" err="1"/>
              <a:t>Nếu</a:t>
            </a:r>
            <a:r>
              <a:rPr lang="en-US"/>
              <a:t> </a:t>
            </a:r>
            <a:r>
              <a:rPr lang="en-US" err="1"/>
              <a:t>có</a:t>
            </a:r>
            <a:r>
              <a:rPr lang="en-US"/>
              <a:t>, </a:t>
            </a:r>
            <a:r>
              <a:rPr lang="en-US" i="1"/>
              <a:t>output  p  and stop</a:t>
            </a:r>
            <a:r>
              <a:rPr lang="en-US"/>
              <a:t>. </a:t>
            </a:r>
            <a:r>
              <a:rPr lang="en-US" err="1"/>
              <a:t>Nếu</a:t>
            </a:r>
            <a:r>
              <a:rPr lang="en-US"/>
              <a:t> </a:t>
            </a:r>
            <a:r>
              <a:rPr lang="en-US" err="1"/>
              <a:t>không</a:t>
            </a:r>
            <a:r>
              <a:rPr lang="en-US"/>
              <a:t>, </a:t>
            </a:r>
            <a:r>
              <a:rPr lang="en-US" i="1" err="1"/>
              <a:t>goto</a:t>
            </a:r>
            <a:r>
              <a:rPr lang="en-US" i="1"/>
              <a:t> step 1 .</a:t>
            </a:r>
          </a:p>
          <a:p>
            <a:pPr marL="0" indent="0">
              <a:buNone/>
              <a:tabLst>
                <a:tab pos="1204913" algn="l"/>
              </a:tabLst>
            </a:pPr>
            <a:endParaRPr lang="en-US"/>
          </a:p>
          <a:p>
            <a:pPr marL="0" indent="0">
              <a:buNone/>
              <a:tabLst>
                <a:tab pos="1204913" algn="l"/>
              </a:tabLst>
            </a:pPr>
            <a:r>
              <a:rPr lang="en-US"/>
              <a:t>Simple algorithm (not the best).       </a:t>
            </a:r>
            <a:r>
              <a:rPr lang="en-US" b="1" err="1">
                <a:solidFill>
                  <a:srgbClr val="FF0000"/>
                </a:solidFill>
              </a:rPr>
              <a:t>Pr</a:t>
            </a:r>
            <a:r>
              <a:rPr lang="en-US" b="1">
                <a:solidFill>
                  <a:srgbClr val="FF0000"/>
                </a:solidFill>
              </a:rPr>
              <a:t>[ p not prime ] &lt; 2</a:t>
            </a:r>
            <a:r>
              <a:rPr lang="en-US" b="1" baseline="30000">
                <a:solidFill>
                  <a:srgbClr val="FF0000"/>
                </a:solidFill>
              </a:rPr>
              <a:t>-60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34822" y="4318000"/>
            <a:ext cx="8673845" cy="1447800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77132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5077" y="78613"/>
            <a:ext cx="8673846" cy="634745"/>
          </a:xfrm>
        </p:spPr>
        <p:txBody>
          <a:bodyPr/>
          <a:lstStyle/>
          <a:p>
            <a:r>
              <a:rPr lang="en-US" sz="3200"/>
              <a:t>The structure of   (</a:t>
            </a:r>
            <a:r>
              <a:rPr lang="en-US" sz="3200" err="1"/>
              <a:t>Z</a:t>
            </a:r>
            <a:r>
              <a:rPr lang="en-US" sz="3200" baseline="-25000" err="1"/>
              <a:t>p</a:t>
            </a:r>
            <a:r>
              <a:rPr lang="en-US" sz="3200"/>
              <a:t>)</a:t>
            </a:r>
            <a:r>
              <a:rPr lang="en-US" sz="3200" baseline="30000"/>
              <a:t>*</a:t>
            </a:r>
            <a:r>
              <a:rPr lang="en-US" sz="320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u="sng" err="1"/>
              <a:t>Thm</a:t>
            </a:r>
            <a:r>
              <a:rPr lang="en-US"/>
              <a:t> (Euler):       (</a:t>
            </a:r>
            <a:r>
              <a:rPr lang="en-US" err="1"/>
              <a:t>Z</a:t>
            </a:r>
            <a:r>
              <a:rPr lang="en-US" baseline="-25000" err="1"/>
              <a:t>p</a:t>
            </a:r>
            <a:r>
              <a:rPr lang="en-US"/>
              <a:t>)</a:t>
            </a:r>
            <a:r>
              <a:rPr lang="en-US" baseline="30000"/>
              <a:t>*</a:t>
            </a:r>
            <a:r>
              <a:rPr lang="en-US"/>
              <a:t>  is a </a:t>
            </a:r>
            <a:r>
              <a:rPr lang="en-US" b="1"/>
              <a:t>cyclic group</a:t>
            </a:r>
            <a:r>
              <a:rPr lang="en-US"/>
              <a:t>, that is</a:t>
            </a:r>
          </a:p>
          <a:p>
            <a:pPr marL="0" indent="0">
              <a:spcBef>
                <a:spcPts val="1800"/>
              </a:spcBef>
              <a:buNone/>
            </a:pPr>
            <a:r>
              <a:rPr lang="en-US"/>
              <a:t>	∃ g∈(</a:t>
            </a:r>
            <a:r>
              <a:rPr lang="en-US" err="1"/>
              <a:t>Z</a:t>
            </a:r>
            <a:r>
              <a:rPr lang="en-US" baseline="-25000" err="1"/>
              <a:t>p</a:t>
            </a:r>
            <a:r>
              <a:rPr lang="en-US"/>
              <a:t>)</a:t>
            </a:r>
            <a:r>
              <a:rPr lang="en-US" baseline="30000"/>
              <a:t>*     </a:t>
            </a:r>
            <a:r>
              <a:rPr lang="en-US"/>
              <a:t>such that    {1, g, g</a:t>
            </a:r>
            <a:r>
              <a:rPr lang="en-US" baseline="30000"/>
              <a:t>2</a:t>
            </a:r>
            <a:r>
              <a:rPr lang="en-US"/>
              <a:t>, g</a:t>
            </a:r>
            <a:r>
              <a:rPr lang="en-US" baseline="30000"/>
              <a:t>3</a:t>
            </a:r>
            <a:r>
              <a:rPr lang="en-US"/>
              <a:t>, …, g</a:t>
            </a:r>
            <a:r>
              <a:rPr lang="en-US" baseline="30000"/>
              <a:t>p-2</a:t>
            </a:r>
            <a:r>
              <a:rPr lang="en-US"/>
              <a:t>} = (</a:t>
            </a:r>
            <a:r>
              <a:rPr lang="en-US" err="1"/>
              <a:t>Z</a:t>
            </a:r>
            <a:r>
              <a:rPr lang="en-US" baseline="-25000" err="1"/>
              <a:t>p</a:t>
            </a:r>
            <a:r>
              <a:rPr lang="en-US"/>
              <a:t>)</a:t>
            </a:r>
            <a:r>
              <a:rPr lang="en-US" baseline="30000"/>
              <a:t>*</a:t>
            </a:r>
            <a:r>
              <a:rPr lang="en-US"/>
              <a:t>  </a:t>
            </a:r>
          </a:p>
          <a:p>
            <a:pPr marL="0" indent="0">
              <a:spcBef>
                <a:spcPts val="3000"/>
              </a:spcBef>
              <a:buNone/>
            </a:pPr>
            <a:r>
              <a:rPr lang="en-US"/>
              <a:t>    g </a:t>
            </a:r>
            <a:r>
              <a:rPr lang="en-US" err="1"/>
              <a:t>được</a:t>
            </a:r>
            <a:r>
              <a:rPr lang="en-US"/>
              <a:t> </a:t>
            </a:r>
            <a:r>
              <a:rPr lang="en-US" err="1"/>
              <a:t>gọi</a:t>
            </a:r>
            <a:r>
              <a:rPr lang="en-US"/>
              <a:t> </a:t>
            </a:r>
            <a:r>
              <a:rPr lang="en-US" err="1"/>
              <a:t>là</a:t>
            </a:r>
            <a:r>
              <a:rPr lang="en-US"/>
              <a:t> </a:t>
            </a:r>
            <a:r>
              <a:rPr lang="en-US" err="1"/>
              <a:t>phần</a:t>
            </a:r>
            <a:r>
              <a:rPr lang="en-US"/>
              <a:t> </a:t>
            </a:r>
            <a:r>
              <a:rPr lang="en-US" err="1"/>
              <a:t>tử</a:t>
            </a:r>
            <a:r>
              <a:rPr lang="en-US"/>
              <a:t> </a:t>
            </a:r>
            <a:r>
              <a:rPr lang="en-US" err="1"/>
              <a:t>sinh</a:t>
            </a:r>
            <a:r>
              <a:rPr lang="en-US"/>
              <a:t> (</a:t>
            </a:r>
            <a:r>
              <a:rPr lang="en-US" b="1" u="sng"/>
              <a:t>generator)</a:t>
            </a:r>
            <a:r>
              <a:rPr lang="en-US"/>
              <a:t> of  (</a:t>
            </a:r>
            <a:r>
              <a:rPr lang="en-US" err="1"/>
              <a:t>Z</a:t>
            </a:r>
            <a:r>
              <a:rPr lang="en-US" baseline="-25000" err="1"/>
              <a:t>p</a:t>
            </a:r>
            <a:r>
              <a:rPr lang="en-US"/>
              <a:t>)</a:t>
            </a:r>
            <a:r>
              <a:rPr lang="en-US" baseline="30000"/>
              <a:t>*</a:t>
            </a:r>
            <a:r>
              <a:rPr lang="en-US"/>
              <a:t> </a:t>
            </a:r>
          </a:p>
          <a:p>
            <a:pPr marL="0" indent="0">
              <a:spcBef>
                <a:spcPts val="4800"/>
              </a:spcBef>
              <a:buNone/>
            </a:pPr>
            <a:r>
              <a:rPr lang="en-US"/>
              <a:t>Example:    p=7.      {1, 3, 3</a:t>
            </a:r>
            <a:r>
              <a:rPr lang="en-US" baseline="30000"/>
              <a:t>2</a:t>
            </a:r>
            <a:r>
              <a:rPr lang="en-US"/>
              <a:t>, 3</a:t>
            </a:r>
            <a:r>
              <a:rPr lang="en-US" baseline="30000"/>
              <a:t>3</a:t>
            </a:r>
            <a:r>
              <a:rPr lang="en-US"/>
              <a:t>, 3</a:t>
            </a:r>
            <a:r>
              <a:rPr lang="en-US" baseline="30000"/>
              <a:t>4</a:t>
            </a:r>
            <a:r>
              <a:rPr lang="en-US"/>
              <a:t>, 3</a:t>
            </a:r>
            <a:r>
              <a:rPr lang="en-US" baseline="30000"/>
              <a:t>5</a:t>
            </a:r>
            <a:r>
              <a:rPr lang="en-US"/>
              <a:t>} = {1, 3, 2, 6, 4, 5} = (Z</a:t>
            </a:r>
            <a:r>
              <a:rPr lang="en-US" baseline="-25000"/>
              <a:t>7</a:t>
            </a:r>
            <a:r>
              <a:rPr lang="en-US"/>
              <a:t>)</a:t>
            </a:r>
            <a:r>
              <a:rPr lang="en-US" baseline="30000"/>
              <a:t>*</a:t>
            </a:r>
            <a:r>
              <a:rPr lang="en-US"/>
              <a:t> </a:t>
            </a:r>
          </a:p>
          <a:p>
            <a:pPr marL="0" indent="0">
              <a:spcBef>
                <a:spcPts val="3000"/>
              </a:spcBef>
              <a:buNone/>
            </a:pPr>
            <a:r>
              <a:rPr lang="en-US"/>
              <a:t>Not every elem. is a generator:     {1, 2, 2</a:t>
            </a:r>
            <a:r>
              <a:rPr lang="en-US" baseline="30000"/>
              <a:t>2</a:t>
            </a:r>
            <a:r>
              <a:rPr lang="en-US"/>
              <a:t>, 2</a:t>
            </a:r>
            <a:r>
              <a:rPr lang="en-US" baseline="30000"/>
              <a:t>3</a:t>
            </a:r>
            <a:r>
              <a:rPr lang="en-US"/>
              <a:t>, 2</a:t>
            </a:r>
            <a:r>
              <a:rPr lang="en-US" baseline="30000"/>
              <a:t>4</a:t>
            </a:r>
            <a:r>
              <a:rPr lang="en-US"/>
              <a:t>, 2</a:t>
            </a:r>
            <a:r>
              <a:rPr lang="en-US" baseline="30000"/>
              <a:t>5</a:t>
            </a:r>
            <a:r>
              <a:rPr lang="en-US"/>
              <a:t>} = {1, 2, 4} </a:t>
            </a:r>
          </a:p>
        </p:txBody>
      </p:sp>
    </p:spTree>
    <p:extLst>
      <p:ext uri="{BB962C8B-B14F-4D97-AF65-F5344CB8AC3E}">
        <p14:creationId xmlns:p14="http://schemas.microsoft.com/office/powerpoint/2010/main" val="2342174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Order – </a:t>
            </a:r>
            <a:r>
              <a:rPr lang="en-US" err="1"/>
              <a:t>bậc</a:t>
            </a:r>
            <a:r>
              <a:rPr lang="en-US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/>
              <a:t>Cho  g∈(</a:t>
            </a:r>
            <a:r>
              <a:rPr lang="en-US" err="1"/>
              <a:t>Z</a:t>
            </a:r>
            <a:r>
              <a:rPr lang="en-US" baseline="-25000" err="1"/>
              <a:t>p</a:t>
            </a:r>
            <a:r>
              <a:rPr lang="en-US"/>
              <a:t>)</a:t>
            </a:r>
            <a:r>
              <a:rPr lang="en-US" baseline="30000"/>
              <a:t>*</a:t>
            </a:r>
            <a:r>
              <a:rPr lang="en-US"/>
              <a:t>  </a:t>
            </a:r>
            <a:r>
              <a:rPr lang="en-US" err="1"/>
              <a:t>là</a:t>
            </a:r>
            <a:r>
              <a:rPr lang="en-US"/>
              <a:t> </a:t>
            </a:r>
            <a:r>
              <a:rPr lang="en-US" err="1"/>
              <a:t>một</a:t>
            </a:r>
            <a:r>
              <a:rPr lang="en-US"/>
              <a:t> </a:t>
            </a:r>
            <a:r>
              <a:rPr lang="en-US" err="1"/>
              <a:t>tập</a:t>
            </a:r>
            <a:r>
              <a:rPr lang="en-US"/>
              <a:t>   {1 , g , g</a:t>
            </a:r>
            <a:r>
              <a:rPr lang="en-US" baseline="30000"/>
              <a:t>2</a:t>
            </a:r>
            <a:r>
              <a:rPr lang="en-US"/>
              <a:t>, g</a:t>
            </a:r>
            <a:r>
              <a:rPr lang="en-US" baseline="30000"/>
              <a:t>3</a:t>
            </a:r>
            <a:r>
              <a:rPr lang="en-US"/>
              <a:t>, …</a:t>
            </a:r>
            <a:r>
              <a:rPr lang="en-US" baseline="30000"/>
              <a:t> </a:t>
            </a:r>
            <a:r>
              <a:rPr lang="en-US"/>
              <a:t>}  </a:t>
            </a:r>
            <a:r>
              <a:rPr lang="en-US" err="1"/>
              <a:t>được</a:t>
            </a:r>
            <a:r>
              <a:rPr lang="en-US"/>
              <a:t> </a:t>
            </a:r>
            <a:r>
              <a:rPr lang="en-US" err="1"/>
              <a:t>gọi</a:t>
            </a:r>
            <a:r>
              <a:rPr lang="en-US"/>
              <a:t> </a:t>
            </a:r>
            <a:r>
              <a:rPr lang="en-US" err="1"/>
              <a:t>là</a:t>
            </a:r>
            <a:r>
              <a:rPr lang="en-US"/>
              <a:t> </a:t>
            </a:r>
            <a:r>
              <a:rPr lang="en-US" err="1"/>
              <a:t>một</a:t>
            </a:r>
            <a:r>
              <a:rPr lang="en-US"/>
              <a:t> </a:t>
            </a:r>
            <a:r>
              <a:rPr lang="en-US" err="1"/>
              <a:t>nhóm</a:t>
            </a:r>
            <a:r>
              <a:rPr lang="en-US"/>
              <a:t> </a:t>
            </a:r>
            <a:r>
              <a:rPr lang="en-US" err="1"/>
              <a:t>sinh</a:t>
            </a:r>
            <a:r>
              <a:rPr lang="en-US"/>
              <a:t> </a:t>
            </a:r>
            <a:r>
              <a:rPr lang="en-US" err="1"/>
              <a:t>bởi</a:t>
            </a:r>
            <a:r>
              <a:rPr lang="en-US"/>
              <a:t> g  (the </a:t>
            </a:r>
            <a:r>
              <a:rPr lang="en-US" b="1"/>
              <a:t>group generated by g), </a:t>
            </a:r>
            <a:r>
              <a:rPr lang="en-US" b="1" err="1"/>
              <a:t>kí</a:t>
            </a:r>
            <a:r>
              <a:rPr lang="en-US" b="1"/>
              <a:t> </a:t>
            </a:r>
            <a:r>
              <a:rPr lang="en-US" b="1" err="1"/>
              <a:t>hiệu</a:t>
            </a:r>
            <a:r>
              <a:rPr lang="en-US"/>
              <a:t>  &lt;g&gt;</a:t>
            </a:r>
          </a:p>
          <a:p>
            <a:pPr marL="0" indent="0">
              <a:lnSpc>
                <a:spcPct val="150000"/>
              </a:lnSpc>
              <a:spcBef>
                <a:spcPts val="1776"/>
              </a:spcBef>
              <a:buNone/>
            </a:pPr>
            <a:r>
              <a:rPr lang="en-US" b="1" u="sng" err="1"/>
              <a:t>Def</a:t>
            </a:r>
            <a:r>
              <a:rPr lang="en-US"/>
              <a:t>:    the </a:t>
            </a:r>
            <a:r>
              <a:rPr lang="en-US" b="1"/>
              <a:t>order</a:t>
            </a:r>
            <a:r>
              <a:rPr lang="en-US"/>
              <a:t> of   g∈(</a:t>
            </a:r>
            <a:r>
              <a:rPr lang="en-US" err="1"/>
              <a:t>Z</a:t>
            </a:r>
            <a:r>
              <a:rPr lang="en-US" baseline="-25000" err="1"/>
              <a:t>p</a:t>
            </a:r>
            <a:r>
              <a:rPr lang="en-US"/>
              <a:t>)</a:t>
            </a:r>
            <a:r>
              <a:rPr lang="en-US" baseline="30000"/>
              <a:t>*</a:t>
            </a:r>
            <a:r>
              <a:rPr lang="en-US"/>
              <a:t>   is the size of &lt;g&gt;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/>
              <a:t>	    </a:t>
            </a:r>
            <a:r>
              <a:rPr lang="en-US" b="1" err="1">
                <a:solidFill>
                  <a:srgbClr val="FF0000"/>
                </a:solidFill>
              </a:rPr>
              <a:t>ord</a:t>
            </a:r>
            <a:r>
              <a:rPr lang="en-US" b="1" baseline="-25000" err="1">
                <a:solidFill>
                  <a:srgbClr val="FF0000"/>
                </a:solidFill>
              </a:rPr>
              <a:t>p</a:t>
            </a:r>
            <a:r>
              <a:rPr lang="en-US" b="1">
                <a:solidFill>
                  <a:srgbClr val="FF0000"/>
                </a:solidFill>
              </a:rPr>
              <a:t>(g)    =    |&lt;g&gt;|    =   (smallest a&gt;0 </a:t>
            </a:r>
            <a:r>
              <a:rPr lang="en-US" b="1" err="1">
                <a:solidFill>
                  <a:srgbClr val="FF0000"/>
                </a:solidFill>
              </a:rPr>
              <a:t>s.t.</a:t>
            </a:r>
            <a:r>
              <a:rPr lang="en-US" b="1">
                <a:solidFill>
                  <a:srgbClr val="FF0000"/>
                </a:solidFill>
              </a:rPr>
              <a:t>  </a:t>
            </a:r>
            <a:r>
              <a:rPr lang="en-US" b="1" err="1">
                <a:solidFill>
                  <a:srgbClr val="FF0000"/>
                </a:solidFill>
              </a:rPr>
              <a:t>g</a:t>
            </a:r>
            <a:r>
              <a:rPr lang="en-US" b="1" baseline="30000" err="1">
                <a:solidFill>
                  <a:srgbClr val="FF0000"/>
                </a:solidFill>
              </a:rPr>
              <a:t>a</a:t>
            </a:r>
            <a:r>
              <a:rPr lang="en-US" b="1">
                <a:solidFill>
                  <a:srgbClr val="FF0000"/>
                </a:solidFill>
              </a:rPr>
              <a:t> = 1 in </a:t>
            </a:r>
            <a:r>
              <a:rPr lang="en-US" b="1" err="1">
                <a:solidFill>
                  <a:srgbClr val="FF0000"/>
                </a:solidFill>
              </a:rPr>
              <a:t>Z</a:t>
            </a:r>
            <a:r>
              <a:rPr lang="en-US" b="1" baseline="-25000" err="1">
                <a:solidFill>
                  <a:srgbClr val="FF0000"/>
                </a:solidFill>
              </a:rPr>
              <a:t>p</a:t>
            </a:r>
            <a:r>
              <a:rPr lang="en-US" b="1">
                <a:solidFill>
                  <a:srgbClr val="FF0000"/>
                </a:solidFill>
              </a:rPr>
              <a:t>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>
                <a:solidFill>
                  <a:srgbClr val="000000"/>
                </a:solidFill>
              </a:rPr>
              <a:t>Examples:     ord</a:t>
            </a:r>
            <a:r>
              <a:rPr lang="en-US" baseline="-25000">
                <a:solidFill>
                  <a:srgbClr val="000000"/>
                </a:solidFill>
              </a:rPr>
              <a:t>7</a:t>
            </a:r>
            <a:r>
              <a:rPr lang="en-US">
                <a:solidFill>
                  <a:srgbClr val="000000"/>
                </a:solidFill>
              </a:rPr>
              <a:t>(3) = 6    ;   </a:t>
            </a:r>
            <a:r>
              <a:rPr lang="en-US" err="1">
                <a:solidFill>
                  <a:srgbClr val="000000"/>
                </a:solidFill>
              </a:rPr>
              <a:t>ord</a:t>
            </a:r>
            <a:r>
              <a:rPr lang="en-US">
                <a:solidFill>
                  <a:srgbClr val="000000"/>
                </a:solidFill>
              </a:rPr>
              <a:t> </a:t>
            </a:r>
            <a:r>
              <a:rPr lang="en-US" baseline="-25000">
                <a:solidFill>
                  <a:srgbClr val="000000"/>
                </a:solidFill>
              </a:rPr>
              <a:t>7</a:t>
            </a:r>
            <a:r>
              <a:rPr lang="en-US">
                <a:solidFill>
                  <a:srgbClr val="000000"/>
                </a:solidFill>
              </a:rPr>
              <a:t>(2) = 3   ;  ord</a:t>
            </a:r>
            <a:r>
              <a:rPr lang="en-US" baseline="-25000">
                <a:solidFill>
                  <a:srgbClr val="000000"/>
                </a:solidFill>
              </a:rPr>
              <a:t>7</a:t>
            </a:r>
            <a:r>
              <a:rPr lang="en-US">
                <a:solidFill>
                  <a:srgbClr val="000000"/>
                </a:solidFill>
              </a:rPr>
              <a:t>(1) = 1</a:t>
            </a:r>
          </a:p>
          <a:p>
            <a:pPr marL="0" indent="0">
              <a:lnSpc>
                <a:spcPct val="150000"/>
              </a:lnSpc>
              <a:spcBef>
                <a:spcPts val="2424"/>
              </a:spcBef>
              <a:buNone/>
            </a:pPr>
            <a:r>
              <a:rPr lang="en-US" b="1" u="sng" err="1">
                <a:solidFill>
                  <a:srgbClr val="000000"/>
                </a:solidFill>
              </a:rPr>
              <a:t>Thm</a:t>
            </a:r>
            <a:r>
              <a:rPr lang="en-US">
                <a:solidFill>
                  <a:srgbClr val="000000"/>
                </a:solidFill>
              </a:rPr>
              <a:t> (Lagrange):   </a:t>
            </a:r>
            <a:r>
              <a:rPr lang="en-US"/>
              <a:t>∀g∈(</a:t>
            </a:r>
            <a:r>
              <a:rPr lang="en-US" err="1"/>
              <a:t>Z</a:t>
            </a:r>
            <a:r>
              <a:rPr lang="en-US" baseline="-25000" err="1"/>
              <a:t>p</a:t>
            </a:r>
            <a:r>
              <a:rPr lang="en-US"/>
              <a:t>)</a:t>
            </a:r>
            <a:r>
              <a:rPr lang="en-US" baseline="30000"/>
              <a:t>*   </a:t>
            </a:r>
            <a:r>
              <a:rPr lang="en-US"/>
              <a:t>:     </a:t>
            </a:r>
            <a:r>
              <a:rPr lang="en-US" b="1" err="1">
                <a:solidFill>
                  <a:srgbClr val="FF0000"/>
                </a:solidFill>
              </a:rPr>
              <a:t>ord</a:t>
            </a:r>
            <a:r>
              <a:rPr lang="en-US" b="1" baseline="-25000" err="1">
                <a:solidFill>
                  <a:srgbClr val="FF0000"/>
                </a:solidFill>
              </a:rPr>
              <a:t>p</a:t>
            </a:r>
            <a:r>
              <a:rPr lang="en-US" b="1">
                <a:solidFill>
                  <a:srgbClr val="FF0000"/>
                </a:solidFill>
              </a:rPr>
              <a:t>(g)   chia </a:t>
            </a:r>
            <a:r>
              <a:rPr lang="en-US" b="1" err="1">
                <a:solidFill>
                  <a:srgbClr val="FF0000"/>
                </a:solidFill>
              </a:rPr>
              <a:t>hết</a:t>
            </a:r>
            <a:r>
              <a:rPr lang="en-US" b="1">
                <a:solidFill>
                  <a:srgbClr val="FF0000"/>
                </a:solidFill>
              </a:rPr>
              <a:t> (</a:t>
            </a:r>
            <a:r>
              <a:rPr lang="en-US">
                <a:solidFill>
                  <a:srgbClr val="000000"/>
                </a:solidFill>
              </a:rPr>
              <a:t>divides) p-1 </a:t>
            </a:r>
            <a:r>
              <a:rPr lang="en-US" err="1">
                <a:solidFill>
                  <a:srgbClr val="000000"/>
                </a:solidFill>
              </a:rPr>
              <a:t>trong</a:t>
            </a:r>
            <a:r>
              <a:rPr lang="en-US">
                <a:solidFill>
                  <a:srgbClr val="000000"/>
                </a:solidFill>
              </a:rPr>
              <a:t> </a:t>
            </a:r>
            <a:r>
              <a:rPr lang="en-US"/>
              <a:t>(</a:t>
            </a:r>
            <a:r>
              <a:rPr lang="en-US" err="1"/>
              <a:t>Z</a:t>
            </a:r>
            <a:r>
              <a:rPr lang="en-US" baseline="-25000" err="1"/>
              <a:t>p</a:t>
            </a:r>
            <a:r>
              <a:rPr lang="en-US"/>
              <a:t>)</a:t>
            </a:r>
            <a:r>
              <a:rPr lang="en-US" baseline="30000"/>
              <a:t>*</a:t>
            </a:r>
            <a:r>
              <a:rPr lang="en-US"/>
              <a:t> </a:t>
            </a:r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4142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err="1"/>
              <a:t>Mở</a:t>
            </a:r>
            <a:r>
              <a:rPr lang="en-US" sz="2400" b="1"/>
              <a:t> </a:t>
            </a:r>
            <a:r>
              <a:rPr lang="en-US" sz="2400" b="1" err="1"/>
              <a:t>rộng</a:t>
            </a:r>
            <a:r>
              <a:rPr lang="en-US" sz="2400" b="1"/>
              <a:t> Euler (Euler’s generalization) </a:t>
            </a:r>
            <a:r>
              <a:rPr lang="en-US" sz="2400" b="1" err="1"/>
              <a:t>của</a:t>
            </a:r>
            <a:r>
              <a:rPr lang="en-US" sz="2400" b="1"/>
              <a:t> Fermat  (1736)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u="sng"/>
              <a:t>Def</a:t>
            </a:r>
            <a:r>
              <a:rPr lang="en-US"/>
              <a:t>:  </a:t>
            </a:r>
            <a:r>
              <a:rPr lang="en-US" err="1"/>
              <a:t>cho</a:t>
            </a:r>
            <a:r>
              <a:rPr lang="en-US"/>
              <a:t> </a:t>
            </a:r>
            <a:r>
              <a:rPr lang="en-US" err="1"/>
              <a:t>số</a:t>
            </a:r>
            <a:r>
              <a:rPr lang="en-US"/>
              <a:t> </a:t>
            </a:r>
            <a:r>
              <a:rPr lang="en-US" err="1"/>
              <a:t>nguyên</a:t>
            </a:r>
            <a:r>
              <a:rPr lang="en-US"/>
              <a:t> N </a:t>
            </a:r>
            <a:r>
              <a:rPr lang="en-US" err="1"/>
              <a:t>định</a:t>
            </a:r>
            <a:r>
              <a:rPr lang="en-US"/>
              <a:t> </a:t>
            </a:r>
            <a:r>
              <a:rPr lang="en-US" err="1"/>
              <a:t>nghĩa</a:t>
            </a:r>
            <a:r>
              <a:rPr lang="en-US"/>
              <a:t> </a:t>
            </a:r>
            <a:r>
              <a:rPr lang="en-US" err="1"/>
              <a:t>ϕ</a:t>
            </a:r>
            <a:r>
              <a:rPr lang="en-US"/>
              <a:t>(N) = </a:t>
            </a:r>
            <a:r>
              <a:rPr lang="en-US" sz="3200"/>
              <a:t>|</a:t>
            </a:r>
            <a:r>
              <a:rPr lang="en-US"/>
              <a:t>(Z</a:t>
            </a:r>
            <a:r>
              <a:rPr lang="en-US" baseline="-25000"/>
              <a:t>N</a:t>
            </a:r>
            <a:r>
              <a:rPr lang="en-US"/>
              <a:t>)</a:t>
            </a:r>
            <a:r>
              <a:rPr lang="en-US" baseline="30000"/>
              <a:t>*</a:t>
            </a:r>
            <a:r>
              <a:rPr lang="en-US" sz="3200"/>
              <a:t>| </a:t>
            </a:r>
            <a:r>
              <a:rPr lang="en-US"/>
              <a:t>(Euler’s </a:t>
            </a:r>
            <a:r>
              <a:rPr lang="en-US" err="1"/>
              <a:t>ϕ</a:t>
            </a:r>
            <a:r>
              <a:rPr lang="en-US"/>
              <a:t> </a:t>
            </a:r>
            <a:r>
              <a:rPr lang="en-US" err="1"/>
              <a:t>func</a:t>
            </a:r>
            <a:r>
              <a:rPr lang="en-US"/>
              <a:t>.) </a:t>
            </a:r>
            <a:r>
              <a:rPr lang="en-US" err="1"/>
              <a:t>là</a:t>
            </a:r>
            <a:r>
              <a:rPr lang="en-US"/>
              <a:t> </a:t>
            </a:r>
            <a:r>
              <a:rPr lang="en-US" err="1"/>
              <a:t>số</a:t>
            </a:r>
            <a:r>
              <a:rPr lang="en-US"/>
              <a:t> </a:t>
            </a:r>
            <a:r>
              <a:rPr lang="en-US" err="1"/>
              <a:t>phần</a:t>
            </a:r>
            <a:r>
              <a:rPr lang="en-US"/>
              <a:t> </a:t>
            </a:r>
            <a:r>
              <a:rPr lang="en-US" err="1"/>
              <a:t>tử</a:t>
            </a:r>
            <a:r>
              <a:rPr lang="en-US"/>
              <a:t> </a:t>
            </a:r>
            <a:r>
              <a:rPr lang="en-US" err="1"/>
              <a:t>trong</a:t>
            </a:r>
            <a:r>
              <a:rPr lang="en-US"/>
              <a:t> (Z</a:t>
            </a:r>
            <a:r>
              <a:rPr lang="en-US" baseline="-25000"/>
              <a:t>N</a:t>
            </a:r>
            <a:r>
              <a:rPr lang="en-US"/>
              <a:t>)* </a:t>
            </a:r>
          </a:p>
          <a:p>
            <a:pPr marL="0" indent="0">
              <a:spcBef>
                <a:spcPts val="2376"/>
              </a:spcBef>
              <a:buNone/>
            </a:pPr>
            <a:r>
              <a:rPr lang="en-US" err="1"/>
              <a:t>Ví</a:t>
            </a:r>
            <a:r>
              <a:rPr lang="en-US"/>
              <a:t> </a:t>
            </a:r>
            <a:r>
              <a:rPr lang="en-US" err="1"/>
              <a:t>dụ</a:t>
            </a:r>
            <a:r>
              <a:rPr lang="en-US"/>
              <a:t>: </a:t>
            </a:r>
            <a:r>
              <a:rPr lang="en-US" err="1"/>
              <a:t>ϕ</a:t>
            </a:r>
            <a:r>
              <a:rPr lang="en-US"/>
              <a:t> (12) = </a:t>
            </a:r>
            <a:r>
              <a:rPr lang="en-US" sz="3200"/>
              <a:t>|</a:t>
            </a:r>
            <a:r>
              <a:rPr lang="en-US"/>
              <a:t>{1,5,7,11}</a:t>
            </a:r>
            <a:r>
              <a:rPr lang="en-US" sz="3200"/>
              <a:t>| </a:t>
            </a:r>
            <a:r>
              <a:rPr lang="en-US"/>
              <a:t>= 4      ;     </a:t>
            </a:r>
            <a:r>
              <a:rPr lang="en-US" err="1"/>
              <a:t>ϕ</a:t>
            </a:r>
            <a:r>
              <a:rPr lang="en-US"/>
              <a:t> (p)  =   p-1</a:t>
            </a:r>
          </a:p>
          <a:p>
            <a:pPr marL="0" indent="0">
              <a:spcBef>
                <a:spcPts val="1776"/>
              </a:spcBef>
              <a:buNone/>
            </a:pPr>
            <a:r>
              <a:rPr lang="en-US"/>
              <a:t>Cho N=</a:t>
            </a:r>
            <a:r>
              <a:rPr lang="en-US" err="1"/>
              <a:t>p⋅q</a:t>
            </a:r>
            <a:r>
              <a:rPr lang="en-US"/>
              <a:t>: </a:t>
            </a:r>
            <a:r>
              <a:rPr lang="en-US" err="1"/>
              <a:t>ϕ</a:t>
            </a:r>
            <a:r>
              <a:rPr lang="en-US"/>
              <a:t>(N) = N-p-q+1 = (p-1)(q-1)  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 b="1" u="sng" err="1"/>
              <a:t>Thm</a:t>
            </a:r>
            <a:r>
              <a:rPr lang="en-US"/>
              <a:t> (Euler):   </a:t>
            </a:r>
            <a:r>
              <a:rPr lang="en-US" b="1"/>
              <a:t>∀ x ∈ (Z</a:t>
            </a:r>
            <a:r>
              <a:rPr lang="en-US" b="1" baseline="-25000"/>
              <a:t>N</a:t>
            </a:r>
            <a:r>
              <a:rPr lang="en-US" b="1"/>
              <a:t>)</a:t>
            </a:r>
            <a:r>
              <a:rPr lang="en-US" b="1" baseline="30000"/>
              <a:t>*</a:t>
            </a:r>
            <a:r>
              <a:rPr lang="en-US" b="1"/>
              <a:t> :      </a:t>
            </a:r>
            <a:r>
              <a:rPr lang="en-US" b="1" err="1">
                <a:solidFill>
                  <a:srgbClr val="FF0000"/>
                </a:solidFill>
              </a:rPr>
              <a:t>x</a:t>
            </a:r>
            <a:r>
              <a:rPr lang="en-US" sz="3200" baseline="50000" err="1">
                <a:solidFill>
                  <a:srgbClr val="FF0000"/>
                </a:solidFill>
              </a:rPr>
              <a:t>ϕ</a:t>
            </a:r>
            <a:r>
              <a:rPr lang="en-US" sz="3200" baseline="50000">
                <a:solidFill>
                  <a:srgbClr val="FF0000"/>
                </a:solidFill>
              </a:rPr>
              <a:t>(N)</a:t>
            </a:r>
            <a:r>
              <a:rPr lang="en-US" b="1">
                <a:solidFill>
                  <a:srgbClr val="FF0000"/>
                </a:solidFill>
              </a:rPr>
              <a:t> </a:t>
            </a:r>
            <a:r>
              <a:rPr lang="en-US"/>
              <a:t>≡</a:t>
            </a:r>
            <a:r>
              <a:rPr lang="en-US" b="1">
                <a:solidFill>
                  <a:srgbClr val="FF0000"/>
                </a:solidFill>
              </a:rPr>
              <a:t>  1 in Z</a:t>
            </a:r>
            <a:r>
              <a:rPr lang="en-US" b="1" baseline="-25000">
                <a:solidFill>
                  <a:srgbClr val="FF0000"/>
                </a:solidFill>
              </a:rPr>
              <a:t>N  </a:t>
            </a:r>
            <a:r>
              <a:rPr lang="en-US" b="1">
                <a:solidFill>
                  <a:srgbClr val="FF0000"/>
                </a:solidFill>
              </a:rPr>
              <a:t> -&gt; </a:t>
            </a:r>
            <a:r>
              <a:rPr lang="en-US" b="1" err="1">
                <a:solidFill>
                  <a:srgbClr val="FF0000"/>
                </a:solidFill>
              </a:rPr>
              <a:t>x</a:t>
            </a:r>
            <a:r>
              <a:rPr lang="en-US" baseline="50000" err="1">
                <a:solidFill>
                  <a:srgbClr val="FF0000"/>
                </a:solidFill>
              </a:rPr>
              <a:t>ϕ</a:t>
            </a:r>
            <a:r>
              <a:rPr lang="en-US" baseline="50000">
                <a:solidFill>
                  <a:srgbClr val="FF0000"/>
                </a:solidFill>
              </a:rPr>
              <a:t>(N)</a:t>
            </a:r>
            <a:r>
              <a:rPr lang="en-US" b="1">
                <a:solidFill>
                  <a:srgbClr val="FF0000"/>
                </a:solidFill>
              </a:rPr>
              <a:t> </a:t>
            </a:r>
            <a:r>
              <a:rPr lang="en-US" b="1" err="1">
                <a:solidFill>
                  <a:srgbClr val="FF0000"/>
                </a:solidFill>
              </a:rPr>
              <a:t>và</a:t>
            </a:r>
            <a:r>
              <a:rPr lang="en-US" b="1">
                <a:solidFill>
                  <a:srgbClr val="FF0000"/>
                </a:solidFill>
              </a:rPr>
              <a:t> </a:t>
            </a:r>
            <a:r>
              <a:rPr lang="en-US"/>
              <a:t>N </a:t>
            </a:r>
            <a:r>
              <a:rPr lang="en-US" err="1"/>
              <a:t>là</a:t>
            </a:r>
            <a:r>
              <a:rPr lang="en-US"/>
              <a:t> </a:t>
            </a:r>
            <a:r>
              <a:rPr lang="en-US" err="1"/>
              <a:t>nguyên</a:t>
            </a:r>
            <a:r>
              <a:rPr lang="en-US"/>
              <a:t> </a:t>
            </a:r>
            <a:r>
              <a:rPr lang="en-US" err="1"/>
              <a:t>tố</a:t>
            </a:r>
            <a:r>
              <a:rPr lang="en-US"/>
              <a:t> </a:t>
            </a:r>
            <a:r>
              <a:rPr lang="en-US" err="1"/>
              <a:t>cùng</a:t>
            </a:r>
            <a:r>
              <a:rPr lang="en-US"/>
              <a:t> </a:t>
            </a:r>
            <a:r>
              <a:rPr lang="en-US" err="1"/>
              <a:t>nhau</a:t>
            </a:r>
            <a:endParaRPr lang="en-US" b="1" baseline="-25000">
              <a:solidFill>
                <a:srgbClr val="FF0000"/>
              </a:solidFill>
            </a:endParaRPr>
          </a:p>
          <a:p>
            <a:pPr marL="0" indent="0">
              <a:spcBef>
                <a:spcPts val="2424"/>
              </a:spcBef>
              <a:buNone/>
            </a:pPr>
            <a:r>
              <a:rPr lang="en-US"/>
              <a:t>Example:     5</a:t>
            </a:r>
            <a:r>
              <a:rPr lang="en-US" baseline="50000"/>
              <a:t>ϕ(12)</a:t>
            </a:r>
            <a:r>
              <a:rPr lang="en-US"/>
              <a:t> = 5</a:t>
            </a:r>
            <a:r>
              <a:rPr lang="en-US" baseline="30000"/>
              <a:t>4</a:t>
            </a:r>
            <a:r>
              <a:rPr lang="en-US"/>
              <a:t> = 625 ≡ 1    in  Z</a:t>
            </a:r>
            <a:r>
              <a:rPr lang="en-US" baseline="-25000"/>
              <a:t>12</a:t>
            </a:r>
          </a:p>
          <a:p>
            <a:pPr marL="0" indent="0">
              <a:spcBef>
                <a:spcPts val="2976"/>
              </a:spcBef>
              <a:buNone/>
            </a:pPr>
            <a:r>
              <a:rPr lang="en-US"/>
              <a:t>Generalization of Fermat.   Basis of the RSA cryptosystem</a:t>
            </a:r>
          </a:p>
        </p:txBody>
      </p:sp>
    </p:spTree>
    <p:extLst>
      <p:ext uri="{BB962C8B-B14F-4D97-AF65-F5344CB8AC3E}">
        <p14:creationId xmlns:p14="http://schemas.microsoft.com/office/powerpoint/2010/main" val="2952713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RSA trapdoor permutation</a:t>
            </a:r>
          </a:p>
        </p:txBody>
      </p:sp>
      <p:sp>
        <p:nvSpPr>
          <p:cNvPr id="550915" name="Rectangle 3"/>
          <p:cNvSpPr>
            <a:spLocks noGrp="1" noChangeArrowheads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0" indent="0" defTabSz="915988">
              <a:lnSpc>
                <a:spcPct val="110000"/>
              </a:lnSpc>
              <a:buNone/>
              <a:tabLst>
                <a:tab pos="681038" algn="l"/>
              </a:tabLst>
            </a:pPr>
            <a:r>
              <a:rPr lang="en-US" sz="2600" b="1">
                <a:solidFill>
                  <a:srgbClr val="000000"/>
                </a:solidFill>
                <a:sym typeface="Symbol" pitchFamily="18" charset="2"/>
              </a:rPr>
              <a:t>G</a:t>
            </a:r>
            <a:r>
              <a:rPr lang="en-US" sz="2600">
                <a:solidFill>
                  <a:srgbClr val="000000"/>
                </a:solidFill>
                <a:sym typeface="Symbol" pitchFamily="18" charset="2"/>
              </a:rPr>
              <a:t>():	</a:t>
            </a:r>
            <a:r>
              <a:rPr lang="en-US" sz="2600" err="1">
                <a:solidFill>
                  <a:srgbClr val="000000"/>
                </a:solidFill>
                <a:sym typeface="Symbol" pitchFamily="18" charset="2"/>
              </a:rPr>
              <a:t>chọn</a:t>
            </a:r>
            <a:r>
              <a:rPr lang="en-US" sz="260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sz="2600" err="1">
                <a:solidFill>
                  <a:srgbClr val="000000"/>
                </a:solidFill>
                <a:sym typeface="Symbol" pitchFamily="18" charset="2"/>
              </a:rPr>
              <a:t>ngẫu</a:t>
            </a:r>
            <a:r>
              <a:rPr lang="en-US" sz="260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sz="2600" err="1">
                <a:solidFill>
                  <a:srgbClr val="000000"/>
                </a:solidFill>
                <a:sym typeface="Symbol" pitchFamily="18" charset="2"/>
              </a:rPr>
              <a:t>nhiên</a:t>
            </a:r>
            <a:r>
              <a:rPr lang="en-US" sz="260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sz="2600" err="1">
                <a:solidFill>
                  <a:srgbClr val="000000"/>
                </a:solidFill>
                <a:sym typeface="Symbol" pitchFamily="18" charset="2"/>
              </a:rPr>
              <a:t>các</a:t>
            </a:r>
            <a:r>
              <a:rPr lang="en-US" sz="260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sz="2600" err="1">
                <a:solidFill>
                  <a:srgbClr val="000000"/>
                </a:solidFill>
                <a:sym typeface="Symbol" pitchFamily="18" charset="2"/>
              </a:rPr>
              <a:t>số</a:t>
            </a:r>
            <a:r>
              <a:rPr lang="en-US" sz="260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sz="2600" err="1">
                <a:solidFill>
                  <a:srgbClr val="000000"/>
                </a:solidFill>
                <a:sym typeface="Symbol" pitchFamily="18" charset="2"/>
              </a:rPr>
              <a:t>nguyên</a:t>
            </a:r>
            <a:r>
              <a:rPr lang="en-US" sz="260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sz="2600" err="1">
                <a:solidFill>
                  <a:srgbClr val="000000"/>
                </a:solidFill>
                <a:sym typeface="Symbol" pitchFamily="18" charset="2"/>
              </a:rPr>
              <a:t>tố</a:t>
            </a:r>
            <a:r>
              <a:rPr lang="en-US" sz="260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sz="2600" err="1">
                <a:solidFill>
                  <a:srgbClr val="000000"/>
                </a:solidFill>
                <a:sym typeface="Symbol" pitchFamily="18" charset="2"/>
              </a:rPr>
              <a:t>p,q</a:t>
            </a:r>
            <a:r>
              <a:rPr lang="en-US" sz="2600">
                <a:solidFill>
                  <a:srgbClr val="000000"/>
                </a:solidFill>
                <a:sym typeface="Symbol" pitchFamily="18" charset="2"/>
              </a:rPr>
              <a:t> 1024 bits. </a:t>
            </a:r>
            <a:r>
              <a:rPr lang="en-US" sz="2600" err="1">
                <a:solidFill>
                  <a:srgbClr val="000000"/>
                </a:solidFill>
                <a:sym typeface="Symbol" pitchFamily="18" charset="2"/>
              </a:rPr>
              <a:t>Thiết</a:t>
            </a:r>
            <a:r>
              <a:rPr lang="en-US" sz="260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sz="2600" err="1">
                <a:solidFill>
                  <a:srgbClr val="000000"/>
                </a:solidFill>
                <a:sym typeface="Symbol" pitchFamily="18" charset="2"/>
              </a:rPr>
              <a:t>lập</a:t>
            </a:r>
            <a:r>
              <a:rPr lang="en-US" sz="260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sz="2600" b="1">
                <a:solidFill>
                  <a:srgbClr val="000000"/>
                </a:solidFill>
                <a:sym typeface="Symbol" pitchFamily="18" charset="2"/>
              </a:rPr>
              <a:t>N=</a:t>
            </a:r>
            <a:r>
              <a:rPr lang="en-US" sz="2600" b="1" err="1">
                <a:solidFill>
                  <a:srgbClr val="000000"/>
                </a:solidFill>
                <a:sym typeface="Symbol" pitchFamily="18" charset="2"/>
              </a:rPr>
              <a:t>pq</a:t>
            </a:r>
            <a:r>
              <a:rPr lang="en-US" sz="2600">
                <a:solidFill>
                  <a:srgbClr val="000000"/>
                </a:solidFill>
                <a:sym typeface="Symbol" pitchFamily="18" charset="2"/>
              </a:rPr>
              <a:t>. </a:t>
            </a:r>
            <a:r>
              <a:rPr lang="en-US" sz="2000">
                <a:solidFill>
                  <a:srgbClr val="000000"/>
                </a:solidFill>
                <a:sym typeface="Symbol" pitchFamily="18" charset="2"/>
              </a:rPr>
              <a:t>	</a:t>
            </a:r>
          </a:p>
          <a:p>
            <a:pPr marL="0" indent="0">
              <a:lnSpc>
                <a:spcPct val="110000"/>
              </a:lnSpc>
              <a:buNone/>
              <a:tabLst>
                <a:tab pos="681038" algn="l"/>
              </a:tabLst>
            </a:pPr>
            <a:r>
              <a:rPr lang="en-US" sz="2600">
                <a:solidFill>
                  <a:srgbClr val="000000"/>
                </a:solidFill>
                <a:sym typeface="Symbol" pitchFamily="18" charset="2"/>
              </a:rPr>
              <a:t> 	</a:t>
            </a:r>
            <a:r>
              <a:rPr lang="en-US" sz="2600" err="1">
                <a:solidFill>
                  <a:srgbClr val="000000"/>
                </a:solidFill>
                <a:sym typeface="Symbol" pitchFamily="18" charset="2"/>
              </a:rPr>
              <a:t>chọn</a:t>
            </a:r>
            <a:r>
              <a:rPr lang="en-US" sz="2600">
                <a:solidFill>
                  <a:srgbClr val="000000"/>
                </a:solidFill>
                <a:sym typeface="Symbol" pitchFamily="18" charset="2"/>
              </a:rPr>
              <a:t> 2 </a:t>
            </a:r>
            <a:r>
              <a:rPr lang="en-US" sz="2600" err="1">
                <a:solidFill>
                  <a:srgbClr val="000000"/>
                </a:solidFill>
                <a:sym typeface="Symbol" pitchFamily="18" charset="2"/>
              </a:rPr>
              <a:t>số</a:t>
            </a:r>
            <a:r>
              <a:rPr lang="en-US" sz="260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sz="2600" err="1">
                <a:solidFill>
                  <a:srgbClr val="000000"/>
                </a:solidFill>
                <a:sym typeface="Symbol" pitchFamily="18" charset="2"/>
              </a:rPr>
              <a:t>nguyên</a:t>
            </a:r>
            <a:r>
              <a:rPr lang="en-US" sz="260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sz="2600" err="1">
                <a:solidFill>
                  <a:srgbClr val="000000"/>
                </a:solidFill>
                <a:sym typeface="Symbol" pitchFamily="18" charset="2"/>
              </a:rPr>
              <a:t>dương</a:t>
            </a:r>
            <a:r>
              <a:rPr lang="en-US" sz="260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sz="2600" b="1">
                <a:solidFill>
                  <a:srgbClr val="000000"/>
                </a:solidFill>
                <a:sym typeface="Symbol" pitchFamily="18" charset="2"/>
              </a:rPr>
              <a:t>e , d   </a:t>
            </a:r>
            <a:r>
              <a:rPr lang="en-US" sz="2600" b="1" err="1">
                <a:solidFill>
                  <a:srgbClr val="000000"/>
                </a:solidFill>
                <a:sym typeface="Symbol" pitchFamily="18" charset="2"/>
              </a:rPr>
              <a:t>sao</a:t>
            </a:r>
            <a:r>
              <a:rPr lang="en-US" sz="2600" b="1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sz="2600" b="1" err="1">
                <a:solidFill>
                  <a:srgbClr val="000000"/>
                </a:solidFill>
                <a:sym typeface="Symbol" pitchFamily="18" charset="2"/>
              </a:rPr>
              <a:t>cho</a:t>
            </a:r>
            <a:r>
              <a:rPr lang="en-US" sz="2600">
                <a:solidFill>
                  <a:srgbClr val="000000"/>
                </a:solidFill>
                <a:sym typeface="Symbol" pitchFamily="18" charset="2"/>
              </a:rPr>
              <a:t>   </a:t>
            </a:r>
            <a:r>
              <a:rPr lang="en-US" sz="2600" b="1" err="1">
                <a:solidFill>
                  <a:srgbClr val="000000"/>
                </a:solidFill>
                <a:sym typeface="Symbol" pitchFamily="18" charset="2"/>
              </a:rPr>
              <a:t>e⋅d</a:t>
            </a:r>
            <a:r>
              <a:rPr lang="en-US" sz="2600" b="1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sz="2400"/>
              <a:t>≡</a:t>
            </a:r>
            <a:r>
              <a:rPr lang="en-US" sz="2600" b="1">
                <a:solidFill>
                  <a:srgbClr val="000000"/>
                </a:solidFill>
                <a:sym typeface="Symbol" pitchFamily="18" charset="2"/>
              </a:rPr>
              <a:t> 1   (mod (N) )  </a:t>
            </a:r>
          </a:p>
          <a:p>
            <a:pPr marL="0" indent="0">
              <a:lnSpc>
                <a:spcPct val="110000"/>
              </a:lnSpc>
              <a:buNone/>
              <a:tabLst>
                <a:tab pos="681038" algn="l"/>
              </a:tabLst>
            </a:pPr>
            <a:r>
              <a:rPr lang="en-US" sz="2600">
                <a:solidFill>
                  <a:srgbClr val="000000"/>
                </a:solidFill>
                <a:sym typeface="Symbol" pitchFamily="18" charset="2"/>
              </a:rPr>
              <a:t>	output    </a:t>
            </a:r>
            <a:r>
              <a:rPr lang="en-US" sz="2600" err="1">
                <a:solidFill>
                  <a:srgbClr val="000000"/>
                </a:solidFill>
                <a:sym typeface="Symbol" pitchFamily="18" charset="2"/>
              </a:rPr>
              <a:t>pk</a:t>
            </a:r>
            <a:r>
              <a:rPr lang="en-US" sz="2600">
                <a:solidFill>
                  <a:srgbClr val="000000"/>
                </a:solidFill>
                <a:sym typeface="Symbol" pitchFamily="18" charset="2"/>
              </a:rPr>
              <a:t> = (N, e)    ,     </a:t>
            </a:r>
            <a:r>
              <a:rPr lang="en-US" sz="2600" err="1">
                <a:solidFill>
                  <a:srgbClr val="000000"/>
                </a:solidFill>
                <a:sym typeface="Symbol" pitchFamily="18" charset="2"/>
              </a:rPr>
              <a:t>sk</a:t>
            </a:r>
            <a:r>
              <a:rPr lang="en-US" sz="2600">
                <a:solidFill>
                  <a:srgbClr val="000000"/>
                </a:solidFill>
                <a:sym typeface="Symbol" pitchFamily="18" charset="2"/>
              </a:rPr>
              <a:t> = (N, d)</a:t>
            </a:r>
          </a:p>
          <a:p>
            <a:endParaRPr lang="en-US" sz="2000">
              <a:solidFill>
                <a:srgbClr val="000000"/>
              </a:solidFill>
              <a:sym typeface="Symbol" pitchFamily="18" charset="2"/>
            </a:endParaRPr>
          </a:p>
          <a:p>
            <a:pPr>
              <a:lnSpc>
                <a:spcPct val="110000"/>
              </a:lnSpc>
              <a:spcBef>
                <a:spcPct val="60000"/>
              </a:spcBef>
            </a:pPr>
            <a:endParaRPr lang="en-US">
              <a:solidFill>
                <a:srgbClr val="000000"/>
              </a:solidFill>
              <a:sym typeface="Symbol" pitchFamily="18" charset="2"/>
            </a:endParaRPr>
          </a:p>
          <a:p>
            <a:pPr>
              <a:lnSpc>
                <a:spcPct val="110000"/>
              </a:lnSpc>
              <a:spcBef>
                <a:spcPct val="60000"/>
              </a:spcBef>
            </a:pPr>
            <a:endParaRPr lang="en-US">
              <a:solidFill>
                <a:srgbClr val="000000"/>
              </a:solidFill>
              <a:sym typeface="Symbol" pitchFamily="18" charset="2"/>
            </a:endParaRPr>
          </a:p>
        </p:txBody>
      </p:sp>
      <p:sp>
        <p:nvSpPr>
          <p:cNvPr id="550917" name="Line 5"/>
          <p:cNvSpPr>
            <a:spLocks noChangeShapeType="1"/>
          </p:cNvSpPr>
          <p:nvPr/>
        </p:nvSpPr>
        <p:spPr bwMode="auto">
          <a:xfrm>
            <a:off x="338138" y="4572000"/>
            <a:ext cx="83486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50918" name="Line 6"/>
          <p:cNvSpPr>
            <a:spLocks noChangeShapeType="1"/>
          </p:cNvSpPr>
          <p:nvPr/>
        </p:nvSpPr>
        <p:spPr bwMode="auto">
          <a:xfrm>
            <a:off x="304800" y="3543300"/>
            <a:ext cx="83486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50919" name="Text Box 7"/>
          <p:cNvSpPr txBox="1">
            <a:spLocks noChangeArrowheads="1"/>
          </p:cNvSpPr>
          <p:nvPr/>
        </p:nvSpPr>
        <p:spPr bwMode="auto">
          <a:xfrm>
            <a:off x="533400" y="4876800"/>
            <a:ext cx="8382000" cy="496098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80000"/>
              </a:lnSpc>
              <a:spcBef>
                <a:spcPct val="80000"/>
              </a:spcBef>
              <a:buClr>
                <a:schemeClr val="accent2"/>
              </a:buClr>
              <a:buSzPct val="70000"/>
            </a:pPr>
            <a:r>
              <a:rPr kumimoji="1" lang="en-US" sz="2400" b="1">
                <a:solidFill>
                  <a:srgbClr val="000000"/>
                </a:solidFill>
                <a:sym typeface="Symbol" pitchFamily="18" charset="2"/>
              </a:rPr>
              <a:t>F</a:t>
            </a:r>
            <a:r>
              <a:rPr kumimoji="1" lang="en-US" sz="2400" b="1" baseline="30000">
                <a:solidFill>
                  <a:srgbClr val="000000"/>
                </a:solidFill>
                <a:sym typeface="Symbol" pitchFamily="18" charset="2"/>
              </a:rPr>
              <a:t>-1</a:t>
            </a:r>
            <a:r>
              <a:rPr kumimoji="1" lang="en-US" sz="2400" b="1">
                <a:solidFill>
                  <a:srgbClr val="000000"/>
                </a:solidFill>
                <a:sym typeface="Symbol" pitchFamily="18" charset="2"/>
              </a:rPr>
              <a:t>( </a:t>
            </a:r>
            <a:r>
              <a:rPr kumimoji="1" lang="en-US" sz="2400" b="1" err="1">
                <a:solidFill>
                  <a:srgbClr val="000000"/>
                </a:solidFill>
                <a:sym typeface="Symbol" pitchFamily="18" charset="2"/>
              </a:rPr>
              <a:t>sk</a:t>
            </a:r>
            <a:r>
              <a:rPr kumimoji="1" lang="en-US" sz="2400" b="1">
                <a:solidFill>
                  <a:srgbClr val="000000"/>
                </a:solidFill>
                <a:sym typeface="Symbol" pitchFamily="18" charset="2"/>
              </a:rPr>
              <a:t>, y)</a:t>
            </a:r>
            <a:r>
              <a:rPr kumimoji="1" lang="en-US" sz="2400">
                <a:solidFill>
                  <a:srgbClr val="000000"/>
                </a:solidFill>
                <a:sym typeface="Symbol" pitchFamily="18" charset="2"/>
              </a:rPr>
              <a:t> = </a:t>
            </a:r>
            <a:r>
              <a:rPr kumimoji="1" lang="en-US" sz="2400" err="1">
                <a:solidFill>
                  <a:srgbClr val="000000"/>
                </a:solidFill>
                <a:sym typeface="Symbol" pitchFamily="18" charset="2"/>
              </a:rPr>
              <a:t>y</a:t>
            </a:r>
            <a:r>
              <a:rPr kumimoji="1" lang="en-US" sz="2400" baseline="30000" err="1">
                <a:solidFill>
                  <a:srgbClr val="000000"/>
                </a:solidFill>
                <a:sym typeface="Symbol" pitchFamily="18" charset="2"/>
              </a:rPr>
              <a:t>d</a:t>
            </a:r>
            <a:r>
              <a:rPr kumimoji="1" lang="en-US" sz="2400">
                <a:solidFill>
                  <a:srgbClr val="000000"/>
                </a:solidFill>
                <a:sym typeface="Symbol" pitchFamily="18" charset="2"/>
              </a:rPr>
              <a:t> ;      </a:t>
            </a:r>
            <a:r>
              <a:rPr kumimoji="1" lang="en-US" sz="2400" err="1">
                <a:solidFill>
                  <a:srgbClr val="000000"/>
                </a:solidFill>
                <a:sym typeface="Symbol" pitchFamily="18" charset="2"/>
              </a:rPr>
              <a:t>y</a:t>
            </a:r>
            <a:r>
              <a:rPr kumimoji="1" lang="en-US" sz="2400" baseline="30000" err="1">
                <a:solidFill>
                  <a:srgbClr val="000000"/>
                </a:solidFill>
                <a:sym typeface="Symbol" pitchFamily="18" charset="2"/>
              </a:rPr>
              <a:t>d</a:t>
            </a:r>
            <a:r>
              <a:rPr kumimoji="1" lang="en-US" sz="2400">
                <a:solidFill>
                  <a:srgbClr val="000000"/>
                </a:solidFill>
                <a:sym typeface="Symbol" pitchFamily="18" charset="2"/>
              </a:rPr>
              <a:t>  =  </a:t>
            </a:r>
            <a:r>
              <a:rPr kumimoji="1" lang="en-US" sz="2400" b="1">
                <a:solidFill>
                  <a:srgbClr val="000000"/>
                </a:solidFill>
                <a:sym typeface="Symbol" pitchFamily="18" charset="2"/>
              </a:rPr>
              <a:t>RSA(x)</a:t>
            </a:r>
            <a:r>
              <a:rPr kumimoji="1" lang="en-US" sz="2400" b="1" baseline="50000">
                <a:solidFill>
                  <a:srgbClr val="000000"/>
                </a:solidFill>
                <a:sym typeface="Symbol" pitchFamily="18" charset="2"/>
              </a:rPr>
              <a:t>d</a:t>
            </a:r>
            <a:r>
              <a:rPr kumimoji="1" lang="en-US" sz="2400">
                <a:solidFill>
                  <a:srgbClr val="000000"/>
                </a:solidFill>
                <a:sym typeface="Symbol" pitchFamily="18" charset="2"/>
              </a:rPr>
              <a:t>   </a:t>
            </a:r>
            <a:r>
              <a:rPr kumimoji="1" lang="en-US" sz="2400">
                <a:solidFill>
                  <a:srgbClr val="000000"/>
                </a:solidFill>
                <a:ea typeface="Tahoma" pitchFamily="34" charset="0"/>
                <a:cs typeface="Tahoma" pitchFamily="34" charset="0"/>
                <a:sym typeface="Symbol" pitchFamily="18" charset="2"/>
              </a:rPr>
              <a:t>=</a:t>
            </a:r>
            <a:r>
              <a:rPr kumimoji="1" lang="en-US" sz="2400">
                <a:solidFill>
                  <a:srgbClr val="000000"/>
                </a:solidFill>
                <a:sym typeface="Symbol" pitchFamily="18" charset="2"/>
              </a:rPr>
              <a:t>  </a:t>
            </a:r>
            <a:r>
              <a:rPr kumimoji="1" lang="en-US" sz="2400" err="1">
                <a:solidFill>
                  <a:srgbClr val="000000"/>
                </a:solidFill>
                <a:sym typeface="Symbol" pitchFamily="18" charset="2"/>
              </a:rPr>
              <a:t>x</a:t>
            </a:r>
            <a:r>
              <a:rPr kumimoji="1" lang="en-US" sz="2400" baseline="50000" err="1">
                <a:solidFill>
                  <a:srgbClr val="000000"/>
                </a:solidFill>
                <a:sym typeface="Symbol" pitchFamily="18" charset="2"/>
              </a:rPr>
              <a:t>ed</a:t>
            </a:r>
            <a:r>
              <a:rPr kumimoji="1" lang="en-US" sz="2400">
                <a:solidFill>
                  <a:srgbClr val="000000"/>
                </a:solidFill>
                <a:sym typeface="Symbol" pitchFamily="18" charset="2"/>
              </a:rPr>
              <a:t>  </a:t>
            </a:r>
            <a:r>
              <a:rPr kumimoji="1" lang="en-US" sz="2400">
                <a:solidFill>
                  <a:srgbClr val="000000"/>
                </a:solidFill>
                <a:ea typeface="Tahoma" pitchFamily="34" charset="0"/>
                <a:cs typeface="Tahoma" pitchFamily="34" charset="0"/>
                <a:sym typeface="Symbol" pitchFamily="18" charset="2"/>
              </a:rPr>
              <a:t>=</a:t>
            </a:r>
            <a:r>
              <a:rPr kumimoji="1" lang="en-US" sz="2400">
                <a:solidFill>
                  <a:srgbClr val="000000"/>
                </a:solidFill>
                <a:sym typeface="Symbol" pitchFamily="18" charset="2"/>
              </a:rPr>
              <a:t>  </a:t>
            </a:r>
            <a:r>
              <a:rPr kumimoji="1" lang="en-US" sz="2400" err="1">
                <a:solidFill>
                  <a:srgbClr val="000000"/>
                </a:solidFill>
                <a:sym typeface="Symbol" pitchFamily="18" charset="2"/>
              </a:rPr>
              <a:t>x</a:t>
            </a:r>
            <a:r>
              <a:rPr kumimoji="1" lang="en-US" sz="2800" baseline="50000" err="1">
                <a:solidFill>
                  <a:srgbClr val="000000"/>
                </a:solidFill>
                <a:sym typeface="Symbol" pitchFamily="18" charset="2"/>
              </a:rPr>
              <a:t>k</a:t>
            </a:r>
            <a:r>
              <a:rPr kumimoji="1" lang="en-US" sz="2800" baseline="50000">
                <a:solidFill>
                  <a:srgbClr val="000000"/>
                </a:solidFill>
                <a:sym typeface="Symbol" pitchFamily="18" charset="2"/>
              </a:rPr>
              <a:t>(N)+</a:t>
            </a:r>
            <a:r>
              <a:rPr kumimoji="1" lang="en-US" sz="2800" baseline="55000">
                <a:solidFill>
                  <a:srgbClr val="000000"/>
                </a:solidFill>
                <a:sym typeface="Symbol" pitchFamily="18" charset="2"/>
              </a:rPr>
              <a:t>1</a:t>
            </a:r>
            <a:r>
              <a:rPr kumimoji="1" lang="en-US" sz="2400" baseline="5500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kumimoji="1" lang="en-US" sz="2400">
                <a:solidFill>
                  <a:srgbClr val="000000"/>
                </a:solidFill>
                <a:sym typeface="Symbol" pitchFamily="18" charset="2"/>
              </a:rPr>
              <a:t> =  </a:t>
            </a:r>
            <a:r>
              <a:rPr kumimoji="1" lang="en-US" sz="3200">
                <a:solidFill>
                  <a:srgbClr val="000000"/>
                </a:solidFill>
                <a:sym typeface="Symbol" pitchFamily="18" charset="2"/>
              </a:rPr>
              <a:t>(</a:t>
            </a:r>
            <a:r>
              <a:rPr kumimoji="1" lang="en-US" sz="2400">
                <a:solidFill>
                  <a:srgbClr val="000000"/>
                </a:solidFill>
                <a:sym typeface="Symbol" pitchFamily="18" charset="2"/>
              </a:rPr>
              <a:t>x</a:t>
            </a:r>
            <a:r>
              <a:rPr kumimoji="1" lang="en-US" sz="2800" baseline="50000">
                <a:solidFill>
                  <a:srgbClr val="000000"/>
                </a:solidFill>
                <a:sym typeface="Symbol" pitchFamily="18" charset="2"/>
              </a:rPr>
              <a:t>(N)</a:t>
            </a:r>
            <a:r>
              <a:rPr kumimoji="1" lang="en-US" sz="3200">
                <a:solidFill>
                  <a:srgbClr val="000000"/>
                </a:solidFill>
                <a:sym typeface="Symbol" pitchFamily="18" charset="2"/>
              </a:rPr>
              <a:t>)</a:t>
            </a:r>
            <a:r>
              <a:rPr kumimoji="1" lang="en-US" sz="2400" baseline="80000">
                <a:solidFill>
                  <a:srgbClr val="000000"/>
                </a:solidFill>
                <a:sym typeface="Symbol" pitchFamily="18" charset="2"/>
              </a:rPr>
              <a:t>k </a:t>
            </a:r>
            <a:r>
              <a:rPr kumimoji="1" lang="en-US" sz="2400">
                <a:solidFill>
                  <a:srgbClr val="000000"/>
                </a:solidFill>
                <a:sym typeface="Symbol"/>
              </a:rPr>
              <a:t> </a:t>
            </a:r>
            <a:r>
              <a:rPr kumimoji="1" lang="en-US" sz="2400" b="1">
                <a:solidFill>
                  <a:srgbClr val="000000"/>
                </a:solidFill>
                <a:sym typeface="Symbol" pitchFamily="18" charset="2"/>
              </a:rPr>
              <a:t>x</a:t>
            </a:r>
            <a:r>
              <a:rPr kumimoji="1" lang="en-US" sz="2400">
                <a:solidFill>
                  <a:srgbClr val="000000"/>
                </a:solidFill>
                <a:sym typeface="Symbol" pitchFamily="18" charset="2"/>
              </a:rPr>
              <a:t>  </a:t>
            </a:r>
            <a:r>
              <a:rPr kumimoji="1" lang="en-US" sz="2400">
                <a:solidFill>
                  <a:srgbClr val="000000"/>
                </a:solidFill>
                <a:ea typeface="Tahoma" pitchFamily="34" charset="0"/>
                <a:cs typeface="Tahoma" pitchFamily="34" charset="0"/>
                <a:sym typeface="Symbol" pitchFamily="18" charset="2"/>
              </a:rPr>
              <a:t>=</a:t>
            </a:r>
            <a:r>
              <a:rPr kumimoji="1" lang="en-US" sz="2400">
                <a:solidFill>
                  <a:srgbClr val="000000"/>
                </a:solidFill>
                <a:sym typeface="Symbol" pitchFamily="18" charset="2"/>
              </a:rPr>
              <a:t>  x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533400" y="3767436"/>
            <a:ext cx="7848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rgbClr val="000000"/>
                </a:solidFill>
                <a:sym typeface="Symbol" pitchFamily="18" charset="2"/>
              </a:rPr>
              <a:t>F( </a:t>
            </a:r>
            <a:r>
              <a:rPr lang="en-US" sz="2400" b="1" err="1">
                <a:solidFill>
                  <a:srgbClr val="000000"/>
                </a:solidFill>
                <a:sym typeface="Symbol" pitchFamily="18" charset="2"/>
              </a:rPr>
              <a:t>pk</a:t>
            </a:r>
            <a:r>
              <a:rPr lang="en-US" sz="2400" b="1">
                <a:solidFill>
                  <a:srgbClr val="000000"/>
                </a:solidFill>
                <a:sym typeface="Symbol" pitchFamily="18" charset="2"/>
              </a:rPr>
              <a:t>, x )</a:t>
            </a:r>
            <a:r>
              <a:rPr lang="en-US" sz="2400">
                <a:solidFill>
                  <a:srgbClr val="000000"/>
                </a:solidFill>
                <a:sym typeface="Symbol" pitchFamily="18" charset="2"/>
              </a:rPr>
              <a:t>:  	  		;     </a:t>
            </a:r>
            <a:r>
              <a:rPr lang="en-US" sz="2400" b="1">
                <a:solidFill>
                  <a:srgbClr val="000000"/>
                </a:solidFill>
                <a:sym typeface="Symbol" pitchFamily="18" charset="2"/>
              </a:rPr>
              <a:t>RSA(x) = </a:t>
            </a:r>
            <a:r>
              <a:rPr lang="en-US" sz="2400" b="1" err="1">
                <a:solidFill>
                  <a:srgbClr val="000000"/>
                </a:solidFill>
                <a:sym typeface="Symbol" pitchFamily="18" charset="2"/>
              </a:rPr>
              <a:t>x</a:t>
            </a:r>
            <a:r>
              <a:rPr lang="en-US" sz="2400" b="1" baseline="40000" err="1">
                <a:solidFill>
                  <a:srgbClr val="000000"/>
                </a:solidFill>
                <a:ea typeface="Tahoma" pitchFamily="34" charset="0"/>
                <a:cs typeface="Tahoma" pitchFamily="34" charset="0"/>
                <a:sym typeface="Symbol" pitchFamily="18" charset="2"/>
              </a:rPr>
              <a:t>e</a:t>
            </a:r>
            <a:r>
              <a:rPr lang="en-US" sz="2400" b="1">
                <a:solidFill>
                  <a:srgbClr val="000000"/>
                </a:solidFill>
                <a:ea typeface="Tahoma" pitchFamily="34" charset="0"/>
                <a:cs typeface="Tahoma" pitchFamily="34" charset="0"/>
                <a:sym typeface="Symbol" pitchFamily="18" charset="2"/>
              </a:rPr>
              <a:t>          </a:t>
            </a:r>
            <a:r>
              <a:rPr lang="en-US" sz="2400">
                <a:solidFill>
                  <a:srgbClr val="000000"/>
                </a:solidFill>
                <a:ea typeface="Tahoma" pitchFamily="34" charset="0"/>
                <a:cs typeface="Tahoma" pitchFamily="34" charset="0"/>
                <a:sym typeface="Symbol" pitchFamily="18" charset="2"/>
              </a:rPr>
              <a:t>(in  Z</a:t>
            </a:r>
            <a:r>
              <a:rPr lang="en-US" sz="2400" baseline="-25000">
                <a:solidFill>
                  <a:srgbClr val="000000"/>
                </a:solidFill>
                <a:ea typeface="Tahoma" pitchFamily="34" charset="0"/>
                <a:cs typeface="Tahoma" pitchFamily="34" charset="0"/>
                <a:sym typeface="Symbol" pitchFamily="18" charset="2"/>
              </a:rPr>
              <a:t>N</a:t>
            </a:r>
            <a:r>
              <a:rPr lang="en-US" sz="2400">
                <a:solidFill>
                  <a:srgbClr val="000000"/>
                </a:solidFill>
                <a:ea typeface="Tahoma" pitchFamily="34" charset="0"/>
                <a:cs typeface="Tahoma" pitchFamily="34" charset="0"/>
                <a:sym typeface="Symbol" pitchFamily="18" charset="2"/>
              </a:rPr>
              <a:t>)   </a:t>
            </a:r>
            <a:endParaRPr lang="en-US" sz="2400">
              <a:solidFill>
                <a:srgbClr val="000000"/>
              </a:solidFill>
              <a:sym typeface="Symbol" pitchFamily="18" charset="2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9521" y="3914556"/>
            <a:ext cx="1013658" cy="244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6983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0919" grpId="0"/>
      <p:bldP spid="2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7BD8E-6E02-FD45-919F-EF30BB4F1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RSA scheme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CC245C-22D3-1D41-A839-B2FE8162F9A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/>
              <a:t>We are now ready to state the RSA scheme. The ingredients are the following: </a:t>
            </a:r>
          </a:p>
          <a:p>
            <a:pPr lvl="1"/>
            <a:r>
              <a:rPr lang="en-US" i="1"/>
              <a:t>p, q</a:t>
            </a:r>
            <a:r>
              <a:rPr lang="en-US"/>
              <a:t>, two prime numbers(private, chosen) </a:t>
            </a:r>
          </a:p>
          <a:p>
            <a:pPr lvl="1"/>
            <a:r>
              <a:rPr lang="en-US" i="1"/>
              <a:t>n </a:t>
            </a:r>
            <a:r>
              <a:rPr lang="en-US"/>
              <a:t>= </a:t>
            </a:r>
            <a:r>
              <a:rPr lang="en-US" i="1" err="1"/>
              <a:t>pq</a:t>
            </a:r>
            <a:r>
              <a:rPr lang="en-US"/>
              <a:t>, 𝝋</a:t>
            </a:r>
            <a:r>
              <a:rPr lang="en-US" b="1"/>
              <a:t>(</a:t>
            </a:r>
            <a:r>
              <a:rPr lang="en-US" b="1" i="1"/>
              <a:t>n</a:t>
            </a:r>
            <a:r>
              <a:rPr lang="en-US" b="1"/>
              <a:t>)=(</a:t>
            </a:r>
            <a:r>
              <a:rPr lang="en-US" b="1" i="1"/>
              <a:t>p</a:t>
            </a:r>
            <a:r>
              <a:rPr lang="en-US" b="1"/>
              <a:t>-1)(</a:t>
            </a:r>
            <a:r>
              <a:rPr lang="en-US" b="1" i="1"/>
              <a:t>q</a:t>
            </a:r>
            <a:r>
              <a:rPr lang="en-US" b="1"/>
              <a:t>-1) </a:t>
            </a:r>
            <a:r>
              <a:rPr lang="en-US"/>
              <a:t>(public, calculated) </a:t>
            </a:r>
            <a:endParaRPr lang="en-US" i="1"/>
          </a:p>
          <a:p>
            <a:pPr lvl="1"/>
            <a:r>
              <a:rPr lang="en-US" i="1"/>
              <a:t>e</a:t>
            </a:r>
            <a:r>
              <a:rPr lang="en-US"/>
              <a:t>, with </a:t>
            </a:r>
            <a:r>
              <a:rPr lang="en-US" err="1"/>
              <a:t>gcd</a:t>
            </a:r>
            <a:r>
              <a:rPr lang="en-US"/>
              <a:t>(𝝋(</a:t>
            </a:r>
            <a:r>
              <a:rPr lang="en-US" i="1"/>
              <a:t>n</a:t>
            </a:r>
            <a:r>
              <a:rPr lang="en-US"/>
              <a:t>), </a:t>
            </a:r>
            <a:r>
              <a:rPr lang="en-US" i="1"/>
              <a:t>e</a:t>
            </a:r>
            <a:r>
              <a:rPr lang="en-US"/>
              <a:t>) = 1; 1 &lt; </a:t>
            </a:r>
            <a:r>
              <a:rPr lang="en-US" i="1"/>
              <a:t>e </a:t>
            </a:r>
            <a:r>
              <a:rPr lang="en-US"/>
              <a:t>&lt; 𝝋(</a:t>
            </a:r>
            <a:r>
              <a:rPr lang="en-US" i="1"/>
              <a:t>n</a:t>
            </a:r>
            <a:r>
              <a:rPr lang="en-US"/>
              <a:t>) (public, chosen) </a:t>
            </a:r>
          </a:p>
          <a:p>
            <a:pPr lvl="1"/>
            <a:r>
              <a:rPr lang="en-US" i="1"/>
              <a:t>d ≡</a:t>
            </a:r>
            <a:r>
              <a:rPr lang="en-US"/>
              <a:t> </a:t>
            </a:r>
            <a:r>
              <a:rPr lang="en-US" i="1"/>
              <a:t>e</a:t>
            </a:r>
            <a:r>
              <a:rPr lang="en-US" baseline="30000"/>
              <a:t>-1</a:t>
            </a:r>
            <a:r>
              <a:rPr lang="en-US"/>
              <a:t> (mod 𝝋(</a:t>
            </a:r>
            <a:r>
              <a:rPr lang="en-US" i="1"/>
              <a:t>n</a:t>
            </a:r>
            <a:r>
              <a:rPr lang="en-US"/>
              <a:t>)) (private, calculated) </a:t>
            </a:r>
          </a:p>
          <a:p>
            <a:endParaRPr lang="en-US"/>
          </a:p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0784739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1BF39-CE4A-FB46-ABD9-A1D3C84E3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>
                <a:latin typeface="Calibri" panose="020F0502020204030204" pitchFamily="34" charset="0"/>
                <a:cs typeface="Calibri" panose="020F0502020204030204" pitchFamily="34" charset="0"/>
              </a:rPr>
              <a:t>Bài tập 1</a:t>
            </a:r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14D97B-F522-AA42-BEC6-8BBC3729751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vi-VN">
                <a:latin typeface="Calibri" panose="020F0502020204030204" pitchFamily="34" charset="0"/>
                <a:cs typeface="Calibri" panose="020F0502020204030204" pitchFamily="34" charset="0"/>
              </a:rPr>
              <a:t>Tìm tất cả các cặp khoá PU (public key) và PR (private key) tương ứng với các trường hợp của p, q như sau</a:t>
            </a:r>
          </a:p>
          <a:p>
            <a:pPr lvl="1"/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p = 17 and q = 11 </a:t>
            </a:r>
          </a:p>
          <a:p>
            <a:pPr lvl="1"/>
            <a:r>
              <a:rPr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p = 397 and q = 401</a:t>
            </a:r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vi-VN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059907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21C06-8F81-014F-8DFA-470D4C98D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>
                <a:latin typeface="Calibri" panose="020F0502020204030204" pitchFamily="34" charset="0"/>
                <a:cs typeface="Calibri" panose="020F0502020204030204" pitchFamily="34" charset="0"/>
              </a:rPr>
              <a:t>Bài tập 2</a:t>
            </a:r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29725D-6F44-2641-8A29-D206B6647E1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vi-VN"/>
              <a:t>Cho N = 10000, tìm tất cả các số nửa nguyên tố nhỏ hơn N </a:t>
            </a:r>
          </a:p>
          <a:p>
            <a:r>
              <a:rPr lang="vi-VN"/>
              <a:t>Chọn một giá trị N1 bất kỳ trong tập số nửa nguyên tố </a:t>
            </a:r>
          </a:p>
          <a:p>
            <a:r>
              <a:rPr lang="vi-VN"/>
              <a:t>Sinh cặp khoá PU và PR tương ứng 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2730408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D5DB9-6F2B-854B-A358-C4BF3E8EC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>
                <a:latin typeface="Calibri" panose="020F0502020204030204" pitchFamily="34" charset="0"/>
                <a:cs typeface="Calibri" panose="020F0502020204030204" pitchFamily="34" charset="0"/>
              </a:rPr>
              <a:t>Bài tập 3 </a:t>
            </a:r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748F79-8D41-4049-AC47-D194BCD06F1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vi-VN"/>
              <a:t>Viết thuật toán tạo một số nguyên tố ngẫu nhiên với độ dài bit cho trước 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236708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6E0A591440FD4BB24A6FC7027A4F9B" ma:contentTypeVersion="0" ma:contentTypeDescription="Create a new document." ma:contentTypeScope="" ma:versionID="0cdb238342832eee5c5d1cab49339010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500c6692915ba10984c0aabd49f31b2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35A230B-2EAF-4BFF-90F2-54534BE4B56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8CECD2F-C723-487A-89E3-1515D96FF76D}"/>
</file>

<file path=customXml/itemProps3.xml><?xml version="1.0" encoding="utf-8"?>
<ds:datastoreItem xmlns:ds="http://schemas.openxmlformats.org/officeDocument/2006/customXml" ds:itemID="{F488B3B0-7C4A-4A95-8D9A-61DF1F5E87A3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3113</Words>
  <Application>Microsoft Macintosh PowerPoint</Application>
  <PresentationFormat>On-screen Show (4:3)</PresentationFormat>
  <Paragraphs>298</Paragraphs>
  <Slides>39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9" baseType="lpstr">
      <vt:lpstr>Arial</vt:lpstr>
      <vt:lpstr>Calibri</vt:lpstr>
      <vt:lpstr>Cambria Math</vt:lpstr>
      <vt:lpstr>Castellar</vt:lpstr>
      <vt:lpstr>Lato</vt:lpstr>
      <vt:lpstr>Symbol</vt:lpstr>
      <vt:lpstr>Tahoma</vt:lpstr>
      <vt:lpstr>TimesTen</vt:lpstr>
      <vt:lpstr>Wingdings</vt:lpstr>
      <vt:lpstr>Office Theme</vt:lpstr>
      <vt:lpstr>PowerPoint Presentation</vt:lpstr>
      <vt:lpstr>PowerPoint Presentation</vt:lpstr>
      <vt:lpstr>A Key Hierarchy  (phân cấp khoá)</vt:lpstr>
      <vt:lpstr>Quản lý khoá (Key management)</vt:lpstr>
      <vt:lpstr>Giải pháp tốt hơn</vt:lpstr>
      <vt:lpstr>Phân phối khoá đối xứng sử dụng mật mã khoá đối xứng</vt:lpstr>
      <vt:lpstr>Generating keys: Giao thức trò chơi (a toy protocol)</vt:lpstr>
      <vt:lpstr>Generating keys: a toy protocol (giao thức trò chơi)</vt:lpstr>
      <vt:lpstr>Toy protocol:  không an toàn để chống Tấn công chủ động (active attacks)</vt:lpstr>
      <vt:lpstr>Giao thực thoả thuận khoá (Key exchange) không cần online TTP?</vt:lpstr>
      <vt:lpstr>Merkle Puzzles (1974)</vt:lpstr>
      <vt:lpstr>Merkle puzzles</vt:lpstr>
      <vt:lpstr>In a figure</vt:lpstr>
      <vt:lpstr>Impossibility Result</vt:lpstr>
      <vt:lpstr>Giao thức Diffie-Hellman (informally)</vt:lpstr>
      <vt:lpstr>Security   (much more on this later)</vt:lpstr>
      <vt:lpstr>How hard is the DH function mod p?</vt:lpstr>
      <vt:lpstr>SSL – Chứng chỉ chứng thực số </vt:lpstr>
      <vt:lpstr>Mật mã khoá công khai (Public key encryption)</vt:lpstr>
      <vt:lpstr>Public-Key Cryptography </vt:lpstr>
      <vt:lpstr>Public-Key Cryptosystem</vt:lpstr>
      <vt:lpstr>Bảo mật ngữ nghĩa (Semantic Security)</vt:lpstr>
      <vt:lpstr>Thiết lập chia sẻ khoá mật (a shared secret)</vt:lpstr>
      <vt:lpstr>Public key encryption:  constructions</vt:lpstr>
      <vt:lpstr>Nhắc lại một số ký hiệu (Notation)</vt:lpstr>
      <vt:lpstr>Greatest common divisor</vt:lpstr>
      <vt:lpstr>Phần tử khả nghịch (Modular inversion)</vt:lpstr>
      <vt:lpstr>Phần tử khả nghịch (Modular inversion)</vt:lpstr>
      <vt:lpstr>Ví dụ </vt:lpstr>
      <vt:lpstr>Định lý Fermat    (1640)</vt:lpstr>
      <vt:lpstr>Ứng dụng:  tạo ra một số nguyên tố ngẫu nhiên</vt:lpstr>
      <vt:lpstr>The structure of   (Zp)* </vt:lpstr>
      <vt:lpstr>Order – bậc </vt:lpstr>
      <vt:lpstr>Mở rộng Euler (Euler’s generalization) của Fermat  (1736)</vt:lpstr>
      <vt:lpstr>The RSA trapdoor permutation</vt:lpstr>
      <vt:lpstr>RSA scheme</vt:lpstr>
      <vt:lpstr>Bài tập 1</vt:lpstr>
      <vt:lpstr>Bài tập 2</vt:lpstr>
      <vt:lpstr>Bài tập 3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Phong TT &amp; QTTH</dc:creator>
  <cp:lastModifiedBy>Ta Thi Kim Hue</cp:lastModifiedBy>
  <cp:revision>1</cp:revision>
  <dcterms:created xsi:type="dcterms:W3CDTF">2021-05-28T04:32:29Z</dcterms:created>
  <dcterms:modified xsi:type="dcterms:W3CDTF">2025-04-01T09:25:39Z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0x010100796E0A591440FD4BB24A6FC7027A4F9B</vt:lpwstr>
  </property>
</Properties>
</file>