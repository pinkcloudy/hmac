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3.xml" ContentType="application/vnd.openxmlformats-officedocument.presentationml.slide+xml"/>
  <Override PartName="/ppt/presentation.xml" ContentType="application/vnd.openxmlformats-officedocument.presentationml.presentation.main+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ink/ink2.xml" ContentType="application/inkml+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ink/ink1.xml" ContentType="application/inkml+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3"/>
  </p:sldMasterIdLst>
  <p:notesMasterIdLst>
    <p:notesMasterId r:id="rId41"/>
  </p:notesMasterIdLst>
  <p:handoutMasterIdLst>
    <p:handoutMasterId r:id="rId42"/>
  </p:handoutMasterIdLst>
  <p:sldIdLst>
    <p:sldId id="259" r:id="rId4"/>
    <p:sldId id="257" r:id="rId5"/>
    <p:sldId id="528" r:id="rId6"/>
    <p:sldId id="481" r:id="rId7"/>
    <p:sldId id="443" r:id="rId8"/>
    <p:sldId id="445" r:id="rId9"/>
    <p:sldId id="447" r:id="rId10"/>
    <p:sldId id="522" r:id="rId11"/>
    <p:sldId id="448" r:id="rId12"/>
    <p:sldId id="496" r:id="rId13"/>
    <p:sldId id="495" r:id="rId14"/>
    <p:sldId id="482" r:id="rId15"/>
    <p:sldId id="460" r:id="rId16"/>
    <p:sldId id="461" r:id="rId17"/>
    <p:sldId id="462" r:id="rId18"/>
    <p:sldId id="483" r:id="rId19"/>
    <p:sldId id="466" r:id="rId20"/>
    <p:sldId id="492" r:id="rId21"/>
    <p:sldId id="517" r:id="rId22"/>
    <p:sldId id="512" r:id="rId23"/>
    <p:sldId id="514" r:id="rId24"/>
    <p:sldId id="515" r:id="rId25"/>
    <p:sldId id="516" r:id="rId26"/>
    <p:sldId id="502" r:id="rId27"/>
    <p:sldId id="509" r:id="rId28"/>
    <p:sldId id="491" r:id="rId29"/>
    <p:sldId id="518" r:id="rId30"/>
    <p:sldId id="510" r:id="rId31"/>
    <p:sldId id="474" r:id="rId32"/>
    <p:sldId id="498" r:id="rId33"/>
    <p:sldId id="504" r:id="rId34"/>
    <p:sldId id="519" r:id="rId35"/>
    <p:sldId id="511" r:id="rId36"/>
    <p:sldId id="494" r:id="rId37"/>
    <p:sldId id="477" r:id="rId38"/>
    <p:sldId id="478" r:id="rId39"/>
    <p:sldId id="505"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02A2D8-25C3-D74E-A8BD-F4891B6EF312}" v="2" dt="2022-11-02T10:49:05.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894" autoAdjust="0"/>
    <p:restoredTop sz="94649"/>
  </p:normalViewPr>
  <p:slideViewPr>
    <p:cSldViewPr snapToGrid="0">
      <p:cViewPr varScale="1">
        <p:scale>
          <a:sx n="92" d="100"/>
          <a:sy n="92" d="100"/>
        </p:scale>
        <p:origin x="840" y="192"/>
      </p:cViewPr>
      <p:guideLst/>
    </p:cSldViewPr>
  </p:slideViewPr>
  <p:outlineViewPr>
    <p:cViewPr>
      <p:scale>
        <a:sx n="33" d="100"/>
        <a:sy n="33" d="100"/>
      </p:scale>
      <p:origin x="0" y="-188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 Thi Kim Hue" userId="af176dfe-ebe0-47e4-99a4-e0f4d40f7313" providerId="ADAL" clId="{5102A2D8-25C3-D74E-A8BD-F4891B6EF312}"/>
    <pc:docChg chg="custSel addSld modSld">
      <pc:chgData name="Ta Thi Kim Hue" userId="af176dfe-ebe0-47e4-99a4-e0f4d40f7313" providerId="ADAL" clId="{5102A2D8-25C3-D74E-A8BD-F4891B6EF312}" dt="2022-11-02T16:47:39.804" v="174" actId="20577"/>
      <pc:docMkLst>
        <pc:docMk/>
      </pc:docMkLst>
      <pc:sldChg chg="addSp modSp mod modAnim">
        <pc:chgData name="Ta Thi Kim Hue" userId="af176dfe-ebe0-47e4-99a4-e0f4d40f7313" providerId="ADAL" clId="{5102A2D8-25C3-D74E-A8BD-F4891B6EF312}" dt="2022-11-02T10:50:01.940" v="10" actId="20577"/>
        <pc:sldMkLst>
          <pc:docMk/>
          <pc:sldMk cId="4175955957" sldId="288"/>
        </pc:sldMkLst>
        <pc:spChg chg="mod">
          <ac:chgData name="Ta Thi Kim Hue" userId="af176dfe-ebe0-47e4-99a4-e0f4d40f7313" providerId="ADAL" clId="{5102A2D8-25C3-D74E-A8BD-F4891B6EF312}" dt="2022-11-02T10:50:01.940" v="10" actId="20577"/>
          <ac:spMkLst>
            <pc:docMk/>
            <pc:sldMk cId="4175955957" sldId="288"/>
            <ac:spMk id="4" creationId="{B310BEA8-9217-4C04-962E-065A63974FEB}"/>
          </ac:spMkLst>
        </pc:spChg>
        <pc:picChg chg="add mod">
          <ac:chgData name="Ta Thi Kim Hue" userId="af176dfe-ebe0-47e4-99a4-e0f4d40f7313" providerId="ADAL" clId="{5102A2D8-25C3-D74E-A8BD-F4891B6EF312}" dt="2022-11-02T10:48:58.724" v="5" actId="1076"/>
          <ac:picMkLst>
            <pc:docMk/>
            <pc:sldMk cId="4175955957" sldId="288"/>
            <ac:picMk id="6" creationId="{0176EBB6-6F83-5F9F-889C-E61AD4F2056D}"/>
          </ac:picMkLst>
        </pc:picChg>
      </pc:sldChg>
      <pc:sldChg chg="modSp new mod">
        <pc:chgData name="Ta Thi Kim Hue" userId="af176dfe-ebe0-47e4-99a4-e0f4d40f7313" providerId="ADAL" clId="{5102A2D8-25C3-D74E-A8BD-F4891B6EF312}" dt="2022-11-02T16:47:39.804" v="174" actId="20577"/>
        <pc:sldMkLst>
          <pc:docMk/>
          <pc:sldMk cId="1259703148" sldId="294"/>
        </pc:sldMkLst>
        <pc:spChg chg="mod">
          <ac:chgData name="Ta Thi Kim Hue" userId="af176dfe-ebe0-47e4-99a4-e0f4d40f7313" providerId="ADAL" clId="{5102A2D8-25C3-D74E-A8BD-F4891B6EF312}" dt="2022-11-02T16:00:22.145" v="30" actId="20577"/>
          <ac:spMkLst>
            <pc:docMk/>
            <pc:sldMk cId="1259703148" sldId="294"/>
            <ac:spMk id="3" creationId="{5262B5CD-D4B5-D311-A2C8-13AE48F00DD4}"/>
          </ac:spMkLst>
        </pc:spChg>
        <pc:spChg chg="mod">
          <ac:chgData name="Ta Thi Kim Hue" userId="af176dfe-ebe0-47e4-99a4-e0f4d40f7313" providerId="ADAL" clId="{5102A2D8-25C3-D74E-A8BD-F4891B6EF312}" dt="2022-11-02T16:47:39.804" v="174" actId="20577"/>
          <ac:spMkLst>
            <pc:docMk/>
            <pc:sldMk cId="1259703148" sldId="294"/>
            <ac:spMk id="4" creationId="{346A1D85-CA76-7862-5C17-5D6D73EF5559}"/>
          </ac:spMkLst>
        </pc:spChg>
      </pc:sldChg>
    </pc:docChg>
  </pc:docChgLst>
  <pc:docChgLst>
    <pc:chgData name="hue.tathikim@hust.edu.vn" userId="af176dfe-ebe0-47e4-99a4-e0f4d40f7313" providerId="ADAL" clId="{1F4E8022-28B5-4CB1-ADE6-2FBE4A23408A}"/>
    <pc:docChg chg="undo custSel addSld modSld">
      <pc:chgData name="hue.tathikim@hust.edu.vn" userId="af176dfe-ebe0-47e4-99a4-e0f4d40f7313" providerId="ADAL" clId="{1F4E8022-28B5-4CB1-ADE6-2FBE4A23408A}" dt="2022-10-12T04:36:37.739" v="1747" actId="20577"/>
      <pc:docMkLst>
        <pc:docMk/>
      </pc:docMkLst>
      <pc:sldChg chg="addSp modSp mod">
        <pc:chgData name="hue.tathikim@hust.edu.vn" userId="af176dfe-ebe0-47e4-99a4-e0f4d40f7313" providerId="ADAL" clId="{1F4E8022-28B5-4CB1-ADE6-2FBE4A23408A}" dt="2022-10-12T04:00:05.410" v="732" actId="14100"/>
        <pc:sldMkLst>
          <pc:docMk/>
          <pc:sldMk cId="757369366" sldId="266"/>
        </pc:sldMkLst>
        <pc:spChg chg="mod">
          <ac:chgData name="hue.tathikim@hust.edu.vn" userId="af176dfe-ebe0-47e4-99a4-e0f4d40f7313" providerId="ADAL" clId="{1F4E8022-28B5-4CB1-ADE6-2FBE4A23408A}" dt="2022-10-12T03:42:22.097" v="14" actId="14100"/>
          <ac:spMkLst>
            <pc:docMk/>
            <pc:sldMk cId="757369366" sldId="266"/>
            <ac:spMk id="4" creationId="{007EE1FD-FAAD-14FF-6940-40B38CCE7620}"/>
          </ac:spMkLst>
        </pc:spChg>
        <pc:spChg chg="add mod">
          <ac:chgData name="hue.tathikim@hust.edu.vn" userId="af176dfe-ebe0-47e4-99a4-e0f4d40f7313" providerId="ADAL" clId="{1F4E8022-28B5-4CB1-ADE6-2FBE4A23408A}" dt="2022-10-12T04:00:05.410" v="732" actId="14100"/>
          <ac:spMkLst>
            <pc:docMk/>
            <pc:sldMk cId="757369366" sldId="266"/>
            <ac:spMk id="8" creationId="{5954AA41-6DE1-4156-9998-ECED6E61BFCA}"/>
          </ac:spMkLst>
        </pc:spChg>
        <pc:spChg chg="add mod">
          <ac:chgData name="hue.tathikim@hust.edu.vn" userId="af176dfe-ebe0-47e4-99a4-e0f4d40f7313" providerId="ADAL" clId="{1F4E8022-28B5-4CB1-ADE6-2FBE4A23408A}" dt="2022-10-12T03:51:03.958" v="303" actId="14100"/>
          <ac:spMkLst>
            <pc:docMk/>
            <pc:sldMk cId="757369366" sldId="266"/>
            <ac:spMk id="9" creationId="{39CE66D5-29CD-4C3E-9750-57C80BD469B0}"/>
          </ac:spMkLst>
        </pc:spChg>
        <pc:spChg chg="add mod">
          <ac:chgData name="hue.tathikim@hust.edu.vn" userId="af176dfe-ebe0-47e4-99a4-e0f4d40f7313" providerId="ADAL" clId="{1F4E8022-28B5-4CB1-ADE6-2FBE4A23408A}" dt="2022-10-12T03:50:48.774" v="299" actId="14100"/>
          <ac:spMkLst>
            <pc:docMk/>
            <pc:sldMk cId="757369366" sldId="266"/>
            <ac:spMk id="10" creationId="{D6FB82F1-D917-4138-9995-558EEA9823AE}"/>
          </ac:spMkLst>
        </pc:spChg>
        <pc:spChg chg="add mod">
          <ac:chgData name="hue.tathikim@hust.edu.vn" userId="af176dfe-ebe0-47e4-99a4-e0f4d40f7313" providerId="ADAL" clId="{1F4E8022-28B5-4CB1-ADE6-2FBE4A23408A}" dt="2022-10-12T03:51:00.718" v="302" actId="1076"/>
          <ac:spMkLst>
            <pc:docMk/>
            <pc:sldMk cId="757369366" sldId="266"/>
            <ac:spMk id="11" creationId="{F8AECEDF-756A-42CE-9FC1-DACB5A2EAD6E}"/>
          </ac:spMkLst>
        </pc:spChg>
        <pc:picChg chg="add mod">
          <ac:chgData name="hue.tathikim@hust.edu.vn" userId="af176dfe-ebe0-47e4-99a4-e0f4d40f7313" providerId="ADAL" clId="{1F4E8022-28B5-4CB1-ADE6-2FBE4A23408A}" dt="2022-10-12T03:50:56.191" v="301" actId="1076"/>
          <ac:picMkLst>
            <pc:docMk/>
            <pc:sldMk cId="757369366" sldId="266"/>
            <ac:picMk id="6" creationId="{C37ED9A0-8988-40FA-AE03-D763DC95952F}"/>
          </ac:picMkLst>
        </pc:picChg>
      </pc:sldChg>
      <pc:sldChg chg="modSp new mod">
        <pc:chgData name="hue.tathikim@hust.edu.vn" userId="af176dfe-ebe0-47e4-99a4-e0f4d40f7313" providerId="ADAL" clId="{1F4E8022-28B5-4CB1-ADE6-2FBE4A23408A}" dt="2022-10-12T04:36:37.739" v="1747" actId="20577"/>
        <pc:sldMkLst>
          <pc:docMk/>
          <pc:sldMk cId="3057768725" sldId="273"/>
        </pc:sldMkLst>
        <pc:spChg chg="mod">
          <ac:chgData name="hue.tathikim@hust.edu.vn" userId="af176dfe-ebe0-47e4-99a4-e0f4d40f7313" providerId="ADAL" clId="{1F4E8022-28B5-4CB1-ADE6-2FBE4A23408A}" dt="2022-10-12T04:19:52.463" v="733"/>
          <ac:spMkLst>
            <pc:docMk/>
            <pc:sldMk cId="3057768725" sldId="273"/>
            <ac:spMk id="3" creationId="{F10B2960-35D6-465F-9893-F5F9A57434A2}"/>
          </ac:spMkLst>
        </pc:spChg>
        <pc:spChg chg="mod">
          <ac:chgData name="hue.tathikim@hust.edu.vn" userId="af176dfe-ebe0-47e4-99a4-e0f4d40f7313" providerId="ADAL" clId="{1F4E8022-28B5-4CB1-ADE6-2FBE4A23408A}" dt="2022-10-12T04:36:37.739" v="1747" actId="20577"/>
          <ac:spMkLst>
            <pc:docMk/>
            <pc:sldMk cId="3057768725" sldId="273"/>
            <ac:spMk id="4" creationId="{2CB8CC60-F448-4A90-84AD-77113019F0C2}"/>
          </ac:spMkLst>
        </pc:spChg>
      </pc:sldChg>
      <pc:sldChg chg="modSp new mod">
        <pc:chgData name="hue.tathikim@hust.edu.vn" userId="af176dfe-ebe0-47e4-99a4-e0f4d40f7313" providerId="ADAL" clId="{1F4E8022-28B5-4CB1-ADE6-2FBE4A23408A}" dt="2022-10-12T04:19:56.837" v="734"/>
        <pc:sldMkLst>
          <pc:docMk/>
          <pc:sldMk cId="4153716864" sldId="274"/>
        </pc:sldMkLst>
        <pc:spChg chg="mod">
          <ac:chgData name="hue.tathikim@hust.edu.vn" userId="af176dfe-ebe0-47e4-99a4-e0f4d40f7313" providerId="ADAL" clId="{1F4E8022-28B5-4CB1-ADE6-2FBE4A23408A}" dt="2022-10-12T04:19:56.837" v="734"/>
          <ac:spMkLst>
            <pc:docMk/>
            <pc:sldMk cId="4153716864" sldId="274"/>
            <ac:spMk id="3" creationId="{45D31F5E-ADA7-4AE2-A697-2707659AE77C}"/>
          </ac:spMkLst>
        </pc:spChg>
      </pc:sldChg>
      <pc:sldChg chg="new">
        <pc:chgData name="hue.tathikim@hust.edu.vn" userId="af176dfe-ebe0-47e4-99a4-e0f4d40f7313" providerId="ADAL" clId="{1F4E8022-28B5-4CB1-ADE6-2FBE4A23408A}" dt="2022-10-12T03:58:00.914" v="625" actId="680"/>
        <pc:sldMkLst>
          <pc:docMk/>
          <pc:sldMk cId="3928681518" sldId="275"/>
        </pc:sldMkLst>
      </pc:sldChg>
    </pc:docChg>
  </pc:docChgLst>
  <pc:docChgLst>
    <pc:chgData name="Ta Thi Kim Hue" userId="af176dfe-ebe0-47e4-99a4-e0f4d40f7313" providerId="ADAL" clId="{55F3777B-5B4D-F34F-95EB-4BC4C23D9DFD}"/>
    <pc:docChg chg="custSel addSld modSld sldOrd">
      <pc:chgData name="Ta Thi Kim Hue" userId="af176dfe-ebe0-47e4-99a4-e0f4d40f7313" providerId="ADAL" clId="{55F3777B-5B4D-F34F-95EB-4BC4C23D9DFD}" dt="2022-10-27T01:40:18.176" v="2189" actId="20577"/>
      <pc:docMkLst>
        <pc:docMk/>
      </pc:docMkLst>
      <pc:sldChg chg="modSp mod">
        <pc:chgData name="Ta Thi Kim Hue" userId="af176dfe-ebe0-47e4-99a4-e0f4d40f7313" providerId="ADAL" clId="{55F3777B-5B4D-F34F-95EB-4BC4C23D9DFD}" dt="2022-10-27T00:01:32.045" v="2177" actId="20577"/>
        <pc:sldMkLst>
          <pc:docMk/>
          <pc:sldMk cId="292364014" sldId="265"/>
        </pc:sldMkLst>
        <pc:spChg chg="mod">
          <ac:chgData name="Ta Thi Kim Hue" userId="af176dfe-ebe0-47e4-99a4-e0f4d40f7313" providerId="ADAL" clId="{55F3777B-5B4D-F34F-95EB-4BC4C23D9DFD}" dt="2022-10-27T00:01:32.045" v="2177" actId="20577"/>
          <ac:spMkLst>
            <pc:docMk/>
            <pc:sldMk cId="292364014" sldId="265"/>
            <ac:spMk id="3" creationId="{9EF27CAA-32BA-4E6B-B8C0-1A481E08E81D}"/>
          </ac:spMkLst>
        </pc:spChg>
      </pc:sldChg>
      <pc:sldChg chg="modSp">
        <pc:chgData name="Ta Thi Kim Hue" userId="af176dfe-ebe0-47e4-99a4-e0f4d40f7313" providerId="ADAL" clId="{55F3777B-5B4D-F34F-95EB-4BC4C23D9DFD}" dt="2022-10-27T01:40:18.176" v="2189" actId="20577"/>
        <pc:sldMkLst>
          <pc:docMk/>
          <pc:sldMk cId="2508839728" sldId="281"/>
        </pc:sldMkLst>
        <pc:spChg chg="mod">
          <ac:chgData name="Ta Thi Kim Hue" userId="af176dfe-ebe0-47e4-99a4-e0f4d40f7313" providerId="ADAL" clId="{55F3777B-5B4D-F34F-95EB-4BC4C23D9DFD}" dt="2022-10-27T01:40:18.176" v="2189" actId="20577"/>
          <ac:spMkLst>
            <pc:docMk/>
            <pc:sldMk cId="2508839728" sldId="281"/>
            <ac:spMk id="4" creationId="{6544B028-67D0-5A64-C7C8-6F81BE50B8E0}"/>
          </ac:spMkLst>
        </pc:spChg>
      </pc:sldChg>
      <pc:sldChg chg="modSp mod ord">
        <pc:chgData name="Ta Thi Kim Hue" userId="af176dfe-ebe0-47e4-99a4-e0f4d40f7313" providerId="ADAL" clId="{55F3777B-5B4D-F34F-95EB-4BC4C23D9DFD}" dt="2022-10-26T15:18:56.510" v="604" actId="20578"/>
        <pc:sldMkLst>
          <pc:docMk/>
          <pc:sldMk cId="2256585216" sldId="284"/>
        </pc:sldMkLst>
        <pc:spChg chg="mod">
          <ac:chgData name="Ta Thi Kim Hue" userId="af176dfe-ebe0-47e4-99a4-e0f4d40f7313" providerId="ADAL" clId="{55F3777B-5B4D-F34F-95EB-4BC4C23D9DFD}" dt="2022-10-26T15:07:29.883" v="6"/>
          <ac:spMkLst>
            <pc:docMk/>
            <pc:sldMk cId="2256585216" sldId="284"/>
            <ac:spMk id="3" creationId="{E50BAF10-CCF8-9CD6-7B5B-AA9B1DB1346C}"/>
          </ac:spMkLst>
        </pc:spChg>
        <pc:spChg chg="mod">
          <ac:chgData name="Ta Thi Kim Hue" userId="af176dfe-ebe0-47e4-99a4-e0f4d40f7313" providerId="ADAL" clId="{55F3777B-5B4D-F34F-95EB-4BC4C23D9DFD}" dt="2022-10-26T15:18:41.706" v="603" actId="5793"/>
          <ac:spMkLst>
            <pc:docMk/>
            <pc:sldMk cId="2256585216" sldId="284"/>
            <ac:spMk id="4" creationId="{BC4112D6-05D7-6D49-AF90-BD49388C30A1}"/>
          </ac:spMkLst>
        </pc:spChg>
      </pc:sldChg>
      <pc:sldChg chg="addSp delSp modSp mod">
        <pc:chgData name="Ta Thi Kim Hue" userId="af176dfe-ebe0-47e4-99a4-e0f4d40f7313" providerId="ADAL" clId="{55F3777B-5B4D-F34F-95EB-4BC4C23D9DFD}" dt="2022-10-26T15:07:16.454" v="5" actId="14100"/>
        <pc:sldMkLst>
          <pc:docMk/>
          <pc:sldMk cId="1578274839" sldId="289"/>
        </pc:sldMkLst>
        <pc:spChg chg="del">
          <ac:chgData name="Ta Thi Kim Hue" userId="af176dfe-ebe0-47e4-99a4-e0f4d40f7313" providerId="ADAL" clId="{55F3777B-5B4D-F34F-95EB-4BC4C23D9DFD}" dt="2022-10-26T15:07:00.882" v="0"/>
          <ac:spMkLst>
            <pc:docMk/>
            <pc:sldMk cId="1578274839" sldId="289"/>
            <ac:spMk id="4" creationId="{758667D0-E2F8-4056-81B4-AA9795534A34}"/>
          </ac:spMkLst>
        </pc:spChg>
        <pc:picChg chg="add mod">
          <ac:chgData name="Ta Thi Kim Hue" userId="af176dfe-ebe0-47e4-99a4-e0f4d40f7313" providerId="ADAL" clId="{55F3777B-5B4D-F34F-95EB-4BC4C23D9DFD}" dt="2022-10-26T15:07:16.454" v="5" actId="14100"/>
          <ac:picMkLst>
            <pc:docMk/>
            <pc:sldMk cId="1578274839" sldId="289"/>
            <ac:picMk id="6" creationId="{8D89B958-B4A9-FE7A-0609-6694ED943DAD}"/>
          </ac:picMkLst>
        </pc:picChg>
      </pc:sldChg>
      <pc:sldChg chg="addSp modSp new mod">
        <pc:chgData name="Ta Thi Kim Hue" userId="af176dfe-ebe0-47e4-99a4-e0f4d40f7313" providerId="ADAL" clId="{55F3777B-5B4D-F34F-95EB-4BC4C23D9DFD}" dt="2022-10-26T23:49:05.858" v="1607" actId="208"/>
        <pc:sldMkLst>
          <pc:docMk/>
          <pc:sldMk cId="790159097" sldId="290"/>
        </pc:sldMkLst>
        <pc:spChg chg="mod">
          <ac:chgData name="Ta Thi Kim Hue" userId="af176dfe-ebe0-47e4-99a4-e0f4d40f7313" providerId="ADAL" clId="{55F3777B-5B4D-F34F-95EB-4BC4C23D9DFD}" dt="2022-10-26T15:19:10.868" v="606"/>
          <ac:spMkLst>
            <pc:docMk/>
            <pc:sldMk cId="790159097" sldId="290"/>
            <ac:spMk id="3" creationId="{E5B6D001-13ED-BACB-276F-CB1E518E2068}"/>
          </ac:spMkLst>
        </pc:spChg>
        <pc:spChg chg="mod">
          <ac:chgData name="Ta Thi Kim Hue" userId="af176dfe-ebe0-47e4-99a4-e0f4d40f7313" providerId="ADAL" clId="{55F3777B-5B4D-F34F-95EB-4BC4C23D9DFD}" dt="2022-10-26T23:48:54.257" v="1602" actId="14100"/>
          <ac:spMkLst>
            <pc:docMk/>
            <pc:sldMk cId="790159097" sldId="290"/>
            <ac:spMk id="4" creationId="{3E9659E8-FDF3-599C-B01F-75E158CD53C0}"/>
          </ac:spMkLst>
        </pc:spChg>
        <pc:spChg chg="add mod">
          <ac:chgData name="Ta Thi Kim Hue" userId="af176dfe-ebe0-47e4-99a4-e0f4d40f7313" providerId="ADAL" clId="{55F3777B-5B4D-F34F-95EB-4BC4C23D9DFD}" dt="2022-10-26T23:49:05.858" v="1607" actId="208"/>
          <ac:spMkLst>
            <pc:docMk/>
            <pc:sldMk cId="790159097" sldId="290"/>
            <ac:spMk id="5" creationId="{1112E53D-1E4E-92E3-0AF0-A68A0B354086}"/>
          </ac:spMkLst>
        </pc:spChg>
      </pc:sldChg>
      <pc:sldChg chg="addSp modSp new mod">
        <pc:chgData name="Ta Thi Kim Hue" userId="af176dfe-ebe0-47e4-99a4-e0f4d40f7313" providerId="ADAL" clId="{55F3777B-5B4D-F34F-95EB-4BC4C23D9DFD}" dt="2022-10-26T23:53:33.178" v="2163" actId="208"/>
        <pc:sldMkLst>
          <pc:docMk/>
          <pc:sldMk cId="1075757312" sldId="291"/>
        </pc:sldMkLst>
        <pc:spChg chg="mod">
          <ac:chgData name="Ta Thi Kim Hue" userId="af176dfe-ebe0-47e4-99a4-e0f4d40f7313" providerId="ADAL" clId="{55F3777B-5B4D-F34F-95EB-4BC4C23D9DFD}" dt="2022-10-26T15:28:32.471" v="1203"/>
          <ac:spMkLst>
            <pc:docMk/>
            <pc:sldMk cId="1075757312" sldId="291"/>
            <ac:spMk id="3" creationId="{3C5EDF29-B738-7A3A-6B99-8C21485E1567}"/>
          </ac:spMkLst>
        </pc:spChg>
        <pc:spChg chg="mod">
          <ac:chgData name="Ta Thi Kim Hue" userId="af176dfe-ebe0-47e4-99a4-e0f4d40f7313" providerId="ADAL" clId="{55F3777B-5B4D-F34F-95EB-4BC4C23D9DFD}" dt="2022-10-26T23:53:23.620" v="2160" actId="14100"/>
          <ac:spMkLst>
            <pc:docMk/>
            <pc:sldMk cId="1075757312" sldId="291"/>
            <ac:spMk id="4" creationId="{416DD7EF-645F-DFDF-C372-A63367D28D80}"/>
          </ac:spMkLst>
        </pc:spChg>
        <pc:spChg chg="add mod">
          <ac:chgData name="Ta Thi Kim Hue" userId="af176dfe-ebe0-47e4-99a4-e0f4d40f7313" providerId="ADAL" clId="{55F3777B-5B4D-F34F-95EB-4BC4C23D9DFD}" dt="2022-10-26T23:53:33.178" v="2163" actId="208"/>
          <ac:spMkLst>
            <pc:docMk/>
            <pc:sldMk cId="1075757312" sldId="291"/>
            <ac:spMk id="5" creationId="{94F3CC53-8AE5-6E6E-60AE-8C6A437CD260}"/>
          </ac:spMkLst>
        </pc:spChg>
      </pc:sldChg>
      <pc:sldChg chg="modSp new mod">
        <pc:chgData name="Ta Thi Kim Hue" userId="af176dfe-ebe0-47e4-99a4-e0f4d40f7313" providerId="ADAL" clId="{55F3777B-5B4D-F34F-95EB-4BC4C23D9DFD}" dt="2022-10-26T15:29:27.696" v="1218" actId="20577"/>
        <pc:sldMkLst>
          <pc:docMk/>
          <pc:sldMk cId="2099988146" sldId="292"/>
        </pc:sldMkLst>
        <pc:spChg chg="mod">
          <ac:chgData name="Ta Thi Kim Hue" userId="af176dfe-ebe0-47e4-99a4-e0f4d40f7313" providerId="ADAL" clId="{55F3777B-5B4D-F34F-95EB-4BC4C23D9DFD}" dt="2022-10-26T15:29:27.696" v="1218" actId="20577"/>
          <ac:spMkLst>
            <pc:docMk/>
            <pc:sldMk cId="2099988146" sldId="292"/>
            <ac:spMk id="3" creationId="{544381F6-FB06-34F7-A9D0-F735976BCB08}"/>
          </ac:spMkLst>
        </pc:spChg>
      </pc:sldChg>
      <pc:sldChg chg="addSp delSp modSp new mod ord">
        <pc:chgData name="Ta Thi Kim Hue" userId="af176dfe-ebe0-47e4-99a4-e0f4d40f7313" providerId="ADAL" clId="{55F3777B-5B4D-F34F-95EB-4BC4C23D9DFD}" dt="2022-10-26T23:49:27.646" v="1614" actId="208"/>
        <pc:sldMkLst>
          <pc:docMk/>
          <pc:sldMk cId="2394994378" sldId="293"/>
        </pc:sldMkLst>
        <pc:spChg chg="mod">
          <ac:chgData name="Ta Thi Kim Hue" userId="af176dfe-ebe0-47e4-99a4-e0f4d40f7313" providerId="ADAL" clId="{55F3777B-5B4D-F34F-95EB-4BC4C23D9DFD}" dt="2022-10-26T15:27:48.925" v="1197"/>
          <ac:spMkLst>
            <pc:docMk/>
            <pc:sldMk cId="2394994378" sldId="293"/>
            <ac:spMk id="3" creationId="{DF9C0D02-E953-C3CF-1E4F-88672D72C947}"/>
          </ac:spMkLst>
        </pc:spChg>
        <pc:spChg chg="mod">
          <ac:chgData name="Ta Thi Kim Hue" userId="af176dfe-ebe0-47e4-99a4-e0f4d40f7313" providerId="ADAL" clId="{55F3777B-5B4D-F34F-95EB-4BC4C23D9DFD}" dt="2022-10-26T23:49:16.957" v="1609" actId="14100"/>
          <ac:spMkLst>
            <pc:docMk/>
            <pc:sldMk cId="2394994378" sldId="293"/>
            <ac:spMk id="4" creationId="{37BBAD88-C24D-B65E-EF51-D0A6EFB0B20D}"/>
          </ac:spMkLst>
        </pc:spChg>
        <pc:spChg chg="add del mod">
          <ac:chgData name="Ta Thi Kim Hue" userId="af176dfe-ebe0-47e4-99a4-e0f4d40f7313" providerId="ADAL" clId="{55F3777B-5B4D-F34F-95EB-4BC4C23D9DFD}" dt="2022-10-26T15:28:31.535" v="1202"/>
          <ac:spMkLst>
            <pc:docMk/>
            <pc:sldMk cId="2394994378" sldId="293"/>
            <ac:spMk id="5" creationId="{641928AF-175C-5F15-3DD8-69065CF054C3}"/>
          </ac:spMkLst>
        </pc:spChg>
        <pc:spChg chg="add mod">
          <ac:chgData name="Ta Thi Kim Hue" userId="af176dfe-ebe0-47e4-99a4-e0f4d40f7313" providerId="ADAL" clId="{55F3777B-5B4D-F34F-95EB-4BC4C23D9DFD}" dt="2022-10-26T23:49:27.646" v="1614" actId="208"/>
          <ac:spMkLst>
            <pc:docMk/>
            <pc:sldMk cId="2394994378" sldId="293"/>
            <ac:spMk id="6" creationId="{E12259AC-1AA4-F767-27C3-401AD4BDE77D}"/>
          </ac:spMkLst>
        </pc:spChg>
      </pc:sldChg>
    </pc:docChg>
  </pc:docChgLst>
  <pc:docChgLst>
    <pc:chgData name="Ta Thi Kim Hue" userId="af176dfe-ebe0-47e4-99a4-e0f4d40f7313" providerId="ADAL" clId="{54FE70A6-63C1-4E11-969B-F1F522CE7CAE}"/>
    <pc:docChg chg="undo custSel addSld modSld sldOrd">
      <pc:chgData name="Ta Thi Kim Hue" userId="af176dfe-ebe0-47e4-99a4-e0f4d40f7313" providerId="ADAL" clId="{54FE70A6-63C1-4E11-969B-F1F522CE7CAE}" dt="2022-10-26T11:54:59.244" v="3312" actId="20577"/>
      <pc:docMkLst>
        <pc:docMk/>
      </pc:docMkLst>
      <pc:sldChg chg="delSp mod">
        <pc:chgData name="Ta Thi Kim Hue" userId="af176dfe-ebe0-47e4-99a4-e0f4d40f7313" providerId="ADAL" clId="{54FE70A6-63C1-4E11-969B-F1F522CE7CAE}" dt="2022-10-26T08:44:52.452" v="535" actId="21"/>
        <pc:sldMkLst>
          <pc:docMk/>
          <pc:sldMk cId="2508839728" sldId="281"/>
        </pc:sldMkLst>
        <pc:picChg chg="del">
          <ac:chgData name="Ta Thi Kim Hue" userId="af176dfe-ebe0-47e4-99a4-e0f4d40f7313" providerId="ADAL" clId="{54FE70A6-63C1-4E11-969B-F1F522CE7CAE}" dt="2022-10-26T08:44:52.452" v="535" actId="21"/>
          <ac:picMkLst>
            <pc:docMk/>
            <pc:sldMk cId="2508839728" sldId="281"/>
            <ac:picMk id="6" creationId="{D6F1B9D1-7255-CE57-6922-97036565A46D}"/>
          </ac:picMkLst>
        </pc:picChg>
      </pc:sldChg>
      <pc:sldChg chg="ord">
        <pc:chgData name="Ta Thi Kim Hue" userId="af176dfe-ebe0-47e4-99a4-e0f4d40f7313" providerId="ADAL" clId="{54FE70A6-63C1-4E11-969B-F1F522CE7CAE}" dt="2022-10-26T11:49:52.645" v="2763"/>
        <pc:sldMkLst>
          <pc:docMk/>
          <pc:sldMk cId="3786551749" sldId="282"/>
        </pc:sldMkLst>
      </pc:sldChg>
      <pc:sldChg chg="modSp mod ord">
        <pc:chgData name="Ta Thi Kim Hue" userId="af176dfe-ebe0-47e4-99a4-e0f4d40f7313" providerId="ADAL" clId="{54FE70A6-63C1-4E11-969B-F1F522CE7CAE}" dt="2022-10-26T11:54:38.265" v="3265" actId="20577"/>
        <pc:sldMkLst>
          <pc:docMk/>
          <pc:sldMk cId="3252570683" sldId="283"/>
        </pc:sldMkLst>
        <pc:spChg chg="mod">
          <ac:chgData name="Ta Thi Kim Hue" userId="af176dfe-ebe0-47e4-99a4-e0f4d40f7313" providerId="ADAL" clId="{54FE70A6-63C1-4E11-969B-F1F522CE7CAE}" dt="2022-10-26T11:54:38.265" v="3265" actId="20577"/>
          <ac:spMkLst>
            <pc:docMk/>
            <pc:sldMk cId="3252570683" sldId="283"/>
            <ac:spMk id="4" creationId="{77A02F12-7B07-117A-B526-A940A4815973}"/>
          </ac:spMkLst>
        </pc:spChg>
      </pc:sldChg>
      <pc:sldChg chg="addSp delSp modSp new mod">
        <pc:chgData name="Ta Thi Kim Hue" userId="af176dfe-ebe0-47e4-99a4-e0f4d40f7313" providerId="ADAL" clId="{54FE70A6-63C1-4E11-969B-F1F522CE7CAE}" dt="2022-10-26T08:46:31.004" v="699" actId="20577"/>
        <pc:sldMkLst>
          <pc:docMk/>
          <pc:sldMk cId="3616470069" sldId="285"/>
        </pc:sldMkLst>
        <pc:spChg chg="mod">
          <ac:chgData name="Ta Thi Kim Hue" userId="af176dfe-ebe0-47e4-99a4-e0f4d40f7313" providerId="ADAL" clId="{54FE70A6-63C1-4E11-969B-F1F522CE7CAE}" dt="2022-10-26T08:26:57.686" v="30" actId="20577"/>
          <ac:spMkLst>
            <pc:docMk/>
            <pc:sldMk cId="3616470069" sldId="285"/>
            <ac:spMk id="3" creationId="{50159633-3230-4B35-A27C-ECC98ED567C9}"/>
          </ac:spMkLst>
        </pc:spChg>
        <pc:spChg chg="mod">
          <ac:chgData name="Ta Thi Kim Hue" userId="af176dfe-ebe0-47e4-99a4-e0f4d40f7313" providerId="ADAL" clId="{54FE70A6-63C1-4E11-969B-F1F522CE7CAE}" dt="2022-10-26T08:46:31.004" v="699" actId="20577"/>
          <ac:spMkLst>
            <pc:docMk/>
            <pc:sldMk cId="3616470069" sldId="285"/>
            <ac:spMk id="4" creationId="{7F24F5F3-E2EC-4F3A-95A6-44E55ADD19A5}"/>
          </ac:spMkLst>
        </pc:spChg>
        <pc:spChg chg="add mod">
          <ac:chgData name="Ta Thi Kim Hue" userId="af176dfe-ebe0-47e4-99a4-e0f4d40f7313" providerId="ADAL" clId="{54FE70A6-63C1-4E11-969B-F1F522CE7CAE}" dt="2022-10-26T08:33:09.670" v="113"/>
          <ac:spMkLst>
            <pc:docMk/>
            <pc:sldMk cId="3616470069" sldId="285"/>
            <ac:spMk id="6" creationId="{7B89166F-4F36-4B8F-94E1-5928E9E05C0F}"/>
          </ac:spMkLst>
        </pc:spChg>
        <pc:spChg chg="add del mod">
          <ac:chgData name="Ta Thi Kim Hue" userId="af176dfe-ebe0-47e4-99a4-e0f4d40f7313" providerId="ADAL" clId="{54FE70A6-63C1-4E11-969B-F1F522CE7CAE}" dt="2022-10-26T08:36:29.066" v="257"/>
          <ac:spMkLst>
            <pc:docMk/>
            <pc:sldMk cId="3616470069" sldId="285"/>
            <ac:spMk id="8" creationId="{05ACCA3E-5505-48F7-9D9E-D65479D6B608}"/>
          </ac:spMkLst>
        </pc:spChg>
        <pc:spChg chg="add del mod">
          <ac:chgData name="Ta Thi Kim Hue" userId="af176dfe-ebe0-47e4-99a4-e0f4d40f7313" providerId="ADAL" clId="{54FE70A6-63C1-4E11-969B-F1F522CE7CAE}" dt="2022-10-26T08:36:39.649" v="259"/>
          <ac:spMkLst>
            <pc:docMk/>
            <pc:sldMk cId="3616470069" sldId="285"/>
            <ac:spMk id="10" creationId="{5612E7BE-A554-42A3-B3B1-3898ECF556AF}"/>
          </ac:spMkLst>
        </pc:spChg>
        <pc:spChg chg="add del mod">
          <ac:chgData name="Ta Thi Kim Hue" userId="af176dfe-ebe0-47e4-99a4-e0f4d40f7313" providerId="ADAL" clId="{54FE70A6-63C1-4E11-969B-F1F522CE7CAE}" dt="2022-10-26T08:36:47.160" v="261"/>
          <ac:spMkLst>
            <pc:docMk/>
            <pc:sldMk cId="3616470069" sldId="285"/>
            <ac:spMk id="12" creationId="{6CE5ADC6-5FA4-4752-BBBC-0F6D8C3A6B60}"/>
          </ac:spMkLst>
        </pc:spChg>
        <pc:graphicFrameChg chg="add del mod">
          <ac:chgData name="Ta Thi Kim Hue" userId="af176dfe-ebe0-47e4-99a4-e0f4d40f7313" providerId="ADAL" clId="{54FE70A6-63C1-4E11-969B-F1F522CE7CAE}" dt="2022-10-26T08:36:19.303" v="255" actId="478"/>
          <ac:graphicFrameMkLst>
            <pc:docMk/>
            <pc:sldMk cId="3616470069" sldId="285"/>
            <ac:graphicFrameMk id="5" creationId="{796DD149-514E-40C8-8E60-DF8D0D6BADBF}"/>
          </ac:graphicFrameMkLst>
        </pc:graphicFrameChg>
        <pc:graphicFrameChg chg="add del mod">
          <ac:chgData name="Ta Thi Kim Hue" userId="af176dfe-ebe0-47e4-99a4-e0f4d40f7313" providerId="ADAL" clId="{54FE70A6-63C1-4E11-969B-F1F522CE7CAE}" dt="2022-10-26T08:36:29.066" v="257"/>
          <ac:graphicFrameMkLst>
            <pc:docMk/>
            <pc:sldMk cId="3616470069" sldId="285"/>
            <ac:graphicFrameMk id="7" creationId="{7305C54C-F894-4033-9484-477474C759BD}"/>
          </ac:graphicFrameMkLst>
        </pc:graphicFrameChg>
        <pc:graphicFrameChg chg="add del mod">
          <ac:chgData name="Ta Thi Kim Hue" userId="af176dfe-ebe0-47e4-99a4-e0f4d40f7313" providerId="ADAL" clId="{54FE70A6-63C1-4E11-969B-F1F522CE7CAE}" dt="2022-10-26T08:36:39.649" v="259"/>
          <ac:graphicFrameMkLst>
            <pc:docMk/>
            <pc:sldMk cId="3616470069" sldId="285"/>
            <ac:graphicFrameMk id="9" creationId="{A0F0FED6-D1D2-4154-A280-F38E1A320970}"/>
          </ac:graphicFrameMkLst>
        </pc:graphicFrameChg>
        <pc:graphicFrameChg chg="add del mod">
          <ac:chgData name="Ta Thi Kim Hue" userId="af176dfe-ebe0-47e4-99a4-e0f4d40f7313" providerId="ADAL" clId="{54FE70A6-63C1-4E11-969B-F1F522CE7CAE}" dt="2022-10-26T08:36:47.160" v="261"/>
          <ac:graphicFrameMkLst>
            <pc:docMk/>
            <pc:sldMk cId="3616470069" sldId="285"/>
            <ac:graphicFrameMk id="11" creationId="{C509FE5E-70C3-45E0-AEDA-6CA7CC98C8DE}"/>
          </ac:graphicFrameMkLst>
        </pc:graphicFrameChg>
        <pc:picChg chg="add mod">
          <ac:chgData name="Ta Thi Kim Hue" userId="af176dfe-ebe0-47e4-99a4-e0f4d40f7313" providerId="ADAL" clId="{54FE70A6-63C1-4E11-969B-F1F522CE7CAE}" dt="2022-10-26T08:45:03.725" v="539" actId="1076"/>
          <ac:picMkLst>
            <pc:docMk/>
            <pc:sldMk cId="3616470069" sldId="285"/>
            <ac:picMk id="13" creationId="{6C869B0B-BB10-46EC-8395-9A5221D8A2DF}"/>
          </ac:picMkLst>
        </pc:picChg>
      </pc:sldChg>
      <pc:sldChg chg="addSp modSp new mod ord modAnim">
        <pc:chgData name="Ta Thi Kim Hue" userId="af176dfe-ebe0-47e4-99a4-e0f4d40f7313" providerId="ADAL" clId="{54FE70A6-63C1-4E11-969B-F1F522CE7CAE}" dt="2022-10-26T09:32:05.798" v="1619" actId="1076"/>
        <pc:sldMkLst>
          <pc:docMk/>
          <pc:sldMk cId="2502713918" sldId="286"/>
        </pc:sldMkLst>
        <pc:spChg chg="mod">
          <ac:chgData name="Ta Thi Kim Hue" userId="af176dfe-ebe0-47e4-99a4-e0f4d40f7313" providerId="ADAL" clId="{54FE70A6-63C1-4E11-969B-F1F522CE7CAE}" dt="2022-10-26T08:49:18.310" v="710" actId="20577"/>
          <ac:spMkLst>
            <pc:docMk/>
            <pc:sldMk cId="2502713918" sldId="286"/>
            <ac:spMk id="3" creationId="{46F399AB-D08D-44C9-B659-871A9264ACEF}"/>
          </ac:spMkLst>
        </pc:spChg>
        <pc:spChg chg="mod">
          <ac:chgData name="Ta Thi Kim Hue" userId="af176dfe-ebe0-47e4-99a4-e0f4d40f7313" providerId="ADAL" clId="{54FE70A6-63C1-4E11-969B-F1F522CE7CAE}" dt="2022-10-26T09:32:01.140" v="1618" actId="15"/>
          <ac:spMkLst>
            <pc:docMk/>
            <pc:sldMk cId="2502713918" sldId="286"/>
            <ac:spMk id="4" creationId="{334C99FE-2CDA-414D-B6B4-DBF3187A40B6}"/>
          </ac:spMkLst>
        </pc:spChg>
        <pc:spChg chg="add mod">
          <ac:chgData name="Ta Thi Kim Hue" userId="af176dfe-ebe0-47e4-99a4-e0f4d40f7313" providerId="ADAL" clId="{54FE70A6-63C1-4E11-969B-F1F522CE7CAE}" dt="2022-10-26T09:32:05.798" v="1619" actId="1076"/>
          <ac:spMkLst>
            <pc:docMk/>
            <pc:sldMk cId="2502713918" sldId="286"/>
            <ac:spMk id="5" creationId="{646954CE-31F2-4DA6-8F9D-09CBA116F01A}"/>
          </ac:spMkLst>
        </pc:spChg>
      </pc:sldChg>
      <pc:sldChg chg="modSp new mod">
        <pc:chgData name="Ta Thi Kim Hue" userId="af176dfe-ebe0-47e4-99a4-e0f4d40f7313" providerId="ADAL" clId="{54FE70A6-63C1-4E11-969B-F1F522CE7CAE}" dt="2022-10-26T10:33:16.251" v="2565" actId="20577"/>
        <pc:sldMkLst>
          <pc:docMk/>
          <pc:sldMk cId="867654301" sldId="287"/>
        </pc:sldMkLst>
        <pc:spChg chg="mod">
          <ac:chgData name="Ta Thi Kim Hue" userId="af176dfe-ebe0-47e4-99a4-e0f4d40f7313" providerId="ADAL" clId="{54FE70A6-63C1-4E11-969B-F1F522CE7CAE}" dt="2022-10-26T09:34:22.575" v="1664" actId="20577"/>
          <ac:spMkLst>
            <pc:docMk/>
            <pc:sldMk cId="867654301" sldId="287"/>
            <ac:spMk id="3" creationId="{672FF09D-CCB6-43E0-B46C-FCAEF8A9A2AD}"/>
          </ac:spMkLst>
        </pc:spChg>
        <pc:spChg chg="mod">
          <ac:chgData name="Ta Thi Kim Hue" userId="af176dfe-ebe0-47e4-99a4-e0f4d40f7313" providerId="ADAL" clId="{54FE70A6-63C1-4E11-969B-F1F522CE7CAE}" dt="2022-10-26T10:33:16.251" v="2565" actId="20577"/>
          <ac:spMkLst>
            <pc:docMk/>
            <pc:sldMk cId="867654301" sldId="287"/>
            <ac:spMk id="4" creationId="{51FFAE2F-61E7-415F-9DD7-5148A7FE73EE}"/>
          </ac:spMkLst>
        </pc:spChg>
      </pc:sldChg>
      <pc:sldChg chg="addSp delSp modSp new mod">
        <pc:chgData name="Ta Thi Kim Hue" userId="af176dfe-ebe0-47e4-99a4-e0f4d40f7313" providerId="ADAL" clId="{54FE70A6-63C1-4E11-969B-F1F522CE7CAE}" dt="2022-10-26T10:39:45.807" v="2761"/>
        <pc:sldMkLst>
          <pc:docMk/>
          <pc:sldMk cId="4175955957" sldId="288"/>
        </pc:sldMkLst>
        <pc:spChg chg="mod">
          <ac:chgData name="Ta Thi Kim Hue" userId="af176dfe-ebe0-47e4-99a4-e0f4d40f7313" providerId="ADAL" clId="{54FE70A6-63C1-4E11-969B-F1F522CE7CAE}" dt="2022-10-26T10:33:45.085" v="2583" actId="20577"/>
          <ac:spMkLst>
            <pc:docMk/>
            <pc:sldMk cId="4175955957" sldId="288"/>
            <ac:spMk id="3" creationId="{8CC24C0B-92A9-419D-BE4F-0CBAD335BECE}"/>
          </ac:spMkLst>
        </pc:spChg>
        <pc:spChg chg="mod">
          <ac:chgData name="Ta Thi Kim Hue" userId="af176dfe-ebe0-47e4-99a4-e0f4d40f7313" providerId="ADAL" clId="{54FE70A6-63C1-4E11-969B-F1F522CE7CAE}" dt="2022-10-26T10:39:15.981" v="2753" actId="14100"/>
          <ac:spMkLst>
            <pc:docMk/>
            <pc:sldMk cId="4175955957" sldId="288"/>
            <ac:spMk id="4" creationId="{B310BEA8-9217-4C04-962E-065A63974FEB}"/>
          </ac:spMkLst>
        </pc:spChg>
        <pc:spChg chg="add del mod">
          <ac:chgData name="Ta Thi Kim Hue" userId="af176dfe-ebe0-47e4-99a4-e0f4d40f7313" providerId="ADAL" clId="{54FE70A6-63C1-4E11-969B-F1F522CE7CAE}" dt="2022-10-26T10:39:11.143" v="2752"/>
          <ac:spMkLst>
            <pc:docMk/>
            <pc:sldMk cId="4175955957" sldId="288"/>
            <ac:spMk id="6" creationId="{98F6DA48-2EBA-4D53-B9C7-9E6C69E11BD9}"/>
          </ac:spMkLst>
        </pc:spChg>
        <pc:spChg chg="add del mod">
          <ac:chgData name="Ta Thi Kim Hue" userId="af176dfe-ebe0-47e4-99a4-e0f4d40f7313" providerId="ADAL" clId="{54FE70A6-63C1-4E11-969B-F1F522CE7CAE}" dt="2022-10-26T10:39:19.423" v="2755"/>
          <ac:spMkLst>
            <pc:docMk/>
            <pc:sldMk cId="4175955957" sldId="288"/>
            <ac:spMk id="8" creationId="{AEEAD22A-ED2A-473C-A333-0BE7FA38B15E}"/>
          </ac:spMkLst>
        </pc:spChg>
        <pc:spChg chg="add del mod">
          <ac:chgData name="Ta Thi Kim Hue" userId="af176dfe-ebe0-47e4-99a4-e0f4d40f7313" providerId="ADAL" clId="{54FE70A6-63C1-4E11-969B-F1F522CE7CAE}" dt="2022-10-26T10:39:29.735" v="2757"/>
          <ac:spMkLst>
            <pc:docMk/>
            <pc:sldMk cId="4175955957" sldId="288"/>
            <ac:spMk id="11" creationId="{EA8A8C2C-28A3-41A5-9D0B-E818C03F8808}"/>
          </ac:spMkLst>
        </pc:spChg>
        <pc:spChg chg="add del mod">
          <ac:chgData name="Ta Thi Kim Hue" userId="af176dfe-ebe0-47e4-99a4-e0f4d40f7313" providerId="ADAL" clId="{54FE70A6-63C1-4E11-969B-F1F522CE7CAE}" dt="2022-10-26T10:39:45.807" v="2761"/>
          <ac:spMkLst>
            <pc:docMk/>
            <pc:sldMk cId="4175955957" sldId="288"/>
            <ac:spMk id="13" creationId="{51930781-BD9F-44BF-B66B-75882A5A3DDB}"/>
          </ac:spMkLst>
        </pc:spChg>
        <pc:graphicFrameChg chg="add del mod">
          <ac:chgData name="Ta Thi Kim Hue" userId="af176dfe-ebe0-47e4-99a4-e0f4d40f7313" providerId="ADAL" clId="{54FE70A6-63C1-4E11-969B-F1F522CE7CAE}" dt="2022-10-26T10:39:11.143" v="2752"/>
          <ac:graphicFrameMkLst>
            <pc:docMk/>
            <pc:sldMk cId="4175955957" sldId="288"/>
            <ac:graphicFrameMk id="5" creationId="{70C548C0-1AC9-499A-B3E9-A0CC4C2A1DB8}"/>
          </ac:graphicFrameMkLst>
        </pc:graphicFrameChg>
        <pc:graphicFrameChg chg="add del mod">
          <ac:chgData name="Ta Thi Kim Hue" userId="af176dfe-ebe0-47e4-99a4-e0f4d40f7313" providerId="ADAL" clId="{54FE70A6-63C1-4E11-969B-F1F522CE7CAE}" dt="2022-10-26T10:39:19.423" v="2755"/>
          <ac:graphicFrameMkLst>
            <pc:docMk/>
            <pc:sldMk cId="4175955957" sldId="288"/>
            <ac:graphicFrameMk id="7" creationId="{F726ECFE-667D-4B5E-AE06-5B551EDF4CE9}"/>
          </ac:graphicFrameMkLst>
        </pc:graphicFrameChg>
        <pc:graphicFrameChg chg="add del mod">
          <ac:chgData name="Ta Thi Kim Hue" userId="af176dfe-ebe0-47e4-99a4-e0f4d40f7313" providerId="ADAL" clId="{54FE70A6-63C1-4E11-969B-F1F522CE7CAE}" dt="2022-10-26T10:39:29.735" v="2757"/>
          <ac:graphicFrameMkLst>
            <pc:docMk/>
            <pc:sldMk cId="4175955957" sldId="288"/>
            <ac:graphicFrameMk id="9" creationId="{58438024-72E6-470A-9E26-083DAA9AA551}"/>
          </ac:graphicFrameMkLst>
        </pc:graphicFrameChg>
        <pc:graphicFrameChg chg="add del mod">
          <ac:chgData name="Ta Thi Kim Hue" userId="af176dfe-ebe0-47e4-99a4-e0f4d40f7313" providerId="ADAL" clId="{54FE70A6-63C1-4E11-969B-F1F522CE7CAE}" dt="2022-10-26T10:39:29.735" v="2757"/>
          <ac:graphicFrameMkLst>
            <pc:docMk/>
            <pc:sldMk cId="4175955957" sldId="288"/>
            <ac:graphicFrameMk id="10" creationId="{79F608BB-E003-4986-954D-F4B423F7B9F8}"/>
          </ac:graphicFrameMkLst>
        </pc:graphicFrameChg>
        <pc:graphicFrameChg chg="add del mod">
          <ac:chgData name="Ta Thi Kim Hue" userId="af176dfe-ebe0-47e4-99a4-e0f4d40f7313" providerId="ADAL" clId="{54FE70A6-63C1-4E11-969B-F1F522CE7CAE}" dt="2022-10-26T10:39:45.807" v="2761"/>
          <ac:graphicFrameMkLst>
            <pc:docMk/>
            <pc:sldMk cId="4175955957" sldId="288"/>
            <ac:graphicFrameMk id="12" creationId="{13928A80-7142-4A9D-962B-3CB3CF30B57E}"/>
          </ac:graphicFrameMkLst>
        </pc:graphicFrameChg>
      </pc:sldChg>
      <pc:sldChg chg="modSp new mod">
        <pc:chgData name="Ta Thi Kim Hue" userId="af176dfe-ebe0-47e4-99a4-e0f4d40f7313" providerId="ADAL" clId="{54FE70A6-63C1-4E11-969B-F1F522CE7CAE}" dt="2022-10-26T11:54:59.244" v="3312" actId="20577"/>
        <pc:sldMkLst>
          <pc:docMk/>
          <pc:sldMk cId="1578274839" sldId="289"/>
        </pc:sldMkLst>
        <pc:spChg chg="mod">
          <ac:chgData name="Ta Thi Kim Hue" userId="af176dfe-ebe0-47e4-99a4-e0f4d40f7313" providerId="ADAL" clId="{54FE70A6-63C1-4E11-969B-F1F522CE7CAE}" dt="2022-10-26T11:54:59.244" v="3312" actId="20577"/>
          <ac:spMkLst>
            <pc:docMk/>
            <pc:sldMk cId="1578274839" sldId="289"/>
            <ac:spMk id="3" creationId="{165A5BF4-201B-4CE9-A4EB-84B73A071661}"/>
          </ac:spMkLst>
        </pc:spChg>
      </pc:sldChg>
    </pc:docChg>
  </pc:docChgLst>
  <pc:docChgLst>
    <pc:chgData name="Ta Thi Kim Hue" userId="af176dfe-ebe0-47e4-99a4-e0f4d40f7313" providerId="ADAL" clId="{264C83AA-283C-D342-9895-92F40AF91AE0}"/>
    <pc:docChg chg="undo custSel addSld delSld modSld sldOrd">
      <pc:chgData name="Ta Thi Kim Hue" userId="af176dfe-ebe0-47e4-99a4-e0f4d40f7313" providerId="ADAL" clId="{264C83AA-283C-D342-9895-92F40AF91AE0}" dt="2022-10-03T17:25:56.322" v="351"/>
      <pc:docMkLst>
        <pc:docMk/>
      </pc:docMkLst>
      <pc:sldChg chg="addSp delSp modSp del mod">
        <pc:chgData name="Ta Thi Kim Hue" userId="af176dfe-ebe0-47e4-99a4-e0f4d40f7313" providerId="ADAL" clId="{264C83AA-283C-D342-9895-92F40AF91AE0}" dt="2022-10-03T17:18:29.436" v="204" actId="2696"/>
        <pc:sldMkLst>
          <pc:docMk/>
          <pc:sldMk cId="1234004128" sldId="256"/>
        </pc:sldMkLst>
        <pc:spChg chg="add del mod">
          <ac:chgData name="Ta Thi Kim Hue" userId="af176dfe-ebe0-47e4-99a4-e0f4d40f7313" providerId="ADAL" clId="{264C83AA-283C-D342-9895-92F40AF91AE0}" dt="2022-10-03T17:16:40.411" v="149"/>
          <ac:spMkLst>
            <pc:docMk/>
            <pc:sldMk cId="1234004128" sldId="256"/>
            <ac:spMk id="2" creationId="{1366DEBD-09B6-9B65-A818-F92272707176}"/>
          </ac:spMkLst>
        </pc:spChg>
      </pc:sldChg>
      <pc:sldChg chg="modSp mod">
        <pc:chgData name="Ta Thi Kim Hue" userId="af176dfe-ebe0-47e4-99a4-e0f4d40f7313" providerId="ADAL" clId="{264C83AA-283C-D342-9895-92F40AF91AE0}" dt="2022-10-03T17:16:38.018" v="147" actId="20577"/>
        <pc:sldMkLst>
          <pc:docMk/>
          <pc:sldMk cId="743172911" sldId="257"/>
        </pc:sldMkLst>
        <pc:spChg chg="mod">
          <ac:chgData name="Ta Thi Kim Hue" userId="af176dfe-ebe0-47e4-99a4-e0f4d40f7313" providerId="ADAL" clId="{264C83AA-283C-D342-9895-92F40AF91AE0}" dt="2022-10-03T17:16:21.154" v="74" actId="20577"/>
          <ac:spMkLst>
            <pc:docMk/>
            <pc:sldMk cId="743172911" sldId="257"/>
            <ac:spMk id="11" creationId="{FF8BDF70-CFA6-4031-86B7-31F910D8115D}"/>
          </ac:spMkLst>
        </pc:spChg>
        <pc:spChg chg="mod">
          <ac:chgData name="Ta Thi Kim Hue" userId="af176dfe-ebe0-47e4-99a4-e0f4d40f7313" providerId="ADAL" clId="{264C83AA-283C-D342-9895-92F40AF91AE0}" dt="2022-10-03T17:16:38.018" v="147" actId="20577"/>
          <ac:spMkLst>
            <pc:docMk/>
            <pc:sldMk cId="743172911" sldId="257"/>
            <ac:spMk id="12" creationId="{A4ACF486-B7D8-4A5A-B633-83527A2F99E2}"/>
          </ac:spMkLst>
        </pc:spChg>
      </pc:sldChg>
      <pc:sldChg chg="add del">
        <pc:chgData name="Ta Thi Kim Hue" userId="af176dfe-ebe0-47e4-99a4-e0f4d40f7313" providerId="ADAL" clId="{264C83AA-283C-D342-9895-92F40AF91AE0}" dt="2022-10-03T17:19:15.893" v="226"/>
        <pc:sldMkLst>
          <pc:docMk/>
          <pc:sldMk cId="0" sldId="260"/>
        </pc:sldMkLst>
      </pc:sldChg>
      <pc:sldChg chg="addSp modSp mod">
        <pc:chgData name="Ta Thi Kim Hue" userId="af176dfe-ebe0-47e4-99a4-e0f4d40f7313" providerId="ADAL" clId="{264C83AA-283C-D342-9895-92F40AF91AE0}" dt="2022-10-03T17:24:25.193" v="340"/>
        <pc:sldMkLst>
          <pc:docMk/>
          <pc:sldMk cId="64084651" sldId="261"/>
        </pc:sldMkLst>
        <pc:spChg chg="mod">
          <ac:chgData name="Ta Thi Kim Hue" userId="af176dfe-ebe0-47e4-99a4-e0f4d40f7313" providerId="ADAL" clId="{264C83AA-283C-D342-9895-92F40AF91AE0}" dt="2022-10-03T17:24:12.207" v="339"/>
          <ac:spMkLst>
            <pc:docMk/>
            <pc:sldMk cId="64084651" sldId="261"/>
            <ac:spMk id="2" creationId="{4FB6CB3A-046A-4C56-A02D-DBF672421CAF}"/>
          </ac:spMkLst>
        </pc:spChg>
        <pc:spChg chg="add mod">
          <ac:chgData name="Ta Thi Kim Hue" userId="af176dfe-ebe0-47e4-99a4-e0f4d40f7313" providerId="ADAL" clId="{264C83AA-283C-D342-9895-92F40AF91AE0}" dt="2022-10-03T17:24:25.193" v="340"/>
          <ac:spMkLst>
            <pc:docMk/>
            <pc:sldMk cId="64084651" sldId="261"/>
            <ac:spMk id="8" creationId="{2CED3D2A-4DEB-5DDF-3DE8-A3DD973D13D9}"/>
          </ac:spMkLst>
        </pc:spChg>
        <pc:spChg chg="add mod">
          <ac:chgData name="Ta Thi Kim Hue" userId="af176dfe-ebe0-47e4-99a4-e0f4d40f7313" providerId="ADAL" clId="{264C83AA-283C-D342-9895-92F40AF91AE0}" dt="2022-10-03T17:24:25.193" v="340"/>
          <ac:spMkLst>
            <pc:docMk/>
            <pc:sldMk cId="64084651" sldId="261"/>
            <ac:spMk id="9" creationId="{A9EB812F-DB14-932B-7D0F-23B7CB00A611}"/>
          </ac:spMkLst>
        </pc:spChg>
        <pc:spChg chg="add mod">
          <ac:chgData name="Ta Thi Kim Hue" userId="af176dfe-ebe0-47e4-99a4-e0f4d40f7313" providerId="ADAL" clId="{264C83AA-283C-D342-9895-92F40AF91AE0}" dt="2022-10-03T17:24:25.193" v="340"/>
          <ac:spMkLst>
            <pc:docMk/>
            <pc:sldMk cId="64084651" sldId="261"/>
            <ac:spMk id="10" creationId="{AA7DF8C4-FAD6-C2ED-11ED-10F896DF8D8B}"/>
          </ac:spMkLst>
        </pc:spChg>
        <pc:spChg chg="add mod">
          <ac:chgData name="Ta Thi Kim Hue" userId="af176dfe-ebe0-47e4-99a4-e0f4d40f7313" providerId="ADAL" clId="{264C83AA-283C-D342-9895-92F40AF91AE0}" dt="2022-10-03T17:24:25.193" v="340"/>
          <ac:spMkLst>
            <pc:docMk/>
            <pc:sldMk cId="64084651" sldId="261"/>
            <ac:spMk id="11" creationId="{399A4CD7-BD25-2D8D-EAD3-AD9764B18495}"/>
          </ac:spMkLst>
        </pc:spChg>
        <pc:spChg chg="add mod">
          <ac:chgData name="Ta Thi Kim Hue" userId="af176dfe-ebe0-47e4-99a4-e0f4d40f7313" providerId="ADAL" clId="{264C83AA-283C-D342-9895-92F40AF91AE0}" dt="2022-10-03T17:24:25.193" v="340"/>
          <ac:spMkLst>
            <pc:docMk/>
            <pc:sldMk cId="64084651" sldId="261"/>
            <ac:spMk id="12" creationId="{641F85B2-D301-0025-1EC0-4A102E66A3BD}"/>
          </ac:spMkLst>
        </pc:spChg>
        <pc:spChg chg="add mod">
          <ac:chgData name="Ta Thi Kim Hue" userId="af176dfe-ebe0-47e4-99a4-e0f4d40f7313" providerId="ADAL" clId="{264C83AA-283C-D342-9895-92F40AF91AE0}" dt="2022-10-03T17:24:25.193" v="340"/>
          <ac:spMkLst>
            <pc:docMk/>
            <pc:sldMk cId="64084651" sldId="261"/>
            <ac:spMk id="13" creationId="{C4930B0C-02AF-17F0-8ED8-7F7D32837739}"/>
          </ac:spMkLst>
        </pc:spChg>
        <pc:spChg chg="add mod">
          <ac:chgData name="Ta Thi Kim Hue" userId="af176dfe-ebe0-47e4-99a4-e0f4d40f7313" providerId="ADAL" clId="{264C83AA-283C-D342-9895-92F40AF91AE0}" dt="2022-10-03T17:24:25.193" v="340"/>
          <ac:spMkLst>
            <pc:docMk/>
            <pc:sldMk cId="64084651" sldId="261"/>
            <ac:spMk id="14" creationId="{25EFF988-512F-849E-9401-13B7F1A1DB3A}"/>
          </ac:spMkLst>
        </pc:spChg>
        <pc:spChg chg="add mod">
          <ac:chgData name="Ta Thi Kim Hue" userId="af176dfe-ebe0-47e4-99a4-e0f4d40f7313" providerId="ADAL" clId="{264C83AA-283C-D342-9895-92F40AF91AE0}" dt="2022-10-03T17:24:25.193" v="340"/>
          <ac:spMkLst>
            <pc:docMk/>
            <pc:sldMk cId="64084651" sldId="261"/>
            <ac:spMk id="15" creationId="{D0254313-AC68-6672-DCE1-F732E2CED08F}"/>
          </ac:spMkLst>
        </pc:spChg>
        <pc:spChg chg="add mod">
          <ac:chgData name="Ta Thi Kim Hue" userId="af176dfe-ebe0-47e4-99a4-e0f4d40f7313" providerId="ADAL" clId="{264C83AA-283C-D342-9895-92F40AF91AE0}" dt="2022-10-03T17:24:25.193" v="340"/>
          <ac:spMkLst>
            <pc:docMk/>
            <pc:sldMk cId="64084651" sldId="261"/>
            <ac:spMk id="16" creationId="{BACEC70C-C9A9-0D8A-E565-7F410407855A}"/>
          </ac:spMkLst>
        </pc:spChg>
        <pc:picChg chg="add mod">
          <ac:chgData name="Ta Thi Kim Hue" userId="af176dfe-ebe0-47e4-99a4-e0f4d40f7313" providerId="ADAL" clId="{264C83AA-283C-D342-9895-92F40AF91AE0}" dt="2022-10-03T17:24:25.193" v="340"/>
          <ac:picMkLst>
            <pc:docMk/>
            <pc:sldMk cId="64084651" sldId="261"/>
            <ac:picMk id="6" creationId="{AA389299-FCA5-90F0-0B96-36DAA1F047A9}"/>
          </ac:picMkLst>
        </pc:picChg>
        <pc:picChg chg="add mod">
          <ac:chgData name="Ta Thi Kim Hue" userId="af176dfe-ebe0-47e4-99a4-e0f4d40f7313" providerId="ADAL" clId="{264C83AA-283C-D342-9895-92F40AF91AE0}" dt="2022-10-03T17:24:25.193" v="340"/>
          <ac:picMkLst>
            <pc:docMk/>
            <pc:sldMk cId="64084651" sldId="261"/>
            <ac:picMk id="7" creationId="{E91ADEC5-1F17-26D8-4584-02194CA86C2F}"/>
          </ac:picMkLst>
        </pc:picChg>
      </pc:sldChg>
      <pc:sldChg chg="addSp delSp modSp mod">
        <pc:chgData name="Ta Thi Kim Hue" userId="af176dfe-ebe0-47e4-99a4-e0f4d40f7313" providerId="ADAL" clId="{264C83AA-283C-D342-9895-92F40AF91AE0}" dt="2022-10-03T17:17:47.960" v="181"/>
        <pc:sldMkLst>
          <pc:docMk/>
          <pc:sldMk cId="292364014" sldId="265"/>
        </pc:sldMkLst>
        <pc:spChg chg="mod">
          <ac:chgData name="Ta Thi Kim Hue" userId="af176dfe-ebe0-47e4-99a4-e0f4d40f7313" providerId="ADAL" clId="{264C83AA-283C-D342-9895-92F40AF91AE0}" dt="2022-10-03T17:16:57.794" v="176" actId="20577"/>
          <ac:spMkLst>
            <pc:docMk/>
            <pc:sldMk cId="292364014" sldId="265"/>
            <ac:spMk id="3" creationId="{9EF27CAA-32BA-4E6B-B8C0-1A481E08E81D}"/>
          </ac:spMkLst>
        </pc:spChg>
        <pc:spChg chg="add del mod">
          <ac:chgData name="Ta Thi Kim Hue" userId="af176dfe-ebe0-47e4-99a4-e0f4d40f7313" providerId="ADAL" clId="{264C83AA-283C-D342-9895-92F40AF91AE0}" dt="2022-10-03T17:17:47.960" v="181"/>
          <ac:spMkLst>
            <pc:docMk/>
            <pc:sldMk cId="292364014" sldId="265"/>
            <ac:spMk id="5" creationId="{BC5D2794-FD28-3777-DC3D-26291773B0A8}"/>
          </ac:spMkLst>
        </pc:spChg>
        <pc:spChg chg="add del mod">
          <ac:chgData name="Ta Thi Kim Hue" userId="af176dfe-ebe0-47e4-99a4-e0f4d40f7313" providerId="ADAL" clId="{264C83AA-283C-D342-9895-92F40AF91AE0}" dt="2022-10-03T17:17:47.960" v="181"/>
          <ac:spMkLst>
            <pc:docMk/>
            <pc:sldMk cId="292364014" sldId="265"/>
            <ac:spMk id="7" creationId="{07072566-5420-5F8C-C9DC-ABF9EA7396E1}"/>
          </ac:spMkLst>
        </pc:spChg>
        <pc:spChg chg="add del mod">
          <ac:chgData name="Ta Thi Kim Hue" userId="af176dfe-ebe0-47e4-99a4-e0f4d40f7313" providerId="ADAL" clId="{264C83AA-283C-D342-9895-92F40AF91AE0}" dt="2022-10-03T17:17:47.960" v="181"/>
          <ac:spMkLst>
            <pc:docMk/>
            <pc:sldMk cId="292364014" sldId="265"/>
            <ac:spMk id="9" creationId="{4D3779C5-E4EA-F2E1-1481-26E2D4835008}"/>
          </ac:spMkLst>
        </pc:spChg>
        <pc:picChg chg="add del mod">
          <ac:chgData name="Ta Thi Kim Hue" userId="af176dfe-ebe0-47e4-99a4-e0f4d40f7313" providerId="ADAL" clId="{264C83AA-283C-D342-9895-92F40AF91AE0}" dt="2022-10-03T17:17:47.960" v="181"/>
          <ac:picMkLst>
            <pc:docMk/>
            <pc:sldMk cId="292364014" sldId="265"/>
            <ac:picMk id="10" creationId="{FFDCC639-8CD8-703A-9A32-E81EF93021CE}"/>
          </ac:picMkLst>
        </pc:picChg>
        <pc:inkChg chg="add del mod">
          <ac:chgData name="Ta Thi Kim Hue" userId="af176dfe-ebe0-47e4-99a4-e0f4d40f7313" providerId="ADAL" clId="{264C83AA-283C-D342-9895-92F40AF91AE0}" dt="2022-10-03T17:17:47.960" v="181"/>
          <ac:inkMkLst>
            <pc:docMk/>
            <pc:sldMk cId="292364014" sldId="265"/>
            <ac:inkMk id="8" creationId="{05510D8F-4CF3-8809-9870-4FAC8EFAA5D3}"/>
          </ac:inkMkLst>
        </pc:inkChg>
        <pc:cxnChg chg="add del mod">
          <ac:chgData name="Ta Thi Kim Hue" userId="af176dfe-ebe0-47e4-99a4-e0f4d40f7313" providerId="ADAL" clId="{264C83AA-283C-D342-9895-92F40AF91AE0}" dt="2022-10-03T17:17:47.960" v="181"/>
          <ac:cxnSpMkLst>
            <pc:docMk/>
            <pc:sldMk cId="292364014" sldId="265"/>
            <ac:cxnSpMk id="6" creationId="{6CBDACC7-2B03-14BD-A4C0-946688C1E331}"/>
          </ac:cxnSpMkLst>
        </pc:cxnChg>
      </pc:sldChg>
      <pc:sldChg chg="addSp modSp mod">
        <pc:chgData name="Ta Thi Kim Hue" userId="af176dfe-ebe0-47e4-99a4-e0f4d40f7313" providerId="ADAL" clId="{264C83AA-283C-D342-9895-92F40AF91AE0}" dt="2022-10-03T17:25:04.447" v="342"/>
        <pc:sldMkLst>
          <pc:docMk/>
          <pc:sldMk cId="2751358436" sldId="266"/>
        </pc:sldMkLst>
        <pc:spChg chg="mod">
          <ac:chgData name="Ta Thi Kim Hue" userId="af176dfe-ebe0-47e4-99a4-e0f4d40f7313" providerId="ADAL" clId="{264C83AA-283C-D342-9895-92F40AF91AE0}" dt="2022-10-03T17:24:48.588" v="341"/>
          <ac:spMkLst>
            <pc:docMk/>
            <pc:sldMk cId="2751358436" sldId="266"/>
            <ac:spMk id="3" creationId="{F39C6F49-1887-4BE4-A583-FB79B8A22935}"/>
          </ac:spMkLst>
        </pc:spChg>
        <pc:spChg chg="add mod">
          <ac:chgData name="Ta Thi Kim Hue" userId="af176dfe-ebe0-47e4-99a4-e0f4d40f7313" providerId="ADAL" clId="{264C83AA-283C-D342-9895-92F40AF91AE0}" dt="2022-10-03T17:25:04.447" v="342"/>
          <ac:spMkLst>
            <pc:docMk/>
            <pc:sldMk cId="2751358436" sldId="266"/>
            <ac:spMk id="5" creationId="{87E2A918-3C22-94EC-20BC-F6B770A0EEBF}"/>
          </ac:spMkLst>
        </pc:spChg>
        <pc:spChg chg="mod">
          <ac:chgData name="Ta Thi Kim Hue" userId="af176dfe-ebe0-47e4-99a4-e0f4d40f7313" providerId="ADAL" clId="{264C83AA-283C-D342-9895-92F40AF91AE0}" dt="2022-10-03T17:25:04.447" v="342"/>
          <ac:spMkLst>
            <pc:docMk/>
            <pc:sldMk cId="2751358436" sldId="266"/>
            <ac:spMk id="7" creationId="{7CA85143-B018-F740-418F-ADDE59ECAAAE}"/>
          </ac:spMkLst>
        </pc:spChg>
        <pc:spChg chg="mod">
          <ac:chgData name="Ta Thi Kim Hue" userId="af176dfe-ebe0-47e4-99a4-e0f4d40f7313" providerId="ADAL" clId="{264C83AA-283C-D342-9895-92F40AF91AE0}" dt="2022-10-03T17:25:04.447" v="342"/>
          <ac:spMkLst>
            <pc:docMk/>
            <pc:sldMk cId="2751358436" sldId="266"/>
            <ac:spMk id="8" creationId="{11FA7651-D6A0-BAD2-F77C-6703848E52FE}"/>
          </ac:spMkLst>
        </pc:spChg>
        <pc:spChg chg="mod">
          <ac:chgData name="Ta Thi Kim Hue" userId="af176dfe-ebe0-47e4-99a4-e0f4d40f7313" providerId="ADAL" clId="{264C83AA-283C-D342-9895-92F40AF91AE0}" dt="2022-10-03T17:25:04.447" v="342"/>
          <ac:spMkLst>
            <pc:docMk/>
            <pc:sldMk cId="2751358436" sldId="266"/>
            <ac:spMk id="9" creationId="{17F9A2EB-827C-82FD-4084-A4B0A2F81657}"/>
          </ac:spMkLst>
        </pc:spChg>
        <pc:spChg chg="add mod">
          <ac:chgData name="Ta Thi Kim Hue" userId="af176dfe-ebe0-47e4-99a4-e0f4d40f7313" providerId="ADAL" clId="{264C83AA-283C-D342-9895-92F40AF91AE0}" dt="2022-10-03T17:25:04.447" v="342"/>
          <ac:spMkLst>
            <pc:docMk/>
            <pc:sldMk cId="2751358436" sldId="266"/>
            <ac:spMk id="10" creationId="{39FA5B79-7555-7666-D05C-703633343E71}"/>
          </ac:spMkLst>
        </pc:spChg>
        <pc:spChg chg="mod">
          <ac:chgData name="Ta Thi Kim Hue" userId="af176dfe-ebe0-47e4-99a4-e0f4d40f7313" providerId="ADAL" clId="{264C83AA-283C-D342-9895-92F40AF91AE0}" dt="2022-10-03T17:25:04.447" v="342"/>
          <ac:spMkLst>
            <pc:docMk/>
            <pc:sldMk cId="2751358436" sldId="266"/>
            <ac:spMk id="12" creationId="{BE35C65F-4C28-B49C-0D25-3A893FDE9B2D}"/>
          </ac:spMkLst>
        </pc:spChg>
        <pc:spChg chg="mod">
          <ac:chgData name="Ta Thi Kim Hue" userId="af176dfe-ebe0-47e4-99a4-e0f4d40f7313" providerId="ADAL" clId="{264C83AA-283C-D342-9895-92F40AF91AE0}" dt="2022-10-03T17:25:04.447" v="342"/>
          <ac:spMkLst>
            <pc:docMk/>
            <pc:sldMk cId="2751358436" sldId="266"/>
            <ac:spMk id="13" creationId="{D5B5670F-6C46-3D43-9E14-B378AF676911}"/>
          </ac:spMkLst>
        </pc:spChg>
        <pc:spChg chg="add mod">
          <ac:chgData name="Ta Thi Kim Hue" userId="af176dfe-ebe0-47e4-99a4-e0f4d40f7313" providerId="ADAL" clId="{264C83AA-283C-D342-9895-92F40AF91AE0}" dt="2022-10-03T17:25:04.447" v="342"/>
          <ac:spMkLst>
            <pc:docMk/>
            <pc:sldMk cId="2751358436" sldId="266"/>
            <ac:spMk id="14" creationId="{3C074F58-C3A7-8201-6774-01232066440B}"/>
          </ac:spMkLst>
        </pc:spChg>
        <pc:spChg chg="mod">
          <ac:chgData name="Ta Thi Kim Hue" userId="af176dfe-ebe0-47e4-99a4-e0f4d40f7313" providerId="ADAL" clId="{264C83AA-283C-D342-9895-92F40AF91AE0}" dt="2022-10-03T17:25:04.447" v="342"/>
          <ac:spMkLst>
            <pc:docMk/>
            <pc:sldMk cId="2751358436" sldId="266"/>
            <ac:spMk id="16" creationId="{DE821C81-2E51-1D3A-7FA1-D380ACFDBEFB}"/>
          </ac:spMkLst>
        </pc:spChg>
        <pc:spChg chg="mod">
          <ac:chgData name="Ta Thi Kim Hue" userId="af176dfe-ebe0-47e4-99a4-e0f4d40f7313" providerId="ADAL" clId="{264C83AA-283C-D342-9895-92F40AF91AE0}" dt="2022-10-03T17:25:04.447" v="342"/>
          <ac:spMkLst>
            <pc:docMk/>
            <pc:sldMk cId="2751358436" sldId="266"/>
            <ac:spMk id="17" creationId="{751017C4-DD77-7B67-1CE9-DAE699BF3FF8}"/>
          </ac:spMkLst>
        </pc:spChg>
        <pc:spChg chg="add mod">
          <ac:chgData name="Ta Thi Kim Hue" userId="af176dfe-ebe0-47e4-99a4-e0f4d40f7313" providerId="ADAL" clId="{264C83AA-283C-D342-9895-92F40AF91AE0}" dt="2022-10-03T17:25:04.447" v="342"/>
          <ac:spMkLst>
            <pc:docMk/>
            <pc:sldMk cId="2751358436" sldId="266"/>
            <ac:spMk id="18" creationId="{14803788-A22A-0A52-CEC2-E2633CF4F928}"/>
          </ac:spMkLst>
        </pc:spChg>
        <pc:spChg chg="add mod">
          <ac:chgData name="Ta Thi Kim Hue" userId="af176dfe-ebe0-47e4-99a4-e0f4d40f7313" providerId="ADAL" clId="{264C83AA-283C-D342-9895-92F40AF91AE0}" dt="2022-10-03T17:25:04.447" v="342"/>
          <ac:spMkLst>
            <pc:docMk/>
            <pc:sldMk cId="2751358436" sldId="266"/>
            <ac:spMk id="19" creationId="{79A88A87-5D16-136A-4AF5-3A8942A0FEC9}"/>
          </ac:spMkLst>
        </pc:spChg>
        <pc:grpChg chg="add mod">
          <ac:chgData name="Ta Thi Kim Hue" userId="af176dfe-ebe0-47e4-99a4-e0f4d40f7313" providerId="ADAL" clId="{264C83AA-283C-D342-9895-92F40AF91AE0}" dt="2022-10-03T17:25:04.447" v="342"/>
          <ac:grpSpMkLst>
            <pc:docMk/>
            <pc:sldMk cId="2751358436" sldId="266"/>
            <ac:grpSpMk id="6" creationId="{ABC11113-D102-1CC0-6D70-6924972BA30C}"/>
          </ac:grpSpMkLst>
        </pc:grpChg>
        <pc:grpChg chg="add mod">
          <ac:chgData name="Ta Thi Kim Hue" userId="af176dfe-ebe0-47e4-99a4-e0f4d40f7313" providerId="ADAL" clId="{264C83AA-283C-D342-9895-92F40AF91AE0}" dt="2022-10-03T17:25:04.447" v="342"/>
          <ac:grpSpMkLst>
            <pc:docMk/>
            <pc:sldMk cId="2751358436" sldId="266"/>
            <ac:grpSpMk id="11" creationId="{07F7696C-C74C-3EA0-240F-1178C92127E6}"/>
          </ac:grpSpMkLst>
        </pc:grpChg>
        <pc:grpChg chg="add mod">
          <ac:chgData name="Ta Thi Kim Hue" userId="af176dfe-ebe0-47e4-99a4-e0f4d40f7313" providerId="ADAL" clId="{264C83AA-283C-D342-9895-92F40AF91AE0}" dt="2022-10-03T17:25:04.447" v="342"/>
          <ac:grpSpMkLst>
            <pc:docMk/>
            <pc:sldMk cId="2751358436" sldId="266"/>
            <ac:grpSpMk id="15" creationId="{0234BF95-87BF-A76D-7AE9-4C4621F0F4EC}"/>
          </ac:grpSpMkLst>
        </pc:grpChg>
      </pc:sldChg>
      <pc:sldChg chg="addSp delSp modSp new mod">
        <pc:chgData name="Ta Thi Kim Hue" userId="af176dfe-ebe0-47e4-99a4-e0f4d40f7313" providerId="ADAL" clId="{264C83AA-283C-D342-9895-92F40AF91AE0}" dt="2022-10-03T17:22:52.601" v="305" actId="1076"/>
        <pc:sldMkLst>
          <pc:docMk/>
          <pc:sldMk cId="4020901606" sldId="270"/>
        </pc:sldMkLst>
        <pc:spChg chg="mod">
          <ac:chgData name="Ta Thi Kim Hue" userId="af176dfe-ebe0-47e4-99a4-e0f4d40f7313" providerId="ADAL" clId="{264C83AA-283C-D342-9895-92F40AF91AE0}" dt="2022-10-03T17:21:13.511" v="291" actId="20577"/>
          <ac:spMkLst>
            <pc:docMk/>
            <pc:sldMk cId="4020901606" sldId="270"/>
            <ac:spMk id="3" creationId="{1FB47786-FE68-2EC5-A77D-3A4EEBB3A333}"/>
          </ac:spMkLst>
        </pc:spChg>
        <pc:spChg chg="del">
          <ac:chgData name="Ta Thi Kim Hue" userId="af176dfe-ebe0-47e4-99a4-e0f4d40f7313" providerId="ADAL" clId="{264C83AA-283C-D342-9895-92F40AF91AE0}" dt="2022-10-03T17:22:03.131" v="297" actId="478"/>
          <ac:spMkLst>
            <pc:docMk/>
            <pc:sldMk cId="4020901606" sldId="270"/>
            <ac:spMk id="4" creationId="{24D34497-9E48-4769-8BD4-D69810305163}"/>
          </ac:spMkLst>
        </pc:spChg>
        <pc:spChg chg="add mod">
          <ac:chgData name="Ta Thi Kim Hue" userId="af176dfe-ebe0-47e4-99a4-e0f4d40f7313" providerId="ADAL" clId="{264C83AA-283C-D342-9895-92F40AF91AE0}" dt="2022-10-03T17:21:27.992" v="292"/>
          <ac:spMkLst>
            <pc:docMk/>
            <pc:sldMk cId="4020901606" sldId="270"/>
            <ac:spMk id="5" creationId="{6EE8FBD2-0DAF-F40B-778C-2133DFEFD3DF}"/>
          </ac:spMkLst>
        </pc:spChg>
        <pc:spChg chg="add mod">
          <ac:chgData name="Ta Thi Kim Hue" userId="af176dfe-ebe0-47e4-99a4-e0f4d40f7313" providerId="ADAL" clId="{264C83AA-283C-D342-9895-92F40AF91AE0}" dt="2022-10-03T17:22:52.601" v="305" actId="1076"/>
          <ac:spMkLst>
            <pc:docMk/>
            <pc:sldMk cId="4020901606" sldId="270"/>
            <ac:spMk id="6" creationId="{9A702C2B-72FC-2472-939F-FE4B24E01333}"/>
          </ac:spMkLst>
        </pc:spChg>
        <pc:spChg chg="add mod">
          <ac:chgData name="Ta Thi Kim Hue" userId="af176dfe-ebe0-47e4-99a4-e0f4d40f7313" providerId="ADAL" clId="{264C83AA-283C-D342-9895-92F40AF91AE0}" dt="2022-10-03T17:21:27.992" v="292"/>
          <ac:spMkLst>
            <pc:docMk/>
            <pc:sldMk cId="4020901606" sldId="270"/>
            <ac:spMk id="7" creationId="{5E2BFD4B-0F3A-59CC-F237-5333DF9C9708}"/>
          </ac:spMkLst>
        </pc:spChg>
        <pc:spChg chg="add mod">
          <ac:chgData name="Ta Thi Kim Hue" userId="af176dfe-ebe0-47e4-99a4-e0f4d40f7313" providerId="ADAL" clId="{264C83AA-283C-D342-9895-92F40AF91AE0}" dt="2022-10-03T17:22:50.559" v="304" actId="1076"/>
          <ac:spMkLst>
            <pc:docMk/>
            <pc:sldMk cId="4020901606" sldId="270"/>
            <ac:spMk id="8" creationId="{7DB16530-A929-8525-E399-8BBDC04FC6D2}"/>
          </ac:spMkLst>
        </pc:spChg>
        <pc:spChg chg="add mod">
          <ac:chgData name="Ta Thi Kim Hue" userId="af176dfe-ebe0-47e4-99a4-e0f4d40f7313" providerId="ADAL" clId="{264C83AA-283C-D342-9895-92F40AF91AE0}" dt="2022-10-03T17:22:48.413" v="303" actId="1076"/>
          <ac:spMkLst>
            <pc:docMk/>
            <pc:sldMk cId="4020901606" sldId="270"/>
            <ac:spMk id="9" creationId="{9DED8F4A-5DC1-5AE6-915E-69D49B0BCDCD}"/>
          </ac:spMkLst>
        </pc:spChg>
        <pc:spChg chg="add del mod">
          <ac:chgData name="Ta Thi Kim Hue" userId="af176dfe-ebe0-47e4-99a4-e0f4d40f7313" providerId="ADAL" clId="{264C83AA-283C-D342-9895-92F40AF91AE0}" dt="2022-10-03T17:21:38.595" v="294"/>
          <ac:spMkLst>
            <pc:docMk/>
            <pc:sldMk cId="4020901606" sldId="270"/>
            <ac:spMk id="10" creationId="{6CE29D4A-BA26-6C49-100B-D924300B695B}"/>
          </ac:spMkLst>
        </pc:spChg>
        <pc:spChg chg="add del mod">
          <ac:chgData name="Ta Thi Kim Hue" userId="af176dfe-ebe0-47e4-99a4-e0f4d40f7313" providerId="ADAL" clId="{264C83AA-283C-D342-9895-92F40AF91AE0}" dt="2022-10-03T17:21:38.595" v="294"/>
          <ac:spMkLst>
            <pc:docMk/>
            <pc:sldMk cId="4020901606" sldId="270"/>
            <ac:spMk id="11" creationId="{A14C3352-CF0B-C5B8-0344-C9D59AF1DBDF}"/>
          </ac:spMkLst>
        </pc:spChg>
        <pc:spChg chg="add del mod">
          <ac:chgData name="Ta Thi Kim Hue" userId="af176dfe-ebe0-47e4-99a4-e0f4d40f7313" providerId="ADAL" clId="{264C83AA-283C-D342-9895-92F40AF91AE0}" dt="2022-10-03T17:21:38.595" v="294"/>
          <ac:spMkLst>
            <pc:docMk/>
            <pc:sldMk cId="4020901606" sldId="270"/>
            <ac:spMk id="12" creationId="{50824179-0078-BECC-239E-363AE361B74F}"/>
          </ac:spMkLst>
        </pc:spChg>
        <pc:spChg chg="add del mod">
          <ac:chgData name="Ta Thi Kim Hue" userId="af176dfe-ebe0-47e4-99a4-e0f4d40f7313" providerId="ADAL" clId="{264C83AA-283C-D342-9895-92F40AF91AE0}" dt="2022-10-03T17:21:38.595" v="294"/>
          <ac:spMkLst>
            <pc:docMk/>
            <pc:sldMk cId="4020901606" sldId="270"/>
            <ac:spMk id="13" creationId="{E7B5BB0B-BECF-23D4-506F-854CD3DB5D70}"/>
          </ac:spMkLst>
        </pc:spChg>
        <pc:spChg chg="add del mod">
          <ac:chgData name="Ta Thi Kim Hue" userId="af176dfe-ebe0-47e4-99a4-e0f4d40f7313" providerId="ADAL" clId="{264C83AA-283C-D342-9895-92F40AF91AE0}" dt="2022-10-03T17:21:38.595" v="294"/>
          <ac:spMkLst>
            <pc:docMk/>
            <pc:sldMk cId="4020901606" sldId="270"/>
            <ac:spMk id="14" creationId="{30DC2A48-0DE2-536E-3A98-32A3E2FC43F8}"/>
          </ac:spMkLst>
        </pc:spChg>
        <pc:spChg chg="add del mod">
          <ac:chgData name="Ta Thi Kim Hue" userId="af176dfe-ebe0-47e4-99a4-e0f4d40f7313" providerId="ADAL" clId="{264C83AA-283C-D342-9895-92F40AF91AE0}" dt="2022-10-03T17:21:45.437" v="296"/>
          <ac:spMkLst>
            <pc:docMk/>
            <pc:sldMk cId="4020901606" sldId="270"/>
            <ac:spMk id="15" creationId="{ED07C36B-E328-BCC2-D06D-7F5330BAC048}"/>
          </ac:spMkLst>
        </pc:spChg>
        <pc:spChg chg="add del mod">
          <ac:chgData name="Ta Thi Kim Hue" userId="af176dfe-ebe0-47e4-99a4-e0f4d40f7313" providerId="ADAL" clId="{264C83AA-283C-D342-9895-92F40AF91AE0}" dt="2022-10-03T17:21:45.437" v="296"/>
          <ac:spMkLst>
            <pc:docMk/>
            <pc:sldMk cId="4020901606" sldId="270"/>
            <ac:spMk id="16" creationId="{62019D1B-1380-FF9C-A6DC-A4C304820085}"/>
          </ac:spMkLst>
        </pc:spChg>
        <pc:spChg chg="add del mod">
          <ac:chgData name="Ta Thi Kim Hue" userId="af176dfe-ebe0-47e4-99a4-e0f4d40f7313" providerId="ADAL" clId="{264C83AA-283C-D342-9895-92F40AF91AE0}" dt="2022-10-03T17:21:45.437" v="296"/>
          <ac:spMkLst>
            <pc:docMk/>
            <pc:sldMk cId="4020901606" sldId="270"/>
            <ac:spMk id="17" creationId="{148EF5F3-0D2A-B59D-4443-9452C6CA6CA9}"/>
          </ac:spMkLst>
        </pc:spChg>
        <pc:spChg chg="add del mod">
          <ac:chgData name="Ta Thi Kim Hue" userId="af176dfe-ebe0-47e4-99a4-e0f4d40f7313" providerId="ADAL" clId="{264C83AA-283C-D342-9895-92F40AF91AE0}" dt="2022-10-03T17:21:45.437" v="296"/>
          <ac:spMkLst>
            <pc:docMk/>
            <pc:sldMk cId="4020901606" sldId="270"/>
            <ac:spMk id="18" creationId="{2B384C12-8323-B4E0-0339-761277DA5224}"/>
          </ac:spMkLst>
        </pc:spChg>
        <pc:spChg chg="add del mod">
          <ac:chgData name="Ta Thi Kim Hue" userId="af176dfe-ebe0-47e4-99a4-e0f4d40f7313" providerId="ADAL" clId="{264C83AA-283C-D342-9895-92F40AF91AE0}" dt="2022-10-03T17:21:45.437" v="296"/>
          <ac:spMkLst>
            <pc:docMk/>
            <pc:sldMk cId="4020901606" sldId="270"/>
            <ac:spMk id="19" creationId="{F513ECF6-E768-C80D-CE35-70C26DFF8C2A}"/>
          </ac:spMkLst>
        </pc:spChg>
        <pc:spChg chg="add del mod">
          <ac:chgData name="Ta Thi Kim Hue" userId="af176dfe-ebe0-47e4-99a4-e0f4d40f7313" providerId="ADAL" clId="{264C83AA-283C-D342-9895-92F40AF91AE0}" dt="2022-10-03T17:22:07.736" v="300"/>
          <ac:spMkLst>
            <pc:docMk/>
            <pc:sldMk cId="4020901606" sldId="270"/>
            <ac:spMk id="20" creationId="{32A02944-644F-6475-8E2F-7A2099809B40}"/>
          </ac:spMkLst>
        </pc:spChg>
        <pc:spChg chg="add mod">
          <ac:chgData name="Ta Thi Kim Hue" userId="af176dfe-ebe0-47e4-99a4-e0f4d40f7313" providerId="ADAL" clId="{264C83AA-283C-D342-9895-92F40AF91AE0}" dt="2022-10-03T17:22:45.002" v="302" actId="1076"/>
          <ac:spMkLst>
            <pc:docMk/>
            <pc:sldMk cId="4020901606" sldId="270"/>
            <ac:spMk id="21" creationId="{9E8D3C19-6A47-2D40-BE78-AF6A5C73C840}"/>
          </ac:spMkLst>
        </pc:spChg>
      </pc:sldChg>
      <pc:sldChg chg="addSp modSp new mod ord">
        <pc:chgData name="Ta Thi Kim Hue" userId="af176dfe-ebe0-47e4-99a4-e0f4d40f7313" providerId="ADAL" clId="{264C83AA-283C-D342-9895-92F40AF91AE0}" dt="2022-10-03T17:20:54.593" v="233" actId="1076"/>
        <pc:sldMkLst>
          <pc:docMk/>
          <pc:sldMk cId="2807437432" sldId="271"/>
        </pc:sldMkLst>
        <pc:spChg chg="mod">
          <ac:chgData name="Ta Thi Kim Hue" userId="af176dfe-ebe0-47e4-99a4-e0f4d40f7313" providerId="ADAL" clId="{264C83AA-283C-D342-9895-92F40AF91AE0}" dt="2022-10-03T17:19:32.924" v="227"/>
          <ac:spMkLst>
            <pc:docMk/>
            <pc:sldMk cId="2807437432" sldId="271"/>
            <ac:spMk id="3" creationId="{FA9C54B2-8633-86DF-2C67-964FCB38990F}"/>
          </ac:spMkLst>
        </pc:spChg>
        <pc:picChg chg="add mod">
          <ac:chgData name="Ta Thi Kim Hue" userId="af176dfe-ebe0-47e4-99a4-e0f4d40f7313" providerId="ADAL" clId="{264C83AA-283C-D342-9895-92F40AF91AE0}" dt="2022-10-03T17:20:54.593" v="233" actId="1076"/>
          <ac:picMkLst>
            <pc:docMk/>
            <pc:sldMk cId="2807437432" sldId="271"/>
            <ac:picMk id="5" creationId="{A2CF5FE7-1852-F5A8-8524-BC56BE4AFD3F}"/>
          </ac:picMkLst>
        </pc:picChg>
        <pc:picChg chg="add mod">
          <ac:chgData name="Ta Thi Kim Hue" userId="af176dfe-ebe0-47e4-99a4-e0f4d40f7313" providerId="ADAL" clId="{264C83AA-283C-D342-9895-92F40AF91AE0}" dt="2022-10-03T17:20:52.439" v="232" actId="1076"/>
          <ac:picMkLst>
            <pc:docMk/>
            <pc:sldMk cId="2807437432" sldId="271"/>
            <ac:picMk id="6" creationId="{6055062C-DE49-D321-64C3-158097A88D38}"/>
          </ac:picMkLst>
        </pc:picChg>
        <pc:picChg chg="add mod">
          <ac:chgData name="Ta Thi Kim Hue" userId="af176dfe-ebe0-47e4-99a4-e0f4d40f7313" providerId="ADAL" clId="{264C83AA-283C-D342-9895-92F40AF91AE0}" dt="2022-10-03T17:20:48.723" v="230" actId="1076"/>
          <ac:picMkLst>
            <pc:docMk/>
            <pc:sldMk cId="2807437432" sldId="271"/>
            <ac:picMk id="7" creationId="{32199472-9BAD-6BA6-A8EE-D619611F8347}"/>
          </ac:picMkLst>
        </pc:picChg>
        <pc:picChg chg="add mod">
          <ac:chgData name="Ta Thi Kim Hue" userId="af176dfe-ebe0-47e4-99a4-e0f4d40f7313" providerId="ADAL" clId="{264C83AA-283C-D342-9895-92F40AF91AE0}" dt="2022-10-03T17:20:50.381" v="231" actId="1076"/>
          <ac:picMkLst>
            <pc:docMk/>
            <pc:sldMk cId="2807437432" sldId="271"/>
            <ac:picMk id="8" creationId="{51F43283-7EF9-5CAB-92A7-C5EF9B8A91B8}"/>
          </ac:picMkLst>
        </pc:picChg>
      </pc:sldChg>
      <pc:sldChg chg="addSp modSp new mod">
        <pc:chgData name="Ta Thi Kim Hue" userId="af176dfe-ebe0-47e4-99a4-e0f4d40f7313" providerId="ADAL" clId="{264C83AA-283C-D342-9895-92F40AF91AE0}" dt="2022-10-03T17:23:58.430" v="338" actId="1076"/>
        <pc:sldMkLst>
          <pc:docMk/>
          <pc:sldMk cId="1774508242" sldId="272"/>
        </pc:sldMkLst>
        <pc:spChg chg="mod">
          <ac:chgData name="Ta Thi Kim Hue" userId="af176dfe-ebe0-47e4-99a4-e0f4d40f7313" providerId="ADAL" clId="{264C83AA-283C-D342-9895-92F40AF91AE0}" dt="2022-10-03T17:23:07.385" v="330" actId="20577"/>
          <ac:spMkLst>
            <pc:docMk/>
            <pc:sldMk cId="1774508242" sldId="272"/>
            <ac:spMk id="3" creationId="{1F45D4C6-39F8-D101-8666-4DC0937F314A}"/>
          </ac:spMkLst>
        </pc:spChg>
        <pc:spChg chg="add mod">
          <ac:chgData name="Ta Thi Kim Hue" userId="af176dfe-ebe0-47e4-99a4-e0f4d40f7313" providerId="ADAL" clId="{264C83AA-283C-D342-9895-92F40AF91AE0}" dt="2022-10-03T17:23:19.469" v="332" actId="1076"/>
          <ac:spMkLst>
            <pc:docMk/>
            <pc:sldMk cId="1774508242" sldId="272"/>
            <ac:spMk id="5" creationId="{819E1B58-662D-6B69-651C-946B1B6B309C}"/>
          </ac:spMkLst>
        </pc:spChg>
        <pc:spChg chg="add mod">
          <ac:chgData name="Ta Thi Kim Hue" userId="af176dfe-ebe0-47e4-99a4-e0f4d40f7313" providerId="ADAL" clId="{264C83AA-283C-D342-9895-92F40AF91AE0}" dt="2022-10-03T17:23:52.023" v="336" actId="1076"/>
          <ac:spMkLst>
            <pc:docMk/>
            <pc:sldMk cId="1774508242" sldId="272"/>
            <ac:spMk id="8" creationId="{68CAF5E7-9642-BD56-9DD1-8ED98764F227}"/>
          </ac:spMkLst>
        </pc:spChg>
        <pc:spChg chg="add mod">
          <ac:chgData name="Ta Thi Kim Hue" userId="af176dfe-ebe0-47e4-99a4-e0f4d40f7313" providerId="ADAL" clId="{264C83AA-283C-D342-9895-92F40AF91AE0}" dt="2022-10-03T17:23:58.430" v="338" actId="1076"/>
          <ac:spMkLst>
            <pc:docMk/>
            <pc:sldMk cId="1774508242" sldId="272"/>
            <ac:spMk id="9" creationId="{81238C8C-CCD8-B9A0-1980-21C74A2E56A8}"/>
          </ac:spMkLst>
        </pc:spChg>
        <pc:spChg chg="add mod">
          <ac:chgData name="Ta Thi Kim Hue" userId="af176dfe-ebe0-47e4-99a4-e0f4d40f7313" providerId="ADAL" clId="{264C83AA-283C-D342-9895-92F40AF91AE0}" dt="2022-10-03T17:23:19.469" v="332" actId="1076"/>
          <ac:spMkLst>
            <pc:docMk/>
            <pc:sldMk cId="1774508242" sldId="272"/>
            <ac:spMk id="10" creationId="{BE9516AE-3C9E-9521-B511-4FCA844FB2A5}"/>
          </ac:spMkLst>
        </pc:spChg>
        <pc:picChg chg="add mod">
          <ac:chgData name="Ta Thi Kim Hue" userId="af176dfe-ebe0-47e4-99a4-e0f4d40f7313" providerId="ADAL" clId="{264C83AA-283C-D342-9895-92F40AF91AE0}" dt="2022-10-03T17:23:50.237" v="335" actId="1076"/>
          <ac:picMkLst>
            <pc:docMk/>
            <pc:sldMk cId="1774508242" sldId="272"/>
            <ac:picMk id="6" creationId="{6EB10C4B-A158-B4B8-BBDB-03E2B17A0AAC}"/>
          </ac:picMkLst>
        </pc:picChg>
        <pc:picChg chg="add mod">
          <ac:chgData name="Ta Thi Kim Hue" userId="af176dfe-ebe0-47e4-99a4-e0f4d40f7313" providerId="ADAL" clId="{264C83AA-283C-D342-9895-92F40AF91AE0}" dt="2022-10-03T17:23:53.632" v="337" actId="1076"/>
          <ac:picMkLst>
            <pc:docMk/>
            <pc:sldMk cId="1774508242" sldId="272"/>
            <ac:picMk id="7" creationId="{FE482EC2-72D7-AF69-9A3A-D5DFF5F076BC}"/>
          </ac:picMkLst>
        </pc:picChg>
      </pc:sldChg>
      <pc:sldChg chg="addSp modSp new mod">
        <pc:chgData name="Ta Thi Kim Hue" userId="af176dfe-ebe0-47e4-99a4-e0f4d40f7313" providerId="ADAL" clId="{264C83AA-283C-D342-9895-92F40AF91AE0}" dt="2022-10-03T17:25:56.322" v="351"/>
        <pc:sldMkLst>
          <pc:docMk/>
          <pc:sldMk cId="1132699619" sldId="273"/>
        </pc:sldMkLst>
        <pc:spChg chg="mod">
          <ac:chgData name="Ta Thi Kim Hue" userId="af176dfe-ebe0-47e4-99a4-e0f4d40f7313" providerId="ADAL" clId="{264C83AA-283C-D342-9895-92F40AF91AE0}" dt="2022-10-03T17:25:38.920" v="350"/>
          <ac:spMkLst>
            <pc:docMk/>
            <pc:sldMk cId="1132699619" sldId="273"/>
            <ac:spMk id="3" creationId="{88C65B9E-D23B-3F07-106D-1749312B39A3}"/>
          </ac:spMkLst>
        </pc:spChg>
        <pc:spChg chg="add mod">
          <ac:chgData name="Ta Thi Kim Hue" userId="af176dfe-ebe0-47e4-99a4-e0f4d40f7313" providerId="ADAL" clId="{264C83AA-283C-D342-9895-92F40AF91AE0}" dt="2022-10-03T17:25:56.322" v="351"/>
          <ac:spMkLst>
            <pc:docMk/>
            <pc:sldMk cId="1132699619" sldId="273"/>
            <ac:spMk id="5" creationId="{4B404572-5298-8AB1-2D91-5E3E29F5FA04}"/>
          </ac:spMkLst>
        </pc:spChg>
        <pc:spChg chg="mod">
          <ac:chgData name="Ta Thi Kim Hue" userId="af176dfe-ebe0-47e4-99a4-e0f4d40f7313" providerId="ADAL" clId="{264C83AA-283C-D342-9895-92F40AF91AE0}" dt="2022-10-03T17:25:56.322" v="351"/>
          <ac:spMkLst>
            <pc:docMk/>
            <pc:sldMk cId="1132699619" sldId="273"/>
            <ac:spMk id="7" creationId="{8AA8C27B-23D8-F92B-8C33-DD2122E32796}"/>
          </ac:spMkLst>
        </pc:spChg>
        <pc:spChg chg="mod">
          <ac:chgData name="Ta Thi Kim Hue" userId="af176dfe-ebe0-47e4-99a4-e0f4d40f7313" providerId="ADAL" clId="{264C83AA-283C-D342-9895-92F40AF91AE0}" dt="2022-10-03T17:25:56.322" v="351"/>
          <ac:spMkLst>
            <pc:docMk/>
            <pc:sldMk cId="1132699619" sldId="273"/>
            <ac:spMk id="8" creationId="{98DB51D0-5BA7-7BD4-05E9-F4427BD802EE}"/>
          </ac:spMkLst>
        </pc:spChg>
        <pc:spChg chg="mod">
          <ac:chgData name="Ta Thi Kim Hue" userId="af176dfe-ebe0-47e4-99a4-e0f4d40f7313" providerId="ADAL" clId="{264C83AA-283C-D342-9895-92F40AF91AE0}" dt="2022-10-03T17:25:56.322" v="351"/>
          <ac:spMkLst>
            <pc:docMk/>
            <pc:sldMk cId="1132699619" sldId="273"/>
            <ac:spMk id="9" creationId="{FE8D6FA8-B885-B27F-1B43-D64AEEB59FB2}"/>
          </ac:spMkLst>
        </pc:spChg>
        <pc:spChg chg="add mod">
          <ac:chgData name="Ta Thi Kim Hue" userId="af176dfe-ebe0-47e4-99a4-e0f4d40f7313" providerId="ADAL" clId="{264C83AA-283C-D342-9895-92F40AF91AE0}" dt="2022-10-03T17:25:56.322" v="351"/>
          <ac:spMkLst>
            <pc:docMk/>
            <pc:sldMk cId="1132699619" sldId="273"/>
            <ac:spMk id="10" creationId="{722E1EE3-CB41-E526-F0C7-031D0F429283}"/>
          </ac:spMkLst>
        </pc:spChg>
        <pc:spChg chg="mod">
          <ac:chgData name="Ta Thi Kim Hue" userId="af176dfe-ebe0-47e4-99a4-e0f4d40f7313" providerId="ADAL" clId="{264C83AA-283C-D342-9895-92F40AF91AE0}" dt="2022-10-03T17:25:56.322" v="351"/>
          <ac:spMkLst>
            <pc:docMk/>
            <pc:sldMk cId="1132699619" sldId="273"/>
            <ac:spMk id="12" creationId="{18CB2FAB-A2A9-A7D5-F72C-1579D555FB64}"/>
          </ac:spMkLst>
        </pc:spChg>
        <pc:spChg chg="mod">
          <ac:chgData name="Ta Thi Kim Hue" userId="af176dfe-ebe0-47e4-99a4-e0f4d40f7313" providerId="ADAL" clId="{264C83AA-283C-D342-9895-92F40AF91AE0}" dt="2022-10-03T17:25:56.322" v="351"/>
          <ac:spMkLst>
            <pc:docMk/>
            <pc:sldMk cId="1132699619" sldId="273"/>
            <ac:spMk id="13" creationId="{AFC42845-CF6D-BBC6-0C0B-5CD9D02C176B}"/>
          </ac:spMkLst>
        </pc:spChg>
        <pc:spChg chg="add mod">
          <ac:chgData name="Ta Thi Kim Hue" userId="af176dfe-ebe0-47e4-99a4-e0f4d40f7313" providerId="ADAL" clId="{264C83AA-283C-D342-9895-92F40AF91AE0}" dt="2022-10-03T17:25:56.322" v="351"/>
          <ac:spMkLst>
            <pc:docMk/>
            <pc:sldMk cId="1132699619" sldId="273"/>
            <ac:spMk id="14" creationId="{8D5377C3-C8B7-7803-B682-5675998FD227}"/>
          </ac:spMkLst>
        </pc:spChg>
        <pc:spChg chg="mod">
          <ac:chgData name="Ta Thi Kim Hue" userId="af176dfe-ebe0-47e4-99a4-e0f4d40f7313" providerId="ADAL" clId="{264C83AA-283C-D342-9895-92F40AF91AE0}" dt="2022-10-03T17:25:56.322" v="351"/>
          <ac:spMkLst>
            <pc:docMk/>
            <pc:sldMk cId="1132699619" sldId="273"/>
            <ac:spMk id="16" creationId="{ED86D5E1-3A35-C4E3-715C-98596EF9EAFA}"/>
          </ac:spMkLst>
        </pc:spChg>
        <pc:spChg chg="mod">
          <ac:chgData name="Ta Thi Kim Hue" userId="af176dfe-ebe0-47e4-99a4-e0f4d40f7313" providerId="ADAL" clId="{264C83AA-283C-D342-9895-92F40AF91AE0}" dt="2022-10-03T17:25:56.322" v="351"/>
          <ac:spMkLst>
            <pc:docMk/>
            <pc:sldMk cId="1132699619" sldId="273"/>
            <ac:spMk id="17" creationId="{C093CB31-CC68-04DA-43CF-FB083EED8285}"/>
          </ac:spMkLst>
        </pc:spChg>
        <pc:spChg chg="add mod">
          <ac:chgData name="Ta Thi Kim Hue" userId="af176dfe-ebe0-47e4-99a4-e0f4d40f7313" providerId="ADAL" clId="{264C83AA-283C-D342-9895-92F40AF91AE0}" dt="2022-10-03T17:25:56.322" v="351"/>
          <ac:spMkLst>
            <pc:docMk/>
            <pc:sldMk cId="1132699619" sldId="273"/>
            <ac:spMk id="18" creationId="{FA0E7652-80C0-06E0-EB28-0A6CB416F1A4}"/>
          </ac:spMkLst>
        </pc:spChg>
        <pc:spChg chg="mod">
          <ac:chgData name="Ta Thi Kim Hue" userId="af176dfe-ebe0-47e4-99a4-e0f4d40f7313" providerId="ADAL" clId="{264C83AA-283C-D342-9895-92F40AF91AE0}" dt="2022-10-03T17:25:56.322" v="351"/>
          <ac:spMkLst>
            <pc:docMk/>
            <pc:sldMk cId="1132699619" sldId="273"/>
            <ac:spMk id="20" creationId="{97E349C1-9049-5C6A-AA90-8537C7017B28}"/>
          </ac:spMkLst>
        </pc:spChg>
        <pc:spChg chg="mod">
          <ac:chgData name="Ta Thi Kim Hue" userId="af176dfe-ebe0-47e4-99a4-e0f4d40f7313" providerId="ADAL" clId="{264C83AA-283C-D342-9895-92F40AF91AE0}" dt="2022-10-03T17:25:56.322" v="351"/>
          <ac:spMkLst>
            <pc:docMk/>
            <pc:sldMk cId="1132699619" sldId="273"/>
            <ac:spMk id="21" creationId="{39D5B8FC-BB4A-4F5F-F301-EBFD5686E182}"/>
          </ac:spMkLst>
        </pc:spChg>
        <pc:spChg chg="add mod">
          <ac:chgData name="Ta Thi Kim Hue" userId="af176dfe-ebe0-47e4-99a4-e0f4d40f7313" providerId="ADAL" clId="{264C83AA-283C-D342-9895-92F40AF91AE0}" dt="2022-10-03T17:25:56.322" v="351"/>
          <ac:spMkLst>
            <pc:docMk/>
            <pc:sldMk cId="1132699619" sldId="273"/>
            <ac:spMk id="22" creationId="{759F5691-1E09-F22F-7EBD-A3367C6BC219}"/>
          </ac:spMkLst>
        </pc:spChg>
        <pc:grpChg chg="add mod">
          <ac:chgData name="Ta Thi Kim Hue" userId="af176dfe-ebe0-47e4-99a4-e0f4d40f7313" providerId="ADAL" clId="{264C83AA-283C-D342-9895-92F40AF91AE0}" dt="2022-10-03T17:25:56.322" v="351"/>
          <ac:grpSpMkLst>
            <pc:docMk/>
            <pc:sldMk cId="1132699619" sldId="273"/>
            <ac:grpSpMk id="6" creationId="{E4BCBA09-103E-A212-0443-0F557CF82A46}"/>
          </ac:grpSpMkLst>
        </pc:grpChg>
        <pc:grpChg chg="add mod">
          <ac:chgData name="Ta Thi Kim Hue" userId="af176dfe-ebe0-47e4-99a4-e0f4d40f7313" providerId="ADAL" clId="{264C83AA-283C-D342-9895-92F40AF91AE0}" dt="2022-10-03T17:25:56.322" v="351"/>
          <ac:grpSpMkLst>
            <pc:docMk/>
            <pc:sldMk cId="1132699619" sldId="273"/>
            <ac:grpSpMk id="11" creationId="{652EDFBA-6493-599F-2E35-EAAA691A52B4}"/>
          </ac:grpSpMkLst>
        </pc:grpChg>
        <pc:grpChg chg="add mod">
          <ac:chgData name="Ta Thi Kim Hue" userId="af176dfe-ebe0-47e4-99a4-e0f4d40f7313" providerId="ADAL" clId="{264C83AA-283C-D342-9895-92F40AF91AE0}" dt="2022-10-03T17:25:56.322" v="351"/>
          <ac:grpSpMkLst>
            <pc:docMk/>
            <pc:sldMk cId="1132699619" sldId="273"/>
            <ac:grpSpMk id="15" creationId="{79F18CE7-92BE-EA04-D3B3-43CE4EE15A90}"/>
          </ac:grpSpMkLst>
        </pc:grpChg>
        <pc:grpChg chg="add mod">
          <ac:chgData name="Ta Thi Kim Hue" userId="af176dfe-ebe0-47e4-99a4-e0f4d40f7313" providerId="ADAL" clId="{264C83AA-283C-D342-9895-92F40AF91AE0}" dt="2022-10-03T17:25:56.322" v="351"/>
          <ac:grpSpMkLst>
            <pc:docMk/>
            <pc:sldMk cId="1132699619" sldId="273"/>
            <ac:grpSpMk id="19" creationId="{7A595645-CF3B-938F-476E-6982D227C750}"/>
          </ac:grpSpMkLst>
        </pc:grpChg>
      </pc:sldChg>
      <pc:sldChg chg="new">
        <pc:chgData name="Ta Thi Kim Hue" userId="af176dfe-ebe0-47e4-99a4-e0f4d40f7313" providerId="ADAL" clId="{264C83AA-283C-D342-9895-92F40AF91AE0}" dt="2022-10-03T17:25:16.831" v="344" actId="680"/>
        <pc:sldMkLst>
          <pc:docMk/>
          <pc:sldMk cId="4272548036" sldId="274"/>
        </pc:sldMkLst>
      </pc:sldChg>
      <pc:sldChg chg="new">
        <pc:chgData name="Ta Thi Kim Hue" userId="af176dfe-ebe0-47e4-99a4-e0f4d40f7313" providerId="ADAL" clId="{264C83AA-283C-D342-9895-92F40AF91AE0}" dt="2022-10-03T17:25:17.017" v="345" actId="680"/>
        <pc:sldMkLst>
          <pc:docMk/>
          <pc:sldMk cId="335698421" sldId="275"/>
        </pc:sldMkLst>
      </pc:sldChg>
      <pc:sldChg chg="modSp add del">
        <pc:chgData name="Ta Thi Kim Hue" userId="af176dfe-ebe0-47e4-99a4-e0f4d40f7313" providerId="ADAL" clId="{264C83AA-283C-D342-9895-92F40AF91AE0}" dt="2022-10-03T17:19:15.893" v="226"/>
        <pc:sldMkLst>
          <pc:docMk/>
          <pc:sldMk cId="1060001773" sldId="276"/>
        </pc:sldMkLst>
        <pc:spChg chg="mod">
          <ac:chgData name="Ta Thi Kim Hue" userId="af176dfe-ebe0-47e4-99a4-e0f4d40f7313" providerId="ADAL" clId="{264C83AA-283C-D342-9895-92F40AF91AE0}" dt="2022-10-03T17:25:19.308" v="347"/>
          <ac:spMkLst>
            <pc:docMk/>
            <pc:sldMk cId="1060001773" sldId="276"/>
            <ac:spMk id="3" creationId="{BC1CF879-A89F-C93C-3EB1-CDD3598CABD1}"/>
          </ac:spMkLst>
        </pc:spChg>
        <pc:spChg chg="mod">
          <ac:chgData name="Ta Thi Kim Hue" userId="af176dfe-ebe0-47e4-99a4-e0f4d40f7313" providerId="ADAL" clId="{264C83AA-283C-D342-9895-92F40AF91AE0}" dt="2022-10-03T17:25:26.272" v="349" actId="5793"/>
          <ac:spMkLst>
            <pc:docMk/>
            <pc:sldMk cId="1060001773" sldId="276"/>
            <ac:spMk id="4" creationId="{3C0E814B-1F88-B84F-36A4-0E166477BA09}"/>
          </ac:spMkLst>
        </pc:spChg>
        <pc:spChg chg="mod">
          <ac:chgData name="Ta Thi Kim Hue" userId="af176dfe-ebe0-47e4-99a4-e0f4d40f7313" providerId="ADAL" clId="{264C83AA-283C-D342-9895-92F40AF91AE0}" dt="2022-10-03T17:19:12.962" v="216"/>
          <ac:spMkLst>
            <pc:docMk/>
            <pc:sldMk cId="1060001773" sldId="276"/>
            <ac:spMk id="17" creationId="{00000000-0000-0000-0000-000000000000}"/>
          </ac:spMkLst>
        </pc:spChg>
      </pc:sldChg>
      <pc:sldChg chg="modSp add del">
        <pc:chgData name="Ta Thi Kim Hue" userId="af176dfe-ebe0-47e4-99a4-e0f4d40f7313" providerId="ADAL" clId="{264C83AA-283C-D342-9895-92F40AF91AE0}" dt="2022-10-03T17:19:15.893" v="226"/>
        <pc:sldMkLst>
          <pc:docMk/>
          <pc:sldMk cId="3380892265" sldId="278"/>
        </pc:sldMkLst>
        <pc:spChg chg="mod">
          <ac:chgData name="Ta Thi Kim Hue" userId="af176dfe-ebe0-47e4-99a4-e0f4d40f7313" providerId="ADAL" clId="{264C83AA-283C-D342-9895-92F40AF91AE0}" dt="2022-10-03T17:19:12.962" v="216"/>
          <ac:spMkLst>
            <pc:docMk/>
            <pc:sldMk cId="3380892265" sldId="278"/>
            <ac:spMk id="20" creationId="{00000000-0000-0000-0000-000000000000}"/>
          </ac:spMkLst>
        </pc:spChg>
      </pc:sldChg>
      <pc:sldChg chg="modSp add del">
        <pc:chgData name="Ta Thi Kim Hue" userId="af176dfe-ebe0-47e4-99a4-e0f4d40f7313" providerId="ADAL" clId="{264C83AA-283C-D342-9895-92F40AF91AE0}" dt="2022-10-03T17:19:15.893" v="226"/>
        <pc:sldMkLst>
          <pc:docMk/>
          <pc:sldMk cId="1304547031" sldId="279"/>
        </pc:sldMkLst>
        <pc:spChg chg="mod">
          <ac:chgData name="Ta Thi Kim Hue" userId="af176dfe-ebe0-47e4-99a4-e0f4d40f7313" providerId="ADAL" clId="{264C83AA-283C-D342-9895-92F40AF91AE0}" dt="2022-10-03T17:19:12.962" v="216"/>
          <ac:spMkLst>
            <pc:docMk/>
            <pc:sldMk cId="1304547031" sldId="279"/>
            <ac:spMk id="16" creationId="{00000000-0000-0000-0000-000000000000}"/>
          </ac:spMkLst>
        </pc:spChg>
      </pc:sldChg>
      <pc:sldChg chg="add del">
        <pc:chgData name="Ta Thi Kim Hue" userId="af176dfe-ebe0-47e4-99a4-e0f4d40f7313" providerId="ADAL" clId="{264C83AA-283C-D342-9895-92F40AF91AE0}" dt="2022-10-03T17:19:15.893" v="226"/>
        <pc:sldMkLst>
          <pc:docMk/>
          <pc:sldMk cId="2718593708" sldId="280"/>
        </pc:sldMkLst>
      </pc:sldChg>
      <pc:sldChg chg="add del">
        <pc:chgData name="Ta Thi Kim Hue" userId="af176dfe-ebe0-47e4-99a4-e0f4d40f7313" providerId="ADAL" clId="{264C83AA-283C-D342-9895-92F40AF91AE0}" dt="2022-10-03T17:19:15.893" v="226"/>
        <pc:sldMkLst>
          <pc:docMk/>
          <pc:sldMk cId="2337578397" sldId="281"/>
        </pc:sldMkLst>
      </pc:sldChg>
      <pc:sldChg chg="add del">
        <pc:chgData name="Ta Thi Kim Hue" userId="af176dfe-ebe0-47e4-99a4-e0f4d40f7313" providerId="ADAL" clId="{264C83AA-283C-D342-9895-92F40AF91AE0}" dt="2022-10-03T17:19:15.893" v="226"/>
        <pc:sldMkLst>
          <pc:docMk/>
          <pc:sldMk cId="383108746" sldId="282"/>
        </pc:sldMkLst>
      </pc:sldChg>
      <pc:sldChg chg="add del">
        <pc:chgData name="Ta Thi Kim Hue" userId="af176dfe-ebe0-47e4-99a4-e0f4d40f7313" providerId="ADAL" clId="{264C83AA-283C-D342-9895-92F40AF91AE0}" dt="2022-10-03T17:19:15.893" v="226"/>
        <pc:sldMkLst>
          <pc:docMk/>
          <pc:sldMk cId="3346532803" sldId="285"/>
        </pc:sldMkLst>
      </pc:sldChg>
      <pc:sldChg chg="add del">
        <pc:chgData name="Ta Thi Kim Hue" userId="af176dfe-ebe0-47e4-99a4-e0f4d40f7313" providerId="ADAL" clId="{264C83AA-283C-D342-9895-92F40AF91AE0}" dt="2022-10-03T17:19:15.893" v="226"/>
        <pc:sldMkLst>
          <pc:docMk/>
          <pc:sldMk cId="3101646360" sldId="286"/>
        </pc:sldMkLst>
      </pc:sldChg>
      <pc:sldChg chg="add del">
        <pc:chgData name="Ta Thi Kim Hue" userId="af176dfe-ebe0-47e4-99a4-e0f4d40f7313" providerId="ADAL" clId="{264C83AA-283C-D342-9895-92F40AF91AE0}" dt="2022-10-03T17:19:15.893" v="226"/>
        <pc:sldMkLst>
          <pc:docMk/>
          <pc:sldMk cId="3403607449" sldId="287"/>
        </pc:sldMkLst>
      </pc:sldChg>
      <pc:sldChg chg="add del">
        <pc:chgData name="Ta Thi Kim Hue" userId="af176dfe-ebe0-47e4-99a4-e0f4d40f7313" providerId="ADAL" clId="{264C83AA-283C-D342-9895-92F40AF91AE0}" dt="2022-10-03T17:19:15.893" v="226"/>
        <pc:sldMkLst>
          <pc:docMk/>
          <pc:sldMk cId="150685867" sldId="288"/>
        </pc:sldMkLst>
      </pc:sldChg>
      <pc:sldChg chg="add del">
        <pc:chgData name="Ta Thi Kim Hue" userId="af176dfe-ebe0-47e4-99a4-e0f4d40f7313" providerId="ADAL" clId="{264C83AA-283C-D342-9895-92F40AF91AE0}" dt="2022-10-03T17:19:15.893" v="226"/>
        <pc:sldMkLst>
          <pc:docMk/>
          <pc:sldMk cId="922720921" sldId="289"/>
        </pc:sldMkLst>
      </pc:sldChg>
      <pc:sldChg chg="add del">
        <pc:chgData name="Ta Thi Kim Hue" userId="af176dfe-ebe0-47e4-99a4-e0f4d40f7313" providerId="ADAL" clId="{264C83AA-283C-D342-9895-92F40AF91AE0}" dt="2022-10-03T17:19:15.893" v="226"/>
        <pc:sldMkLst>
          <pc:docMk/>
          <pc:sldMk cId="2491362886" sldId="290"/>
        </pc:sldMkLst>
      </pc:sldChg>
      <pc:sldChg chg="add del">
        <pc:chgData name="Ta Thi Kim Hue" userId="af176dfe-ebe0-47e4-99a4-e0f4d40f7313" providerId="ADAL" clId="{264C83AA-283C-D342-9895-92F40AF91AE0}" dt="2022-10-03T17:19:15.893" v="226"/>
        <pc:sldMkLst>
          <pc:docMk/>
          <pc:sldMk cId="4017542271" sldId="291"/>
        </pc:sldMkLst>
      </pc:sldChg>
      <pc:sldChg chg="add del">
        <pc:chgData name="Ta Thi Kim Hue" userId="af176dfe-ebe0-47e4-99a4-e0f4d40f7313" providerId="ADAL" clId="{264C83AA-283C-D342-9895-92F40AF91AE0}" dt="2022-10-03T17:19:15.893" v="226"/>
        <pc:sldMkLst>
          <pc:docMk/>
          <pc:sldMk cId="2949204088" sldId="292"/>
        </pc:sldMkLst>
      </pc:sldChg>
      <pc:sldChg chg="add del">
        <pc:chgData name="Ta Thi Kim Hue" userId="af176dfe-ebe0-47e4-99a4-e0f4d40f7313" providerId="ADAL" clId="{264C83AA-283C-D342-9895-92F40AF91AE0}" dt="2022-10-03T17:19:15.893" v="226"/>
        <pc:sldMkLst>
          <pc:docMk/>
          <pc:sldMk cId="755352288" sldId="293"/>
        </pc:sldMkLst>
      </pc:sldChg>
      <pc:sldChg chg="add del">
        <pc:chgData name="Ta Thi Kim Hue" userId="af176dfe-ebe0-47e4-99a4-e0f4d40f7313" providerId="ADAL" clId="{264C83AA-283C-D342-9895-92F40AF91AE0}" dt="2022-10-03T17:19:15.893" v="226"/>
        <pc:sldMkLst>
          <pc:docMk/>
          <pc:sldMk cId="2778974140" sldId="294"/>
        </pc:sldMkLst>
      </pc:sldChg>
      <pc:sldChg chg="add del">
        <pc:chgData name="Ta Thi Kim Hue" userId="af176dfe-ebe0-47e4-99a4-e0f4d40f7313" providerId="ADAL" clId="{264C83AA-283C-D342-9895-92F40AF91AE0}" dt="2022-10-03T17:19:15.893" v="226"/>
        <pc:sldMkLst>
          <pc:docMk/>
          <pc:sldMk cId="2213517322" sldId="295"/>
        </pc:sldMkLst>
      </pc:sldChg>
      <pc:sldChg chg="add del">
        <pc:chgData name="Ta Thi Kim Hue" userId="af176dfe-ebe0-47e4-99a4-e0f4d40f7313" providerId="ADAL" clId="{264C83AA-283C-D342-9895-92F40AF91AE0}" dt="2022-10-03T17:19:15.893" v="226"/>
        <pc:sldMkLst>
          <pc:docMk/>
          <pc:sldMk cId="4049429688" sldId="296"/>
        </pc:sldMkLst>
      </pc:sldChg>
      <pc:sldChg chg="add del">
        <pc:chgData name="Ta Thi Kim Hue" userId="af176dfe-ebe0-47e4-99a4-e0f4d40f7313" providerId="ADAL" clId="{264C83AA-283C-D342-9895-92F40AF91AE0}" dt="2022-10-03T17:19:15.893" v="226"/>
        <pc:sldMkLst>
          <pc:docMk/>
          <pc:sldMk cId="3388174673" sldId="300"/>
        </pc:sldMkLst>
      </pc:sldChg>
      <pc:sldChg chg="add del">
        <pc:chgData name="Ta Thi Kim Hue" userId="af176dfe-ebe0-47e4-99a4-e0f4d40f7313" providerId="ADAL" clId="{264C83AA-283C-D342-9895-92F40AF91AE0}" dt="2022-10-03T17:19:15.893" v="226"/>
        <pc:sldMkLst>
          <pc:docMk/>
          <pc:sldMk cId="3824410857" sldId="305"/>
        </pc:sldMkLst>
      </pc:sldChg>
      <pc:sldChg chg="add del">
        <pc:chgData name="Ta Thi Kim Hue" userId="af176dfe-ebe0-47e4-99a4-e0f4d40f7313" providerId="ADAL" clId="{264C83AA-283C-D342-9895-92F40AF91AE0}" dt="2022-10-03T17:19:15.893" v="226"/>
        <pc:sldMkLst>
          <pc:docMk/>
          <pc:sldMk cId="1380352959" sldId="306"/>
        </pc:sldMkLst>
      </pc:sldChg>
      <pc:sldChg chg="add del">
        <pc:chgData name="Ta Thi Kim Hue" userId="af176dfe-ebe0-47e4-99a4-e0f4d40f7313" providerId="ADAL" clId="{264C83AA-283C-D342-9895-92F40AF91AE0}" dt="2022-10-03T17:19:15.893" v="226"/>
        <pc:sldMkLst>
          <pc:docMk/>
          <pc:sldMk cId="3670111722" sldId="307"/>
        </pc:sldMkLst>
      </pc:sldChg>
      <pc:sldChg chg="add del">
        <pc:chgData name="Ta Thi Kim Hue" userId="af176dfe-ebe0-47e4-99a4-e0f4d40f7313" providerId="ADAL" clId="{264C83AA-283C-D342-9895-92F40AF91AE0}" dt="2022-10-03T17:19:15.893" v="226"/>
        <pc:sldMkLst>
          <pc:docMk/>
          <pc:sldMk cId="0" sldId="308"/>
        </pc:sldMkLst>
      </pc:sldChg>
      <pc:sldChg chg="add del">
        <pc:chgData name="Ta Thi Kim Hue" userId="af176dfe-ebe0-47e4-99a4-e0f4d40f7313" providerId="ADAL" clId="{264C83AA-283C-D342-9895-92F40AF91AE0}" dt="2022-10-03T17:19:15.893" v="226"/>
        <pc:sldMkLst>
          <pc:docMk/>
          <pc:sldMk cId="797568543" sldId="369"/>
        </pc:sldMkLst>
      </pc:sldChg>
      <pc:sldChg chg="add del">
        <pc:chgData name="Ta Thi Kim Hue" userId="af176dfe-ebe0-47e4-99a4-e0f4d40f7313" providerId="ADAL" clId="{264C83AA-283C-D342-9895-92F40AF91AE0}" dt="2022-10-03T17:19:15.893" v="226"/>
        <pc:sldMkLst>
          <pc:docMk/>
          <pc:sldMk cId="14669266" sldId="370"/>
        </pc:sldMkLst>
      </pc:sldChg>
      <pc:sldChg chg="add del">
        <pc:chgData name="Ta Thi Kim Hue" userId="af176dfe-ebe0-47e4-99a4-e0f4d40f7313" providerId="ADAL" clId="{264C83AA-283C-D342-9895-92F40AF91AE0}" dt="2022-10-03T17:19:15.893" v="226"/>
        <pc:sldMkLst>
          <pc:docMk/>
          <pc:sldMk cId="2691938231" sldId="382"/>
        </pc:sldMkLst>
      </pc:sldChg>
      <pc:sldChg chg="add del">
        <pc:chgData name="Ta Thi Kim Hue" userId="af176dfe-ebe0-47e4-99a4-e0f4d40f7313" providerId="ADAL" clId="{264C83AA-283C-D342-9895-92F40AF91AE0}" dt="2022-10-03T17:19:15.893" v="226"/>
        <pc:sldMkLst>
          <pc:docMk/>
          <pc:sldMk cId="3547858971" sldId="383"/>
        </pc:sldMkLst>
      </pc:sldChg>
      <pc:sldChg chg="add del">
        <pc:chgData name="Ta Thi Kim Hue" userId="af176dfe-ebe0-47e4-99a4-e0f4d40f7313" providerId="ADAL" clId="{264C83AA-283C-D342-9895-92F40AF91AE0}" dt="2022-10-03T17:19:15.893" v="226"/>
        <pc:sldMkLst>
          <pc:docMk/>
          <pc:sldMk cId="349635482" sldId="384"/>
        </pc:sldMkLst>
      </pc:sldChg>
      <pc:sldChg chg="add del">
        <pc:chgData name="Ta Thi Kim Hue" userId="af176dfe-ebe0-47e4-99a4-e0f4d40f7313" providerId="ADAL" clId="{264C83AA-283C-D342-9895-92F40AF91AE0}" dt="2022-10-03T17:19:15.893" v="226"/>
        <pc:sldMkLst>
          <pc:docMk/>
          <pc:sldMk cId="3910591289" sldId="386"/>
        </pc:sldMkLst>
      </pc:sldChg>
      <pc:sldChg chg="modSp add del">
        <pc:chgData name="Ta Thi Kim Hue" userId="af176dfe-ebe0-47e4-99a4-e0f4d40f7313" providerId="ADAL" clId="{264C83AA-283C-D342-9895-92F40AF91AE0}" dt="2022-10-03T17:19:15.893" v="226"/>
        <pc:sldMkLst>
          <pc:docMk/>
          <pc:sldMk cId="4286006662" sldId="387"/>
        </pc:sldMkLst>
        <pc:spChg chg="mod">
          <ac:chgData name="Ta Thi Kim Hue" userId="af176dfe-ebe0-47e4-99a4-e0f4d40f7313" providerId="ADAL" clId="{264C83AA-283C-D342-9895-92F40AF91AE0}" dt="2022-10-03T17:19:12.962" v="216"/>
          <ac:spMkLst>
            <pc:docMk/>
            <pc:sldMk cId="4286006662" sldId="387"/>
            <ac:spMk id="2" creationId="{00000000-0000-0000-0000-000000000000}"/>
          </ac:spMkLst>
        </pc:spChg>
      </pc:sldChg>
      <pc:sldChg chg="add del">
        <pc:chgData name="Ta Thi Kim Hue" userId="af176dfe-ebe0-47e4-99a4-e0f4d40f7313" providerId="ADAL" clId="{264C83AA-283C-D342-9895-92F40AF91AE0}" dt="2022-10-03T17:19:15.893" v="226"/>
        <pc:sldMkLst>
          <pc:docMk/>
          <pc:sldMk cId="3286042638" sldId="389"/>
        </pc:sldMkLst>
      </pc:sldChg>
      <pc:sldChg chg="add del">
        <pc:chgData name="Ta Thi Kim Hue" userId="af176dfe-ebe0-47e4-99a4-e0f4d40f7313" providerId="ADAL" clId="{264C83AA-283C-D342-9895-92F40AF91AE0}" dt="2022-10-03T17:19:15.893" v="226"/>
        <pc:sldMkLst>
          <pc:docMk/>
          <pc:sldMk cId="612275083" sldId="390"/>
        </pc:sldMkLst>
      </pc:sldChg>
      <pc:sldChg chg="modSp add del mod">
        <pc:chgData name="Ta Thi Kim Hue" userId="af176dfe-ebe0-47e4-99a4-e0f4d40f7313" providerId="ADAL" clId="{264C83AA-283C-D342-9895-92F40AF91AE0}" dt="2022-10-03T17:19:15.893" v="226"/>
        <pc:sldMkLst>
          <pc:docMk/>
          <pc:sldMk cId="21265923" sldId="391"/>
        </pc:sldMkLst>
        <pc:spChg chg="mod">
          <ac:chgData name="Ta Thi Kim Hue" userId="af176dfe-ebe0-47e4-99a4-e0f4d40f7313" providerId="ADAL" clId="{264C83AA-283C-D342-9895-92F40AF91AE0}" dt="2022-10-03T17:19:15.893" v="226"/>
          <ac:spMkLst>
            <pc:docMk/>
            <pc:sldMk cId="21265923" sldId="391"/>
            <ac:spMk id="2" creationId="{00000000-0000-0000-0000-000000000000}"/>
          </ac:spMkLst>
        </pc:spChg>
      </pc:sldChg>
      <pc:sldChg chg="modSp add del mod">
        <pc:chgData name="Ta Thi Kim Hue" userId="af176dfe-ebe0-47e4-99a4-e0f4d40f7313" providerId="ADAL" clId="{264C83AA-283C-D342-9895-92F40AF91AE0}" dt="2022-10-03T17:19:15.893" v="226"/>
        <pc:sldMkLst>
          <pc:docMk/>
          <pc:sldMk cId="2113586393" sldId="392"/>
        </pc:sldMkLst>
        <pc:spChg chg="mod">
          <ac:chgData name="Ta Thi Kim Hue" userId="af176dfe-ebe0-47e4-99a4-e0f4d40f7313" providerId="ADAL" clId="{264C83AA-283C-D342-9895-92F40AF91AE0}" dt="2022-10-03T17:19:15.893" v="226"/>
          <ac:spMkLst>
            <pc:docMk/>
            <pc:sldMk cId="2113586393" sldId="392"/>
            <ac:spMk id="2" creationId="{00000000-0000-0000-0000-000000000000}"/>
          </ac:spMkLst>
        </pc:spChg>
      </pc:sldChg>
      <pc:sldChg chg="add del">
        <pc:chgData name="Ta Thi Kim Hue" userId="af176dfe-ebe0-47e4-99a4-e0f4d40f7313" providerId="ADAL" clId="{264C83AA-283C-D342-9895-92F40AF91AE0}" dt="2022-10-03T17:19:15.893" v="226"/>
        <pc:sldMkLst>
          <pc:docMk/>
          <pc:sldMk cId="586158768" sldId="393"/>
        </pc:sldMkLst>
      </pc:sldChg>
      <pc:sldChg chg="add del">
        <pc:chgData name="Ta Thi Kim Hue" userId="af176dfe-ebe0-47e4-99a4-e0f4d40f7313" providerId="ADAL" clId="{264C83AA-283C-D342-9895-92F40AF91AE0}" dt="2022-10-03T17:19:15.893" v="226"/>
        <pc:sldMkLst>
          <pc:docMk/>
          <pc:sldMk cId="3565284658" sldId="394"/>
        </pc:sldMkLst>
      </pc:sldChg>
      <pc:sldChg chg="add del">
        <pc:chgData name="Ta Thi Kim Hue" userId="af176dfe-ebe0-47e4-99a4-e0f4d40f7313" providerId="ADAL" clId="{264C83AA-283C-D342-9895-92F40AF91AE0}" dt="2022-10-03T17:19:15.893" v="226"/>
        <pc:sldMkLst>
          <pc:docMk/>
          <pc:sldMk cId="1182829692" sldId="395"/>
        </pc:sldMkLst>
      </pc:sldChg>
      <pc:sldChg chg="add del">
        <pc:chgData name="Ta Thi Kim Hue" userId="af176dfe-ebe0-47e4-99a4-e0f4d40f7313" providerId="ADAL" clId="{264C83AA-283C-D342-9895-92F40AF91AE0}" dt="2022-10-03T17:19:15.893" v="226"/>
        <pc:sldMkLst>
          <pc:docMk/>
          <pc:sldMk cId="2452740296" sldId="396"/>
        </pc:sldMkLst>
      </pc:sldChg>
      <pc:sldChg chg="modSp add del mod">
        <pc:chgData name="Ta Thi Kim Hue" userId="af176dfe-ebe0-47e4-99a4-e0f4d40f7313" providerId="ADAL" clId="{264C83AA-283C-D342-9895-92F40AF91AE0}" dt="2022-10-03T17:19:15.893" v="226"/>
        <pc:sldMkLst>
          <pc:docMk/>
          <pc:sldMk cId="3376026375" sldId="397"/>
        </pc:sldMkLst>
        <pc:spChg chg="mod">
          <ac:chgData name="Ta Thi Kim Hue" userId="af176dfe-ebe0-47e4-99a4-e0f4d40f7313" providerId="ADAL" clId="{264C83AA-283C-D342-9895-92F40AF91AE0}" dt="2022-10-03T17:19:15.893" v="226"/>
          <ac:spMkLst>
            <pc:docMk/>
            <pc:sldMk cId="3376026375" sldId="397"/>
            <ac:spMk id="8196" creationId="{00000000-0000-0000-0000-000000000000}"/>
          </ac:spMkLst>
        </pc:spChg>
        <pc:spChg chg="mod">
          <ac:chgData name="Ta Thi Kim Hue" userId="af176dfe-ebe0-47e4-99a4-e0f4d40f7313" providerId="ADAL" clId="{264C83AA-283C-D342-9895-92F40AF91AE0}" dt="2022-10-03T17:19:15.893" v="226"/>
          <ac:spMkLst>
            <pc:docMk/>
            <pc:sldMk cId="3376026375" sldId="397"/>
            <ac:spMk id="31747" creationId="{00000000-0000-0000-0000-000000000000}"/>
          </ac:spMkLst>
        </pc:spChg>
      </pc:sldChg>
      <pc:sldChg chg="add del">
        <pc:chgData name="Ta Thi Kim Hue" userId="af176dfe-ebe0-47e4-99a4-e0f4d40f7313" providerId="ADAL" clId="{264C83AA-283C-D342-9895-92F40AF91AE0}" dt="2022-10-03T17:19:15.893" v="226"/>
        <pc:sldMkLst>
          <pc:docMk/>
          <pc:sldMk cId="4066310507" sldId="398"/>
        </pc:sldMkLst>
      </pc:sldChg>
      <pc:sldChg chg="add del">
        <pc:chgData name="Ta Thi Kim Hue" userId="af176dfe-ebe0-47e4-99a4-e0f4d40f7313" providerId="ADAL" clId="{264C83AA-283C-D342-9895-92F40AF91AE0}" dt="2022-10-03T17:19:15.893" v="226"/>
        <pc:sldMkLst>
          <pc:docMk/>
          <pc:sldMk cId="1205019817" sldId="402"/>
        </pc:sldMkLst>
      </pc:sldChg>
      <pc:sldChg chg="modSp add del mod">
        <pc:chgData name="Ta Thi Kim Hue" userId="af176dfe-ebe0-47e4-99a4-e0f4d40f7313" providerId="ADAL" clId="{264C83AA-283C-D342-9895-92F40AF91AE0}" dt="2022-10-03T17:19:15.893" v="226"/>
        <pc:sldMkLst>
          <pc:docMk/>
          <pc:sldMk cId="2623318352" sldId="403"/>
        </pc:sldMkLst>
        <pc:spChg chg="mod">
          <ac:chgData name="Ta Thi Kim Hue" userId="af176dfe-ebe0-47e4-99a4-e0f4d40f7313" providerId="ADAL" clId="{264C83AA-283C-D342-9895-92F40AF91AE0}" dt="2022-10-03T17:19:15.893" v="226"/>
          <ac:spMkLst>
            <pc:docMk/>
            <pc:sldMk cId="2623318352" sldId="403"/>
            <ac:spMk id="3" creationId="{00000000-0000-0000-0000-000000000000}"/>
          </ac:spMkLst>
        </pc:spChg>
      </pc:sldChg>
      <pc:sldChg chg="add del">
        <pc:chgData name="Ta Thi Kim Hue" userId="af176dfe-ebe0-47e4-99a4-e0f4d40f7313" providerId="ADAL" clId="{264C83AA-283C-D342-9895-92F40AF91AE0}" dt="2022-10-03T17:19:15.893" v="226"/>
        <pc:sldMkLst>
          <pc:docMk/>
          <pc:sldMk cId="1551701239" sldId="404"/>
        </pc:sldMkLst>
      </pc:sldChg>
      <pc:sldChg chg="modSp add del mod">
        <pc:chgData name="Ta Thi Kim Hue" userId="af176dfe-ebe0-47e4-99a4-e0f4d40f7313" providerId="ADAL" clId="{264C83AA-283C-D342-9895-92F40AF91AE0}" dt="2022-10-03T17:19:15.893" v="226"/>
        <pc:sldMkLst>
          <pc:docMk/>
          <pc:sldMk cId="201196844" sldId="407"/>
        </pc:sldMkLst>
        <pc:spChg chg="mod">
          <ac:chgData name="Ta Thi Kim Hue" userId="af176dfe-ebe0-47e4-99a4-e0f4d40f7313" providerId="ADAL" clId="{264C83AA-283C-D342-9895-92F40AF91AE0}" dt="2022-10-03T17:19:15.893" v="226"/>
          <ac:spMkLst>
            <pc:docMk/>
            <pc:sldMk cId="201196844" sldId="407"/>
            <ac:spMk id="3" creationId="{00000000-0000-0000-0000-000000000000}"/>
          </ac:spMkLst>
        </pc:spChg>
      </pc:sldChg>
      <pc:sldChg chg="modSp add del mod">
        <pc:chgData name="Ta Thi Kim Hue" userId="af176dfe-ebe0-47e4-99a4-e0f4d40f7313" providerId="ADAL" clId="{264C83AA-283C-D342-9895-92F40AF91AE0}" dt="2022-10-03T17:19:15.893" v="226"/>
        <pc:sldMkLst>
          <pc:docMk/>
          <pc:sldMk cId="1951456656" sldId="409"/>
        </pc:sldMkLst>
        <pc:spChg chg="mod">
          <ac:chgData name="Ta Thi Kim Hue" userId="af176dfe-ebe0-47e4-99a4-e0f4d40f7313" providerId="ADAL" clId="{264C83AA-283C-D342-9895-92F40AF91AE0}" dt="2022-10-03T17:19:15.893" v="226"/>
          <ac:spMkLst>
            <pc:docMk/>
            <pc:sldMk cId="1951456656" sldId="409"/>
            <ac:spMk id="3" creationId="{00000000-0000-0000-0000-000000000000}"/>
          </ac:spMkLst>
        </pc:spChg>
      </pc:sldChg>
      <pc:sldChg chg="add del">
        <pc:chgData name="Ta Thi Kim Hue" userId="af176dfe-ebe0-47e4-99a4-e0f4d40f7313" providerId="ADAL" clId="{264C83AA-283C-D342-9895-92F40AF91AE0}" dt="2022-10-03T17:19:15.893" v="226"/>
        <pc:sldMkLst>
          <pc:docMk/>
          <pc:sldMk cId="1116260510" sldId="445"/>
        </pc:sldMkLst>
      </pc:sldChg>
      <pc:sldChg chg="add del">
        <pc:chgData name="Ta Thi Kim Hue" userId="af176dfe-ebe0-47e4-99a4-e0f4d40f7313" providerId="ADAL" clId="{264C83AA-283C-D342-9895-92F40AF91AE0}" dt="2022-10-03T17:19:15.893" v="226"/>
        <pc:sldMkLst>
          <pc:docMk/>
          <pc:sldMk cId="2880678901" sldId="446"/>
        </pc:sldMkLst>
      </pc:sldChg>
      <pc:sldChg chg="add del">
        <pc:chgData name="Ta Thi Kim Hue" userId="af176dfe-ebe0-47e4-99a4-e0f4d40f7313" providerId="ADAL" clId="{264C83AA-283C-D342-9895-92F40AF91AE0}" dt="2022-10-03T17:19:15.893" v="226"/>
        <pc:sldMkLst>
          <pc:docMk/>
          <pc:sldMk cId="3821036190" sldId="447"/>
        </pc:sldMkLst>
      </pc:sldChg>
      <pc:sldChg chg="add del">
        <pc:chgData name="Ta Thi Kim Hue" userId="af176dfe-ebe0-47e4-99a4-e0f4d40f7313" providerId="ADAL" clId="{264C83AA-283C-D342-9895-92F40AF91AE0}" dt="2022-10-03T17:19:15.893" v="226"/>
        <pc:sldMkLst>
          <pc:docMk/>
          <pc:sldMk cId="3527079919" sldId="448"/>
        </pc:sldMkLst>
      </pc:sldChg>
      <pc:sldChg chg="add del">
        <pc:chgData name="Ta Thi Kim Hue" userId="af176dfe-ebe0-47e4-99a4-e0f4d40f7313" providerId="ADAL" clId="{264C83AA-283C-D342-9895-92F40AF91AE0}" dt="2022-10-03T17:19:15.893" v="226"/>
        <pc:sldMkLst>
          <pc:docMk/>
          <pc:sldMk cId="2622715269" sldId="449"/>
        </pc:sldMkLst>
      </pc:sldChg>
      <pc:sldChg chg="add del">
        <pc:chgData name="Ta Thi Kim Hue" userId="af176dfe-ebe0-47e4-99a4-e0f4d40f7313" providerId="ADAL" clId="{264C83AA-283C-D342-9895-92F40AF91AE0}" dt="2022-10-03T17:19:15.893" v="226"/>
        <pc:sldMkLst>
          <pc:docMk/>
          <pc:sldMk cId="3540211018" sldId="450"/>
        </pc:sldMkLst>
      </pc:sldChg>
      <pc:sldChg chg="add del">
        <pc:chgData name="Ta Thi Kim Hue" userId="af176dfe-ebe0-47e4-99a4-e0f4d40f7313" providerId="ADAL" clId="{264C83AA-283C-D342-9895-92F40AF91AE0}" dt="2022-10-03T17:19:15.893" v="226"/>
        <pc:sldMkLst>
          <pc:docMk/>
          <pc:sldMk cId="1839962129" sldId="451"/>
        </pc:sldMkLst>
      </pc:sldChg>
      <pc:sldChg chg="add del">
        <pc:chgData name="Ta Thi Kim Hue" userId="af176dfe-ebe0-47e4-99a4-e0f4d40f7313" providerId="ADAL" clId="{264C83AA-283C-D342-9895-92F40AF91AE0}" dt="2022-10-03T17:19:15.893" v="226"/>
        <pc:sldMkLst>
          <pc:docMk/>
          <pc:sldMk cId="1253696549" sldId="452"/>
        </pc:sldMkLst>
      </pc:sldChg>
      <pc:sldChg chg="modSp add del mod">
        <pc:chgData name="Ta Thi Kim Hue" userId="af176dfe-ebe0-47e4-99a4-e0f4d40f7313" providerId="ADAL" clId="{264C83AA-283C-D342-9895-92F40AF91AE0}" dt="2022-10-03T17:19:15.893" v="226"/>
        <pc:sldMkLst>
          <pc:docMk/>
          <pc:sldMk cId="2165312837" sldId="456"/>
        </pc:sldMkLst>
        <pc:spChg chg="mod">
          <ac:chgData name="Ta Thi Kim Hue" userId="af176dfe-ebe0-47e4-99a4-e0f4d40f7313" providerId="ADAL" clId="{264C83AA-283C-D342-9895-92F40AF91AE0}" dt="2022-10-03T17:19:15.893" v="226"/>
          <ac:spMkLst>
            <pc:docMk/>
            <pc:sldMk cId="2165312837" sldId="456"/>
            <ac:spMk id="2" creationId="{1CF7B67F-5525-5B40-8B68-6A57BC58E09A}"/>
          </ac:spMkLst>
        </pc:spChg>
      </pc:sldChg>
      <pc:sldChg chg="add del">
        <pc:chgData name="Ta Thi Kim Hue" userId="af176dfe-ebe0-47e4-99a4-e0f4d40f7313" providerId="ADAL" clId="{264C83AA-283C-D342-9895-92F40AF91AE0}" dt="2022-10-03T17:19:15.893" v="226"/>
        <pc:sldMkLst>
          <pc:docMk/>
          <pc:sldMk cId="3500639666" sldId="459"/>
        </pc:sldMkLst>
      </pc:sldChg>
      <pc:sldChg chg="add del">
        <pc:chgData name="Ta Thi Kim Hue" userId="af176dfe-ebe0-47e4-99a4-e0f4d40f7313" providerId="ADAL" clId="{264C83AA-283C-D342-9895-92F40AF91AE0}" dt="2022-10-03T17:19:15.893" v="226"/>
        <pc:sldMkLst>
          <pc:docMk/>
          <pc:sldMk cId="2825552731" sldId="460"/>
        </pc:sldMkLst>
      </pc:sldChg>
      <pc:sldChg chg="add del">
        <pc:chgData name="Ta Thi Kim Hue" userId="af176dfe-ebe0-47e4-99a4-e0f4d40f7313" providerId="ADAL" clId="{264C83AA-283C-D342-9895-92F40AF91AE0}" dt="2022-10-03T17:19:15.893" v="226"/>
        <pc:sldMkLst>
          <pc:docMk/>
          <pc:sldMk cId="4093278628" sldId="461"/>
        </pc:sldMkLst>
      </pc:sldChg>
      <pc:sldChg chg="add del">
        <pc:chgData name="Ta Thi Kim Hue" userId="af176dfe-ebe0-47e4-99a4-e0f4d40f7313" providerId="ADAL" clId="{264C83AA-283C-D342-9895-92F40AF91AE0}" dt="2022-10-03T17:19:15.893" v="226"/>
        <pc:sldMkLst>
          <pc:docMk/>
          <pc:sldMk cId="1744569391" sldId="462"/>
        </pc:sldMkLst>
      </pc:sldChg>
      <pc:sldChg chg="add del">
        <pc:chgData name="Ta Thi Kim Hue" userId="af176dfe-ebe0-47e4-99a4-e0f4d40f7313" providerId="ADAL" clId="{264C83AA-283C-D342-9895-92F40AF91AE0}" dt="2022-10-03T17:19:15.893" v="226"/>
        <pc:sldMkLst>
          <pc:docMk/>
          <pc:sldMk cId="255274137" sldId="463"/>
        </pc:sldMkLst>
      </pc:sldChg>
      <pc:sldChg chg="modSp add del">
        <pc:chgData name="Ta Thi Kim Hue" userId="af176dfe-ebe0-47e4-99a4-e0f4d40f7313" providerId="ADAL" clId="{264C83AA-283C-D342-9895-92F40AF91AE0}" dt="2022-10-03T17:19:15.893" v="226"/>
        <pc:sldMkLst>
          <pc:docMk/>
          <pc:sldMk cId="0" sldId="464"/>
        </pc:sldMkLst>
        <pc:spChg chg="mod">
          <ac:chgData name="Ta Thi Kim Hue" userId="af176dfe-ebe0-47e4-99a4-e0f4d40f7313" providerId="ADAL" clId="{264C83AA-283C-D342-9895-92F40AF91AE0}" dt="2022-10-03T17:19:12.962" v="216"/>
          <ac:spMkLst>
            <pc:docMk/>
            <pc:sldMk cId="0" sldId="464"/>
            <ac:spMk id="23" creationId="{00000000-0000-0000-0000-000000000000}"/>
          </ac:spMkLst>
        </pc:spChg>
      </pc:sldChg>
      <pc:sldChg chg="add del">
        <pc:chgData name="Ta Thi Kim Hue" userId="af176dfe-ebe0-47e4-99a4-e0f4d40f7313" providerId="ADAL" clId="{264C83AA-283C-D342-9895-92F40AF91AE0}" dt="2022-10-03T17:19:15.893" v="226"/>
        <pc:sldMkLst>
          <pc:docMk/>
          <pc:sldMk cId="0" sldId="465"/>
        </pc:sldMkLst>
      </pc:sldChg>
      <pc:sldChg chg="add del">
        <pc:chgData name="Ta Thi Kim Hue" userId="af176dfe-ebe0-47e4-99a4-e0f4d40f7313" providerId="ADAL" clId="{264C83AA-283C-D342-9895-92F40AF91AE0}" dt="2022-10-03T17:19:15.893" v="226"/>
        <pc:sldMkLst>
          <pc:docMk/>
          <pc:sldMk cId="1789546242" sldId="466"/>
        </pc:sldMkLst>
      </pc:sldChg>
      <pc:sldChg chg="add del">
        <pc:chgData name="Ta Thi Kim Hue" userId="af176dfe-ebe0-47e4-99a4-e0f4d40f7313" providerId="ADAL" clId="{264C83AA-283C-D342-9895-92F40AF91AE0}" dt="2022-10-03T17:19:15.893" v="226"/>
        <pc:sldMkLst>
          <pc:docMk/>
          <pc:sldMk cId="2997619395" sldId="467"/>
        </pc:sldMkLst>
      </pc:sldChg>
      <pc:sldMasterChg chg="delSldLayout">
        <pc:chgData name="Ta Thi Kim Hue" userId="af176dfe-ebe0-47e4-99a4-e0f4d40f7313" providerId="ADAL" clId="{264C83AA-283C-D342-9895-92F40AF91AE0}" dt="2022-10-03T17:18:29.436" v="204" actId="2696"/>
        <pc:sldMasterMkLst>
          <pc:docMk/>
          <pc:sldMasterMk cId="2819895280" sldId="2147483658"/>
        </pc:sldMasterMkLst>
        <pc:sldLayoutChg chg="del">
          <pc:chgData name="Ta Thi Kim Hue" userId="af176dfe-ebe0-47e4-99a4-e0f4d40f7313" providerId="ADAL" clId="{264C83AA-283C-D342-9895-92F40AF91AE0}" dt="2022-10-03T17:18:29.436" v="204" actId="2696"/>
          <pc:sldLayoutMkLst>
            <pc:docMk/>
            <pc:sldMasterMk cId="2819895280" sldId="2147483658"/>
            <pc:sldLayoutMk cId="678804056" sldId="21474836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2/11/23</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traceFormat>
        <inkml:channelProperties>
          <inkml:channelProperty channel="X" name="resolution" value="28.34995" units="1/cm"/>
          <inkml:channelProperty channel="Y" name="resolution" value="28.36879" units="1/cm"/>
        </inkml:channelProperties>
      </inkml:inkSource>
      <inkml:timestamp xml:id="ts0" timeString="2010-11-03T01:15:33.911"/>
    </inkml:context>
    <inkml:brush xml:id="br0">
      <inkml:brushProperty name="width" value="0.05292" units="cm"/>
      <inkml:brushProperty name="height" value="0.05292" units="cm"/>
      <inkml:brushProperty name="color" value="#FF0000"/>
    </inkml:brush>
  </inkml:definitions>
  <inkml:trace contextRef="#ctx0" brushRef="#br0">4723 1509</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traceFormat>
        <inkml:channelProperties>
          <inkml:channelProperty channel="X" name="resolution" value="28.34995" units="1/cm"/>
          <inkml:channelProperty channel="Y" name="resolution" value="28.36879" units="1/cm"/>
        </inkml:channelProperties>
      </inkml:inkSource>
      <inkml:timestamp xml:id="ts0" timeString="2010-11-03T01:15:33.911"/>
    </inkml:context>
    <inkml:brush xml:id="br0">
      <inkml:brushProperty name="width" value="0.05292" units="cm"/>
      <inkml:brushProperty name="height" value="0.05292" units="cm"/>
      <inkml:brushProperty name="color" value="#FF0000"/>
    </inkml:brush>
  </inkml:definitions>
  <inkml:trace contextRef="#ctx0" brushRef="#br0">4723 1509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2/11/23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1</a:t>
            </a:fld>
            <a:endParaRPr lang="en-US"/>
          </a:p>
        </p:txBody>
      </p:sp>
    </p:spTree>
    <p:extLst>
      <p:ext uri="{BB962C8B-B14F-4D97-AF65-F5344CB8AC3E}">
        <p14:creationId xmlns:p14="http://schemas.microsoft.com/office/powerpoint/2010/main" val="1876465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a:t>
            </a:fld>
            <a:endParaRPr lang="en-US" dirty="0"/>
          </a:p>
        </p:txBody>
      </p:sp>
    </p:spTree>
    <p:extLst>
      <p:ext uri="{BB962C8B-B14F-4D97-AF65-F5344CB8AC3E}">
        <p14:creationId xmlns:p14="http://schemas.microsoft.com/office/powerpoint/2010/main" val="1815311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a:t>
            </a:r>
            <a:r>
              <a:rPr lang="en-US" baseline="0" dirty="0"/>
              <a:t> two functions</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10</a:t>
            </a:fld>
            <a:endParaRPr lang="en-US" dirty="0"/>
          </a:p>
        </p:txBody>
      </p:sp>
    </p:spTree>
    <p:extLst>
      <p:ext uri="{BB962C8B-B14F-4D97-AF65-F5344CB8AC3E}">
        <p14:creationId xmlns:p14="http://schemas.microsoft.com/office/powerpoint/2010/main" val="3000366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four functions</a:t>
            </a:r>
          </a:p>
        </p:txBody>
      </p:sp>
      <p:sp>
        <p:nvSpPr>
          <p:cNvPr id="4" name="Slide Number Placeholder 3"/>
          <p:cNvSpPr>
            <a:spLocks noGrp="1"/>
          </p:cNvSpPr>
          <p:nvPr>
            <p:ph type="sldNum" sz="quarter" idx="10"/>
          </p:nvPr>
        </p:nvSpPr>
        <p:spPr/>
        <p:txBody>
          <a:bodyPr/>
          <a:lstStyle/>
          <a:p>
            <a:fld id="{8FF38DAD-5F37-4EA5-A798-26ED1E453939}" type="slidenum">
              <a:rPr lang="en-US" smtClean="0"/>
              <a:pPr/>
              <a:t>11</a:t>
            </a:fld>
            <a:endParaRPr lang="en-US" dirty="0"/>
          </a:p>
        </p:txBody>
      </p:sp>
    </p:spTree>
    <p:extLst>
      <p:ext uri="{BB962C8B-B14F-4D97-AF65-F5344CB8AC3E}">
        <p14:creationId xmlns:p14="http://schemas.microsoft.com/office/powerpoint/2010/main" val="442406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12</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832AE2-2851-45C7-B7B4-7FBA8042E9BD}" type="slidenum">
              <a:rPr lang="en-US"/>
              <a:pPr/>
              <a:t>13</a:t>
            </a:fld>
            <a:endParaRPr lang="en-US"/>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r>
              <a:rPr lang="en-US" dirty="0"/>
              <a:t>Today:   we build ciphers that are semantically secure against one-time use</a:t>
            </a:r>
          </a:p>
          <a:p>
            <a:r>
              <a:rPr lang="en-US" dirty="0"/>
              <a:t>And ciphers that are semantically secure against many-time use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this segment we will see how</a:t>
            </a:r>
            <a:r>
              <a:rPr lang="en-US" baseline="0" dirty="0"/>
              <a:t> to use block ciphers encrypt multiple messages using the same key.   This comes up in real life, for example in file systems where the same key is used to encrypt multiple files or in networking protocols like </a:t>
            </a:r>
            <a:r>
              <a:rPr lang="en-US" baseline="0" dirty="0" err="1"/>
              <a:t>Ipsec</a:t>
            </a:r>
            <a:r>
              <a:rPr lang="en-US" baseline="0" dirty="0"/>
              <a:t> where the same key is used to encryption multiple packets.   So let’s see how to do it.   The first thing we need to do is to define what security when encrypting multiple messages with the same key.</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18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ciphers </a:t>
            </a:r>
            <a:r>
              <a:rPr lang="en-US"/>
              <a:t>like RC4, DETCTR</a:t>
            </a:r>
            <a:r>
              <a:rPr lang="en-US" baseline="0"/>
              <a:t> </a:t>
            </a:r>
            <a:r>
              <a:rPr lang="en-US" baseline="0" dirty="0"/>
              <a:t>are not CPA secure</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22</a:t>
            </a:fld>
            <a:endParaRPr lang="en-US" dirty="0"/>
          </a:p>
        </p:txBody>
      </p:sp>
    </p:spTree>
    <p:extLst>
      <p:ext uri="{BB962C8B-B14F-4D97-AF65-F5344CB8AC3E}">
        <p14:creationId xmlns:p14="http://schemas.microsoft.com/office/powerpoint/2010/main" val="16287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ciphers </a:t>
            </a:r>
            <a:r>
              <a:rPr lang="en-US"/>
              <a:t>like RC4, DETCTR</a:t>
            </a:r>
            <a:r>
              <a:rPr lang="en-US" baseline="0"/>
              <a:t> </a:t>
            </a:r>
            <a:r>
              <a:rPr lang="en-US" baseline="0" dirty="0"/>
              <a:t>are not CPA secure</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23</a:t>
            </a:fld>
            <a:endParaRPr lang="en-US" dirty="0"/>
          </a:p>
        </p:txBody>
      </p:sp>
    </p:spTree>
    <p:extLst>
      <p:ext uri="{BB962C8B-B14F-4D97-AF65-F5344CB8AC3E}">
        <p14:creationId xmlns:p14="http://schemas.microsoft.com/office/powerpoint/2010/main" val="16287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a:t>
            </a:r>
            <a:r>
              <a:rPr lang="en-US" baseline="0" dirty="0"/>
              <a:t> picture where two messages map to two disjoint </a:t>
            </a:r>
            <a:r>
              <a:rPr lang="en-US" baseline="0" dirty="0" err="1"/>
              <a:t>ciphertext</a:t>
            </a:r>
            <a:r>
              <a:rPr lang="en-US" baseline="0" dirty="0"/>
              <a:t> clouds.  Each cloud maps to original message.</a:t>
            </a:r>
          </a:p>
          <a:p>
            <a:r>
              <a:rPr lang="en-US" baseline="0" dirty="0"/>
              <a:t>Encrypting same message twice results in different </a:t>
            </a:r>
            <a:r>
              <a:rPr lang="en-US" baseline="0" dirty="0" err="1"/>
              <a:t>ciphertexts</a:t>
            </a:r>
            <a:r>
              <a:rPr lang="en-US" baseline="0" dirty="0"/>
              <a:t>. </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24</a:t>
            </a:fld>
            <a:endParaRPr lang="en-US" dirty="0"/>
          </a:p>
        </p:txBody>
      </p:sp>
    </p:spTree>
    <p:extLst>
      <p:ext uri="{BB962C8B-B14F-4D97-AF65-F5344CB8AC3E}">
        <p14:creationId xmlns:p14="http://schemas.microsoft.com/office/powerpoint/2010/main" val="304034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File encryption:   random nonce,  no state from file to file</a:t>
            </a:r>
          </a:p>
          <a:p>
            <a:r>
              <a:rPr lang="en-US" dirty="0"/>
              <a:t>SSL</a:t>
            </a:r>
            <a:r>
              <a:rPr lang="en-US" baseline="0" dirty="0"/>
              <a:t> </a:t>
            </a:r>
            <a:r>
              <a:rPr lang="en-US" baseline="0" dirty="0" err="1"/>
              <a:t>encrytpion</a:t>
            </a:r>
            <a:r>
              <a:rPr lang="en-US" baseline="0" dirty="0"/>
              <a:t> (in order delivery):  counter is fine, no need to send nonce to peer.</a:t>
            </a:r>
          </a:p>
          <a:p>
            <a:r>
              <a:rPr lang="en-US" baseline="0" dirty="0"/>
              <a:t>IP sec (out of order delivery):  counter is fine, but need to include nonce in every packet.</a:t>
            </a:r>
          </a:p>
          <a:p>
            <a:endParaRPr lang="en-US" dirty="0"/>
          </a:p>
        </p:txBody>
      </p:sp>
      <p:sp>
        <p:nvSpPr>
          <p:cNvPr id="4" name="Slide Number Placeholder 3"/>
          <p:cNvSpPr>
            <a:spLocks noGrp="1"/>
          </p:cNvSpPr>
          <p:nvPr>
            <p:ph type="sldNum" sz="quarter" idx="10"/>
          </p:nvPr>
        </p:nvSpPr>
        <p:spPr/>
        <p:txBody>
          <a:bodyPr/>
          <a:lstStyle/>
          <a:p>
            <a:fld id="{B0DEADE4-9430-487C-94A0-E37CCDC058E8}" type="slidenum">
              <a:rPr lang="en-US" smtClean="0"/>
              <a:pPr/>
              <a:t>26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a:t>
            </a:r>
            <a:r>
              <a:rPr lang="en-US" baseline="0" dirty="0"/>
              <a:t> ECB, same block in different positions gets mapped to different </a:t>
            </a:r>
            <a:r>
              <a:rPr lang="en-US" baseline="0" dirty="0" err="1"/>
              <a:t>ciphertexts</a:t>
            </a:r>
            <a:r>
              <a:rPr lang="en-US" baseline="0" dirty="0"/>
              <a:t>. </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29</a:t>
            </a:fld>
            <a:endParaRPr lang="en-US" dirty="0"/>
          </a:p>
        </p:txBody>
      </p:sp>
    </p:spTree>
    <p:extLst>
      <p:ext uri="{BB962C8B-B14F-4D97-AF65-F5344CB8AC3E}">
        <p14:creationId xmlns:p14="http://schemas.microsoft.com/office/powerpoint/2010/main" val="2152192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means non-random, but</a:t>
            </a:r>
            <a:r>
              <a:rPr lang="en-US" baseline="0" dirty="0"/>
              <a:t> unique.    Note that setting   IV = E(</a:t>
            </a:r>
            <a:r>
              <a:rPr lang="en-US" baseline="0" dirty="0" err="1"/>
              <a:t>k,nonce</a:t>
            </a:r>
            <a:r>
              <a:rPr lang="en-US" baseline="0" dirty="0"/>
              <a:t>)   is insecure.</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32</a:t>
            </a:fld>
            <a:endParaRPr lang="en-US" dirty="0"/>
          </a:p>
        </p:txBody>
      </p:sp>
    </p:spTree>
    <p:extLst>
      <p:ext uri="{BB962C8B-B14F-4D97-AF65-F5344CB8AC3E}">
        <p14:creationId xmlns:p14="http://schemas.microsoft.com/office/powerpoint/2010/main" val="733359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
            </a:r>
            <a:r>
              <a:rPr lang="en-US" dirty="0" err="1"/>
              <a:t>ciphertext</a:t>
            </a:r>
            <a:r>
              <a:rPr lang="en-US" baseline="0" dirty="0"/>
              <a:t> stealing, but not discussed here. </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34</a:t>
            </a:fld>
            <a:endParaRPr lang="en-US" dirty="0"/>
          </a:p>
        </p:txBody>
      </p:sp>
    </p:spTree>
    <p:extLst>
      <p:ext uri="{BB962C8B-B14F-4D97-AF65-F5344CB8AC3E}">
        <p14:creationId xmlns:p14="http://schemas.microsoft.com/office/powerpoint/2010/main" val="220937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message length is 2^</a:t>
            </a:r>
            <a:r>
              <a:rPr lang="en-US"/>
              <a:t>64 blocks.</a:t>
            </a:r>
          </a:p>
        </p:txBody>
      </p:sp>
      <p:sp>
        <p:nvSpPr>
          <p:cNvPr id="4" name="Slide Number Placeholder 3"/>
          <p:cNvSpPr>
            <a:spLocks noGrp="1"/>
          </p:cNvSpPr>
          <p:nvPr>
            <p:ph type="sldNum" sz="quarter" idx="10"/>
          </p:nvPr>
        </p:nvSpPr>
        <p:spPr/>
        <p:txBody>
          <a:bodyPr/>
          <a:lstStyle/>
          <a:p>
            <a:fld id="{8FF38DAD-5F37-4EA5-A798-26ED1E453939}" type="slidenum">
              <a:rPr lang="en-US" smtClean="0"/>
              <a:pPr/>
              <a:t>36</a:t>
            </a:fld>
            <a:endParaRPr lang="en-US" dirty="0"/>
          </a:p>
        </p:txBody>
      </p:sp>
    </p:spTree>
    <p:extLst>
      <p:ext uri="{BB962C8B-B14F-4D97-AF65-F5344CB8AC3E}">
        <p14:creationId xmlns:p14="http://schemas.microsoft.com/office/powerpoint/2010/main" val="2448670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2/11/23</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5DC4-1C94-9B48-9DFA-1F7502DD952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a:p>
        </p:txBody>
      </p:sp>
      <p:sp>
        <p:nvSpPr>
          <p:cNvPr id="3" name="Subtitle 2">
            <a:extLst>
              <a:ext uri="{FF2B5EF4-FFF2-40B4-BE49-F238E27FC236}">
                <a16:creationId xmlns:a16="http://schemas.microsoft.com/office/drawing/2014/main" id="{ADEB8EA0-E74D-F547-88C0-865DB215246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a:p>
        </p:txBody>
      </p:sp>
      <p:sp>
        <p:nvSpPr>
          <p:cNvPr id="4" name="Date Placeholder 3">
            <a:extLst>
              <a:ext uri="{FF2B5EF4-FFF2-40B4-BE49-F238E27FC236}">
                <a16:creationId xmlns:a16="http://schemas.microsoft.com/office/drawing/2014/main" id="{14BEE05C-F94F-A944-A7A3-959B50682EEC}"/>
              </a:ext>
            </a:extLst>
          </p:cNvPr>
          <p:cNvSpPr>
            <a:spLocks noGrp="1"/>
          </p:cNvSpPr>
          <p:nvPr>
            <p:ph type="dt" sz="half" idx="10"/>
          </p:nvPr>
        </p:nvSpPr>
        <p:spPr/>
        <p:txBody>
          <a:bodyPr/>
          <a:lstStyle/>
          <a:p>
            <a:fld id="{8C5123E4-866C-A742-A87E-F768C5674301}" type="datetimeFigureOut">
              <a:rPr lang="en-VN" smtClean="0"/>
              <a:t>11/02/2023</a:t>
            </a:fld>
            <a:endParaRPr lang="en-VN"/>
          </a:p>
        </p:txBody>
      </p:sp>
      <p:sp>
        <p:nvSpPr>
          <p:cNvPr id="5" name="Footer Placeholder 4">
            <a:extLst>
              <a:ext uri="{FF2B5EF4-FFF2-40B4-BE49-F238E27FC236}">
                <a16:creationId xmlns:a16="http://schemas.microsoft.com/office/drawing/2014/main" id="{E79450FF-033E-6648-BB4F-7DDD0FC59EC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B2D28DA5-F534-7C45-966B-1D818CB5BEF0}"/>
              </a:ext>
            </a:extLst>
          </p:cNvPr>
          <p:cNvSpPr>
            <a:spLocks noGrp="1"/>
          </p:cNvSpPr>
          <p:nvPr>
            <p:ph type="sldNum" sz="quarter" idx="12"/>
          </p:nvPr>
        </p:nvSpPr>
        <p:spPr/>
        <p:txBody>
          <a:bodyPr/>
          <a:lstStyle/>
          <a:p>
            <a:fld id="{46DAC7E7-6CF4-BA4C-9377-F5D691CB47FB}" type="slidenum">
              <a:rPr lang="en-VN" smtClean="0"/>
              <a:t>‹#›</a:t>
            </a:fld>
            <a:endParaRPr lang="en-VN"/>
          </a:p>
        </p:txBody>
      </p:sp>
    </p:spTree>
    <p:extLst>
      <p:ext uri="{BB962C8B-B14F-4D97-AF65-F5344CB8AC3E}">
        <p14:creationId xmlns:p14="http://schemas.microsoft.com/office/powerpoint/2010/main" val="2223060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C13C1-E17F-4643-8D9C-E4A0C960534E}"/>
              </a:ext>
            </a:extLst>
          </p:cNvPr>
          <p:cNvSpPr>
            <a:spLocks noGrp="1"/>
          </p:cNvSpPr>
          <p:nvPr>
            <p:ph type="title"/>
          </p:nvPr>
        </p:nvSpPr>
        <p:spPr/>
        <p:txBody>
          <a:bodyPr/>
          <a:lstStyle/>
          <a:p>
            <a:r>
              <a:rPr lang="en-US"/>
              <a:t>Click to edit Master title style</a:t>
            </a:r>
            <a:endParaRPr/>
          </a:p>
        </p:txBody>
      </p:sp>
      <p:sp>
        <p:nvSpPr>
          <p:cNvPr id="3" name="Content Placeholder 2">
            <a:extLst>
              <a:ext uri="{FF2B5EF4-FFF2-40B4-BE49-F238E27FC236}">
                <a16:creationId xmlns:a16="http://schemas.microsoft.com/office/drawing/2014/main" id="{06C733CF-D39F-0C46-B29F-D5A267A582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1923E585-EB74-BB4A-8BF2-169EB53C17A1}"/>
              </a:ext>
            </a:extLst>
          </p:cNvPr>
          <p:cNvSpPr>
            <a:spLocks noGrp="1"/>
          </p:cNvSpPr>
          <p:nvPr>
            <p:ph type="dt" sz="half" idx="10"/>
          </p:nvPr>
        </p:nvSpPr>
        <p:spPr/>
        <p:txBody>
          <a:bodyPr/>
          <a:lstStyle/>
          <a:p>
            <a:fld id="{8C5123E4-866C-A742-A87E-F768C5674301}" type="datetimeFigureOut">
              <a:rPr lang="en-VN" smtClean="0"/>
              <a:t>11/02/2023</a:t>
            </a:fld>
            <a:endParaRPr lang="en-VN"/>
          </a:p>
        </p:txBody>
      </p:sp>
      <p:sp>
        <p:nvSpPr>
          <p:cNvPr id="5" name="Footer Placeholder 4">
            <a:extLst>
              <a:ext uri="{FF2B5EF4-FFF2-40B4-BE49-F238E27FC236}">
                <a16:creationId xmlns:a16="http://schemas.microsoft.com/office/drawing/2014/main" id="{0CBDD642-D5B9-5542-9836-849727417FDF}"/>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22C7F86-C4F4-394B-95F2-3239635A966A}"/>
              </a:ext>
            </a:extLst>
          </p:cNvPr>
          <p:cNvSpPr>
            <a:spLocks noGrp="1"/>
          </p:cNvSpPr>
          <p:nvPr>
            <p:ph type="sldNum" sz="quarter" idx="12"/>
          </p:nvPr>
        </p:nvSpPr>
        <p:spPr/>
        <p:txBody>
          <a:bodyPr/>
          <a:lstStyle/>
          <a:p>
            <a:fld id="{46DAC7E7-6CF4-BA4C-9377-F5D691CB47FB}" type="slidenum">
              <a:rPr lang="en-VN" smtClean="0"/>
              <a:t>‹#›</a:t>
            </a:fld>
            <a:endParaRPr lang="en-VN"/>
          </a:p>
        </p:txBody>
      </p:sp>
    </p:spTree>
    <p:extLst>
      <p:ext uri="{BB962C8B-B14F-4D97-AF65-F5344CB8AC3E}">
        <p14:creationId xmlns:p14="http://schemas.microsoft.com/office/powerpoint/2010/main" val="581644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42C0E-00A8-2F47-9911-58376B2E63A1}"/>
              </a:ext>
            </a:extLst>
          </p:cNvPr>
          <p:cNvSpPr>
            <a:spLocks noGrp="1"/>
          </p:cNvSpPr>
          <p:nvPr>
            <p:ph type="title"/>
          </p:nvPr>
        </p:nvSpPr>
        <p:spPr/>
        <p:txBody>
          <a:bodyPr/>
          <a:lstStyle/>
          <a:p>
            <a:r>
              <a:rPr lang="en-US"/>
              <a:t>Click to edit Master title style</a:t>
            </a:r>
            <a:endParaRPr/>
          </a:p>
        </p:txBody>
      </p:sp>
      <p:sp>
        <p:nvSpPr>
          <p:cNvPr id="3" name="Content Placeholder 2">
            <a:extLst>
              <a:ext uri="{FF2B5EF4-FFF2-40B4-BE49-F238E27FC236}">
                <a16:creationId xmlns:a16="http://schemas.microsoft.com/office/drawing/2014/main" id="{E0C01A5C-E917-204C-B745-385FFBEC075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a:extLst>
              <a:ext uri="{FF2B5EF4-FFF2-40B4-BE49-F238E27FC236}">
                <a16:creationId xmlns:a16="http://schemas.microsoft.com/office/drawing/2014/main" id="{C0C98EC9-0D32-8247-9577-4F9608122D4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a:extLst>
              <a:ext uri="{FF2B5EF4-FFF2-40B4-BE49-F238E27FC236}">
                <a16:creationId xmlns:a16="http://schemas.microsoft.com/office/drawing/2014/main" id="{7EA9C2E8-3417-3C43-A0C5-75093E90CDB1}"/>
              </a:ext>
            </a:extLst>
          </p:cNvPr>
          <p:cNvSpPr>
            <a:spLocks noGrp="1"/>
          </p:cNvSpPr>
          <p:nvPr>
            <p:ph type="dt" sz="half" idx="10"/>
          </p:nvPr>
        </p:nvSpPr>
        <p:spPr/>
        <p:txBody>
          <a:bodyPr/>
          <a:lstStyle/>
          <a:p>
            <a:fld id="{8C5123E4-866C-A742-A87E-F768C5674301}" type="datetimeFigureOut">
              <a:rPr lang="en-VN" smtClean="0"/>
              <a:t>11/02/2023</a:t>
            </a:fld>
            <a:endParaRPr lang="en-VN"/>
          </a:p>
        </p:txBody>
      </p:sp>
      <p:sp>
        <p:nvSpPr>
          <p:cNvPr id="6" name="Footer Placeholder 5">
            <a:extLst>
              <a:ext uri="{FF2B5EF4-FFF2-40B4-BE49-F238E27FC236}">
                <a16:creationId xmlns:a16="http://schemas.microsoft.com/office/drawing/2014/main" id="{3CB9F04F-1DD2-3B44-84F5-3CF6AD5C6CE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D19C012E-A921-F649-946F-932E302712F8}"/>
              </a:ext>
            </a:extLst>
          </p:cNvPr>
          <p:cNvSpPr>
            <a:spLocks noGrp="1"/>
          </p:cNvSpPr>
          <p:nvPr>
            <p:ph type="sldNum" sz="quarter" idx="12"/>
          </p:nvPr>
        </p:nvSpPr>
        <p:spPr/>
        <p:txBody>
          <a:bodyPr/>
          <a:lstStyle/>
          <a:p>
            <a:fld id="{46DAC7E7-6CF4-BA4C-9377-F5D691CB47FB}" type="slidenum">
              <a:rPr lang="en-VN" smtClean="0"/>
              <a:t>‹#›</a:t>
            </a:fld>
            <a:endParaRPr lang="en-VN"/>
          </a:p>
        </p:txBody>
      </p:sp>
    </p:spTree>
    <p:extLst>
      <p:ext uri="{BB962C8B-B14F-4D97-AF65-F5344CB8AC3E}">
        <p14:creationId xmlns:p14="http://schemas.microsoft.com/office/powerpoint/2010/main" val="127804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2D9A40-67A4-0645-8509-7DCDAB46D7AF}"/>
              </a:ext>
            </a:extLst>
          </p:cNvPr>
          <p:cNvSpPr>
            <a:spLocks noGrp="1"/>
          </p:cNvSpPr>
          <p:nvPr>
            <p:ph type="dt" sz="half" idx="10"/>
          </p:nvPr>
        </p:nvSpPr>
        <p:spPr/>
        <p:txBody>
          <a:bodyPr/>
          <a:lstStyle/>
          <a:p>
            <a:fld id="{8C5123E4-866C-A742-A87E-F768C5674301}" type="datetimeFigureOut">
              <a:rPr lang="en-VN" smtClean="0"/>
              <a:t>11/02/2023</a:t>
            </a:fld>
            <a:endParaRPr lang="en-VN"/>
          </a:p>
        </p:txBody>
      </p:sp>
      <p:sp>
        <p:nvSpPr>
          <p:cNvPr id="3" name="Footer Placeholder 2">
            <a:extLst>
              <a:ext uri="{FF2B5EF4-FFF2-40B4-BE49-F238E27FC236}">
                <a16:creationId xmlns:a16="http://schemas.microsoft.com/office/drawing/2014/main" id="{DB58CA86-B909-2248-B917-013466448C93}"/>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3C8DC0E0-21A8-2946-834B-8411BD6DD00C}"/>
              </a:ext>
            </a:extLst>
          </p:cNvPr>
          <p:cNvSpPr>
            <a:spLocks noGrp="1"/>
          </p:cNvSpPr>
          <p:nvPr>
            <p:ph type="sldNum" sz="quarter" idx="12"/>
          </p:nvPr>
        </p:nvSpPr>
        <p:spPr/>
        <p:txBody>
          <a:bodyPr/>
          <a:lstStyle/>
          <a:p>
            <a:fld id="{46DAC7E7-6CF4-BA4C-9377-F5D691CB47FB}" type="slidenum">
              <a:rPr lang="en-VN" smtClean="0"/>
              <a:t>‹#›</a:t>
            </a:fld>
            <a:endParaRPr lang="en-VN"/>
          </a:p>
        </p:txBody>
      </p:sp>
    </p:spTree>
    <p:extLst>
      <p:ext uri="{BB962C8B-B14F-4D97-AF65-F5344CB8AC3E}">
        <p14:creationId xmlns:p14="http://schemas.microsoft.com/office/powerpoint/2010/main" val="4060863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349F-7DE2-1A4F-A240-F6A764B2BE3A}"/>
              </a:ext>
            </a:extLst>
          </p:cNvPr>
          <p:cNvSpPr>
            <a:spLocks noGrp="1"/>
          </p:cNvSpPr>
          <p:nvPr>
            <p:ph type="title"/>
          </p:nvPr>
        </p:nvSpPr>
        <p:spPr/>
        <p:txBody>
          <a:bodyPr/>
          <a:lstStyle/>
          <a:p>
            <a:r>
              <a:rPr lang="en-US"/>
              <a:t>Click to edit Master title style</a:t>
            </a:r>
            <a:endParaRPr/>
          </a:p>
        </p:txBody>
      </p:sp>
      <p:sp>
        <p:nvSpPr>
          <p:cNvPr id="3" name="Date Placeholder 2">
            <a:extLst>
              <a:ext uri="{FF2B5EF4-FFF2-40B4-BE49-F238E27FC236}">
                <a16:creationId xmlns:a16="http://schemas.microsoft.com/office/drawing/2014/main" id="{D471D48E-6C69-A240-B01C-A7DF732C126B}"/>
              </a:ext>
            </a:extLst>
          </p:cNvPr>
          <p:cNvSpPr>
            <a:spLocks noGrp="1"/>
          </p:cNvSpPr>
          <p:nvPr>
            <p:ph type="dt" sz="half" idx="10"/>
          </p:nvPr>
        </p:nvSpPr>
        <p:spPr/>
        <p:txBody>
          <a:bodyPr/>
          <a:lstStyle/>
          <a:p>
            <a:fld id="{8C5123E4-866C-A742-A87E-F768C5674301}" type="datetimeFigureOut">
              <a:rPr lang="en-VN" smtClean="0"/>
              <a:t>11/02/2023</a:t>
            </a:fld>
            <a:endParaRPr lang="en-VN"/>
          </a:p>
        </p:txBody>
      </p:sp>
      <p:sp>
        <p:nvSpPr>
          <p:cNvPr id="4" name="Footer Placeholder 3">
            <a:extLst>
              <a:ext uri="{FF2B5EF4-FFF2-40B4-BE49-F238E27FC236}">
                <a16:creationId xmlns:a16="http://schemas.microsoft.com/office/drawing/2014/main" id="{7AE07931-A9C4-BD49-9848-F75C6B767D5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F4609870-D97D-5F4D-86F7-AFD12C5FF5EE}"/>
              </a:ext>
            </a:extLst>
          </p:cNvPr>
          <p:cNvSpPr>
            <a:spLocks noGrp="1"/>
          </p:cNvSpPr>
          <p:nvPr>
            <p:ph type="sldNum" sz="quarter" idx="12"/>
          </p:nvPr>
        </p:nvSpPr>
        <p:spPr/>
        <p:txBody>
          <a:bodyPr/>
          <a:lstStyle/>
          <a:p>
            <a:fld id="{46DAC7E7-6CF4-BA4C-9377-F5D691CB47FB}" type="slidenum">
              <a:rPr lang="en-VN" smtClean="0"/>
              <a:t>‹#›</a:t>
            </a:fld>
            <a:endParaRPr lang="en-VN"/>
          </a:p>
        </p:txBody>
      </p:sp>
    </p:spTree>
    <p:extLst>
      <p:ext uri="{BB962C8B-B14F-4D97-AF65-F5344CB8AC3E}">
        <p14:creationId xmlns:p14="http://schemas.microsoft.com/office/powerpoint/2010/main" val="1429816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76" r:id="rId6"/>
    <p:sldLayoutId id="2147483677" r:id="rId7"/>
    <p:sldLayoutId id="2147483678"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customXml" Target="../ink/ink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Text&#10;&#10;Description automatically generated">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12" y="317038"/>
            <a:ext cx="2576374" cy="936215"/>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LÝ THUYẾT MẬT MÃ </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TS. TẠ KIM HUỆ </a:t>
            </a:r>
          </a:p>
          <a:p>
            <a:r>
              <a:rPr lang="en-US" sz="2800" b="0" dirty="0"/>
              <a:t>TRƯỜNG ĐIỆN – ĐIỆN TỬ </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2936-FFE0-5948-4495-1DC46EDFC368}"/>
              </a:ext>
            </a:extLst>
          </p:cNvPr>
          <p:cNvSpPr>
            <a:spLocks noGrp="1"/>
          </p:cNvSpPr>
          <p:nvPr>
            <p:ph type="title"/>
          </p:nvPr>
        </p:nvSpPr>
        <p:spPr/>
        <p:txBody>
          <a:bodyPr/>
          <a:lstStyle/>
          <a:p>
            <a:r>
              <a:rPr lang="vi-VN" dirty="0"/>
              <a:t>Nội dung </a:t>
            </a:r>
            <a:endParaRPr dirty="0"/>
          </a:p>
        </p:txBody>
      </p:sp>
      <p:sp>
        <p:nvSpPr>
          <p:cNvPr id="3" name="Content Placeholder 2">
            <a:extLst>
              <a:ext uri="{FF2B5EF4-FFF2-40B4-BE49-F238E27FC236}">
                <a16:creationId xmlns:a16="http://schemas.microsoft.com/office/drawing/2014/main" id="{2A30EF9A-D2FC-23AF-542C-1B5DBA66CD85}"/>
              </a:ext>
            </a:extLst>
          </p:cNvPr>
          <p:cNvSpPr>
            <a:spLocks noGrp="1"/>
          </p:cNvSpPr>
          <p:nvPr>
            <p:ph sz="quarter" idx="13"/>
          </p:nvPr>
        </p:nvSpPr>
        <p:spPr/>
        <p:txBody>
          <a:bodyPr/>
          <a:lstStyle/>
          <a:p>
            <a:r>
              <a:rPr lang="vi-VN" dirty="0"/>
              <a:t>Khái niệm PRP và PRF bảo mật </a:t>
            </a:r>
          </a:p>
          <a:p>
            <a:r>
              <a:rPr lang="vi-VN" dirty="0"/>
              <a:t>Các chế độ sử dụng mã khối : Khoá dùng 1 lần </a:t>
            </a:r>
          </a:p>
          <a:p>
            <a:r>
              <a:rPr lang="vi-VN" dirty="0"/>
              <a:t>Các chế độ sử dụng mã khối: Khoá dùng nhiều lần </a:t>
            </a:r>
            <a:endParaRPr dirty="0"/>
          </a:p>
        </p:txBody>
      </p:sp>
    </p:spTree>
    <p:extLst>
      <p:ext uri="{BB962C8B-B14F-4D97-AF65-F5344CB8AC3E}">
        <p14:creationId xmlns:p14="http://schemas.microsoft.com/office/powerpoint/2010/main" val="3646389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dirty="0"/>
              <a:t>Block ciphers:  crypto work horse</a:t>
            </a:r>
          </a:p>
        </p:txBody>
      </p:sp>
      <p:sp>
        <p:nvSpPr>
          <p:cNvPr id="13317" name="Rectangle 3"/>
          <p:cNvSpPr>
            <a:spLocks noGrp="1" noChangeArrowheads="1"/>
          </p:cNvSpPr>
          <p:nvPr>
            <p:ph sz="quarter" idx="13"/>
          </p:nvPr>
        </p:nvSpPr>
        <p:spPr/>
        <p:txBody>
          <a:bodyPr/>
          <a:lstStyle/>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p:txBody>
      </p:sp>
      <p:sp>
        <p:nvSpPr>
          <p:cNvPr id="13318" name="Rectangle 4"/>
          <p:cNvSpPr>
            <a:spLocks noChangeArrowheads="1"/>
          </p:cNvSpPr>
          <p:nvPr/>
        </p:nvSpPr>
        <p:spPr bwMode="auto">
          <a:xfrm>
            <a:off x="3962400" y="2275285"/>
            <a:ext cx="1371600" cy="742950"/>
          </a:xfrm>
          <a:prstGeom prst="rect">
            <a:avLst/>
          </a:prstGeom>
          <a:solidFill>
            <a:schemeClr val="accent6">
              <a:lumMod val="60000"/>
              <a:lumOff val="40000"/>
            </a:schemeClr>
          </a:solidFill>
          <a:ln w="57150">
            <a:solidFill>
              <a:schemeClr val="tx1"/>
            </a:solidFill>
            <a:miter lim="800000"/>
            <a:headEnd/>
            <a:tailEnd/>
          </a:ln>
        </p:spPr>
        <p:txBody>
          <a:bodyPr wrap="none" anchor="ctr"/>
          <a:lstStyle/>
          <a:p>
            <a:pPr algn="ctr">
              <a:spcBef>
                <a:spcPct val="50000"/>
              </a:spcBef>
            </a:pPr>
            <a:r>
              <a:rPr lang="en-US" sz="2800" b="1" dirty="0">
                <a:solidFill>
                  <a:srgbClr val="0000FF"/>
                </a:solidFill>
                <a:latin typeface="Tahoma" pitchFamily="34" charset="0"/>
              </a:rPr>
              <a:t>E, D</a:t>
            </a:r>
          </a:p>
        </p:txBody>
      </p:sp>
      <p:sp>
        <p:nvSpPr>
          <p:cNvPr id="13319" name="Line 5"/>
          <p:cNvSpPr>
            <a:spLocks noChangeShapeType="1"/>
          </p:cNvSpPr>
          <p:nvPr/>
        </p:nvSpPr>
        <p:spPr bwMode="auto">
          <a:xfrm>
            <a:off x="3048000" y="2675335"/>
            <a:ext cx="914400" cy="0"/>
          </a:xfrm>
          <a:prstGeom prst="line">
            <a:avLst/>
          </a:prstGeom>
          <a:noFill/>
          <a:ln w="9525">
            <a:solidFill>
              <a:schemeClr val="tx1"/>
            </a:solidFill>
            <a:round/>
            <a:headEnd type="none" w="med" len="med"/>
            <a:tailEnd type="triangle" w="med" len="med"/>
          </a:ln>
        </p:spPr>
        <p:txBody>
          <a:bodyPr wrap="none" anchor="ctr"/>
          <a:lstStyle/>
          <a:p>
            <a:endParaRPr lang="en-US"/>
          </a:p>
        </p:txBody>
      </p:sp>
      <p:sp>
        <p:nvSpPr>
          <p:cNvPr id="13320" name="Line 6"/>
          <p:cNvSpPr>
            <a:spLocks noChangeShapeType="1"/>
          </p:cNvSpPr>
          <p:nvPr/>
        </p:nvSpPr>
        <p:spPr bwMode="auto">
          <a:xfrm>
            <a:off x="5334000" y="2675335"/>
            <a:ext cx="914400" cy="0"/>
          </a:xfrm>
          <a:prstGeom prst="line">
            <a:avLst/>
          </a:prstGeom>
          <a:noFill/>
          <a:ln w="9525">
            <a:solidFill>
              <a:schemeClr val="tx1"/>
            </a:solidFill>
            <a:round/>
            <a:headEnd type="none" w="med" len="med"/>
            <a:tailEnd type="triangle" w="med" len="med"/>
          </a:ln>
        </p:spPr>
        <p:txBody>
          <a:bodyPr wrap="none" anchor="ctr"/>
          <a:lstStyle/>
          <a:p>
            <a:endParaRPr lang="en-US"/>
          </a:p>
        </p:txBody>
      </p:sp>
      <p:sp>
        <p:nvSpPr>
          <p:cNvPr id="13321" name="Rectangle 7"/>
          <p:cNvSpPr>
            <a:spLocks noChangeArrowheads="1"/>
          </p:cNvSpPr>
          <p:nvPr/>
        </p:nvSpPr>
        <p:spPr bwMode="auto">
          <a:xfrm>
            <a:off x="6248400" y="2503885"/>
            <a:ext cx="2209800" cy="342900"/>
          </a:xfrm>
          <a:prstGeom prst="rect">
            <a:avLst/>
          </a:prstGeom>
          <a:solidFill>
            <a:schemeClr val="accent1"/>
          </a:solidFill>
          <a:ln w="9525">
            <a:solidFill>
              <a:schemeClr val="tx1"/>
            </a:solidFill>
            <a:miter lim="800000"/>
            <a:headEnd/>
            <a:tailEnd/>
          </a:ln>
        </p:spPr>
        <p:txBody>
          <a:bodyPr wrap="none" anchor="ctr"/>
          <a:lstStyle/>
          <a:p>
            <a:pPr algn="ctr">
              <a:spcBef>
                <a:spcPct val="50000"/>
              </a:spcBef>
            </a:pPr>
            <a:r>
              <a:rPr lang="en-US">
                <a:latin typeface="Tahoma" pitchFamily="34" charset="0"/>
              </a:rPr>
              <a:t>CT Block</a:t>
            </a:r>
          </a:p>
        </p:txBody>
      </p:sp>
      <p:sp>
        <p:nvSpPr>
          <p:cNvPr id="13322" name="Text Box 8"/>
          <p:cNvSpPr txBox="1">
            <a:spLocks noChangeArrowheads="1"/>
          </p:cNvSpPr>
          <p:nvPr/>
        </p:nvSpPr>
        <p:spPr bwMode="auto">
          <a:xfrm>
            <a:off x="6962552" y="2157969"/>
            <a:ext cx="746166" cy="369332"/>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n bits</a:t>
            </a:r>
          </a:p>
        </p:txBody>
      </p:sp>
      <p:sp>
        <p:nvSpPr>
          <p:cNvPr id="13323" name="Rectangle 9"/>
          <p:cNvSpPr>
            <a:spLocks noChangeArrowheads="1"/>
          </p:cNvSpPr>
          <p:nvPr/>
        </p:nvSpPr>
        <p:spPr bwMode="auto">
          <a:xfrm>
            <a:off x="863600" y="2503885"/>
            <a:ext cx="2209800" cy="342900"/>
          </a:xfrm>
          <a:prstGeom prst="rect">
            <a:avLst/>
          </a:prstGeom>
          <a:solidFill>
            <a:schemeClr val="accent1"/>
          </a:solidFill>
          <a:ln w="9525">
            <a:solidFill>
              <a:schemeClr val="tx1"/>
            </a:solidFill>
            <a:miter lim="800000"/>
            <a:headEnd/>
            <a:tailEnd/>
          </a:ln>
        </p:spPr>
        <p:txBody>
          <a:bodyPr wrap="none" anchor="ctr"/>
          <a:lstStyle/>
          <a:p>
            <a:pPr algn="ctr">
              <a:spcBef>
                <a:spcPct val="50000"/>
              </a:spcBef>
            </a:pPr>
            <a:r>
              <a:rPr lang="en-US" sz="2000">
                <a:latin typeface="Tahoma" pitchFamily="34" charset="0"/>
              </a:rPr>
              <a:t>PT Block</a:t>
            </a:r>
          </a:p>
        </p:txBody>
      </p:sp>
      <p:sp>
        <p:nvSpPr>
          <p:cNvPr id="13324" name="Text Box 10"/>
          <p:cNvSpPr txBox="1">
            <a:spLocks noChangeArrowheads="1"/>
          </p:cNvSpPr>
          <p:nvPr/>
        </p:nvSpPr>
        <p:spPr bwMode="auto">
          <a:xfrm>
            <a:off x="1477609" y="2133600"/>
            <a:ext cx="808748" cy="400110"/>
          </a:xfrm>
          <a:prstGeom prst="rect">
            <a:avLst/>
          </a:prstGeom>
          <a:noFill/>
          <a:ln w="9525">
            <a:noFill/>
            <a:miter lim="800000"/>
            <a:headEnd/>
            <a:tailEnd/>
          </a:ln>
        </p:spPr>
        <p:txBody>
          <a:bodyPr wrap="none">
            <a:spAutoFit/>
          </a:bodyPr>
          <a:lstStyle/>
          <a:p>
            <a:pPr algn="ctr">
              <a:spcBef>
                <a:spcPct val="50000"/>
              </a:spcBef>
            </a:pPr>
            <a:r>
              <a:rPr lang="en-US" sz="2000" dirty="0">
                <a:latin typeface="Tahoma" pitchFamily="34" charset="0"/>
              </a:rPr>
              <a:t>n bits</a:t>
            </a:r>
          </a:p>
        </p:txBody>
      </p:sp>
      <p:sp>
        <p:nvSpPr>
          <p:cNvPr id="13325" name="Rectangle 11"/>
          <p:cNvSpPr>
            <a:spLocks noChangeArrowheads="1"/>
          </p:cNvSpPr>
          <p:nvPr/>
        </p:nvSpPr>
        <p:spPr bwMode="auto">
          <a:xfrm>
            <a:off x="4191000" y="3475435"/>
            <a:ext cx="990600" cy="342900"/>
          </a:xfrm>
          <a:prstGeom prst="rect">
            <a:avLst/>
          </a:prstGeom>
          <a:solidFill>
            <a:schemeClr val="accent1"/>
          </a:solidFill>
          <a:ln w="9525">
            <a:solidFill>
              <a:schemeClr val="tx1"/>
            </a:solidFill>
            <a:miter lim="800000"/>
            <a:headEnd/>
            <a:tailEnd/>
          </a:ln>
        </p:spPr>
        <p:txBody>
          <a:bodyPr wrap="none" anchor="ctr"/>
          <a:lstStyle/>
          <a:p>
            <a:pPr algn="ctr">
              <a:spcBef>
                <a:spcPct val="50000"/>
              </a:spcBef>
            </a:pPr>
            <a:r>
              <a:rPr lang="en-US">
                <a:latin typeface="Tahoma" pitchFamily="34" charset="0"/>
              </a:rPr>
              <a:t>Key</a:t>
            </a:r>
          </a:p>
        </p:txBody>
      </p:sp>
      <p:sp>
        <p:nvSpPr>
          <p:cNvPr id="13326" name="Text Box 12"/>
          <p:cNvSpPr txBox="1">
            <a:spLocks noChangeArrowheads="1"/>
          </p:cNvSpPr>
          <p:nvPr/>
        </p:nvSpPr>
        <p:spPr bwMode="auto">
          <a:xfrm>
            <a:off x="5252288" y="3496867"/>
            <a:ext cx="733342" cy="369332"/>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k bits</a:t>
            </a:r>
          </a:p>
        </p:txBody>
      </p:sp>
      <p:sp>
        <p:nvSpPr>
          <p:cNvPr id="13327" name="Line 13"/>
          <p:cNvSpPr>
            <a:spLocks noChangeShapeType="1"/>
          </p:cNvSpPr>
          <p:nvPr/>
        </p:nvSpPr>
        <p:spPr bwMode="auto">
          <a:xfrm flipV="1">
            <a:off x="4724400" y="3018235"/>
            <a:ext cx="0" cy="457200"/>
          </a:xfrm>
          <a:prstGeom prst="line">
            <a:avLst/>
          </a:prstGeom>
          <a:noFill/>
          <a:ln w="9525">
            <a:solidFill>
              <a:schemeClr val="tx1"/>
            </a:solidFill>
            <a:round/>
            <a:headEnd/>
            <a:tailEnd type="triangle" w="med" len="med"/>
          </a:ln>
        </p:spPr>
        <p:txBody>
          <a:bodyPr wrap="none" anchor="ctr"/>
          <a:lstStyle/>
          <a:p>
            <a:endParaRPr lang="en-US"/>
          </a:p>
        </p:txBody>
      </p:sp>
      <p:sp>
        <p:nvSpPr>
          <p:cNvPr id="13328" name="Text Box 14"/>
          <p:cNvSpPr txBox="1">
            <a:spLocks noChangeArrowheads="1"/>
          </p:cNvSpPr>
          <p:nvPr/>
        </p:nvSpPr>
        <p:spPr bwMode="auto">
          <a:xfrm>
            <a:off x="746126" y="4201717"/>
            <a:ext cx="184731" cy="369332"/>
          </a:xfrm>
          <a:prstGeom prst="rect">
            <a:avLst/>
          </a:prstGeom>
          <a:noFill/>
          <a:ln w="12700" algn="ctr">
            <a:noFill/>
            <a:miter lim="800000"/>
            <a:headEnd/>
            <a:tailEnd type="none" w="lg" len="med"/>
          </a:ln>
        </p:spPr>
        <p:txBody>
          <a:bodyPr wrap="none">
            <a:spAutoFit/>
          </a:bodyPr>
          <a:lstStyle/>
          <a:p>
            <a:pPr eaLnBrk="1" hangingPunct="1"/>
            <a:endParaRPr lang="en-US">
              <a:latin typeface="Arial" charset="0"/>
            </a:endParaRPr>
          </a:p>
        </p:txBody>
      </p:sp>
      <p:sp>
        <p:nvSpPr>
          <p:cNvPr id="13329" name="Text Box 15"/>
          <p:cNvSpPr txBox="1">
            <a:spLocks noChangeArrowheads="1"/>
          </p:cNvSpPr>
          <p:nvPr/>
        </p:nvSpPr>
        <p:spPr bwMode="auto">
          <a:xfrm>
            <a:off x="1050927" y="4283870"/>
            <a:ext cx="6666761" cy="1494320"/>
          </a:xfrm>
          <a:prstGeom prst="rect">
            <a:avLst/>
          </a:prstGeom>
          <a:noFill/>
          <a:ln w="12700" algn="ctr">
            <a:noFill/>
            <a:miter lim="800000"/>
            <a:headEnd/>
            <a:tailEnd type="none" w="lg" len="med"/>
          </a:ln>
        </p:spPr>
        <p:txBody>
          <a:bodyPr wrap="none">
            <a:spAutoFit/>
          </a:bodyPr>
          <a:lstStyle/>
          <a:p>
            <a:pPr marL="457189" indent="-457189"/>
            <a:r>
              <a:rPr lang="en-US" sz="2400" dirty="0">
                <a:latin typeface="Tahoma" pitchFamily="34" charset="0"/>
              </a:rPr>
              <a:t>Canonical examples:</a:t>
            </a:r>
          </a:p>
          <a:p>
            <a:pPr marL="457189" indent="-457189">
              <a:lnSpc>
                <a:spcPct val="150000"/>
              </a:lnSpc>
              <a:buFontTx/>
              <a:buAutoNum type="arabicPeriod"/>
            </a:pPr>
            <a:r>
              <a:rPr lang="en-US" sz="2400" dirty="0">
                <a:latin typeface="Tahoma" pitchFamily="34" charset="0"/>
              </a:rPr>
              <a:t>3DES:   n= 64 bits,    k = 168 bits</a:t>
            </a:r>
          </a:p>
          <a:p>
            <a:pPr marL="457189" indent="-457189">
              <a:lnSpc>
                <a:spcPct val="150000"/>
              </a:lnSpc>
              <a:buFontTx/>
              <a:buAutoNum type="arabicPeriod"/>
            </a:pPr>
            <a:r>
              <a:rPr lang="en-US" sz="2400" dirty="0">
                <a:latin typeface="Tahoma" pitchFamily="34" charset="0"/>
              </a:rPr>
              <a:t>AES:     n=128 bits,   k = 128, 192, 256 bits</a:t>
            </a:r>
          </a:p>
        </p:txBody>
      </p:sp>
    </p:spTree>
    <p:extLst>
      <p:ext uri="{BB962C8B-B14F-4D97-AF65-F5344CB8AC3E}">
        <p14:creationId xmlns:p14="http://schemas.microsoft.com/office/powerpoint/2010/main" val="1167616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b="1" dirty="0" err="1"/>
              <a:t>Tóm</a:t>
            </a:r>
            <a:r>
              <a:rPr lang="en-US" b="1" dirty="0"/>
              <a:t> </a:t>
            </a:r>
            <a:r>
              <a:rPr lang="en-US" b="1" dirty="0" err="1"/>
              <a:t>tắt</a:t>
            </a:r>
            <a:r>
              <a:rPr lang="en-US" b="1" dirty="0"/>
              <a:t>:   </a:t>
            </a:r>
            <a:r>
              <a:rPr lang="en-US" b="1" dirty="0" err="1"/>
              <a:t>Khái</a:t>
            </a:r>
            <a:r>
              <a:rPr lang="en-US" b="1" dirty="0"/>
              <a:t> </a:t>
            </a:r>
            <a:r>
              <a:rPr lang="en-US" dirty="0" err="1"/>
              <a:t>niệm</a:t>
            </a:r>
            <a:r>
              <a:rPr lang="en-US" dirty="0"/>
              <a:t> </a:t>
            </a:r>
            <a:r>
              <a:rPr lang="en-US" b="1" dirty="0"/>
              <a:t>PRPs </a:t>
            </a:r>
            <a:r>
              <a:rPr lang="en-US" b="1" dirty="0" err="1"/>
              <a:t>và</a:t>
            </a:r>
            <a:r>
              <a:rPr lang="en-US" b="1" dirty="0"/>
              <a:t> PRFs</a:t>
            </a:r>
          </a:p>
        </p:txBody>
      </p:sp>
      <p:sp>
        <p:nvSpPr>
          <p:cNvPr id="5123" name="Rectangle 3"/>
          <p:cNvSpPr>
            <a:spLocks noGrp="1" noChangeArrowheads="1"/>
          </p:cNvSpPr>
          <p:nvPr>
            <p:ph sz="quarter" idx="13"/>
          </p:nvPr>
        </p:nvSpPr>
        <p:spPr/>
        <p:txBody>
          <a:bodyPr>
            <a:normAutofit fontScale="85000" lnSpcReduction="10000"/>
          </a:bodyPr>
          <a:lstStyle/>
          <a:p>
            <a:pPr>
              <a:lnSpc>
                <a:spcPct val="120000"/>
              </a:lnSpc>
            </a:pPr>
            <a:r>
              <a:rPr lang="en-US" dirty="0"/>
              <a:t>Pseudo Random Function (</a:t>
            </a:r>
            <a:r>
              <a:rPr lang="en-US" b="1" dirty="0"/>
              <a:t>PRF</a:t>
            </a:r>
            <a:r>
              <a:rPr lang="en-US" dirty="0"/>
              <a:t>) </a:t>
            </a:r>
            <a:r>
              <a:rPr lang="en-US" dirty="0" err="1"/>
              <a:t>hàm</a:t>
            </a:r>
            <a:r>
              <a:rPr lang="en-US" dirty="0"/>
              <a:t> </a:t>
            </a:r>
            <a:r>
              <a:rPr lang="en-US" dirty="0" err="1"/>
              <a:t>giả</a:t>
            </a:r>
            <a:r>
              <a:rPr lang="en-US" dirty="0"/>
              <a:t> </a:t>
            </a:r>
            <a:r>
              <a:rPr lang="en-US" dirty="0" err="1"/>
              <a:t>ngẫu</a:t>
            </a:r>
            <a:r>
              <a:rPr lang="en-US" dirty="0"/>
              <a:t> </a:t>
            </a:r>
            <a:r>
              <a:rPr lang="en-US" dirty="0" err="1"/>
              <a:t>nhiên</a:t>
            </a:r>
            <a:r>
              <a:rPr lang="en-US" dirty="0"/>
              <a:t> </a:t>
            </a:r>
            <a:r>
              <a:rPr lang="en-US" dirty="0" err="1"/>
              <a:t>được</a:t>
            </a:r>
            <a:r>
              <a:rPr lang="en-US" dirty="0"/>
              <a:t> </a:t>
            </a:r>
            <a:r>
              <a:rPr lang="en-US" dirty="0" err="1"/>
              <a:t>định</a:t>
            </a:r>
            <a:r>
              <a:rPr lang="en-US" dirty="0"/>
              <a:t> </a:t>
            </a:r>
            <a:r>
              <a:rPr lang="en-US" dirty="0" err="1"/>
              <a:t>nghĩa</a:t>
            </a:r>
            <a:r>
              <a:rPr lang="en-US" dirty="0"/>
              <a:t> qua </a:t>
            </a:r>
            <a:r>
              <a:rPr lang="en-US" dirty="0" err="1"/>
              <a:t>tập</a:t>
            </a:r>
            <a:r>
              <a:rPr lang="en-US" dirty="0"/>
              <a:t> (K,X,Y): F:  K </a:t>
            </a:r>
            <a:r>
              <a:rPr lang="en-US" dirty="0">
                <a:sym typeface="Symbol" pitchFamily="18" charset="2"/>
              </a:rPr>
              <a:t> X    Y, do </a:t>
            </a:r>
            <a:r>
              <a:rPr lang="en-US" dirty="0" err="1">
                <a:sym typeface="Symbol" pitchFamily="18" charset="2"/>
              </a:rPr>
              <a:t>đó</a:t>
            </a:r>
            <a:r>
              <a:rPr lang="en-US" dirty="0">
                <a:sym typeface="Symbol" pitchFamily="18" charset="2"/>
              </a:rPr>
              <a:t> </a:t>
            </a:r>
            <a:r>
              <a:rPr lang="en-US" dirty="0" err="1">
                <a:sym typeface="Symbol" pitchFamily="18" charset="2"/>
              </a:rPr>
              <a:t>tồn</a:t>
            </a:r>
            <a:r>
              <a:rPr lang="en-US" dirty="0">
                <a:sym typeface="Symbol" pitchFamily="18" charset="2"/>
              </a:rPr>
              <a:t> </a:t>
            </a:r>
            <a:r>
              <a:rPr lang="en-US" dirty="0" err="1">
                <a:sym typeface="Symbol" pitchFamily="18" charset="2"/>
              </a:rPr>
              <a:t>tại</a:t>
            </a:r>
            <a:r>
              <a:rPr lang="en-US" dirty="0">
                <a:sym typeface="Symbol" pitchFamily="18" charset="2"/>
              </a:rPr>
              <a:t> </a:t>
            </a:r>
            <a:r>
              <a:rPr lang="en-US" dirty="0" err="1">
                <a:sym typeface="Symbol" pitchFamily="18" charset="2"/>
              </a:rPr>
              <a:t>một</a:t>
            </a:r>
            <a:r>
              <a:rPr lang="en-US" dirty="0">
                <a:sym typeface="Symbol" pitchFamily="18" charset="2"/>
              </a:rPr>
              <a:t> </a:t>
            </a:r>
            <a:r>
              <a:rPr lang="en-US" dirty="0" err="1">
                <a:sym typeface="Symbol" pitchFamily="18" charset="2"/>
              </a:rPr>
              <a:t>thuật</a:t>
            </a:r>
            <a:r>
              <a:rPr lang="en-US" dirty="0">
                <a:sym typeface="Symbol" pitchFamily="18" charset="2"/>
              </a:rPr>
              <a:t> </a:t>
            </a:r>
            <a:r>
              <a:rPr lang="en-US" dirty="0" err="1">
                <a:sym typeface="Symbol" pitchFamily="18" charset="2"/>
              </a:rPr>
              <a:t>toán</a:t>
            </a:r>
            <a:r>
              <a:rPr lang="en-US" dirty="0">
                <a:sym typeface="Symbol" pitchFamily="18" charset="2"/>
              </a:rPr>
              <a:t> </a:t>
            </a:r>
            <a:r>
              <a:rPr lang="en-US" dirty="0" err="1">
                <a:sym typeface="Symbol" pitchFamily="18" charset="2"/>
              </a:rPr>
              <a:t>hiệu</a:t>
            </a:r>
            <a:r>
              <a:rPr lang="en-US" dirty="0">
                <a:sym typeface="Symbol" pitchFamily="18" charset="2"/>
              </a:rPr>
              <a:t> </a:t>
            </a:r>
            <a:r>
              <a:rPr lang="en-US" dirty="0" err="1">
                <a:sym typeface="Symbol" pitchFamily="18" charset="2"/>
              </a:rPr>
              <a:t>quả</a:t>
            </a:r>
            <a:r>
              <a:rPr lang="en-US" dirty="0">
                <a:sym typeface="Symbol" pitchFamily="18" charset="2"/>
              </a:rPr>
              <a:t> </a:t>
            </a:r>
            <a:r>
              <a:rPr lang="en-US" dirty="0" err="1">
                <a:sym typeface="Symbol" pitchFamily="18" charset="2"/>
              </a:rPr>
              <a:t>để</a:t>
            </a:r>
            <a:r>
              <a:rPr lang="en-US" dirty="0">
                <a:sym typeface="Symbol" pitchFamily="18" charset="2"/>
              </a:rPr>
              <a:t> </a:t>
            </a:r>
            <a:r>
              <a:rPr lang="en-US" dirty="0" err="1">
                <a:sym typeface="Symbol" pitchFamily="18" charset="2"/>
              </a:rPr>
              <a:t>đánh</a:t>
            </a:r>
            <a:r>
              <a:rPr lang="en-US" dirty="0">
                <a:sym typeface="Symbol" pitchFamily="18" charset="2"/>
              </a:rPr>
              <a:t> </a:t>
            </a:r>
            <a:r>
              <a:rPr lang="en-US" dirty="0" err="1">
                <a:sym typeface="Symbol" pitchFamily="18" charset="2"/>
              </a:rPr>
              <a:t>giá</a:t>
            </a:r>
            <a:r>
              <a:rPr lang="en-US" dirty="0">
                <a:sym typeface="Symbol" pitchFamily="18" charset="2"/>
              </a:rPr>
              <a:t> F(</a:t>
            </a:r>
            <a:r>
              <a:rPr lang="en-US" dirty="0" err="1">
                <a:sym typeface="Symbol" pitchFamily="18" charset="2"/>
              </a:rPr>
              <a:t>k,x</a:t>
            </a:r>
            <a:r>
              <a:rPr lang="en-US" dirty="0">
                <a:sym typeface="Symbol" pitchFamily="18" charset="2"/>
              </a:rPr>
              <a:t>)</a:t>
            </a:r>
          </a:p>
          <a:p>
            <a:pPr>
              <a:lnSpc>
                <a:spcPct val="120000"/>
              </a:lnSpc>
            </a:pPr>
            <a:r>
              <a:rPr lang="en-US" dirty="0">
                <a:sym typeface="Symbol" pitchFamily="18" charset="2"/>
              </a:rPr>
              <a:t>Pseudo Random Permutation (</a:t>
            </a:r>
            <a:r>
              <a:rPr lang="en-US" b="1" dirty="0">
                <a:sym typeface="Symbol" pitchFamily="18" charset="2"/>
              </a:rPr>
              <a:t>PRP</a:t>
            </a:r>
            <a:r>
              <a:rPr lang="en-US" dirty="0">
                <a:sym typeface="Symbol" pitchFamily="18" charset="2"/>
              </a:rPr>
              <a:t>)  </a:t>
            </a:r>
            <a:r>
              <a:rPr lang="en-US" dirty="0" err="1">
                <a:sym typeface="Symbol" pitchFamily="18" charset="2"/>
              </a:rPr>
              <a:t>là</a:t>
            </a:r>
            <a:r>
              <a:rPr lang="en-US" dirty="0">
                <a:sym typeface="Symbol" pitchFamily="18" charset="2"/>
              </a:rPr>
              <a:t> </a:t>
            </a:r>
            <a:r>
              <a:rPr lang="en-US" dirty="0" err="1">
                <a:sym typeface="Symbol" pitchFamily="18" charset="2"/>
              </a:rPr>
              <a:t>một</a:t>
            </a:r>
            <a:r>
              <a:rPr lang="en-US" dirty="0">
                <a:sym typeface="Symbol" pitchFamily="18" charset="2"/>
              </a:rPr>
              <a:t> </a:t>
            </a:r>
            <a:r>
              <a:rPr lang="en-US" dirty="0" err="1">
                <a:sym typeface="Symbol" pitchFamily="18" charset="2"/>
              </a:rPr>
              <a:t>hoán</a:t>
            </a:r>
            <a:r>
              <a:rPr lang="en-US" dirty="0">
                <a:sym typeface="Symbol" pitchFamily="18" charset="2"/>
              </a:rPr>
              <a:t> </a:t>
            </a:r>
            <a:r>
              <a:rPr lang="en-US" dirty="0" err="1">
                <a:sym typeface="Symbol" pitchFamily="18" charset="2"/>
              </a:rPr>
              <a:t>vị</a:t>
            </a:r>
            <a:r>
              <a:rPr lang="en-US" dirty="0">
                <a:sym typeface="Symbol" pitchFamily="18" charset="2"/>
              </a:rPr>
              <a:t> </a:t>
            </a:r>
            <a:r>
              <a:rPr lang="en-US" dirty="0" err="1">
                <a:sym typeface="Symbol" pitchFamily="18" charset="2"/>
              </a:rPr>
              <a:t>giả</a:t>
            </a:r>
            <a:r>
              <a:rPr lang="en-US" dirty="0">
                <a:sym typeface="Symbol" pitchFamily="18" charset="2"/>
              </a:rPr>
              <a:t> </a:t>
            </a:r>
            <a:r>
              <a:rPr lang="en-US" dirty="0" err="1">
                <a:sym typeface="Symbol" pitchFamily="18" charset="2"/>
              </a:rPr>
              <a:t>ngẫu</a:t>
            </a:r>
            <a:r>
              <a:rPr lang="en-US" dirty="0">
                <a:sym typeface="Symbol" pitchFamily="18" charset="2"/>
              </a:rPr>
              <a:t> </a:t>
            </a:r>
            <a:r>
              <a:rPr lang="en-US" dirty="0" err="1">
                <a:sym typeface="Symbol" pitchFamily="18" charset="2"/>
              </a:rPr>
              <a:t>nhiên</a:t>
            </a:r>
            <a:r>
              <a:rPr lang="en-US" dirty="0">
                <a:sym typeface="Symbol" pitchFamily="18" charset="2"/>
              </a:rPr>
              <a:t> E:   </a:t>
            </a:r>
            <a:r>
              <a:rPr lang="en-US" dirty="0"/>
              <a:t>K </a:t>
            </a:r>
            <a:r>
              <a:rPr lang="en-US" dirty="0">
                <a:sym typeface="Symbol" pitchFamily="18" charset="2"/>
              </a:rPr>
              <a:t> X    X     </a:t>
            </a:r>
          </a:p>
          <a:p>
            <a:pPr>
              <a:lnSpc>
                <a:spcPct val="120000"/>
              </a:lnSpc>
              <a:buFontTx/>
              <a:buNone/>
            </a:pPr>
            <a:r>
              <a:rPr lang="en-US" dirty="0">
                <a:sym typeface="Symbol" pitchFamily="18" charset="2"/>
              </a:rPr>
              <a:t>	Do </a:t>
            </a:r>
            <a:r>
              <a:rPr lang="en-US" dirty="0" err="1">
                <a:sym typeface="Symbol" pitchFamily="18" charset="2"/>
              </a:rPr>
              <a:t>đó</a:t>
            </a:r>
            <a:r>
              <a:rPr lang="en-US" dirty="0">
                <a:sym typeface="Symbol" pitchFamily="18" charset="2"/>
              </a:rPr>
              <a:t>:</a:t>
            </a:r>
            <a:br>
              <a:rPr lang="en-US" dirty="0">
                <a:sym typeface="Symbol" pitchFamily="18" charset="2"/>
              </a:rPr>
            </a:br>
            <a:r>
              <a:rPr lang="en-US" dirty="0">
                <a:sym typeface="Symbol" pitchFamily="18" charset="2"/>
              </a:rPr>
              <a:t>	1. </a:t>
            </a:r>
            <a:r>
              <a:rPr lang="en-US" dirty="0" err="1">
                <a:sym typeface="Symbol" pitchFamily="18" charset="2"/>
              </a:rPr>
              <a:t>Tồn</a:t>
            </a:r>
            <a:r>
              <a:rPr lang="en-US" dirty="0">
                <a:sym typeface="Symbol" pitchFamily="18" charset="2"/>
              </a:rPr>
              <a:t> </a:t>
            </a:r>
            <a:r>
              <a:rPr lang="en-US" dirty="0" err="1">
                <a:sym typeface="Symbol" pitchFamily="18" charset="2"/>
              </a:rPr>
              <a:t>tại</a:t>
            </a:r>
            <a:r>
              <a:rPr lang="en-US" dirty="0">
                <a:sym typeface="Symbol" pitchFamily="18" charset="2"/>
              </a:rPr>
              <a:t> </a:t>
            </a:r>
            <a:r>
              <a:rPr lang="en-US" dirty="0" err="1">
                <a:sym typeface="Symbol" pitchFamily="18" charset="2"/>
              </a:rPr>
              <a:t>một</a:t>
            </a:r>
            <a:r>
              <a:rPr lang="en-US" dirty="0">
                <a:sym typeface="Symbol" pitchFamily="18" charset="2"/>
              </a:rPr>
              <a:t> </a:t>
            </a:r>
            <a:r>
              <a:rPr lang="en-US" dirty="0" err="1">
                <a:sym typeface="Symbol" pitchFamily="18" charset="2"/>
              </a:rPr>
              <a:t>thuật</a:t>
            </a:r>
            <a:r>
              <a:rPr lang="en-US" dirty="0">
                <a:sym typeface="Symbol" pitchFamily="18" charset="2"/>
              </a:rPr>
              <a:t> </a:t>
            </a:r>
            <a:r>
              <a:rPr lang="en-US" dirty="0" err="1">
                <a:sym typeface="Symbol" pitchFamily="18" charset="2"/>
              </a:rPr>
              <a:t>toán</a:t>
            </a:r>
            <a:r>
              <a:rPr lang="en-US" dirty="0">
                <a:sym typeface="Symbol" pitchFamily="18" charset="2"/>
              </a:rPr>
              <a:t> </a:t>
            </a:r>
            <a:r>
              <a:rPr lang="en-US" dirty="0" err="1">
                <a:sym typeface="Symbol" pitchFamily="18" charset="2"/>
              </a:rPr>
              <a:t>hiệu</a:t>
            </a:r>
            <a:r>
              <a:rPr lang="en-US" dirty="0">
                <a:sym typeface="Symbol" pitchFamily="18" charset="2"/>
              </a:rPr>
              <a:t> </a:t>
            </a:r>
            <a:r>
              <a:rPr lang="en-US" dirty="0" err="1">
                <a:sym typeface="Symbol" pitchFamily="18" charset="2"/>
              </a:rPr>
              <a:t>quả</a:t>
            </a:r>
            <a:r>
              <a:rPr lang="en-US" dirty="0">
                <a:sym typeface="Symbol" pitchFamily="18" charset="2"/>
              </a:rPr>
              <a:t> </a:t>
            </a:r>
            <a:r>
              <a:rPr lang="en-US" dirty="0" err="1">
                <a:sym typeface="Symbol" pitchFamily="18" charset="2"/>
              </a:rPr>
              <a:t>xác</a:t>
            </a:r>
            <a:r>
              <a:rPr lang="en-US" dirty="0">
                <a:sym typeface="Symbol" pitchFamily="18" charset="2"/>
              </a:rPr>
              <a:t> </a:t>
            </a:r>
            <a:r>
              <a:rPr lang="en-US" dirty="0" err="1">
                <a:sym typeface="Symbol" pitchFamily="18" charset="2"/>
              </a:rPr>
              <a:t>định</a:t>
            </a:r>
            <a:r>
              <a:rPr lang="en-US" dirty="0">
                <a:sym typeface="Symbol" pitchFamily="18" charset="2"/>
              </a:rPr>
              <a:t> (“efficient” </a:t>
            </a:r>
            <a:r>
              <a:rPr lang="en-US" u="sng" dirty="0">
                <a:sym typeface="Symbol" pitchFamily="18" charset="2"/>
              </a:rPr>
              <a:t>deterministic</a:t>
            </a:r>
            <a:r>
              <a:rPr lang="en-US" dirty="0">
                <a:sym typeface="Symbol" pitchFamily="18" charset="2"/>
              </a:rPr>
              <a:t> algorithm) </a:t>
            </a:r>
            <a:r>
              <a:rPr lang="en-US" dirty="0" err="1">
                <a:sym typeface="Symbol" pitchFamily="18" charset="2"/>
              </a:rPr>
              <a:t>để</a:t>
            </a:r>
            <a:r>
              <a:rPr lang="en-US" dirty="0">
                <a:sym typeface="Symbol" pitchFamily="18" charset="2"/>
              </a:rPr>
              <a:t> </a:t>
            </a:r>
            <a:r>
              <a:rPr lang="en-US" dirty="0" err="1">
                <a:sym typeface="Symbol" pitchFamily="18" charset="2"/>
              </a:rPr>
              <a:t>đánh</a:t>
            </a:r>
            <a:r>
              <a:rPr lang="en-US" dirty="0">
                <a:sym typeface="Symbol" pitchFamily="18" charset="2"/>
              </a:rPr>
              <a:t> </a:t>
            </a:r>
            <a:r>
              <a:rPr lang="en-US" dirty="0" err="1">
                <a:sym typeface="Symbol" pitchFamily="18" charset="2"/>
              </a:rPr>
              <a:t>giá</a:t>
            </a:r>
            <a:r>
              <a:rPr lang="en-US" dirty="0">
                <a:sym typeface="Symbol" pitchFamily="18" charset="2"/>
              </a:rPr>
              <a:t> </a:t>
            </a:r>
            <a:r>
              <a:rPr lang="en-US" dirty="0" err="1">
                <a:sym typeface="Symbol" pitchFamily="18" charset="2"/>
              </a:rPr>
              <a:t>được</a:t>
            </a:r>
            <a:r>
              <a:rPr lang="en-US" dirty="0">
                <a:sym typeface="Symbol" pitchFamily="18" charset="2"/>
              </a:rPr>
              <a:t> E(</a:t>
            </a:r>
            <a:r>
              <a:rPr lang="en-US" dirty="0" err="1">
                <a:sym typeface="Symbol" pitchFamily="18" charset="2"/>
              </a:rPr>
              <a:t>k,x</a:t>
            </a:r>
            <a:r>
              <a:rPr lang="en-US" dirty="0">
                <a:sym typeface="Symbol" pitchFamily="18" charset="2"/>
              </a:rPr>
              <a:t>)</a:t>
            </a:r>
          </a:p>
          <a:p>
            <a:pPr>
              <a:lnSpc>
                <a:spcPct val="120000"/>
              </a:lnSpc>
              <a:buFontTx/>
              <a:buNone/>
            </a:pPr>
            <a:r>
              <a:rPr lang="en-US" dirty="0">
                <a:sym typeface="Symbol" pitchFamily="18" charset="2"/>
              </a:rPr>
              <a:t>		2. </a:t>
            </a:r>
            <a:r>
              <a:rPr lang="en-US" dirty="0" err="1">
                <a:sym typeface="Symbol" pitchFamily="18" charset="2"/>
              </a:rPr>
              <a:t>Hàm</a:t>
            </a:r>
            <a:r>
              <a:rPr lang="en-US" dirty="0">
                <a:sym typeface="Symbol" pitchFamily="18" charset="2"/>
              </a:rPr>
              <a:t> E( k,  ) </a:t>
            </a:r>
            <a:r>
              <a:rPr lang="en-US" dirty="0" err="1">
                <a:sym typeface="Symbol" pitchFamily="18" charset="2"/>
              </a:rPr>
              <a:t>là</a:t>
            </a:r>
            <a:r>
              <a:rPr lang="en-US" dirty="0">
                <a:sym typeface="Symbol" pitchFamily="18" charset="2"/>
              </a:rPr>
              <a:t> </a:t>
            </a:r>
            <a:r>
              <a:rPr lang="en-US" dirty="0" err="1">
                <a:sym typeface="Symbol" pitchFamily="18" charset="2"/>
              </a:rPr>
              <a:t>một</a:t>
            </a:r>
            <a:r>
              <a:rPr lang="en-US" dirty="0">
                <a:sym typeface="Symbol" pitchFamily="18" charset="2"/>
              </a:rPr>
              <a:t> song </a:t>
            </a:r>
            <a:r>
              <a:rPr lang="en-US" dirty="0" err="1">
                <a:sym typeface="Symbol" pitchFamily="18" charset="2"/>
              </a:rPr>
              <a:t>ánh</a:t>
            </a:r>
            <a:r>
              <a:rPr lang="en-US" dirty="0">
                <a:sym typeface="Symbol" pitchFamily="18" charset="2"/>
              </a:rPr>
              <a:t> (one-to-one)</a:t>
            </a:r>
          </a:p>
          <a:p>
            <a:pPr>
              <a:lnSpc>
                <a:spcPct val="120000"/>
              </a:lnSpc>
              <a:buFontTx/>
              <a:buNone/>
            </a:pPr>
            <a:r>
              <a:rPr lang="en-US" dirty="0">
                <a:sym typeface="Symbol" pitchFamily="18" charset="2"/>
              </a:rPr>
              <a:t>		3. </a:t>
            </a:r>
            <a:r>
              <a:rPr lang="en-US" dirty="0" err="1">
                <a:sym typeface="Symbol" pitchFamily="18" charset="2"/>
              </a:rPr>
              <a:t>Tồn</a:t>
            </a:r>
            <a:r>
              <a:rPr lang="en-US" dirty="0">
                <a:sym typeface="Symbol" pitchFamily="18" charset="2"/>
              </a:rPr>
              <a:t> </a:t>
            </a:r>
            <a:r>
              <a:rPr lang="en-US" dirty="0" err="1">
                <a:sym typeface="Symbol" pitchFamily="18" charset="2"/>
              </a:rPr>
              <a:t>tại</a:t>
            </a:r>
            <a:r>
              <a:rPr lang="en-US" dirty="0">
                <a:sym typeface="Symbol" pitchFamily="18" charset="2"/>
              </a:rPr>
              <a:t> </a:t>
            </a:r>
            <a:r>
              <a:rPr lang="en-US" dirty="0" err="1">
                <a:sym typeface="Symbol" pitchFamily="18" charset="2"/>
              </a:rPr>
              <a:t>thuật</a:t>
            </a:r>
            <a:r>
              <a:rPr lang="en-US" dirty="0">
                <a:sym typeface="Symbol" pitchFamily="18" charset="2"/>
              </a:rPr>
              <a:t> </a:t>
            </a:r>
            <a:r>
              <a:rPr lang="en-US" dirty="0" err="1">
                <a:sym typeface="Symbol" pitchFamily="18" charset="2"/>
              </a:rPr>
              <a:t>toán</a:t>
            </a:r>
            <a:r>
              <a:rPr lang="en-US" dirty="0">
                <a:sym typeface="Symbol" pitchFamily="18" charset="2"/>
              </a:rPr>
              <a:t> </a:t>
            </a:r>
            <a:r>
              <a:rPr lang="en-US" dirty="0" err="1">
                <a:sym typeface="Symbol" pitchFamily="18" charset="2"/>
              </a:rPr>
              <a:t>nghịch</a:t>
            </a:r>
            <a:r>
              <a:rPr lang="en-US" dirty="0">
                <a:sym typeface="Symbol" pitchFamily="18" charset="2"/>
              </a:rPr>
              <a:t> </a:t>
            </a:r>
            <a:r>
              <a:rPr lang="en-US" dirty="0" err="1">
                <a:sym typeface="Symbol" pitchFamily="18" charset="2"/>
              </a:rPr>
              <a:t>đảo</a:t>
            </a:r>
            <a:r>
              <a:rPr lang="en-US" dirty="0">
                <a:sym typeface="Symbol" pitchFamily="18" charset="2"/>
              </a:rPr>
              <a:t> </a:t>
            </a:r>
            <a:r>
              <a:rPr lang="en-US" dirty="0" err="1">
                <a:sym typeface="Symbol" pitchFamily="18" charset="2"/>
              </a:rPr>
              <a:t>hiệu</a:t>
            </a:r>
            <a:r>
              <a:rPr lang="en-US" dirty="0">
                <a:sym typeface="Symbol" pitchFamily="18" charset="2"/>
              </a:rPr>
              <a:t> </a:t>
            </a:r>
            <a:r>
              <a:rPr lang="en-US" dirty="0" err="1">
                <a:sym typeface="Symbol" pitchFamily="18" charset="2"/>
              </a:rPr>
              <a:t>quả</a:t>
            </a:r>
            <a:r>
              <a:rPr lang="en-US" dirty="0">
                <a:sym typeface="Symbol" pitchFamily="18" charset="2"/>
              </a:rPr>
              <a:t> (“efficient” inversion algorithm) D(</a:t>
            </a:r>
            <a:r>
              <a:rPr lang="en-US" dirty="0" err="1">
                <a:sym typeface="Symbol" pitchFamily="18" charset="2"/>
              </a:rPr>
              <a:t>k,x</a:t>
            </a:r>
            <a:r>
              <a:rPr lang="en-US" dirty="0">
                <a:sym typeface="Symbol" pitchFamily="18" charset="2"/>
              </a:rPr>
              <a:t>)</a:t>
            </a:r>
          </a:p>
        </p:txBody>
      </p:sp>
    </p:spTree>
    <p:extLst>
      <p:ext uri="{BB962C8B-B14F-4D97-AF65-F5344CB8AC3E}">
        <p14:creationId xmlns:p14="http://schemas.microsoft.com/office/powerpoint/2010/main" val="973700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dirty="0"/>
              <a:t>PRFs </a:t>
            </a:r>
            <a:r>
              <a:rPr lang="en-US" dirty="0" err="1"/>
              <a:t>bảo</a:t>
            </a:r>
            <a:r>
              <a:rPr lang="en-US" dirty="0"/>
              <a:t> </a:t>
            </a:r>
            <a:r>
              <a:rPr lang="en-US" dirty="0" err="1"/>
              <a:t>mật</a:t>
            </a:r>
            <a:r>
              <a:rPr lang="en-US" dirty="0"/>
              <a:t> (</a:t>
            </a:r>
            <a:r>
              <a:rPr lang="en-US" b="1" dirty="0"/>
              <a:t>Secure PRFs)</a:t>
            </a:r>
          </a:p>
        </p:txBody>
      </p:sp>
      <p:sp>
        <p:nvSpPr>
          <p:cNvPr id="25603" name="Rectangle 3"/>
          <p:cNvSpPr>
            <a:spLocks noGrp="1" noChangeArrowheads="1"/>
          </p:cNvSpPr>
          <p:nvPr>
            <p:ph sz="quarter" idx="13"/>
          </p:nvPr>
        </p:nvSpPr>
        <p:spPr>
          <a:xfrm>
            <a:off x="297594" y="860952"/>
            <a:ext cx="8674100" cy="5303393"/>
          </a:xfrm>
        </p:spPr>
        <p:txBody>
          <a:bodyPr/>
          <a:lstStyle/>
          <a:p>
            <a:r>
              <a:rPr lang="en-US" dirty="0"/>
              <a:t>Cho    F:  K </a:t>
            </a:r>
            <a:r>
              <a:rPr lang="en-US" dirty="0">
                <a:sym typeface="Symbol" pitchFamily="18" charset="2"/>
              </a:rPr>
              <a:t> X    Y   </a:t>
            </a:r>
            <a:r>
              <a:rPr lang="en-US" dirty="0" err="1">
                <a:sym typeface="Symbol" pitchFamily="18" charset="2"/>
              </a:rPr>
              <a:t>là</a:t>
            </a:r>
            <a:r>
              <a:rPr lang="en-US" dirty="0">
                <a:sym typeface="Symbol" pitchFamily="18" charset="2"/>
              </a:rPr>
              <a:t> </a:t>
            </a:r>
            <a:r>
              <a:rPr lang="en-US" dirty="0" err="1">
                <a:sym typeface="Symbol" pitchFamily="18" charset="2"/>
              </a:rPr>
              <a:t>một</a:t>
            </a:r>
            <a:r>
              <a:rPr lang="en-US" dirty="0">
                <a:sym typeface="Symbol" pitchFamily="18" charset="2"/>
              </a:rPr>
              <a:t> PRF</a:t>
            </a:r>
          </a:p>
          <a:p>
            <a:pPr>
              <a:spcBef>
                <a:spcPct val="50000"/>
              </a:spcBef>
              <a:buFontTx/>
              <a:buNone/>
            </a:pPr>
            <a:r>
              <a:rPr lang="en-US" dirty="0"/>
              <a:t>		Funs[X,Y]:   </a:t>
            </a:r>
            <a:r>
              <a:rPr lang="en-US" dirty="0" err="1"/>
              <a:t>là</a:t>
            </a:r>
            <a:r>
              <a:rPr lang="en-US" dirty="0"/>
              <a:t> </a:t>
            </a:r>
            <a:r>
              <a:rPr lang="en-US" dirty="0" err="1"/>
              <a:t>tập</a:t>
            </a:r>
            <a:r>
              <a:rPr lang="en-US" dirty="0"/>
              <a:t> </a:t>
            </a:r>
            <a:r>
              <a:rPr lang="en-US" dirty="0" err="1"/>
              <a:t>các</a:t>
            </a:r>
            <a:r>
              <a:rPr lang="en-US" dirty="0"/>
              <a:t> </a:t>
            </a:r>
            <a:r>
              <a:rPr lang="en-US" dirty="0" err="1"/>
              <a:t>hàm</a:t>
            </a:r>
            <a:r>
              <a:rPr lang="en-US" dirty="0"/>
              <a:t> </a:t>
            </a:r>
            <a:r>
              <a:rPr lang="en-US" dirty="0" err="1"/>
              <a:t>từ</a:t>
            </a:r>
            <a:r>
              <a:rPr lang="en-US" dirty="0"/>
              <a:t>  X </a:t>
            </a:r>
            <a:r>
              <a:rPr lang="en-US" dirty="0" err="1"/>
              <a:t>thành</a:t>
            </a:r>
            <a:r>
              <a:rPr lang="en-US" dirty="0"/>
              <a:t> Y</a:t>
            </a:r>
          </a:p>
          <a:p>
            <a:pPr>
              <a:spcBef>
                <a:spcPct val="50000"/>
              </a:spcBef>
              <a:buFontTx/>
              <a:buNone/>
            </a:pPr>
            <a:r>
              <a:rPr lang="en-US" dirty="0">
                <a:sym typeface="Symbol" pitchFamily="18" charset="2"/>
              </a:rPr>
              <a:t>		S</a:t>
            </a:r>
            <a:r>
              <a:rPr lang="en-US" baseline="-25000" dirty="0">
                <a:sym typeface="Symbol" pitchFamily="18" charset="2"/>
              </a:rPr>
              <a:t>F</a:t>
            </a:r>
            <a:r>
              <a:rPr lang="en-US" dirty="0">
                <a:sym typeface="Symbol" pitchFamily="18" charset="2"/>
              </a:rPr>
              <a:t> =  {  F(k,</a:t>
            </a:r>
            <a:r>
              <a:rPr lang="en-US" b="1" dirty="0">
                <a:sym typeface="Symbol" pitchFamily="18" charset="2"/>
              </a:rPr>
              <a:t></a:t>
            </a:r>
            <a:r>
              <a:rPr lang="en-US" dirty="0">
                <a:sym typeface="Symbol" pitchFamily="18" charset="2"/>
              </a:rPr>
              <a:t>)   </a:t>
            </a:r>
            <a:r>
              <a:rPr lang="en-US" dirty="0" err="1">
                <a:sym typeface="Symbol" pitchFamily="18" charset="2"/>
              </a:rPr>
              <a:t>s.t.</a:t>
            </a:r>
            <a:r>
              <a:rPr lang="en-US" dirty="0">
                <a:sym typeface="Symbol" pitchFamily="18" charset="2"/>
              </a:rPr>
              <a:t>   k  K  }           Funs[X,Y]</a:t>
            </a:r>
          </a:p>
          <a:p>
            <a:pPr>
              <a:spcBef>
                <a:spcPts val="2232"/>
              </a:spcBef>
            </a:pPr>
            <a:endParaRPr lang="en-US" u="sng" dirty="0">
              <a:sym typeface="Symbol" pitchFamily="18" charset="2"/>
            </a:endParaRPr>
          </a:p>
          <a:p>
            <a:pPr>
              <a:spcBef>
                <a:spcPts val="2232"/>
              </a:spcBef>
            </a:pPr>
            <a:r>
              <a:rPr lang="en-US" u="sng" dirty="0">
                <a:sym typeface="Symbol" pitchFamily="18" charset="2"/>
              </a:rPr>
              <a:t>Intuition</a:t>
            </a:r>
            <a:r>
              <a:rPr lang="en-US" dirty="0">
                <a:sym typeface="Symbol" pitchFamily="18" charset="2"/>
              </a:rPr>
              <a:t>:   a PRF is </a:t>
            </a:r>
            <a:r>
              <a:rPr lang="en-US" b="1" dirty="0">
                <a:sym typeface="Symbol" pitchFamily="18" charset="2"/>
              </a:rPr>
              <a:t>secure</a:t>
            </a:r>
            <a:r>
              <a:rPr lang="en-US" dirty="0">
                <a:sym typeface="Symbol" pitchFamily="18" charset="2"/>
              </a:rPr>
              <a:t> if </a:t>
            </a:r>
            <a:br>
              <a:rPr lang="en-US" dirty="0">
                <a:sym typeface="Symbol" pitchFamily="18" charset="2"/>
              </a:rPr>
            </a:br>
            <a:r>
              <a:rPr lang="en-US" dirty="0" err="1">
                <a:sym typeface="Symbol" pitchFamily="18" charset="2"/>
              </a:rPr>
              <a:t>Một</a:t>
            </a:r>
            <a:r>
              <a:rPr lang="en-US" dirty="0">
                <a:sym typeface="Symbol" pitchFamily="18" charset="2"/>
              </a:rPr>
              <a:t> </a:t>
            </a:r>
            <a:r>
              <a:rPr lang="en-US" dirty="0" err="1">
                <a:sym typeface="Symbol" pitchFamily="18" charset="2"/>
              </a:rPr>
              <a:t>hàm</a:t>
            </a:r>
            <a:r>
              <a:rPr lang="en-US" dirty="0">
                <a:sym typeface="Symbol" pitchFamily="18" charset="2"/>
              </a:rPr>
              <a:t> </a:t>
            </a:r>
            <a:r>
              <a:rPr lang="en-US" dirty="0" err="1">
                <a:sym typeface="Symbol" pitchFamily="18" charset="2"/>
              </a:rPr>
              <a:t>ngẫu</a:t>
            </a:r>
            <a:r>
              <a:rPr lang="en-US" dirty="0">
                <a:sym typeface="Symbol" pitchFamily="18" charset="2"/>
              </a:rPr>
              <a:t> </a:t>
            </a:r>
            <a:r>
              <a:rPr lang="en-US" dirty="0" err="1">
                <a:sym typeface="Symbol" pitchFamily="18" charset="2"/>
              </a:rPr>
              <a:t>nhiên</a:t>
            </a:r>
            <a:r>
              <a:rPr lang="en-US" dirty="0">
                <a:sym typeface="Symbol" pitchFamily="18" charset="2"/>
              </a:rPr>
              <a:t> </a:t>
            </a:r>
            <a:r>
              <a:rPr lang="en-US" dirty="0" err="1">
                <a:sym typeface="Symbol" pitchFamily="18" charset="2"/>
              </a:rPr>
              <a:t>trong</a:t>
            </a:r>
            <a:r>
              <a:rPr lang="en-US" dirty="0">
                <a:sym typeface="Symbol" pitchFamily="18" charset="2"/>
              </a:rPr>
              <a:t> </a:t>
            </a:r>
            <a:r>
              <a:rPr lang="en-US" dirty="0"/>
              <a:t>Funs[X,Y] </a:t>
            </a:r>
            <a:r>
              <a:rPr lang="en-US" dirty="0" err="1"/>
              <a:t>là</a:t>
            </a:r>
            <a:r>
              <a:rPr lang="en-US" dirty="0"/>
              <a:t> </a:t>
            </a:r>
            <a:r>
              <a:rPr lang="en-US" dirty="0" err="1"/>
              <a:t>không</a:t>
            </a:r>
            <a:r>
              <a:rPr lang="en-US" dirty="0"/>
              <a:t> </a:t>
            </a:r>
            <a:r>
              <a:rPr lang="en-US" dirty="0" err="1"/>
              <a:t>thể</a:t>
            </a:r>
            <a:r>
              <a:rPr lang="en-US" dirty="0"/>
              <a:t> </a:t>
            </a:r>
            <a:r>
              <a:rPr lang="en-US" dirty="0" err="1"/>
              <a:t>phân</a:t>
            </a:r>
            <a:r>
              <a:rPr lang="en-US" dirty="0"/>
              <a:t> </a:t>
            </a:r>
            <a:r>
              <a:rPr lang="en-US" dirty="0" err="1"/>
              <a:t>biệt</a:t>
            </a:r>
            <a:r>
              <a:rPr lang="en-US" dirty="0"/>
              <a:t> </a:t>
            </a:r>
            <a:r>
              <a:rPr lang="en-US" dirty="0" err="1"/>
              <a:t>với</a:t>
            </a:r>
            <a:r>
              <a:rPr lang="en-US" dirty="0"/>
              <a:t> </a:t>
            </a:r>
            <a:r>
              <a:rPr lang="en-US" dirty="0" err="1"/>
              <a:t>một</a:t>
            </a:r>
            <a:r>
              <a:rPr lang="en-US" dirty="0"/>
              <a:t> </a:t>
            </a:r>
            <a:r>
              <a:rPr lang="en-US" dirty="0" err="1"/>
              <a:t>hàm</a:t>
            </a:r>
            <a:r>
              <a:rPr lang="en-US" dirty="0"/>
              <a:t> </a:t>
            </a:r>
            <a:r>
              <a:rPr lang="en-US" dirty="0" err="1"/>
              <a:t>ngẫu</a:t>
            </a:r>
            <a:r>
              <a:rPr lang="en-US" dirty="0"/>
              <a:t> </a:t>
            </a:r>
            <a:r>
              <a:rPr lang="en-US" dirty="0" err="1"/>
              <a:t>nhiên</a:t>
            </a:r>
            <a:r>
              <a:rPr lang="en-US" dirty="0"/>
              <a:t> </a:t>
            </a:r>
            <a:r>
              <a:rPr lang="en-US" dirty="0" err="1"/>
              <a:t>trong</a:t>
            </a:r>
            <a:r>
              <a:rPr lang="en-US" dirty="0"/>
              <a:t> S</a:t>
            </a:r>
            <a:r>
              <a:rPr lang="en-US" baseline="-25000" dirty="0"/>
              <a:t>F</a:t>
            </a:r>
            <a:endParaRPr lang="en-US" dirty="0">
              <a:sym typeface="Symbol" pitchFamily="18" charset="2"/>
            </a:endParaRPr>
          </a:p>
          <a:p>
            <a:endParaRPr lang="en-US" dirty="0"/>
          </a:p>
        </p:txBody>
      </p:sp>
      <p:grpSp>
        <p:nvGrpSpPr>
          <p:cNvPr id="3" name="Group 2">
            <a:extLst>
              <a:ext uri="{FF2B5EF4-FFF2-40B4-BE49-F238E27FC236}">
                <a16:creationId xmlns:a16="http://schemas.microsoft.com/office/drawing/2014/main" id="{ACBE8BED-C271-0A27-D318-001A1D1EB523}"/>
              </a:ext>
            </a:extLst>
          </p:cNvPr>
          <p:cNvGrpSpPr/>
          <p:nvPr/>
        </p:nvGrpSpPr>
        <p:grpSpPr>
          <a:xfrm>
            <a:off x="1066800" y="4705352"/>
            <a:ext cx="7487992" cy="1511983"/>
            <a:chOff x="1066800" y="4362266"/>
            <a:chExt cx="7487992" cy="1511983"/>
          </a:xfrm>
        </p:grpSpPr>
        <p:grpSp>
          <p:nvGrpSpPr>
            <p:cNvPr id="2" name="Group 1"/>
            <p:cNvGrpSpPr/>
            <p:nvPr/>
          </p:nvGrpSpPr>
          <p:grpSpPr>
            <a:xfrm>
              <a:off x="1066800" y="4648202"/>
              <a:ext cx="2167012" cy="1226047"/>
              <a:chOff x="6396038" y="3714750"/>
              <a:chExt cx="2167012" cy="1226046"/>
            </a:xfrm>
          </p:grpSpPr>
          <p:sp>
            <p:nvSpPr>
              <p:cNvPr id="25605" name="Oval 5"/>
              <p:cNvSpPr>
                <a:spLocks noChangeAspect="1" noChangeArrowheads="1"/>
              </p:cNvSpPr>
              <p:nvPr/>
            </p:nvSpPr>
            <p:spPr bwMode="auto">
              <a:xfrm>
                <a:off x="6396038" y="3714750"/>
                <a:ext cx="684212" cy="513160"/>
              </a:xfrm>
              <a:prstGeom prst="ellipse">
                <a:avLst/>
              </a:prstGeom>
              <a:solidFill>
                <a:schemeClr val="accent1"/>
              </a:solidFill>
              <a:ln w="9525">
                <a:solidFill>
                  <a:schemeClr val="tx1"/>
                </a:solidFill>
                <a:round/>
                <a:headEnd/>
                <a:tailEnd/>
              </a:ln>
              <a:effectLst/>
            </p:spPr>
            <p:txBody>
              <a:bodyPr wrap="none" anchor="ctr"/>
              <a:lstStyle/>
              <a:p>
                <a:pPr algn="ctr"/>
                <a:endParaRPr lang="en-US" sz="2400"/>
              </a:p>
            </p:txBody>
          </p:sp>
          <p:sp>
            <p:nvSpPr>
              <p:cNvPr id="25606" name="Text Box 6"/>
              <p:cNvSpPr txBox="1">
                <a:spLocks noChangeArrowheads="1"/>
              </p:cNvSpPr>
              <p:nvPr/>
            </p:nvSpPr>
            <p:spPr bwMode="auto">
              <a:xfrm>
                <a:off x="6477001" y="3714750"/>
                <a:ext cx="420308" cy="461665"/>
              </a:xfrm>
              <a:prstGeom prst="rect">
                <a:avLst/>
              </a:prstGeom>
              <a:noFill/>
              <a:ln w="9525">
                <a:noFill/>
                <a:miter lim="800000"/>
                <a:headEnd/>
                <a:tailEnd/>
              </a:ln>
              <a:effectLst/>
            </p:spPr>
            <p:txBody>
              <a:bodyPr wrap="none">
                <a:spAutoFit/>
              </a:bodyPr>
              <a:lstStyle/>
              <a:p>
                <a:r>
                  <a:rPr lang="en-US" sz="2400"/>
                  <a:t>S</a:t>
                </a:r>
                <a:r>
                  <a:rPr lang="en-US" sz="2400" baseline="-25000"/>
                  <a:t>F</a:t>
                </a:r>
                <a:endParaRPr lang="en-US" sz="2400">
                  <a:sym typeface="Symbol" pitchFamily="18" charset="2"/>
                </a:endParaRPr>
              </a:p>
            </p:txBody>
          </p:sp>
          <p:sp>
            <p:nvSpPr>
              <p:cNvPr id="25608" name="Line 8"/>
              <p:cNvSpPr>
                <a:spLocks noChangeShapeType="1"/>
              </p:cNvSpPr>
              <p:nvPr/>
            </p:nvSpPr>
            <p:spPr bwMode="auto">
              <a:xfrm flipH="1" flipV="1">
                <a:off x="6853238" y="4057650"/>
                <a:ext cx="685800" cy="457200"/>
              </a:xfrm>
              <a:prstGeom prst="line">
                <a:avLst/>
              </a:prstGeom>
              <a:noFill/>
              <a:ln w="9525">
                <a:solidFill>
                  <a:schemeClr val="tx1"/>
                </a:solidFill>
                <a:round/>
                <a:headEnd/>
                <a:tailEnd type="triangle" w="med" len="med"/>
              </a:ln>
              <a:effectLst/>
            </p:spPr>
            <p:txBody>
              <a:bodyPr/>
              <a:lstStyle/>
              <a:p>
                <a:endParaRPr lang="en-US"/>
              </a:p>
            </p:txBody>
          </p:sp>
          <p:sp>
            <p:nvSpPr>
              <p:cNvPr id="25609" name="Text Box 9"/>
              <p:cNvSpPr txBox="1">
                <a:spLocks noChangeArrowheads="1"/>
              </p:cNvSpPr>
              <p:nvPr/>
            </p:nvSpPr>
            <p:spPr bwMode="auto">
              <a:xfrm>
                <a:off x="7386638" y="4479131"/>
                <a:ext cx="1176412" cy="461665"/>
              </a:xfrm>
              <a:prstGeom prst="rect">
                <a:avLst/>
              </a:prstGeom>
              <a:noFill/>
              <a:ln w="9525">
                <a:noFill/>
                <a:miter lim="800000"/>
                <a:headEnd/>
                <a:tailEnd/>
              </a:ln>
              <a:effectLst/>
            </p:spPr>
            <p:txBody>
              <a:bodyPr wrap="none">
                <a:spAutoFit/>
              </a:bodyPr>
              <a:lstStyle/>
              <a:p>
                <a:r>
                  <a:rPr lang="en-US" sz="2400"/>
                  <a:t>Size |K|</a:t>
                </a:r>
              </a:p>
            </p:txBody>
          </p:sp>
        </p:grpSp>
        <p:grpSp>
          <p:nvGrpSpPr>
            <p:cNvPr id="25615" name="Group 15"/>
            <p:cNvGrpSpPr>
              <a:grpSpLocks/>
            </p:cNvGrpSpPr>
            <p:nvPr/>
          </p:nvGrpSpPr>
          <p:grpSpPr bwMode="auto">
            <a:xfrm>
              <a:off x="4364182" y="4362266"/>
              <a:ext cx="4190610" cy="1449032"/>
              <a:chOff x="1200" y="2688"/>
              <a:chExt cx="2653" cy="1488"/>
            </a:xfrm>
          </p:grpSpPr>
          <p:sp>
            <p:nvSpPr>
              <p:cNvPr id="25604" name="Oval 4"/>
              <p:cNvSpPr>
                <a:spLocks noChangeAspect="1" noChangeArrowheads="1"/>
              </p:cNvSpPr>
              <p:nvPr/>
            </p:nvSpPr>
            <p:spPr bwMode="auto">
              <a:xfrm>
                <a:off x="1200" y="2688"/>
                <a:ext cx="1487" cy="1488"/>
              </a:xfrm>
              <a:prstGeom prst="ellipse">
                <a:avLst/>
              </a:prstGeom>
              <a:solidFill>
                <a:schemeClr val="accent1"/>
              </a:solidFill>
              <a:ln w="9525">
                <a:solidFill>
                  <a:schemeClr val="tx1"/>
                </a:solidFill>
                <a:round/>
                <a:headEnd/>
                <a:tailEnd/>
              </a:ln>
              <a:effectLst/>
            </p:spPr>
            <p:txBody>
              <a:bodyPr wrap="none" anchor="ctr"/>
              <a:lstStyle/>
              <a:p>
                <a:pPr algn="ctr"/>
                <a:r>
                  <a:rPr lang="en-US" sz="2400"/>
                  <a:t>Funs[X,Y]</a:t>
                </a:r>
              </a:p>
            </p:txBody>
          </p:sp>
          <p:sp>
            <p:nvSpPr>
              <p:cNvPr id="25611" name="Line 11"/>
              <p:cNvSpPr>
                <a:spLocks noChangeShapeType="1"/>
              </p:cNvSpPr>
              <p:nvPr/>
            </p:nvSpPr>
            <p:spPr bwMode="auto">
              <a:xfrm flipH="1" flipV="1">
                <a:off x="2448" y="3630"/>
                <a:ext cx="480" cy="210"/>
              </a:xfrm>
              <a:prstGeom prst="line">
                <a:avLst/>
              </a:prstGeom>
              <a:noFill/>
              <a:ln w="9525">
                <a:solidFill>
                  <a:schemeClr val="tx1"/>
                </a:solidFill>
                <a:round/>
                <a:headEnd/>
                <a:tailEnd type="triangle" w="med" len="med"/>
              </a:ln>
              <a:effectLst/>
            </p:spPr>
            <p:txBody>
              <a:bodyPr/>
              <a:lstStyle/>
              <a:p>
                <a:endParaRPr lang="en-US"/>
              </a:p>
            </p:txBody>
          </p:sp>
          <p:sp>
            <p:nvSpPr>
              <p:cNvPr id="25612" name="Text Box 12"/>
              <p:cNvSpPr txBox="1">
                <a:spLocks noChangeArrowheads="1"/>
              </p:cNvSpPr>
              <p:nvPr/>
            </p:nvSpPr>
            <p:spPr bwMode="auto">
              <a:xfrm>
                <a:off x="2928" y="3584"/>
                <a:ext cx="925" cy="474"/>
              </a:xfrm>
              <a:prstGeom prst="rect">
                <a:avLst/>
              </a:prstGeom>
              <a:noFill/>
              <a:ln w="9525">
                <a:noFill/>
                <a:miter lim="800000"/>
                <a:headEnd/>
                <a:tailEnd/>
              </a:ln>
              <a:effectLst/>
            </p:spPr>
            <p:txBody>
              <a:bodyPr wrap="none">
                <a:spAutoFit/>
              </a:bodyPr>
              <a:lstStyle/>
              <a:p>
                <a:r>
                  <a:rPr lang="en-US" sz="2400" dirty="0"/>
                  <a:t>Size |Y|</a:t>
                </a:r>
                <a:r>
                  <a:rPr lang="en-US" sz="2400" baseline="60000" dirty="0"/>
                  <a:t>|X|</a:t>
                </a:r>
              </a:p>
            </p:txBody>
          </p:sp>
        </p:grpSp>
      </p:grpSp>
      <p:sp>
        <p:nvSpPr>
          <p:cNvPr id="25613" name="AutoShape 13"/>
          <p:cNvSpPr>
            <a:spLocks/>
          </p:cNvSpPr>
          <p:nvPr/>
        </p:nvSpPr>
        <p:spPr bwMode="auto">
          <a:xfrm>
            <a:off x="669967" y="2057400"/>
            <a:ext cx="228600" cy="1066800"/>
          </a:xfrm>
          <a:prstGeom prst="leftBrace">
            <a:avLst>
              <a:gd name="adj1" fmla="val 36111"/>
              <a:gd name="adj2" fmla="val 50000"/>
            </a:avLst>
          </a:prstGeom>
          <a:noFill/>
          <a:ln w="9525">
            <a:solidFill>
              <a:schemeClr val="tx1"/>
            </a:solidFill>
            <a:round/>
            <a:headEnd/>
            <a:tailEnd/>
          </a:ln>
          <a:effectLst/>
        </p:spPr>
        <p:txBody>
          <a:bodyPr wrap="none" anchor="ctr"/>
          <a:lstStyle/>
          <a:p>
            <a:endParaRPr lang="en-US"/>
          </a:p>
        </p:txBody>
      </p:sp>
      <p:sp>
        <p:nvSpPr>
          <p:cNvPr id="25616" name="Line 16"/>
          <p:cNvSpPr>
            <a:spLocks noChangeShapeType="1"/>
          </p:cNvSpPr>
          <p:nvPr/>
        </p:nvSpPr>
        <p:spPr bwMode="auto">
          <a:xfrm>
            <a:off x="0" y="3352800"/>
            <a:ext cx="9144000" cy="0"/>
          </a:xfrm>
          <a:prstGeom prst="line">
            <a:avLst/>
          </a:prstGeom>
          <a:noFill/>
          <a:ln w="9525">
            <a:solidFill>
              <a:schemeClr val="tx1"/>
            </a:solidFill>
            <a:round/>
            <a:headEnd/>
            <a:tailEnd/>
          </a:ln>
          <a:effectLst/>
        </p:spPr>
        <p:txBody>
          <a:bodyPr/>
          <a:lstStyle/>
          <a:p>
            <a:endParaRPr lang="en-US"/>
          </a:p>
        </p:txBody>
      </p:sp>
    </p:spTree>
    <p:extLst>
      <p:ext uri="{BB962C8B-B14F-4D97-AF65-F5344CB8AC3E}">
        <p14:creationId xmlns:p14="http://schemas.microsoft.com/office/powerpoint/2010/main" val="991492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dirty="0"/>
              <a:t>Secure PRF:  definition</a:t>
            </a:r>
          </a:p>
        </p:txBody>
      </p:sp>
      <p:sp>
        <p:nvSpPr>
          <p:cNvPr id="6147" name="Rectangle 3"/>
          <p:cNvSpPr>
            <a:spLocks noGrp="1" noChangeArrowheads="1"/>
          </p:cNvSpPr>
          <p:nvPr>
            <p:ph sz="quarter" idx="13"/>
          </p:nvPr>
        </p:nvSpPr>
        <p:spPr>
          <a:xfrm>
            <a:off x="235077" y="841247"/>
            <a:ext cx="8674100" cy="5381753"/>
          </a:xfrm>
        </p:spPr>
        <p:txBody>
          <a:bodyPr>
            <a:normAutofit lnSpcReduction="10000"/>
          </a:bodyPr>
          <a:lstStyle/>
          <a:p>
            <a:r>
              <a:rPr lang="en-US" dirty="0"/>
              <a:t>Cho b=0,1   </a:t>
            </a:r>
            <a:r>
              <a:rPr lang="en-US" dirty="0" err="1"/>
              <a:t>định</a:t>
            </a:r>
            <a:r>
              <a:rPr lang="en-US" dirty="0"/>
              <a:t> </a:t>
            </a:r>
            <a:r>
              <a:rPr lang="en-US" dirty="0" err="1"/>
              <a:t>nghĩa</a:t>
            </a:r>
            <a:r>
              <a:rPr lang="en-US" dirty="0"/>
              <a:t> </a:t>
            </a:r>
            <a:r>
              <a:rPr lang="en-US" dirty="0" err="1"/>
              <a:t>phép</a:t>
            </a:r>
            <a:r>
              <a:rPr lang="en-US" dirty="0"/>
              <a:t> </a:t>
            </a:r>
            <a:r>
              <a:rPr lang="en-US" dirty="0" err="1"/>
              <a:t>kiểm</a:t>
            </a:r>
            <a:r>
              <a:rPr lang="en-US" dirty="0"/>
              <a:t> </a:t>
            </a:r>
            <a:r>
              <a:rPr lang="en-US" dirty="0" err="1"/>
              <a:t>định</a:t>
            </a:r>
            <a:r>
              <a:rPr lang="en-US" dirty="0"/>
              <a:t> EXP(b)  </a:t>
            </a:r>
            <a:r>
              <a:rPr lang="en-US" dirty="0" err="1"/>
              <a:t>như</a:t>
            </a:r>
            <a:r>
              <a:rPr lang="en-US" dirty="0"/>
              <a:t> </a:t>
            </a:r>
            <a:r>
              <a:rPr lang="en-US" dirty="0" err="1"/>
              <a:t>sau</a:t>
            </a:r>
            <a:r>
              <a:rPr lang="en-US" dirty="0"/>
              <a:t>:</a:t>
            </a:r>
          </a:p>
          <a:p>
            <a:endParaRPr lang="en-US" dirty="0"/>
          </a:p>
          <a:p>
            <a:endParaRPr lang="en-US" dirty="0"/>
          </a:p>
          <a:p>
            <a:endParaRPr lang="en-US" dirty="0"/>
          </a:p>
          <a:p>
            <a:endParaRPr lang="en-US" dirty="0"/>
          </a:p>
          <a:p>
            <a:endParaRPr lang="en-US" dirty="0"/>
          </a:p>
          <a:p>
            <a:pPr marL="0" indent="0">
              <a:buNone/>
            </a:pPr>
            <a:endParaRPr lang="en-US" dirty="0"/>
          </a:p>
          <a:p>
            <a:pPr>
              <a:spcBef>
                <a:spcPts val="0"/>
              </a:spcBef>
            </a:pPr>
            <a:r>
              <a:rPr lang="en-US" dirty="0" err="1"/>
              <a:t>Định</a:t>
            </a:r>
            <a:r>
              <a:rPr lang="en-US" dirty="0"/>
              <a:t> </a:t>
            </a:r>
            <a:r>
              <a:rPr lang="en-US" dirty="0" err="1"/>
              <a:t>nghĩa</a:t>
            </a:r>
            <a:r>
              <a:rPr lang="en-US" dirty="0"/>
              <a:t>:  F </a:t>
            </a:r>
            <a:r>
              <a:rPr lang="en-US" dirty="0" err="1"/>
              <a:t>là</a:t>
            </a:r>
            <a:r>
              <a:rPr lang="en-US" dirty="0"/>
              <a:t> </a:t>
            </a:r>
            <a:r>
              <a:rPr lang="en-US" dirty="0" err="1"/>
              <a:t>một</a:t>
            </a:r>
            <a:r>
              <a:rPr lang="en-US" dirty="0"/>
              <a:t> </a:t>
            </a:r>
            <a:r>
              <a:rPr lang="en-US" dirty="0" err="1"/>
              <a:t>hàm</a:t>
            </a:r>
            <a:r>
              <a:rPr lang="en-US" dirty="0"/>
              <a:t> PRF </a:t>
            </a:r>
            <a:r>
              <a:rPr lang="en-US" dirty="0" err="1"/>
              <a:t>bảo</a:t>
            </a:r>
            <a:r>
              <a:rPr lang="en-US" dirty="0"/>
              <a:t> </a:t>
            </a:r>
            <a:r>
              <a:rPr lang="en-US" dirty="0" err="1"/>
              <a:t>mật</a:t>
            </a:r>
            <a:r>
              <a:rPr lang="en-US" dirty="0"/>
              <a:t> </a:t>
            </a:r>
            <a:r>
              <a:rPr lang="en-US" dirty="0" err="1"/>
              <a:t>nếu</a:t>
            </a:r>
            <a:r>
              <a:rPr lang="en-US" dirty="0"/>
              <a:t> </a:t>
            </a:r>
            <a:r>
              <a:rPr lang="en-US" dirty="0" err="1"/>
              <a:t>mọi</a:t>
            </a:r>
            <a:r>
              <a:rPr lang="en-US" dirty="0"/>
              <a:t> </a:t>
            </a:r>
            <a:r>
              <a:rPr lang="en-US" dirty="0" err="1"/>
              <a:t>thuật</a:t>
            </a:r>
            <a:r>
              <a:rPr lang="en-US" dirty="0"/>
              <a:t> </a:t>
            </a:r>
            <a:r>
              <a:rPr lang="en-US" dirty="0" err="1"/>
              <a:t>toán</a:t>
            </a:r>
            <a:r>
              <a:rPr lang="en-US" dirty="0"/>
              <a:t> </a:t>
            </a:r>
            <a:r>
              <a:rPr lang="en-US" dirty="0" err="1"/>
              <a:t>hiệu</a:t>
            </a:r>
            <a:r>
              <a:rPr lang="en-US" dirty="0"/>
              <a:t> </a:t>
            </a:r>
            <a:r>
              <a:rPr lang="en-US" dirty="0" err="1"/>
              <a:t>quả</a:t>
            </a:r>
            <a:r>
              <a:rPr lang="en-US" dirty="0"/>
              <a:t> A </a:t>
            </a:r>
            <a:r>
              <a:rPr lang="en-US" dirty="0" err="1"/>
              <a:t>có</a:t>
            </a:r>
            <a:r>
              <a:rPr lang="en-US" dirty="0"/>
              <a:t> </a:t>
            </a:r>
            <a:r>
              <a:rPr lang="en-US" dirty="0" err="1"/>
              <a:t>độ</a:t>
            </a:r>
            <a:r>
              <a:rPr lang="en-US" dirty="0"/>
              <a:t> </a:t>
            </a:r>
            <a:r>
              <a:rPr lang="en-US" dirty="0" err="1"/>
              <a:t>lợi</a:t>
            </a:r>
            <a:r>
              <a:rPr lang="en-US" dirty="0"/>
              <a:t> </a:t>
            </a:r>
            <a:r>
              <a:rPr lang="en-US" dirty="0" err="1"/>
              <a:t>thế</a:t>
            </a:r>
            <a:r>
              <a:rPr lang="en-US" dirty="0"/>
              <a:t>: </a:t>
            </a:r>
          </a:p>
          <a:p>
            <a:pPr marL="0" indent="0">
              <a:spcBef>
                <a:spcPts val="0"/>
              </a:spcBef>
              <a:buNone/>
            </a:pPr>
            <a:r>
              <a:rPr lang="en-US" dirty="0">
                <a:solidFill>
                  <a:schemeClr val="accent2"/>
                </a:solidFill>
              </a:rPr>
              <a:t>	</a:t>
            </a:r>
            <a:r>
              <a:rPr lang="en-US" dirty="0" err="1">
                <a:solidFill>
                  <a:schemeClr val="accent2"/>
                </a:solidFill>
              </a:rPr>
              <a:t>Adv</a:t>
            </a:r>
            <a:r>
              <a:rPr lang="en-US" baseline="-25000" dirty="0" err="1">
                <a:solidFill>
                  <a:schemeClr val="accent2"/>
                </a:solidFill>
              </a:rPr>
              <a:t>PRF</a:t>
            </a:r>
            <a:r>
              <a:rPr lang="en-US" dirty="0">
                <a:solidFill>
                  <a:schemeClr val="accent2"/>
                </a:solidFill>
              </a:rPr>
              <a:t>[A,F]  :=  </a:t>
            </a:r>
            <a:r>
              <a:rPr lang="en-US" sz="3600" dirty="0">
                <a:solidFill>
                  <a:schemeClr val="accent2"/>
                </a:solidFill>
              </a:rPr>
              <a:t>|</a:t>
            </a:r>
            <a:r>
              <a:rPr lang="en-US" dirty="0" err="1">
                <a:solidFill>
                  <a:schemeClr val="accent2"/>
                </a:solidFill>
              </a:rPr>
              <a:t>Pr</a:t>
            </a:r>
            <a:r>
              <a:rPr lang="en-US" dirty="0">
                <a:solidFill>
                  <a:schemeClr val="accent2"/>
                </a:solidFill>
              </a:rPr>
              <a:t>[EXP(0)=1] – </a:t>
            </a:r>
            <a:r>
              <a:rPr lang="en-US" dirty="0" err="1">
                <a:solidFill>
                  <a:schemeClr val="accent2"/>
                </a:solidFill>
              </a:rPr>
              <a:t>Pr</a:t>
            </a:r>
            <a:r>
              <a:rPr lang="en-US" dirty="0">
                <a:solidFill>
                  <a:schemeClr val="accent2"/>
                </a:solidFill>
              </a:rPr>
              <a:t>[EXP(1)=1] </a:t>
            </a:r>
            <a:r>
              <a:rPr lang="en-US" sz="3600" dirty="0">
                <a:solidFill>
                  <a:schemeClr val="accent2"/>
                </a:solidFill>
              </a:rPr>
              <a:t>| </a:t>
            </a:r>
          </a:p>
          <a:p>
            <a:pPr>
              <a:lnSpc>
                <a:spcPct val="120000"/>
              </a:lnSpc>
              <a:buFontTx/>
              <a:buNone/>
            </a:pPr>
            <a:r>
              <a:rPr lang="en-US" dirty="0"/>
              <a:t>		</a:t>
            </a:r>
            <a:r>
              <a:rPr lang="en-US" dirty="0" err="1"/>
              <a:t>là</a:t>
            </a:r>
            <a:r>
              <a:rPr lang="en-US" dirty="0"/>
              <a:t> </a:t>
            </a:r>
            <a:r>
              <a:rPr lang="en-US" dirty="0" err="1"/>
              <a:t>một</a:t>
            </a:r>
            <a:r>
              <a:rPr lang="en-US" dirty="0"/>
              <a:t> </a:t>
            </a:r>
            <a:r>
              <a:rPr lang="en-US" dirty="0" err="1"/>
              <a:t>giá</a:t>
            </a:r>
            <a:r>
              <a:rPr lang="en-US" dirty="0"/>
              <a:t> </a:t>
            </a:r>
            <a:r>
              <a:rPr lang="en-US" dirty="0" err="1"/>
              <a:t>trị</a:t>
            </a:r>
            <a:r>
              <a:rPr lang="en-US" dirty="0"/>
              <a:t> “</a:t>
            </a:r>
            <a:r>
              <a:rPr lang="en-US" dirty="0" err="1"/>
              <a:t>không</a:t>
            </a:r>
            <a:r>
              <a:rPr lang="en-US" dirty="0"/>
              <a:t> </a:t>
            </a:r>
            <a:r>
              <a:rPr lang="en-US" dirty="0" err="1"/>
              <a:t>đáng</a:t>
            </a:r>
            <a:r>
              <a:rPr lang="en-US" dirty="0"/>
              <a:t> </a:t>
            </a:r>
            <a:r>
              <a:rPr lang="en-US" dirty="0" err="1"/>
              <a:t>kể</a:t>
            </a:r>
            <a:r>
              <a:rPr lang="en-US" dirty="0"/>
              <a:t> ” (negligible)</a:t>
            </a:r>
          </a:p>
        </p:txBody>
      </p:sp>
      <p:grpSp>
        <p:nvGrpSpPr>
          <p:cNvPr id="6" name="Group 5">
            <a:extLst>
              <a:ext uri="{FF2B5EF4-FFF2-40B4-BE49-F238E27FC236}">
                <a16:creationId xmlns:a16="http://schemas.microsoft.com/office/drawing/2014/main" id="{B2F3D96A-8733-49E7-DD9B-01B67EC97DCE}"/>
              </a:ext>
            </a:extLst>
          </p:cNvPr>
          <p:cNvGrpSpPr/>
          <p:nvPr/>
        </p:nvGrpSpPr>
        <p:grpSpPr>
          <a:xfrm>
            <a:off x="607885" y="1226641"/>
            <a:ext cx="8301038" cy="2999304"/>
            <a:chOff x="762000" y="2064841"/>
            <a:chExt cx="8301038" cy="2999304"/>
          </a:xfrm>
        </p:grpSpPr>
        <p:grpSp>
          <p:nvGrpSpPr>
            <p:cNvPr id="6163" name="Group 19"/>
            <p:cNvGrpSpPr>
              <a:grpSpLocks/>
            </p:cNvGrpSpPr>
            <p:nvPr/>
          </p:nvGrpSpPr>
          <p:grpSpPr bwMode="auto">
            <a:xfrm>
              <a:off x="7689850" y="4183864"/>
              <a:ext cx="1373188" cy="616746"/>
              <a:chOff x="4560" y="2794"/>
              <a:chExt cx="865" cy="518"/>
            </a:xfrm>
          </p:grpSpPr>
          <p:sp>
            <p:nvSpPr>
              <p:cNvPr id="6160" name="Line 16"/>
              <p:cNvSpPr>
                <a:spLocks noChangeShapeType="1"/>
              </p:cNvSpPr>
              <p:nvPr/>
            </p:nvSpPr>
            <p:spPr bwMode="auto">
              <a:xfrm>
                <a:off x="4560" y="2794"/>
                <a:ext cx="0" cy="480"/>
              </a:xfrm>
              <a:prstGeom prst="line">
                <a:avLst/>
              </a:prstGeom>
              <a:noFill/>
              <a:ln w="9525">
                <a:solidFill>
                  <a:schemeClr val="tx1"/>
                </a:solidFill>
                <a:round/>
                <a:headEnd/>
                <a:tailEnd type="triangle" w="med" len="med"/>
              </a:ln>
              <a:effectLst/>
            </p:spPr>
            <p:txBody>
              <a:bodyPr/>
              <a:lstStyle/>
              <a:p>
                <a:endParaRPr lang="en-US"/>
              </a:p>
            </p:txBody>
          </p:sp>
          <p:sp>
            <p:nvSpPr>
              <p:cNvPr id="6161" name="Text Box 17"/>
              <p:cNvSpPr txBox="1">
                <a:spLocks noChangeArrowheads="1"/>
              </p:cNvSpPr>
              <p:nvPr/>
            </p:nvSpPr>
            <p:spPr bwMode="auto">
              <a:xfrm>
                <a:off x="4568" y="2924"/>
                <a:ext cx="857" cy="388"/>
              </a:xfrm>
              <a:prstGeom prst="rect">
                <a:avLst/>
              </a:prstGeom>
              <a:noFill/>
              <a:ln w="9525">
                <a:noFill/>
                <a:miter lim="800000"/>
                <a:headEnd/>
                <a:tailEnd/>
              </a:ln>
              <a:effectLst/>
            </p:spPr>
            <p:txBody>
              <a:bodyPr wrap="none">
                <a:spAutoFit/>
              </a:bodyPr>
              <a:lstStyle/>
              <a:p>
                <a:r>
                  <a:rPr lang="en-US" sz="2400" dirty="0"/>
                  <a:t>b’ </a:t>
                </a:r>
                <a:r>
                  <a:rPr lang="en-US" sz="2400" dirty="0">
                    <a:sym typeface="Symbol" pitchFamily="18" charset="2"/>
                  </a:rPr>
                  <a:t> {0,1}</a:t>
                </a:r>
              </a:p>
            </p:txBody>
          </p:sp>
        </p:grpSp>
        <p:sp>
          <p:nvSpPr>
            <p:cNvPr id="6148" name="Rectangle 4"/>
            <p:cNvSpPr>
              <a:spLocks noChangeArrowheads="1"/>
            </p:cNvSpPr>
            <p:nvPr/>
          </p:nvSpPr>
          <p:spPr bwMode="auto">
            <a:xfrm>
              <a:off x="1066800" y="2755106"/>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6149" name="Line 5"/>
            <p:cNvSpPr>
              <a:spLocks noChangeShapeType="1"/>
            </p:cNvSpPr>
            <p:nvPr/>
          </p:nvSpPr>
          <p:spPr bwMode="auto">
            <a:xfrm>
              <a:off x="1676400" y="2240756"/>
              <a:ext cx="0" cy="514350"/>
            </a:xfrm>
            <a:prstGeom prst="line">
              <a:avLst/>
            </a:prstGeom>
            <a:noFill/>
            <a:ln w="9525">
              <a:solidFill>
                <a:schemeClr val="tx1"/>
              </a:solidFill>
              <a:round/>
              <a:headEnd/>
              <a:tailEnd type="triangle" w="med" len="med"/>
            </a:ln>
            <a:effectLst/>
          </p:spPr>
          <p:txBody>
            <a:bodyPr/>
            <a:lstStyle/>
            <a:p>
              <a:endParaRPr lang="en-US"/>
            </a:p>
          </p:txBody>
        </p:sp>
        <p:sp>
          <p:nvSpPr>
            <p:cNvPr id="6150" name="Text Box 6"/>
            <p:cNvSpPr txBox="1">
              <a:spLocks noChangeArrowheads="1"/>
            </p:cNvSpPr>
            <p:nvPr/>
          </p:nvSpPr>
          <p:spPr bwMode="auto">
            <a:xfrm>
              <a:off x="1745320" y="2064841"/>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6151" name="Rectangle 7"/>
            <p:cNvSpPr>
              <a:spLocks noChangeArrowheads="1"/>
            </p:cNvSpPr>
            <p:nvPr/>
          </p:nvSpPr>
          <p:spPr bwMode="auto">
            <a:xfrm>
              <a:off x="7080250" y="2755106"/>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dirty="0"/>
                <a:t>Adv. A</a:t>
              </a:r>
            </a:p>
          </p:txBody>
        </p:sp>
        <p:sp>
          <p:nvSpPr>
            <p:cNvPr id="6152" name="Text Box 8"/>
            <p:cNvSpPr txBox="1">
              <a:spLocks noChangeArrowheads="1"/>
            </p:cNvSpPr>
            <p:nvPr/>
          </p:nvSpPr>
          <p:spPr bwMode="auto">
            <a:xfrm>
              <a:off x="2333626" y="2573999"/>
              <a:ext cx="4860818" cy="788357"/>
            </a:xfrm>
            <a:prstGeom prst="rect">
              <a:avLst/>
            </a:prstGeom>
            <a:noFill/>
            <a:ln w="9525">
              <a:noFill/>
              <a:miter lim="800000"/>
              <a:headEnd/>
              <a:tailEnd/>
            </a:ln>
            <a:effectLst/>
          </p:spPr>
          <p:txBody>
            <a:bodyPr wrap="none">
              <a:spAutoFit/>
            </a:bodyPr>
            <a:lstStyle/>
            <a:p>
              <a:r>
                <a:rPr lang="en-US" sz="2000" dirty="0"/>
                <a:t>b=0:   </a:t>
              </a:r>
              <a:r>
                <a:rPr lang="en-US" sz="2000" dirty="0" err="1"/>
                <a:t>k</a:t>
              </a:r>
              <a:r>
                <a:rPr lang="en-US" sz="2000" dirty="0" err="1">
                  <a:sym typeface="Symbol" pitchFamily="18" charset="2"/>
                </a:rPr>
                <a:t>K</a:t>
              </a:r>
              <a:r>
                <a:rPr lang="en-US" sz="2000" dirty="0">
                  <a:sym typeface="Symbol" pitchFamily="18" charset="2"/>
                </a:rPr>
                <a:t>,  f F(k,): </a:t>
              </a:r>
              <a:r>
                <a:rPr lang="en-US" sz="2000" dirty="0" err="1">
                  <a:sym typeface="Symbol" pitchFamily="18" charset="2"/>
                </a:rPr>
                <a:t>hàm</a:t>
              </a:r>
              <a:r>
                <a:rPr lang="en-US" sz="2000" dirty="0">
                  <a:sym typeface="Symbol" pitchFamily="18" charset="2"/>
                </a:rPr>
                <a:t> </a:t>
              </a:r>
              <a:r>
                <a:rPr lang="en-US" sz="2000" dirty="0" err="1">
                  <a:sym typeface="Symbol" pitchFamily="18" charset="2"/>
                </a:rPr>
                <a:t>giả</a:t>
              </a:r>
              <a:r>
                <a:rPr lang="en-US" sz="2000" dirty="0">
                  <a:sym typeface="Symbol" pitchFamily="18" charset="2"/>
                </a:rPr>
                <a:t> </a:t>
              </a:r>
              <a:r>
                <a:rPr lang="en-US" sz="2000" dirty="0" err="1">
                  <a:sym typeface="Symbol" pitchFamily="18" charset="2"/>
                </a:rPr>
                <a:t>ngẫu</a:t>
              </a:r>
              <a:r>
                <a:rPr lang="en-US" sz="2000" dirty="0">
                  <a:sym typeface="Symbol" pitchFamily="18" charset="2"/>
                </a:rPr>
                <a:t> </a:t>
              </a:r>
              <a:r>
                <a:rPr lang="en-US" sz="2000" dirty="0" err="1">
                  <a:sym typeface="Symbol" pitchFamily="18" charset="2"/>
                </a:rPr>
                <a:t>nhiên</a:t>
              </a:r>
              <a:endParaRPr lang="en-US" sz="2000" dirty="0">
                <a:sym typeface="Symbol" pitchFamily="18" charset="2"/>
              </a:endParaRPr>
            </a:p>
            <a:p>
              <a:pPr>
                <a:lnSpc>
                  <a:spcPct val="140000"/>
                </a:lnSpc>
              </a:pPr>
              <a:r>
                <a:rPr lang="en-US" sz="2000" dirty="0">
                  <a:sym typeface="Symbol" pitchFamily="18" charset="2"/>
                </a:rPr>
                <a:t>b=1:   </a:t>
              </a:r>
              <a:r>
                <a:rPr lang="en-US" sz="2000" dirty="0" err="1">
                  <a:sym typeface="Symbol" pitchFamily="18" charset="2"/>
                </a:rPr>
                <a:t>f</a:t>
              </a:r>
              <a:r>
                <a:rPr lang="en-US" sz="2000" dirty="0" err="1">
                  <a:cs typeface="Arial" charset="0"/>
                  <a:sym typeface="Symbol" pitchFamily="18" charset="2"/>
                </a:rPr>
                <a:t></a:t>
              </a:r>
              <a:r>
                <a:rPr lang="en-US" sz="2000" b="1" dirty="0" err="1">
                  <a:cs typeface="Arial" charset="0"/>
                  <a:sym typeface="Symbol" pitchFamily="18" charset="2"/>
                </a:rPr>
                <a:t>Funs</a:t>
              </a:r>
              <a:r>
                <a:rPr lang="en-US" sz="2000" b="1" dirty="0">
                  <a:cs typeface="Arial" charset="0"/>
                  <a:sym typeface="Symbol" pitchFamily="18" charset="2"/>
                </a:rPr>
                <a:t>[X,Y]: </a:t>
              </a:r>
              <a:r>
                <a:rPr lang="en-US" sz="2000" b="1" dirty="0" err="1">
                  <a:cs typeface="Arial" charset="0"/>
                  <a:sym typeface="Symbol" pitchFamily="18" charset="2"/>
                </a:rPr>
                <a:t>hàm</a:t>
              </a:r>
              <a:r>
                <a:rPr lang="en-US" sz="2000" b="1" dirty="0">
                  <a:cs typeface="Arial" charset="0"/>
                  <a:sym typeface="Symbol" pitchFamily="18" charset="2"/>
                </a:rPr>
                <a:t> </a:t>
              </a:r>
              <a:r>
                <a:rPr lang="en-US" sz="2000" b="1" dirty="0" err="1">
                  <a:cs typeface="Arial" charset="0"/>
                  <a:sym typeface="Symbol" pitchFamily="18" charset="2"/>
                </a:rPr>
                <a:t>thật</a:t>
              </a:r>
              <a:r>
                <a:rPr lang="en-US" sz="2000" b="1" dirty="0">
                  <a:cs typeface="Arial" charset="0"/>
                  <a:sym typeface="Symbol" pitchFamily="18" charset="2"/>
                </a:rPr>
                <a:t> </a:t>
              </a:r>
              <a:r>
                <a:rPr lang="en-US" sz="2000" b="1" dirty="0" err="1">
                  <a:cs typeface="Arial" charset="0"/>
                  <a:sym typeface="Symbol" pitchFamily="18" charset="2"/>
                </a:rPr>
                <a:t>sự</a:t>
              </a:r>
              <a:r>
                <a:rPr lang="en-US" sz="2000" b="1" dirty="0">
                  <a:cs typeface="Arial" charset="0"/>
                  <a:sym typeface="Symbol" pitchFamily="18" charset="2"/>
                </a:rPr>
                <a:t> </a:t>
              </a:r>
              <a:r>
                <a:rPr lang="en-US" sz="2000" b="1" dirty="0" err="1">
                  <a:cs typeface="Arial" charset="0"/>
                  <a:sym typeface="Symbol" pitchFamily="18" charset="2"/>
                </a:rPr>
                <a:t>ngẫu</a:t>
              </a:r>
              <a:r>
                <a:rPr lang="en-US" sz="2000" b="1" dirty="0">
                  <a:cs typeface="Arial" charset="0"/>
                  <a:sym typeface="Symbol" pitchFamily="18" charset="2"/>
                </a:rPr>
                <a:t> </a:t>
              </a:r>
              <a:r>
                <a:rPr lang="en-US" sz="2000" b="1" dirty="0" err="1">
                  <a:cs typeface="Arial" charset="0"/>
                  <a:sym typeface="Symbol" pitchFamily="18" charset="2"/>
                </a:rPr>
                <a:t>nhiên</a:t>
              </a:r>
              <a:r>
                <a:rPr lang="en-US" sz="2000" b="1" dirty="0">
                  <a:cs typeface="Arial" charset="0"/>
                  <a:sym typeface="Symbol" pitchFamily="18" charset="2"/>
                </a:rPr>
                <a:t> </a:t>
              </a:r>
            </a:p>
          </p:txBody>
        </p:sp>
        <p:grpSp>
          <p:nvGrpSpPr>
            <p:cNvPr id="6158" name="Group 14"/>
            <p:cNvGrpSpPr>
              <a:grpSpLocks/>
            </p:cNvGrpSpPr>
            <p:nvPr/>
          </p:nvGrpSpPr>
          <p:grpSpPr bwMode="auto">
            <a:xfrm>
              <a:off x="2362200" y="3200402"/>
              <a:ext cx="4724400" cy="369094"/>
              <a:chOff x="1776" y="1997"/>
              <a:chExt cx="2400" cy="310"/>
            </a:xfrm>
          </p:grpSpPr>
          <p:sp>
            <p:nvSpPr>
              <p:cNvPr id="6153" name="Line 9"/>
              <p:cNvSpPr>
                <a:spLocks noChangeShapeType="1"/>
              </p:cNvSpPr>
              <p:nvPr/>
            </p:nvSpPr>
            <p:spPr bwMode="auto">
              <a:xfrm flipH="1">
                <a:off x="1776" y="2304"/>
                <a:ext cx="2400" cy="0"/>
              </a:xfrm>
              <a:prstGeom prst="line">
                <a:avLst/>
              </a:prstGeom>
              <a:noFill/>
              <a:ln w="9525">
                <a:solidFill>
                  <a:schemeClr val="tx1"/>
                </a:solidFill>
                <a:round/>
                <a:headEnd/>
                <a:tailEnd type="triangle" w="med" len="med"/>
              </a:ln>
              <a:effectLst/>
            </p:spPr>
            <p:txBody>
              <a:bodyPr/>
              <a:lstStyle/>
              <a:p>
                <a:endParaRPr lang="en-US"/>
              </a:p>
            </p:txBody>
          </p:sp>
          <p:sp>
            <p:nvSpPr>
              <p:cNvPr id="6154" name="Text Box 10"/>
              <p:cNvSpPr txBox="1">
                <a:spLocks noChangeArrowheads="1"/>
              </p:cNvSpPr>
              <p:nvPr/>
            </p:nvSpPr>
            <p:spPr bwMode="auto">
              <a:xfrm>
                <a:off x="3006" y="1997"/>
                <a:ext cx="383" cy="310"/>
              </a:xfrm>
              <a:prstGeom prst="rect">
                <a:avLst/>
              </a:prstGeom>
              <a:noFill/>
              <a:ln w="9525">
                <a:noFill/>
                <a:miter lim="800000"/>
                <a:headEnd/>
                <a:tailEnd/>
              </a:ln>
              <a:effectLst/>
            </p:spPr>
            <p:txBody>
              <a:bodyPr wrap="none">
                <a:spAutoFit/>
              </a:bodyPr>
              <a:lstStyle/>
              <a:p>
                <a:r>
                  <a:rPr lang="en-US" dirty="0"/>
                  <a:t>x</a:t>
                </a:r>
                <a:r>
                  <a:rPr lang="en-US" baseline="-25000" dirty="0"/>
                  <a:t>1</a:t>
                </a:r>
                <a:r>
                  <a:rPr lang="en-US" dirty="0"/>
                  <a:t> </a:t>
                </a:r>
                <a:r>
                  <a:rPr lang="en-US" dirty="0">
                    <a:sym typeface="Symbol" pitchFamily="18" charset="2"/>
                  </a:rPr>
                  <a:t> X</a:t>
                </a:r>
              </a:p>
            </p:txBody>
          </p:sp>
        </p:grpSp>
        <p:grpSp>
          <p:nvGrpSpPr>
            <p:cNvPr id="6157" name="Group 13"/>
            <p:cNvGrpSpPr>
              <a:grpSpLocks/>
            </p:cNvGrpSpPr>
            <p:nvPr/>
          </p:nvGrpSpPr>
          <p:grpSpPr bwMode="auto">
            <a:xfrm>
              <a:off x="2362200" y="3810004"/>
              <a:ext cx="4724400" cy="400051"/>
              <a:chOff x="1872" y="2643"/>
              <a:chExt cx="2352" cy="336"/>
            </a:xfrm>
          </p:grpSpPr>
          <p:sp>
            <p:nvSpPr>
              <p:cNvPr id="6155" name="Line 11"/>
              <p:cNvSpPr>
                <a:spLocks noChangeShapeType="1"/>
              </p:cNvSpPr>
              <p:nvPr/>
            </p:nvSpPr>
            <p:spPr bwMode="auto">
              <a:xfrm>
                <a:off x="1872" y="2688"/>
                <a:ext cx="2352" cy="0"/>
              </a:xfrm>
              <a:prstGeom prst="line">
                <a:avLst/>
              </a:prstGeom>
              <a:noFill/>
              <a:ln w="9525">
                <a:solidFill>
                  <a:schemeClr val="tx1"/>
                </a:solidFill>
                <a:round/>
                <a:headEnd/>
                <a:tailEnd type="triangle" w="med" len="med"/>
              </a:ln>
              <a:effectLst/>
            </p:spPr>
            <p:txBody>
              <a:bodyPr/>
              <a:lstStyle/>
              <a:p>
                <a:endParaRPr lang="en-US" sz="2000"/>
              </a:p>
            </p:txBody>
          </p:sp>
          <p:sp>
            <p:nvSpPr>
              <p:cNvPr id="6156" name="Text Box 12"/>
              <p:cNvSpPr txBox="1">
                <a:spLocks noChangeArrowheads="1"/>
              </p:cNvSpPr>
              <p:nvPr/>
            </p:nvSpPr>
            <p:spPr bwMode="auto">
              <a:xfrm>
                <a:off x="3124" y="2643"/>
                <a:ext cx="307" cy="336"/>
              </a:xfrm>
              <a:prstGeom prst="rect">
                <a:avLst/>
              </a:prstGeom>
              <a:noFill/>
              <a:ln w="9525">
                <a:noFill/>
                <a:miter lim="800000"/>
                <a:headEnd/>
                <a:tailEnd/>
              </a:ln>
              <a:effectLst/>
            </p:spPr>
            <p:txBody>
              <a:bodyPr wrap="none">
                <a:spAutoFit/>
              </a:bodyPr>
              <a:lstStyle/>
              <a:p>
                <a:r>
                  <a:rPr lang="en-US" sz="2000" dirty="0"/>
                  <a:t>f(x</a:t>
                </a:r>
                <a:r>
                  <a:rPr lang="en-US" sz="2000" baseline="-25000" dirty="0"/>
                  <a:t>1</a:t>
                </a:r>
                <a:r>
                  <a:rPr lang="en-US" sz="2000" dirty="0"/>
                  <a:t>)</a:t>
                </a:r>
              </a:p>
            </p:txBody>
          </p:sp>
        </p:grpSp>
        <p:sp>
          <p:nvSpPr>
            <p:cNvPr id="6162" name="Rectangle 18"/>
            <p:cNvSpPr>
              <a:spLocks noChangeArrowheads="1"/>
            </p:cNvSpPr>
            <p:nvPr/>
          </p:nvSpPr>
          <p:spPr bwMode="auto">
            <a:xfrm>
              <a:off x="762000" y="2526506"/>
              <a:ext cx="7924800" cy="1828800"/>
            </a:xfrm>
            <a:prstGeom prst="rect">
              <a:avLst/>
            </a:prstGeom>
            <a:noFill/>
            <a:ln w="38100">
              <a:solidFill>
                <a:schemeClr val="folHlink"/>
              </a:solidFill>
              <a:miter lim="800000"/>
              <a:headEnd/>
              <a:tailEnd/>
            </a:ln>
            <a:effectLst/>
          </p:spPr>
          <p:txBody>
            <a:bodyPr wrap="none" anchor="ctr"/>
            <a:lstStyle/>
            <a:p>
              <a:endParaRPr lang="en-US"/>
            </a:p>
          </p:txBody>
        </p:sp>
        <p:pic>
          <p:nvPicPr>
            <p:cNvPr id="21" name="Picture 2" descr="C:\Users\dabo\AppData\Local\Microsoft\Windows\Temporary Internet Files\Content.IE5\HEB3KRDO\MCj04359310000[1].wmf"/>
            <p:cNvPicPr>
              <a:picLocks noChangeAspect="1" noChangeArrowheads="1"/>
            </p:cNvPicPr>
            <p:nvPr/>
          </p:nvPicPr>
          <p:blipFill>
            <a:blip r:embed="rId2" cstate="print"/>
            <a:srcRect/>
            <a:stretch>
              <a:fillRect/>
            </a:stretch>
          </p:blipFill>
          <p:spPr bwMode="auto">
            <a:xfrm>
              <a:off x="7308851" y="3257550"/>
              <a:ext cx="848398" cy="503634"/>
            </a:xfrm>
            <a:prstGeom prst="rect">
              <a:avLst/>
            </a:prstGeom>
            <a:noFill/>
            <a:ln w="9525">
              <a:noFill/>
              <a:miter lim="800000"/>
              <a:headEnd/>
              <a:tailEnd/>
            </a:ln>
          </p:spPr>
        </p:pic>
        <p:sp>
          <p:nvSpPr>
            <p:cNvPr id="2" name="TextBox 1"/>
            <p:cNvSpPr txBox="1"/>
            <p:nvPr/>
          </p:nvSpPr>
          <p:spPr>
            <a:xfrm>
              <a:off x="1600200" y="3352800"/>
              <a:ext cx="293670" cy="523220"/>
            </a:xfrm>
            <a:prstGeom prst="rect">
              <a:avLst/>
            </a:prstGeom>
            <a:noFill/>
          </p:spPr>
          <p:txBody>
            <a:bodyPr wrap="none" rtlCol="0">
              <a:spAutoFit/>
            </a:bodyPr>
            <a:lstStyle/>
            <a:p>
              <a:r>
                <a:rPr lang="en-US" sz="2800" dirty="0"/>
                <a:t>f</a:t>
              </a:r>
            </a:p>
          </p:txBody>
        </p:sp>
        <p:sp>
          <p:nvSpPr>
            <p:cNvPr id="3" name="TextBox 2"/>
            <p:cNvSpPr txBox="1"/>
            <p:nvPr/>
          </p:nvSpPr>
          <p:spPr>
            <a:xfrm>
              <a:off x="5975177" y="3162300"/>
              <a:ext cx="799514" cy="400110"/>
            </a:xfrm>
            <a:prstGeom prst="rect">
              <a:avLst/>
            </a:prstGeom>
            <a:noFill/>
          </p:spPr>
          <p:txBody>
            <a:bodyPr wrap="none" rtlCol="0">
              <a:spAutoFit/>
            </a:bodyPr>
            <a:lstStyle/>
            <a:p>
              <a:r>
                <a:rPr lang="en-US" sz="2000" dirty="0"/>
                <a:t>, …, </a:t>
              </a:r>
              <a:r>
                <a:rPr lang="en-US" sz="2000" dirty="0" err="1"/>
                <a:t>x</a:t>
              </a:r>
              <a:r>
                <a:rPr lang="en-US" sz="2000" baseline="-25000" dirty="0" err="1"/>
                <a:t>q</a:t>
              </a:r>
              <a:endParaRPr lang="en-US" sz="2000" baseline="-25000" dirty="0"/>
            </a:p>
          </p:txBody>
        </p:sp>
        <p:sp>
          <p:nvSpPr>
            <p:cNvPr id="23" name="TextBox 22"/>
            <p:cNvSpPr txBox="1"/>
            <p:nvPr/>
          </p:nvSpPr>
          <p:spPr>
            <a:xfrm>
              <a:off x="6008065" y="3797300"/>
              <a:ext cx="1035155" cy="400110"/>
            </a:xfrm>
            <a:prstGeom prst="rect">
              <a:avLst/>
            </a:prstGeom>
            <a:noFill/>
          </p:spPr>
          <p:txBody>
            <a:bodyPr wrap="none" rtlCol="0">
              <a:spAutoFit/>
            </a:bodyPr>
            <a:lstStyle/>
            <a:p>
              <a:r>
                <a:rPr lang="en-US" sz="2000" dirty="0"/>
                <a:t>, …, f(</a:t>
              </a:r>
              <a:r>
                <a:rPr lang="en-US" sz="2000" dirty="0" err="1"/>
                <a:t>x</a:t>
              </a:r>
              <a:r>
                <a:rPr lang="en-US" sz="2000" baseline="-25000" dirty="0" err="1"/>
                <a:t>q</a:t>
              </a:r>
              <a:r>
                <a:rPr lang="en-US" sz="2000" dirty="0"/>
                <a:t>)</a:t>
              </a:r>
            </a:p>
          </p:txBody>
        </p:sp>
        <p:sp>
          <p:nvSpPr>
            <p:cNvPr id="24" name="Text Box 10"/>
            <p:cNvSpPr txBox="1">
              <a:spLocks noChangeArrowheads="1"/>
            </p:cNvSpPr>
            <p:nvPr/>
          </p:nvSpPr>
          <p:spPr bwMode="auto">
            <a:xfrm>
              <a:off x="5562600" y="3162300"/>
              <a:ext cx="561372" cy="400110"/>
            </a:xfrm>
            <a:prstGeom prst="rect">
              <a:avLst/>
            </a:prstGeom>
            <a:noFill/>
            <a:ln w="9525">
              <a:noFill/>
              <a:miter lim="800000"/>
              <a:headEnd/>
              <a:tailEnd/>
            </a:ln>
            <a:effectLst/>
          </p:spPr>
          <p:txBody>
            <a:bodyPr wrap="none">
              <a:spAutoFit/>
            </a:bodyPr>
            <a:lstStyle/>
            <a:p>
              <a:r>
                <a:rPr lang="en-US" sz="2000" dirty="0"/>
                <a:t>, x</a:t>
              </a:r>
              <a:r>
                <a:rPr lang="en-US" sz="2000" baseline="-25000" dirty="0"/>
                <a:t>2</a:t>
              </a:r>
              <a:r>
                <a:rPr lang="en-US" sz="2000" dirty="0"/>
                <a:t> </a:t>
              </a:r>
              <a:endParaRPr lang="en-US" sz="2000" dirty="0">
                <a:sym typeface="Symbol" pitchFamily="18" charset="2"/>
              </a:endParaRPr>
            </a:p>
          </p:txBody>
        </p:sp>
        <p:sp>
          <p:nvSpPr>
            <p:cNvPr id="25" name="Text Box 10"/>
            <p:cNvSpPr txBox="1">
              <a:spLocks noChangeArrowheads="1"/>
            </p:cNvSpPr>
            <p:nvPr/>
          </p:nvSpPr>
          <p:spPr bwMode="auto">
            <a:xfrm>
              <a:off x="5461001" y="3816290"/>
              <a:ext cx="797013" cy="400110"/>
            </a:xfrm>
            <a:prstGeom prst="rect">
              <a:avLst/>
            </a:prstGeom>
            <a:noFill/>
            <a:ln w="9525">
              <a:noFill/>
              <a:miter lim="800000"/>
              <a:headEnd/>
              <a:tailEnd/>
            </a:ln>
            <a:effectLst/>
          </p:spPr>
          <p:txBody>
            <a:bodyPr wrap="none">
              <a:spAutoFit/>
            </a:bodyPr>
            <a:lstStyle/>
            <a:p>
              <a:r>
                <a:rPr lang="en-US" sz="2000" dirty="0"/>
                <a:t>, f(x</a:t>
              </a:r>
              <a:r>
                <a:rPr lang="en-US" sz="2000" baseline="-25000" dirty="0"/>
                <a:t>2</a:t>
              </a:r>
              <a:r>
                <a:rPr lang="en-US" sz="2000" dirty="0"/>
                <a:t>) </a:t>
              </a:r>
              <a:endParaRPr lang="en-US" sz="2000" dirty="0">
                <a:sym typeface="Symbol" pitchFamily="18" charset="2"/>
              </a:endParaRPr>
            </a:p>
          </p:txBody>
        </p:sp>
        <p:sp>
          <p:nvSpPr>
            <p:cNvPr id="4" name="TextBox 3"/>
            <p:cNvSpPr txBox="1"/>
            <p:nvPr/>
          </p:nvSpPr>
          <p:spPr>
            <a:xfrm>
              <a:off x="7354784" y="4694813"/>
              <a:ext cx="798617" cy="369332"/>
            </a:xfrm>
            <a:prstGeom prst="rect">
              <a:avLst/>
            </a:prstGeom>
            <a:noFill/>
          </p:spPr>
          <p:txBody>
            <a:bodyPr wrap="none" rtlCol="0">
              <a:spAutoFit/>
            </a:bodyPr>
            <a:lstStyle/>
            <a:p>
              <a:r>
                <a:rPr lang="en-US" dirty="0"/>
                <a:t>EXP(b)</a:t>
              </a:r>
            </a:p>
          </p:txBody>
        </p:sp>
      </p:grpSp>
    </p:spTree>
    <p:extLst>
      <p:ext uri="{BB962C8B-B14F-4D97-AF65-F5344CB8AC3E}">
        <p14:creationId xmlns:p14="http://schemas.microsoft.com/office/powerpoint/2010/main" val="121714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A263A5-A368-5C4E-846F-AA2937A79AE3}"/>
              </a:ext>
            </a:extLst>
          </p:cNvPr>
          <p:cNvSpPr>
            <a:spLocks noGrp="1"/>
          </p:cNvSpPr>
          <p:nvPr>
            <p:ph type="title"/>
          </p:nvPr>
        </p:nvSpPr>
        <p:spPr/>
        <p:txBody>
          <a:bodyPr/>
          <a:lstStyle/>
          <a:p>
            <a:r>
              <a:rPr lang="en-US" dirty="0"/>
              <a:t>Secure PRF:  definition</a:t>
            </a:r>
            <a:endParaRPr dirty="0"/>
          </a:p>
        </p:txBody>
      </p:sp>
      <p:pic>
        <p:nvPicPr>
          <p:cNvPr id="16" name="Content Placeholder 15" descr="Diagram&#10;&#10;Description automatically generated">
            <a:extLst>
              <a:ext uri="{FF2B5EF4-FFF2-40B4-BE49-F238E27FC236}">
                <a16:creationId xmlns:a16="http://schemas.microsoft.com/office/drawing/2014/main" id="{ED30D80F-892A-4545-B18F-E7131886AD36}"/>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32013" y="728056"/>
            <a:ext cx="8479973" cy="5303838"/>
          </a:xfrm>
        </p:spPr>
      </p:pic>
      <p:pic>
        <p:nvPicPr>
          <p:cNvPr id="21" name="Content Placeholder 20" descr="Diagram&#10;&#10;Description automatically generated">
            <a:extLst>
              <a:ext uri="{FF2B5EF4-FFF2-40B4-BE49-F238E27FC236}">
                <a16:creationId xmlns:a16="http://schemas.microsoft.com/office/drawing/2014/main" id="{44F35113-7B9B-8747-ACBD-DA54D2BE1C82}"/>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5105400" y="2424113"/>
            <a:ext cx="4038600" cy="2660650"/>
          </a:xfrm>
        </p:spPr>
      </p:pic>
      <p:sp>
        <p:nvSpPr>
          <p:cNvPr id="12" name="TextBox 11">
            <a:extLst>
              <a:ext uri="{FF2B5EF4-FFF2-40B4-BE49-F238E27FC236}">
                <a16:creationId xmlns:a16="http://schemas.microsoft.com/office/drawing/2014/main" id="{3E0C37E5-D167-824C-B50C-215E1CD729A1}"/>
              </a:ext>
            </a:extLst>
          </p:cNvPr>
          <p:cNvSpPr txBox="1"/>
          <p:nvPr/>
        </p:nvSpPr>
        <p:spPr>
          <a:xfrm>
            <a:off x="4308349" y="5924856"/>
            <a:ext cx="4600574" cy="523220"/>
          </a:xfrm>
          <a:prstGeom prst="rect">
            <a:avLst/>
          </a:prstGeom>
          <a:noFill/>
        </p:spPr>
        <p:txBody>
          <a:bodyPr wrap="square">
            <a:spAutoFit/>
          </a:bodyPr>
          <a:lstStyle/>
          <a:p>
            <a:r>
              <a:rPr lang="en-US" dirty="0"/>
              <a:t> </a:t>
            </a:r>
            <a:r>
              <a:rPr lang="en-US" dirty="0" err="1">
                <a:solidFill>
                  <a:schemeClr val="accent2"/>
                </a:solidFill>
              </a:rPr>
              <a:t>Adv</a:t>
            </a:r>
            <a:r>
              <a:rPr lang="en-US" baseline="-25000" dirty="0" err="1">
                <a:solidFill>
                  <a:schemeClr val="accent2"/>
                </a:solidFill>
              </a:rPr>
              <a:t>PRF</a:t>
            </a:r>
            <a:r>
              <a:rPr lang="en-US" dirty="0">
                <a:solidFill>
                  <a:schemeClr val="accent2"/>
                </a:solidFill>
              </a:rPr>
              <a:t>[A,F]  :=  </a:t>
            </a:r>
            <a:r>
              <a:rPr lang="en-US" sz="2800" dirty="0">
                <a:solidFill>
                  <a:schemeClr val="accent2"/>
                </a:solidFill>
              </a:rPr>
              <a:t>|</a:t>
            </a:r>
            <a:r>
              <a:rPr lang="en-US" dirty="0" err="1">
                <a:solidFill>
                  <a:schemeClr val="accent2"/>
                </a:solidFill>
              </a:rPr>
              <a:t>Pr</a:t>
            </a:r>
            <a:r>
              <a:rPr lang="en-US" dirty="0">
                <a:solidFill>
                  <a:schemeClr val="accent2"/>
                </a:solidFill>
              </a:rPr>
              <a:t>[EXP(0)=1] – </a:t>
            </a:r>
            <a:r>
              <a:rPr lang="en-US" dirty="0" err="1">
                <a:solidFill>
                  <a:schemeClr val="accent2"/>
                </a:solidFill>
              </a:rPr>
              <a:t>Pr</a:t>
            </a:r>
            <a:r>
              <a:rPr lang="en-US" dirty="0">
                <a:solidFill>
                  <a:schemeClr val="accent2"/>
                </a:solidFill>
              </a:rPr>
              <a:t>[EXP(1)=1] </a:t>
            </a:r>
            <a:r>
              <a:rPr lang="en-US" sz="2800" dirty="0">
                <a:solidFill>
                  <a:schemeClr val="accent2"/>
                </a:solidFill>
              </a:rPr>
              <a:t>|</a:t>
            </a:r>
            <a:endParaRPr dirty="0"/>
          </a:p>
        </p:txBody>
      </p:sp>
      <p:sp>
        <p:nvSpPr>
          <p:cNvPr id="17" name="TextBox 16">
            <a:extLst>
              <a:ext uri="{FF2B5EF4-FFF2-40B4-BE49-F238E27FC236}">
                <a16:creationId xmlns:a16="http://schemas.microsoft.com/office/drawing/2014/main" id="{7E0C5A93-5313-B947-AFFB-7DDD005CAA94}"/>
              </a:ext>
            </a:extLst>
          </p:cNvPr>
          <p:cNvSpPr txBox="1"/>
          <p:nvPr/>
        </p:nvSpPr>
        <p:spPr>
          <a:xfrm>
            <a:off x="812800" y="1107900"/>
            <a:ext cx="2438400" cy="369332"/>
          </a:xfrm>
          <a:prstGeom prst="rect">
            <a:avLst/>
          </a:prstGeom>
          <a:noFill/>
        </p:spPr>
        <p:txBody>
          <a:bodyPr wrap="square" rtlCol="0">
            <a:spAutoFit/>
          </a:bodyPr>
          <a:lstStyle/>
          <a:p>
            <a:r>
              <a:rPr lang="vi-VN" dirty="0"/>
              <a:t>Scenario 0 : EXP(0)</a:t>
            </a:r>
            <a:endParaRPr dirty="0"/>
          </a:p>
        </p:txBody>
      </p:sp>
      <p:sp>
        <p:nvSpPr>
          <p:cNvPr id="22" name="TextBox 21">
            <a:extLst>
              <a:ext uri="{FF2B5EF4-FFF2-40B4-BE49-F238E27FC236}">
                <a16:creationId xmlns:a16="http://schemas.microsoft.com/office/drawing/2014/main" id="{02903D9F-8700-7141-BA6E-5146F5C72571}"/>
              </a:ext>
            </a:extLst>
          </p:cNvPr>
          <p:cNvSpPr txBox="1"/>
          <p:nvPr/>
        </p:nvSpPr>
        <p:spPr>
          <a:xfrm>
            <a:off x="5740402" y="1107900"/>
            <a:ext cx="2438400" cy="369332"/>
          </a:xfrm>
          <a:prstGeom prst="rect">
            <a:avLst/>
          </a:prstGeom>
          <a:noFill/>
        </p:spPr>
        <p:txBody>
          <a:bodyPr wrap="square" rtlCol="0">
            <a:spAutoFit/>
          </a:bodyPr>
          <a:lstStyle/>
          <a:p>
            <a:r>
              <a:rPr lang="vi-VN" dirty="0"/>
              <a:t>Scenario 1 : EXP(1)</a:t>
            </a:r>
            <a:endParaRPr dirty="0"/>
          </a:p>
        </p:txBody>
      </p:sp>
    </p:spTree>
    <p:extLst>
      <p:ext uri="{BB962C8B-B14F-4D97-AF65-F5344CB8AC3E}">
        <p14:creationId xmlns:p14="http://schemas.microsoft.com/office/powerpoint/2010/main" val="3154862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dirty="0"/>
              <a:t>PRP </a:t>
            </a:r>
            <a:r>
              <a:rPr lang="en-US" b="1" dirty="0" err="1"/>
              <a:t>bảo</a:t>
            </a:r>
            <a:r>
              <a:rPr lang="en-US" b="1" dirty="0"/>
              <a:t> </a:t>
            </a:r>
            <a:r>
              <a:rPr lang="en-US" b="1" dirty="0" err="1"/>
              <a:t>mật</a:t>
            </a:r>
            <a:r>
              <a:rPr lang="en-US" b="1" dirty="0"/>
              <a:t> - Secure PRP </a:t>
            </a:r>
            <a:r>
              <a:rPr lang="en-US" sz="2400" b="1" dirty="0"/>
              <a:t>(secure block cipher)</a:t>
            </a:r>
          </a:p>
        </p:txBody>
      </p:sp>
      <p:sp>
        <p:nvSpPr>
          <p:cNvPr id="7171" name="Rectangle 3"/>
          <p:cNvSpPr>
            <a:spLocks noGrp="1" noChangeArrowheads="1"/>
          </p:cNvSpPr>
          <p:nvPr>
            <p:ph sz="quarter" idx="13"/>
          </p:nvPr>
        </p:nvSpPr>
        <p:spPr>
          <a:xfrm>
            <a:off x="235077" y="841248"/>
            <a:ext cx="8674100" cy="5610352"/>
          </a:xfrm>
        </p:spPr>
        <p:txBody>
          <a:bodyPr>
            <a:normAutofit/>
          </a:bodyPr>
          <a:lstStyle/>
          <a:p>
            <a:r>
              <a:rPr lang="en-US" sz="2400" dirty="0"/>
              <a:t>Cho  b=0,1 </a:t>
            </a:r>
            <a:r>
              <a:rPr lang="en-US" sz="2400" dirty="0" err="1"/>
              <a:t>giá</a:t>
            </a:r>
            <a:r>
              <a:rPr lang="en-US" sz="2400" dirty="0"/>
              <a:t> </a:t>
            </a:r>
            <a:r>
              <a:rPr lang="en-US" sz="2400" dirty="0" err="1"/>
              <a:t>trị</a:t>
            </a:r>
            <a:r>
              <a:rPr lang="en-US" sz="2400" dirty="0"/>
              <a:t> </a:t>
            </a:r>
            <a:r>
              <a:rPr lang="en-US" sz="2400" dirty="0" err="1"/>
              <a:t>thực</a:t>
            </a:r>
            <a:r>
              <a:rPr lang="en-US" sz="2400" dirty="0"/>
              <a:t> </a:t>
            </a:r>
            <a:r>
              <a:rPr lang="en-US" sz="2400" dirty="0" err="1"/>
              <a:t>nghiệm</a:t>
            </a:r>
            <a:r>
              <a:rPr lang="en-US" sz="2400" dirty="0"/>
              <a:t> EXP(b) </a:t>
            </a:r>
            <a:r>
              <a:rPr lang="en-US" sz="2400" dirty="0" err="1"/>
              <a:t>được</a:t>
            </a:r>
            <a:r>
              <a:rPr lang="en-US" sz="2400" dirty="0"/>
              <a:t> </a:t>
            </a:r>
            <a:r>
              <a:rPr lang="en-US" sz="2400" dirty="0" err="1"/>
              <a:t>xác</a:t>
            </a:r>
            <a:r>
              <a:rPr lang="en-US" sz="2400" dirty="0"/>
              <a:t> </a:t>
            </a:r>
            <a:r>
              <a:rPr lang="en-US" sz="2400" dirty="0" err="1"/>
              <a:t>định</a:t>
            </a:r>
            <a:r>
              <a:rPr lang="en-US" sz="2400" dirty="0"/>
              <a:t> </a:t>
            </a:r>
            <a:r>
              <a:rPr lang="en-US" sz="2400" dirty="0" err="1"/>
              <a:t>như</a:t>
            </a:r>
            <a:r>
              <a:rPr lang="en-US" sz="2400" dirty="0"/>
              <a:t> </a:t>
            </a:r>
            <a:r>
              <a:rPr lang="en-US" sz="2400" dirty="0" err="1"/>
              <a:t>sau</a:t>
            </a:r>
            <a:r>
              <a:rPr lang="en-US" sz="2400" dirty="0"/>
              <a:t>:</a:t>
            </a: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a:spcBef>
                <a:spcPts val="0"/>
              </a:spcBef>
            </a:pPr>
            <a:r>
              <a:rPr lang="en-US" sz="2400" dirty="0" err="1"/>
              <a:t>Định</a:t>
            </a:r>
            <a:r>
              <a:rPr lang="en-US" sz="2400" dirty="0"/>
              <a:t> </a:t>
            </a:r>
            <a:r>
              <a:rPr lang="en-US" sz="2400" dirty="0" err="1"/>
              <a:t>nghĩa</a:t>
            </a:r>
            <a:r>
              <a:rPr lang="en-US" sz="2400" dirty="0"/>
              <a:t>:  E </a:t>
            </a:r>
            <a:r>
              <a:rPr lang="en-US" sz="2400" dirty="0" err="1"/>
              <a:t>là</a:t>
            </a:r>
            <a:r>
              <a:rPr lang="en-US" sz="2400" dirty="0"/>
              <a:t> </a:t>
            </a:r>
            <a:r>
              <a:rPr lang="en-US" sz="2400" dirty="0" err="1"/>
              <a:t>một</a:t>
            </a:r>
            <a:r>
              <a:rPr lang="en-US" sz="2400" dirty="0"/>
              <a:t> </a:t>
            </a:r>
            <a:r>
              <a:rPr lang="en-US" sz="2400" dirty="0" err="1"/>
              <a:t>hoán</a:t>
            </a:r>
            <a:r>
              <a:rPr lang="en-US" sz="2400" dirty="0"/>
              <a:t> </a:t>
            </a:r>
            <a:r>
              <a:rPr lang="en-US" sz="2400" dirty="0" err="1"/>
              <a:t>vị</a:t>
            </a:r>
            <a:r>
              <a:rPr lang="en-US" sz="2400" dirty="0"/>
              <a:t> </a:t>
            </a:r>
            <a:r>
              <a:rPr lang="en-US" sz="2400" dirty="0" err="1"/>
              <a:t>bảo</a:t>
            </a:r>
            <a:r>
              <a:rPr lang="en-US" sz="2400" dirty="0"/>
              <a:t> </a:t>
            </a:r>
            <a:r>
              <a:rPr lang="en-US" sz="2400" dirty="0" err="1"/>
              <a:t>mật</a:t>
            </a:r>
            <a:r>
              <a:rPr lang="en-US" sz="2400" dirty="0"/>
              <a:t> PRP </a:t>
            </a:r>
            <a:r>
              <a:rPr lang="en-US" sz="2400" dirty="0" err="1"/>
              <a:t>nếu</a:t>
            </a:r>
            <a:r>
              <a:rPr lang="en-US" sz="2400" dirty="0"/>
              <a:t> </a:t>
            </a:r>
            <a:r>
              <a:rPr lang="en-US" sz="2400" dirty="0" err="1"/>
              <a:t>mọi</a:t>
            </a:r>
            <a:r>
              <a:rPr lang="en-US" sz="2400" dirty="0"/>
              <a:t> </a:t>
            </a:r>
            <a:r>
              <a:rPr lang="en-US" sz="2400" dirty="0" err="1"/>
              <a:t>thuật</a:t>
            </a:r>
            <a:r>
              <a:rPr lang="en-US" sz="2400" dirty="0"/>
              <a:t> </a:t>
            </a:r>
            <a:r>
              <a:rPr lang="en-US" sz="2400" dirty="0" err="1"/>
              <a:t>toán</a:t>
            </a:r>
            <a:r>
              <a:rPr lang="en-US" sz="2400" dirty="0"/>
              <a:t> </a:t>
            </a:r>
            <a:r>
              <a:rPr lang="en-US" sz="2400" dirty="0" err="1"/>
              <a:t>hiệu</a:t>
            </a:r>
            <a:r>
              <a:rPr lang="en-US" sz="2400" dirty="0"/>
              <a:t> </a:t>
            </a:r>
            <a:r>
              <a:rPr lang="en-US" sz="2400" dirty="0" err="1"/>
              <a:t>quả</a:t>
            </a:r>
            <a:r>
              <a:rPr lang="en-US" sz="2400" dirty="0"/>
              <a:t> </a:t>
            </a:r>
            <a:r>
              <a:rPr lang="en-US" sz="2400" dirty="0" err="1"/>
              <a:t>có</a:t>
            </a:r>
            <a:r>
              <a:rPr lang="en-US" sz="2400" dirty="0"/>
              <a:t> </a:t>
            </a:r>
            <a:r>
              <a:rPr lang="en-US" sz="2400" dirty="0" err="1"/>
              <a:t>lợi</a:t>
            </a:r>
            <a:r>
              <a:rPr lang="en-US" sz="2400" dirty="0"/>
              <a:t> </a:t>
            </a:r>
            <a:r>
              <a:rPr lang="en-US" sz="2400" dirty="0" err="1"/>
              <a:t>thế</a:t>
            </a:r>
            <a:r>
              <a:rPr lang="en-US" sz="2400" dirty="0"/>
              <a:t> </a:t>
            </a:r>
            <a:r>
              <a:rPr lang="en-US" sz="2400" dirty="0" err="1"/>
              <a:t>được</a:t>
            </a:r>
            <a:r>
              <a:rPr lang="en-US" sz="2400" dirty="0"/>
              <a:t> </a:t>
            </a:r>
            <a:r>
              <a:rPr lang="en-US" sz="2400" dirty="0" err="1"/>
              <a:t>tính</a:t>
            </a:r>
            <a:r>
              <a:rPr lang="en-US" sz="2400" dirty="0"/>
              <a:t> </a:t>
            </a:r>
            <a:r>
              <a:rPr lang="en-US" sz="2400" dirty="0" err="1"/>
              <a:t>như</a:t>
            </a:r>
            <a:r>
              <a:rPr lang="en-US" sz="2400" dirty="0"/>
              <a:t> </a:t>
            </a:r>
            <a:r>
              <a:rPr lang="en-US" sz="2400" dirty="0" err="1"/>
              <a:t>sau</a:t>
            </a:r>
            <a:r>
              <a:rPr lang="en-US" sz="2400" dirty="0"/>
              <a:t>: </a:t>
            </a:r>
          </a:p>
          <a:p>
            <a:pPr marL="0" indent="0">
              <a:spcBef>
                <a:spcPts val="0"/>
              </a:spcBef>
              <a:buNone/>
            </a:pPr>
            <a:r>
              <a:rPr lang="en-US" sz="2400" dirty="0">
                <a:solidFill>
                  <a:schemeClr val="accent2"/>
                </a:solidFill>
              </a:rPr>
              <a:t>	</a:t>
            </a:r>
            <a:r>
              <a:rPr lang="en-US" sz="2400" dirty="0" err="1">
                <a:solidFill>
                  <a:schemeClr val="accent2"/>
                </a:solidFill>
              </a:rPr>
              <a:t>Adv</a:t>
            </a:r>
            <a:r>
              <a:rPr lang="en-US" sz="2400" baseline="-25000" dirty="0" err="1">
                <a:solidFill>
                  <a:schemeClr val="accent2"/>
                </a:solidFill>
              </a:rPr>
              <a:t>PRP</a:t>
            </a:r>
            <a:r>
              <a:rPr lang="en-US" sz="2400" dirty="0">
                <a:solidFill>
                  <a:schemeClr val="accent2"/>
                </a:solidFill>
              </a:rPr>
              <a:t>[A,E]  =  |</a:t>
            </a:r>
            <a:r>
              <a:rPr lang="en-US" sz="2400" dirty="0" err="1">
                <a:solidFill>
                  <a:schemeClr val="accent2"/>
                </a:solidFill>
              </a:rPr>
              <a:t>Pr</a:t>
            </a:r>
            <a:r>
              <a:rPr lang="en-US" sz="2400" dirty="0">
                <a:solidFill>
                  <a:schemeClr val="accent2"/>
                </a:solidFill>
              </a:rPr>
              <a:t>[EXP(0)=1] – </a:t>
            </a:r>
            <a:r>
              <a:rPr lang="en-US" sz="2400" dirty="0" err="1">
                <a:solidFill>
                  <a:schemeClr val="accent2"/>
                </a:solidFill>
              </a:rPr>
              <a:t>Pr</a:t>
            </a:r>
            <a:r>
              <a:rPr lang="en-US" sz="2400" dirty="0">
                <a:solidFill>
                  <a:schemeClr val="accent2"/>
                </a:solidFill>
              </a:rPr>
              <a:t>[EXP(1)=1] |</a:t>
            </a:r>
          </a:p>
          <a:p>
            <a:pPr>
              <a:lnSpc>
                <a:spcPct val="120000"/>
              </a:lnSpc>
              <a:buFontTx/>
              <a:buNone/>
            </a:pPr>
            <a:r>
              <a:rPr lang="en-US" sz="2400" dirty="0"/>
              <a:t>	</a:t>
            </a:r>
            <a:r>
              <a:rPr lang="en-US" sz="2400" dirty="0" err="1"/>
              <a:t>là</a:t>
            </a:r>
            <a:r>
              <a:rPr lang="en-US" sz="2400" dirty="0"/>
              <a:t> </a:t>
            </a:r>
            <a:r>
              <a:rPr lang="en-US" sz="2400" dirty="0" err="1"/>
              <a:t>một</a:t>
            </a:r>
            <a:r>
              <a:rPr lang="en-US" sz="2400" dirty="0"/>
              <a:t> </a:t>
            </a:r>
            <a:r>
              <a:rPr lang="en-US" sz="2400" dirty="0" err="1"/>
              <a:t>giá</a:t>
            </a:r>
            <a:r>
              <a:rPr lang="en-US" sz="2400" dirty="0"/>
              <a:t> </a:t>
            </a:r>
            <a:r>
              <a:rPr lang="en-US" sz="2400" dirty="0" err="1"/>
              <a:t>trị</a:t>
            </a:r>
            <a:r>
              <a:rPr lang="en-US" sz="2400" dirty="0"/>
              <a:t> </a:t>
            </a:r>
            <a:r>
              <a:rPr lang="en-US" sz="2400" dirty="0" err="1"/>
              <a:t>không</a:t>
            </a:r>
            <a:r>
              <a:rPr lang="en-US" sz="2400" dirty="0"/>
              <a:t> </a:t>
            </a:r>
            <a:r>
              <a:rPr lang="en-US" sz="2400" dirty="0" err="1"/>
              <a:t>đáng</a:t>
            </a:r>
            <a:r>
              <a:rPr lang="en-US" sz="2400" dirty="0"/>
              <a:t> </a:t>
            </a:r>
            <a:r>
              <a:rPr lang="en-US" sz="2400" dirty="0" err="1"/>
              <a:t>kể</a:t>
            </a:r>
            <a:r>
              <a:rPr lang="en-US" sz="2400" dirty="0"/>
              <a:t> </a:t>
            </a:r>
          </a:p>
        </p:txBody>
      </p:sp>
      <p:grpSp>
        <p:nvGrpSpPr>
          <p:cNvPr id="2" name="Group 1">
            <a:extLst>
              <a:ext uri="{FF2B5EF4-FFF2-40B4-BE49-F238E27FC236}">
                <a16:creationId xmlns:a16="http://schemas.microsoft.com/office/drawing/2014/main" id="{0BDDEF94-2229-AF19-BC83-DF8369CA53F3}"/>
              </a:ext>
            </a:extLst>
          </p:cNvPr>
          <p:cNvGrpSpPr/>
          <p:nvPr/>
        </p:nvGrpSpPr>
        <p:grpSpPr>
          <a:xfrm>
            <a:off x="723900" y="1556064"/>
            <a:ext cx="8302595" cy="2861965"/>
            <a:chOff x="762000" y="2057401"/>
            <a:chExt cx="8302595" cy="2861965"/>
          </a:xfrm>
        </p:grpSpPr>
        <p:sp>
          <p:nvSpPr>
            <p:cNvPr id="7172" name="Rectangle 4"/>
            <p:cNvSpPr>
              <a:spLocks noChangeArrowheads="1"/>
            </p:cNvSpPr>
            <p:nvPr/>
          </p:nvSpPr>
          <p:spPr bwMode="auto">
            <a:xfrm>
              <a:off x="859196" y="2755106"/>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7173" name="Line 5"/>
            <p:cNvSpPr>
              <a:spLocks noChangeShapeType="1"/>
            </p:cNvSpPr>
            <p:nvPr/>
          </p:nvSpPr>
          <p:spPr bwMode="auto">
            <a:xfrm>
              <a:off x="1676400" y="2240756"/>
              <a:ext cx="0" cy="514350"/>
            </a:xfrm>
            <a:prstGeom prst="line">
              <a:avLst/>
            </a:prstGeom>
            <a:noFill/>
            <a:ln w="9525">
              <a:solidFill>
                <a:schemeClr val="tx1"/>
              </a:solidFill>
              <a:round/>
              <a:headEnd/>
              <a:tailEnd type="triangle" w="med" len="med"/>
            </a:ln>
            <a:effectLst/>
          </p:spPr>
          <p:txBody>
            <a:bodyPr/>
            <a:lstStyle/>
            <a:p>
              <a:endParaRPr lang="en-US"/>
            </a:p>
          </p:txBody>
        </p:sp>
        <p:sp>
          <p:nvSpPr>
            <p:cNvPr id="7174" name="Text Box 6"/>
            <p:cNvSpPr txBox="1">
              <a:spLocks noChangeArrowheads="1"/>
            </p:cNvSpPr>
            <p:nvPr/>
          </p:nvSpPr>
          <p:spPr bwMode="auto">
            <a:xfrm>
              <a:off x="1647826" y="2057401"/>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7175" name="Rectangle 7"/>
            <p:cNvSpPr>
              <a:spLocks noChangeArrowheads="1"/>
            </p:cNvSpPr>
            <p:nvPr/>
          </p:nvSpPr>
          <p:spPr bwMode="auto">
            <a:xfrm>
              <a:off x="7336882" y="2671146"/>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a:t>Adv. A</a:t>
              </a:r>
            </a:p>
          </p:txBody>
        </p:sp>
        <p:sp>
          <p:nvSpPr>
            <p:cNvPr id="7176" name="Text Box 8"/>
            <p:cNvSpPr txBox="1">
              <a:spLocks noChangeArrowheads="1"/>
            </p:cNvSpPr>
            <p:nvPr/>
          </p:nvSpPr>
          <p:spPr bwMode="auto">
            <a:xfrm>
              <a:off x="2154596" y="2546504"/>
              <a:ext cx="5217647" cy="788357"/>
            </a:xfrm>
            <a:prstGeom prst="rect">
              <a:avLst/>
            </a:prstGeom>
            <a:noFill/>
            <a:ln w="9525">
              <a:noFill/>
              <a:miter lim="800000"/>
              <a:headEnd/>
              <a:tailEnd/>
            </a:ln>
            <a:effectLst/>
          </p:spPr>
          <p:txBody>
            <a:bodyPr wrap="none">
              <a:spAutoFit/>
            </a:bodyPr>
            <a:lstStyle/>
            <a:p>
              <a:r>
                <a:rPr lang="en-US" sz="2000" dirty="0"/>
                <a:t>b=0:   </a:t>
              </a:r>
              <a:r>
                <a:rPr lang="en-US" sz="2000" dirty="0" err="1"/>
                <a:t>k</a:t>
              </a:r>
              <a:r>
                <a:rPr lang="en-US" sz="2000" dirty="0" err="1">
                  <a:sym typeface="Symbol" pitchFamily="18" charset="2"/>
                </a:rPr>
                <a:t>K</a:t>
              </a:r>
              <a:r>
                <a:rPr lang="en-US" sz="2000" dirty="0">
                  <a:sym typeface="Symbol" pitchFamily="18" charset="2"/>
                </a:rPr>
                <a:t>,  f E(k,): </a:t>
              </a:r>
              <a:r>
                <a:rPr lang="en-US" sz="2000" dirty="0" err="1">
                  <a:sym typeface="Symbol" pitchFamily="18" charset="2"/>
                </a:rPr>
                <a:t>hoán</a:t>
              </a:r>
              <a:r>
                <a:rPr lang="en-US" sz="2000" dirty="0">
                  <a:sym typeface="Symbol" pitchFamily="18" charset="2"/>
                </a:rPr>
                <a:t> </a:t>
              </a:r>
              <a:r>
                <a:rPr lang="en-US" sz="2000" dirty="0" err="1">
                  <a:sym typeface="Symbol" pitchFamily="18" charset="2"/>
                </a:rPr>
                <a:t>vị</a:t>
              </a:r>
              <a:r>
                <a:rPr lang="en-US" sz="2000" dirty="0">
                  <a:sym typeface="Symbol" pitchFamily="18" charset="2"/>
                </a:rPr>
                <a:t> </a:t>
              </a:r>
              <a:r>
                <a:rPr lang="en-US" sz="2000" dirty="0" err="1">
                  <a:sym typeface="Symbol" pitchFamily="18" charset="2"/>
                </a:rPr>
                <a:t>giả</a:t>
              </a:r>
              <a:r>
                <a:rPr lang="en-US" sz="2000" dirty="0">
                  <a:sym typeface="Symbol" pitchFamily="18" charset="2"/>
                </a:rPr>
                <a:t> </a:t>
              </a:r>
              <a:r>
                <a:rPr lang="en-US" sz="2000" dirty="0" err="1">
                  <a:sym typeface="Symbol" pitchFamily="18" charset="2"/>
                </a:rPr>
                <a:t>ngẫu</a:t>
              </a:r>
              <a:r>
                <a:rPr lang="en-US" sz="2000" dirty="0">
                  <a:sym typeface="Symbol" pitchFamily="18" charset="2"/>
                </a:rPr>
                <a:t> </a:t>
              </a:r>
              <a:r>
                <a:rPr lang="en-US" sz="2000" dirty="0" err="1">
                  <a:sym typeface="Symbol" pitchFamily="18" charset="2"/>
                </a:rPr>
                <a:t>nhiên</a:t>
              </a:r>
              <a:endParaRPr lang="en-US" sz="2000" dirty="0">
                <a:sym typeface="Symbol" pitchFamily="18" charset="2"/>
              </a:endParaRPr>
            </a:p>
            <a:p>
              <a:pPr>
                <a:lnSpc>
                  <a:spcPct val="140000"/>
                </a:lnSpc>
              </a:pPr>
              <a:r>
                <a:rPr lang="en-US" sz="2000" dirty="0">
                  <a:sym typeface="Symbol" pitchFamily="18" charset="2"/>
                </a:rPr>
                <a:t>b=1:   </a:t>
              </a:r>
              <a:r>
                <a:rPr lang="en-US" sz="2000" dirty="0" err="1">
                  <a:sym typeface="Symbol" pitchFamily="18" charset="2"/>
                </a:rPr>
                <a:t>f</a:t>
              </a:r>
              <a:r>
                <a:rPr lang="en-US" sz="2000" dirty="0" err="1">
                  <a:cs typeface="Arial" charset="0"/>
                  <a:sym typeface="Symbol" pitchFamily="18" charset="2"/>
                </a:rPr>
                <a:t></a:t>
              </a:r>
              <a:r>
                <a:rPr lang="en-US" sz="2000" b="1" dirty="0" err="1">
                  <a:cs typeface="Arial" charset="0"/>
                  <a:sym typeface="Symbol" pitchFamily="18" charset="2"/>
                </a:rPr>
                <a:t>Perms</a:t>
              </a:r>
              <a:r>
                <a:rPr lang="en-US" sz="2000" b="1" dirty="0">
                  <a:cs typeface="Arial" charset="0"/>
                  <a:sym typeface="Symbol" pitchFamily="18" charset="2"/>
                </a:rPr>
                <a:t>[X]: </a:t>
              </a:r>
              <a:r>
                <a:rPr lang="en-US" sz="2000" b="1" dirty="0" err="1">
                  <a:cs typeface="Arial" charset="0"/>
                  <a:sym typeface="Symbol" pitchFamily="18" charset="2"/>
                </a:rPr>
                <a:t>hoán</a:t>
              </a:r>
              <a:r>
                <a:rPr lang="en-US" sz="2000" b="1" dirty="0">
                  <a:cs typeface="Arial" charset="0"/>
                  <a:sym typeface="Symbol" pitchFamily="18" charset="2"/>
                </a:rPr>
                <a:t> </a:t>
              </a:r>
              <a:r>
                <a:rPr lang="en-US" sz="2000" b="1" dirty="0" err="1">
                  <a:cs typeface="Arial" charset="0"/>
                  <a:sym typeface="Symbol" pitchFamily="18" charset="2"/>
                </a:rPr>
                <a:t>vị</a:t>
              </a:r>
              <a:r>
                <a:rPr lang="en-US" sz="2000" b="1" dirty="0">
                  <a:cs typeface="Arial" charset="0"/>
                  <a:sym typeface="Symbol" pitchFamily="18" charset="2"/>
                </a:rPr>
                <a:t> </a:t>
              </a:r>
              <a:r>
                <a:rPr lang="en-US" sz="2000" b="1" dirty="0" err="1">
                  <a:cs typeface="Arial" charset="0"/>
                  <a:sym typeface="Symbol" pitchFamily="18" charset="2"/>
                </a:rPr>
                <a:t>ngẫu</a:t>
              </a:r>
              <a:r>
                <a:rPr lang="en-US" sz="2000" b="1" dirty="0">
                  <a:cs typeface="Arial" charset="0"/>
                  <a:sym typeface="Symbol" pitchFamily="18" charset="2"/>
                </a:rPr>
                <a:t> </a:t>
              </a:r>
              <a:r>
                <a:rPr lang="en-US" sz="2000" b="1" dirty="0" err="1">
                  <a:cs typeface="Arial" charset="0"/>
                  <a:sym typeface="Symbol" pitchFamily="18" charset="2"/>
                </a:rPr>
                <a:t>nhiên</a:t>
              </a:r>
              <a:r>
                <a:rPr lang="en-US" sz="2000" b="1" dirty="0">
                  <a:cs typeface="Arial" charset="0"/>
                  <a:sym typeface="Symbol" pitchFamily="18" charset="2"/>
                </a:rPr>
                <a:t> </a:t>
              </a:r>
              <a:r>
                <a:rPr lang="en-US" sz="2000" b="1" dirty="0" err="1">
                  <a:cs typeface="Arial" charset="0"/>
                  <a:sym typeface="Symbol" pitchFamily="18" charset="2"/>
                </a:rPr>
                <a:t>thực</a:t>
              </a:r>
              <a:r>
                <a:rPr lang="en-US" sz="2000" b="1" dirty="0">
                  <a:cs typeface="Arial" charset="0"/>
                  <a:sym typeface="Symbol" pitchFamily="18" charset="2"/>
                </a:rPr>
                <a:t> </a:t>
              </a:r>
              <a:r>
                <a:rPr lang="en-US" sz="2000" b="1" dirty="0" err="1">
                  <a:cs typeface="Arial" charset="0"/>
                  <a:sym typeface="Symbol" pitchFamily="18" charset="2"/>
                </a:rPr>
                <a:t>sự</a:t>
              </a:r>
              <a:r>
                <a:rPr lang="en-US" sz="2000" b="1" dirty="0">
                  <a:cs typeface="Arial" charset="0"/>
                  <a:sym typeface="Symbol" pitchFamily="18" charset="2"/>
                </a:rPr>
                <a:t> </a:t>
              </a:r>
            </a:p>
          </p:txBody>
        </p:sp>
        <p:grpSp>
          <p:nvGrpSpPr>
            <p:cNvPr id="7177" name="Group 9"/>
            <p:cNvGrpSpPr>
              <a:grpSpLocks/>
            </p:cNvGrpSpPr>
            <p:nvPr/>
          </p:nvGrpSpPr>
          <p:grpSpPr bwMode="auto">
            <a:xfrm>
              <a:off x="2362200" y="3200402"/>
              <a:ext cx="4648200" cy="369094"/>
              <a:chOff x="1776" y="1997"/>
              <a:chExt cx="2400" cy="310"/>
            </a:xfrm>
          </p:grpSpPr>
          <p:sp>
            <p:nvSpPr>
              <p:cNvPr id="7178" name="Line 10"/>
              <p:cNvSpPr>
                <a:spLocks noChangeShapeType="1"/>
              </p:cNvSpPr>
              <p:nvPr/>
            </p:nvSpPr>
            <p:spPr bwMode="auto">
              <a:xfrm flipH="1">
                <a:off x="1776" y="2304"/>
                <a:ext cx="2400" cy="0"/>
              </a:xfrm>
              <a:prstGeom prst="line">
                <a:avLst/>
              </a:prstGeom>
              <a:noFill/>
              <a:ln w="9525">
                <a:solidFill>
                  <a:schemeClr val="tx1"/>
                </a:solidFill>
                <a:round/>
                <a:headEnd/>
                <a:tailEnd type="triangle" w="med" len="med"/>
              </a:ln>
              <a:effectLst/>
            </p:spPr>
            <p:txBody>
              <a:bodyPr/>
              <a:lstStyle/>
              <a:p>
                <a:endParaRPr lang="en-US"/>
              </a:p>
            </p:txBody>
          </p:sp>
          <p:sp>
            <p:nvSpPr>
              <p:cNvPr id="7179" name="Text Box 11"/>
              <p:cNvSpPr txBox="1">
                <a:spLocks noChangeArrowheads="1"/>
              </p:cNvSpPr>
              <p:nvPr/>
            </p:nvSpPr>
            <p:spPr bwMode="auto">
              <a:xfrm>
                <a:off x="3074" y="1997"/>
                <a:ext cx="389" cy="310"/>
              </a:xfrm>
              <a:prstGeom prst="rect">
                <a:avLst/>
              </a:prstGeom>
              <a:noFill/>
              <a:ln w="9525">
                <a:noFill/>
                <a:miter lim="800000"/>
                <a:headEnd/>
                <a:tailEnd/>
              </a:ln>
              <a:effectLst/>
            </p:spPr>
            <p:txBody>
              <a:bodyPr wrap="none">
                <a:spAutoFit/>
              </a:bodyPr>
              <a:lstStyle/>
              <a:p>
                <a:r>
                  <a:rPr lang="en-US" dirty="0"/>
                  <a:t>x</a:t>
                </a:r>
                <a:r>
                  <a:rPr lang="en-US" baseline="-25000" dirty="0"/>
                  <a:t>1</a:t>
                </a:r>
                <a:r>
                  <a:rPr lang="en-US" dirty="0"/>
                  <a:t> </a:t>
                </a:r>
                <a:r>
                  <a:rPr lang="en-US" dirty="0">
                    <a:sym typeface="Symbol" pitchFamily="18" charset="2"/>
                  </a:rPr>
                  <a:t> X</a:t>
                </a:r>
              </a:p>
            </p:txBody>
          </p:sp>
        </p:grpSp>
        <p:grpSp>
          <p:nvGrpSpPr>
            <p:cNvPr id="7180" name="Group 12"/>
            <p:cNvGrpSpPr>
              <a:grpSpLocks/>
            </p:cNvGrpSpPr>
            <p:nvPr/>
          </p:nvGrpSpPr>
          <p:grpSpPr bwMode="auto">
            <a:xfrm>
              <a:off x="2362200" y="3782620"/>
              <a:ext cx="4724400" cy="400051"/>
              <a:chOff x="1776" y="2620"/>
              <a:chExt cx="2352" cy="336"/>
            </a:xfrm>
          </p:grpSpPr>
          <p:sp>
            <p:nvSpPr>
              <p:cNvPr id="7181" name="Line 13"/>
              <p:cNvSpPr>
                <a:spLocks noChangeShapeType="1"/>
              </p:cNvSpPr>
              <p:nvPr/>
            </p:nvSpPr>
            <p:spPr bwMode="auto">
              <a:xfrm>
                <a:off x="1776" y="2688"/>
                <a:ext cx="2352" cy="0"/>
              </a:xfrm>
              <a:prstGeom prst="line">
                <a:avLst/>
              </a:prstGeom>
              <a:noFill/>
              <a:ln w="9525">
                <a:solidFill>
                  <a:schemeClr val="tx1"/>
                </a:solidFill>
                <a:round/>
                <a:headEnd/>
                <a:tailEnd type="triangle" w="med" len="med"/>
              </a:ln>
              <a:effectLst/>
            </p:spPr>
            <p:txBody>
              <a:bodyPr/>
              <a:lstStyle/>
              <a:p>
                <a:endParaRPr lang="en-US"/>
              </a:p>
            </p:txBody>
          </p:sp>
          <p:sp>
            <p:nvSpPr>
              <p:cNvPr id="7182" name="Text Box 14"/>
              <p:cNvSpPr txBox="1">
                <a:spLocks noChangeArrowheads="1"/>
              </p:cNvSpPr>
              <p:nvPr/>
            </p:nvSpPr>
            <p:spPr bwMode="auto">
              <a:xfrm>
                <a:off x="3066" y="2620"/>
                <a:ext cx="307" cy="336"/>
              </a:xfrm>
              <a:prstGeom prst="rect">
                <a:avLst/>
              </a:prstGeom>
              <a:noFill/>
              <a:ln w="9525">
                <a:noFill/>
                <a:miter lim="800000"/>
                <a:headEnd/>
                <a:tailEnd/>
              </a:ln>
              <a:effectLst/>
            </p:spPr>
            <p:txBody>
              <a:bodyPr wrap="none">
                <a:spAutoFit/>
              </a:bodyPr>
              <a:lstStyle/>
              <a:p>
                <a:r>
                  <a:rPr lang="en-US" sz="2000" dirty="0"/>
                  <a:t>f(x</a:t>
                </a:r>
                <a:r>
                  <a:rPr lang="en-US" sz="2000" baseline="-25000" dirty="0"/>
                  <a:t>1</a:t>
                </a:r>
                <a:r>
                  <a:rPr lang="en-US" sz="2000" dirty="0"/>
                  <a:t>)</a:t>
                </a:r>
              </a:p>
            </p:txBody>
          </p:sp>
        </p:grpSp>
        <p:sp>
          <p:nvSpPr>
            <p:cNvPr id="7184" name="Line 16"/>
            <p:cNvSpPr>
              <a:spLocks noChangeShapeType="1"/>
            </p:cNvSpPr>
            <p:nvPr/>
          </p:nvSpPr>
          <p:spPr bwMode="auto">
            <a:xfrm>
              <a:off x="7690624" y="4183856"/>
              <a:ext cx="0" cy="571500"/>
            </a:xfrm>
            <a:prstGeom prst="line">
              <a:avLst/>
            </a:prstGeom>
            <a:noFill/>
            <a:ln w="9525">
              <a:solidFill>
                <a:schemeClr val="tx1"/>
              </a:solidFill>
              <a:round/>
              <a:headEnd/>
              <a:tailEnd type="triangle" w="med" len="med"/>
            </a:ln>
            <a:effectLst/>
          </p:spPr>
          <p:txBody>
            <a:bodyPr/>
            <a:lstStyle/>
            <a:p>
              <a:endParaRPr lang="en-US"/>
            </a:p>
          </p:txBody>
        </p:sp>
        <p:sp>
          <p:nvSpPr>
            <p:cNvPr id="7185" name="Text Box 17"/>
            <p:cNvSpPr txBox="1">
              <a:spLocks noChangeArrowheads="1"/>
            </p:cNvSpPr>
            <p:nvPr/>
          </p:nvSpPr>
          <p:spPr bwMode="auto">
            <a:xfrm>
              <a:off x="7703325" y="4457701"/>
              <a:ext cx="1361270" cy="461665"/>
            </a:xfrm>
            <a:prstGeom prst="rect">
              <a:avLst/>
            </a:prstGeom>
            <a:noFill/>
            <a:ln w="9525">
              <a:noFill/>
              <a:miter lim="800000"/>
              <a:headEnd/>
              <a:tailEnd/>
            </a:ln>
            <a:effectLst/>
          </p:spPr>
          <p:txBody>
            <a:bodyPr wrap="none">
              <a:spAutoFit/>
            </a:bodyPr>
            <a:lstStyle/>
            <a:p>
              <a:r>
                <a:rPr lang="en-US" sz="2400"/>
                <a:t>b’ </a:t>
              </a:r>
              <a:r>
                <a:rPr lang="en-US" sz="2400">
                  <a:sym typeface="Symbol" pitchFamily="18" charset="2"/>
                </a:rPr>
                <a:t> {0,1}</a:t>
              </a:r>
              <a:endParaRPr lang="en-US" sz="2400"/>
            </a:p>
          </p:txBody>
        </p:sp>
        <p:sp>
          <p:nvSpPr>
            <p:cNvPr id="7186" name="Rectangle 18"/>
            <p:cNvSpPr>
              <a:spLocks noChangeArrowheads="1"/>
            </p:cNvSpPr>
            <p:nvPr/>
          </p:nvSpPr>
          <p:spPr bwMode="auto">
            <a:xfrm>
              <a:off x="762000" y="2526506"/>
              <a:ext cx="7924800" cy="1828800"/>
            </a:xfrm>
            <a:prstGeom prst="rect">
              <a:avLst/>
            </a:prstGeom>
            <a:noFill/>
            <a:ln w="38100">
              <a:solidFill>
                <a:schemeClr val="folHlink"/>
              </a:solidFill>
              <a:miter lim="800000"/>
              <a:headEnd/>
              <a:tailEnd/>
            </a:ln>
            <a:effectLst/>
          </p:spPr>
          <p:txBody>
            <a:bodyPr wrap="none" anchor="ctr"/>
            <a:lstStyle/>
            <a:p>
              <a:endParaRPr lang="en-US"/>
            </a:p>
          </p:txBody>
        </p:sp>
        <p:sp>
          <p:nvSpPr>
            <p:cNvPr id="19" name="TextBox 18"/>
            <p:cNvSpPr txBox="1"/>
            <p:nvPr/>
          </p:nvSpPr>
          <p:spPr>
            <a:xfrm>
              <a:off x="1600200" y="3352800"/>
              <a:ext cx="293670" cy="523220"/>
            </a:xfrm>
            <a:prstGeom prst="rect">
              <a:avLst/>
            </a:prstGeom>
            <a:noFill/>
          </p:spPr>
          <p:txBody>
            <a:bodyPr wrap="none" rtlCol="0">
              <a:spAutoFit/>
            </a:bodyPr>
            <a:lstStyle/>
            <a:p>
              <a:r>
                <a:rPr lang="en-US" sz="2800" dirty="0"/>
                <a:t>f</a:t>
              </a:r>
            </a:p>
          </p:txBody>
        </p:sp>
        <p:sp>
          <p:nvSpPr>
            <p:cNvPr id="20" name="TextBox 19"/>
            <p:cNvSpPr txBox="1"/>
            <p:nvPr/>
          </p:nvSpPr>
          <p:spPr>
            <a:xfrm>
              <a:off x="5562600" y="3162300"/>
              <a:ext cx="1291636" cy="400110"/>
            </a:xfrm>
            <a:prstGeom prst="rect">
              <a:avLst/>
            </a:prstGeom>
            <a:noFill/>
          </p:spPr>
          <p:txBody>
            <a:bodyPr wrap="none" rtlCol="0">
              <a:spAutoFit/>
            </a:bodyPr>
            <a:lstStyle/>
            <a:p>
              <a:r>
                <a:rPr lang="en-US" sz="2000" dirty="0"/>
                <a:t>, x</a:t>
              </a:r>
              <a:r>
                <a:rPr lang="en-US" sz="2000" baseline="-25000" dirty="0"/>
                <a:t>2</a:t>
              </a:r>
              <a:r>
                <a:rPr lang="en-US" sz="2000" dirty="0"/>
                <a:t>,   …,  </a:t>
              </a:r>
              <a:r>
                <a:rPr lang="en-US" sz="2000" dirty="0" err="1"/>
                <a:t>x</a:t>
              </a:r>
              <a:r>
                <a:rPr lang="en-US" sz="2000" baseline="-25000" dirty="0" err="1"/>
                <a:t>q</a:t>
              </a:r>
              <a:endParaRPr lang="en-US" sz="2000" baseline="-25000" dirty="0"/>
            </a:p>
          </p:txBody>
        </p:sp>
        <p:sp>
          <p:nvSpPr>
            <p:cNvPr id="21" name="TextBox 20"/>
            <p:cNvSpPr txBox="1"/>
            <p:nvPr/>
          </p:nvSpPr>
          <p:spPr>
            <a:xfrm>
              <a:off x="5486401" y="3784600"/>
              <a:ext cx="1589794" cy="400110"/>
            </a:xfrm>
            <a:prstGeom prst="rect">
              <a:avLst/>
            </a:prstGeom>
            <a:noFill/>
          </p:spPr>
          <p:txBody>
            <a:bodyPr wrap="none" rtlCol="0">
              <a:spAutoFit/>
            </a:bodyPr>
            <a:lstStyle/>
            <a:p>
              <a:r>
                <a:rPr lang="en-US" sz="2000" dirty="0"/>
                <a:t>, f(x</a:t>
              </a:r>
              <a:r>
                <a:rPr lang="en-US" sz="2000" baseline="-25000" dirty="0"/>
                <a:t>2</a:t>
              </a:r>
              <a:r>
                <a:rPr lang="en-US" sz="2000" dirty="0"/>
                <a:t>), …, f(</a:t>
              </a:r>
              <a:r>
                <a:rPr lang="en-US" sz="2000" dirty="0" err="1"/>
                <a:t>x</a:t>
              </a:r>
              <a:r>
                <a:rPr lang="en-US" sz="2000" baseline="-25000" dirty="0" err="1"/>
                <a:t>q</a:t>
              </a:r>
              <a:r>
                <a:rPr lang="en-US" sz="2000" dirty="0"/>
                <a:t>)</a:t>
              </a:r>
            </a:p>
          </p:txBody>
        </p:sp>
      </p:grpSp>
    </p:spTree>
    <p:extLst>
      <p:ext uri="{BB962C8B-B14F-4D97-AF65-F5344CB8AC3E}">
        <p14:creationId xmlns:p14="http://schemas.microsoft.com/office/powerpoint/2010/main" val="199089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960650-90BC-DBBF-5F5F-6B90F75A8F9F}"/>
              </a:ext>
            </a:extLst>
          </p:cNvPr>
          <p:cNvSpPr>
            <a:spLocks noGrp="1"/>
          </p:cNvSpPr>
          <p:nvPr>
            <p:ph type="title"/>
          </p:nvPr>
        </p:nvSpPr>
        <p:spPr/>
        <p:txBody>
          <a:bodyPr/>
          <a:lstStyle/>
          <a:p>
            <a:r>
              <a:rPr lang="vi-VN" dirty="0"/>
              <a:t>Ví dụ về PRP bảo mật </a:t>
            </a:r>
            <a:endParaRPr dirty="0"/>
          </a:p>
        </p:txBody>
      </p:sp>
      <p:sp>
        <p:nvSpPr>
          <p:cNvPr id="5" name="Content Placeholder 4">
            <a:extLst>
              <a:ext uri="{FF2B5EF4-FFF2-40B4-BE49-F238E27FC236}">
                <a16:creationId xmlns:a16="http://schemas.microsoft.com/office/drawing/2014/main" id="{A8563A4B-F14E-2A8C-0CA1-1C312EDB049F}"/>
              </a:ext>
            </a:extLst>
          </p:cNvPr>
          <p:cNvSpPr>
            <a:spLocks noGrp="1"/>
          </p:cNvSpPr>
          <p:nvPr>
            <p:ph sz="quarter" idx="13"/>
          </p:nvPr>
        </p:nvSpPr>
        <p:spPr>
          <a:xfrm>
            <a:off x="469900" y="763157"/>
            <a:ext cx="8255000" cy="1585425"/>
          </a:xfrm>
        </p:spPr>
        <p:txBody>
          <a:bodyPr/>
          <a:lstStyle/>
          <a:p>
            <a:r>
              <a:rPr lang="en-US" sz="2400" dirty="0"/>
              <a:t>Cho  X = {0,1}.    Perms[X]  </a:t>
            </a:r>
            <a:r>
              <a:rPr lang="en-US" sz="2400" dirty="0" err="1"/>
              <a:t>chứa</a:t>
            </a:r>
            <a:r>
              <a:rPr lang="en-US" sz="2400" dirty="0"/>
              <a:t> 2 </a:t>
            </a:r>
            <a:r>
              <a:rPr lang="en-US" sz="2400" dirty="0" err="1"/>
              <a:t>hàm</a:t>
            </a:r>
            <a:r>
              <a:rPr lang="en-US" sz="2400" dirty="0"/>
              <a:t> </a:t>
            </a:r>
          </a:p>
          <a:p>
            <a:r>
              <a:rPr lang="en-US" sz="2400" dirty="0" err="1"/>
              <a:t>Xem</a:t>
            </a:r>
            <a:r>
              <a:rPr lang="en-US" sz="2400" dirty="0"/>
              <a:t> </a:t>
            </a:r>
            <a:r>
              <a:rPr lang="en-US" sz="2400" dirty="0" err="1"/>
              <a:t>xét</a:t>
            </a:r>
            <a:r>
              <a:rPr lang="en-US" sz="2400" dirty="0"/>
              <a:t> PRP </a:t>
            </a:r>
            <a:r>
              <a:rPr lang="en-US" sz="2400" dirty="0" err="1"/>
              <a:t>sau</a:t>
            </a:r>
            <a:r>
              <a:rPr lang="en-US" sz="2400" dirty="0"/>
              <a:t> </a:t>
            </a:r>
            <a:r>
              <a:rPr lang="en-US" sz="2400" dirty="0" err="1"/>
              <a:t>đây</a:t>
            </a:r>
            <a:r>
              <a:rPr lang="en-US" sz="2400" dirty="0"/>
              <a:t>: key space K={0,1},   input space X = {0,1}, PRP defined as: E(</a:t>
            </a:r>
            <a:r>
              <a:rPr lang="en-US" sz="2400" dirty="0" err="1"/>
              <a:t>k,x</a:t>
            </a:r>
            <a:r>
              <a:rPr lang="en-US" sz="2400" dirty="0"/>
              <a:t>) = </a:t>
            </a:r>
            <a:r>
              <a:rPr lang="en-US" sz="2400" dirty="0" err="1"/>
              <a:t>x⨁k</a:t>
            </a:r>
            <a:r>
              <a:rPr lang="en-US" sz="2400" dirty="0"/>
              <a:t>	</a:t>
            </a:r>
          </a:p>
          <a:p>
            <a:r>
              <a:rPr lang="en-US" sz="2400" dirty="0" err="1"/>
              <a:t>Đây</a:t>
            </a:r>
            <a:r>
              <a:rPr lang="en-US" sz="2400" dirty="0"/>
              <a:t> </a:t>
            </a:r>
            <a:r>
              <a:rPr lang="en-US" sz="2400" dirty="0" err="1"/>
              <a:t>có</a:t>
            </a:r>
            <a:r>
              <a:rPr lang="en-US" sz="2400" dirty="0"/>
              <a:t> </a:t>
            </a:r>
            <a:r>
              <a:rPr lang="en-US" sz="2400" dirty="0" err="1"/>
              <a:t>phải</a:t>
            </a:r>
            <a:r>
              <a:rPr lang="en-US" sz="2400" dirty="0"/>
              <a:t> PRP </a:t>
            </a:r>
            <a:r>
              <a:rPr lang="en-US" sz="2400" dirty="0" err="1"/>
              <a:t>bảo</a:t>
            </a:r>
            <a:r>
              <a:rPr lang="en-US" sz="2400" dirty="0"/>
              <a:t> </a:t>
            </a:r>
            <a:r>
              <a:rPr lang="en-US" sz="2400" dirty="0" err="1"/>
              <a:t>mật</a:t>
            </a:r>
            <a:r>
              <a:rPr lang="en-US" sz="2400" dirty="0"/>
              <a:t> ?</a:t>
            </a:r>
          </a:p>
        </p:txBody>
      </p:sp>
      <p:grpSp>
        <p:nvGrpSpPr>
          <p:cNvPr id="11" name="Group 10">
            <a:extLst>
              <a:ext uri="{FF2B5EF4-FFF2-40B4-BE49-F238E27FC236}">
                <a16:creationId xmlns:a16="http://schemas.microsoft.com/office/drawing/2014/main" id="{725DA26A-085D-F663-934D-DD7D69B40EEB}"/>
              </a:ext>
            </a:extLst>
          </p:cNvPr>
          <p:cNvGrpSpPr/>
          <p:nvPr/>
        </p:nvGrpSpPr>
        <p:grpSpPr>
          <a:xfrm>
            <a:off x="861586" y="2377316"/>
            <a:ext cx="8047337" cy="1376065"/>
            <a:chOff x="866274" y="3581401"/>
            <a:chExt cx="8047337" cy="1376065"/>
          </a:xfrm>
        </p:grpSpPr>
        <p:sp>
          <p:nvSpPr>
            <p:cNvPr id="12" name="TextBox 11">
              <a:extLst>
                <a:ext uri="{FF2B5EF4-FFF2-40B4-BE49-F238E27FC236}">
                  <a16:creationId xmlns:a16="http://schemas.microsoft.com/office/drawing/2014/main" id="{0B9E51F8-4CD6-F203-E10D-E8FDB7D11CE9}"/>
                </a:ext>
              </a:extLst>
            </p:cNvPr>
            <p:cNvSpPr txBox="1"/>
            <p:nvPr/>
          </p:nvSpPr>
          <p:spPr>
            <a:xfrm>
              <a:off x="1371600" y="3581401"/>
              <a:ext cx="587340" cy="461665"/>
            </a:xfrm>
            <a:prstGeom prst="rect">
              <a:avLst/>
            </a:prstGeom>
            <a:noFill/>
          </p:spPr>
          <p:txBody>
            <a:bodyPr wrap="none" rtlCol="0">
              <a:spAutoFit/>
            </a:bodyPr>
            <a:lstStyle/>
            <a:p>
              <a:r>
                <a:rPr lang="en-US" sz="2400" dirty="0"/>
                <a:t>Yes</a:t>
              </a:r>
            </a:p>
          </p:txBody>
        </p:sp>
        <p:sp>
          <p:nvSpPr>
            <p:cNvPr id="13" name="TextBox 12">
              <a:extLst>
                <a:ext uri="{FF2B5EF4-FFF2-40B4-BE49-F238E27FC236}">
                  <a16:creationId xmlns:a16="http://schemas.microsoft.com/office/drawing/2014/main" id="{38DB4D12-2A51-402C-7FD6-EDF6F20CFB2F}"/>
                </a:ext>
              </a:extLst>
            </p:cNvPr>
            <p:cNvSpPr txBox="1"/>
            <p:nvPr/>
          </p:nvSpPr>
          <p:spPr>
            <a:xfrm>
              <a:off x="1371601" y="4034136"/>
              <a:ext cx="545342" cy="461665"/>
            </a:xfrm>
            <a:prstGeom prst="rect">
              <a:avLst/>
            </a:prstGeom>
            <a:noFill/>
          </p:spPr>
          <p:txBody>
            <a:bodyPr wrap="none" rtlCol="0">
              <a:spAutoFit/>
            </a:bodyPr>
            <a:lstStyle/>
            <a:p>
              <a:r>
                <a:rPr lang="en-US" sz="2400" dirty="0"/>
                <a:t>No</a:t>
              </a:r>
            </a:p>
          </p:txBody>
        </p:sp>
        <p:sp>
          <p:nvSpPr>
            <p:cNvPr id="14" name="TextBox 13">
              <a:extLst>
                <a:ext uri="{FF2B5EF4-FFF2-40B4-BE49-F238E27FC236}">
                  <a16:creationId xmlns:a16="http://schemas.microsoft.com/office/drawing/2014/main" id="{A4E51C79-3939-7F45-0FED-E2B4F2C46324}"/>
                </a:ext>
              </a:extLst>
            </p:cNvPr>
            <p:cNvSpPr txBox="1"/>
            <p:nvPr/>
          </p:nvSpPr>
          <p:spPr>
            <a:xfrm>
              <a:off x="1371601" y="4495801"/>
              <a:ext cx="1508746" cy="461665"/>
            </a:xfrm>
            <a:prstGeom prst="rect">
              <a:avLst/>
            </a:prstGeom>
            <a:noFill/>
          </p:spPr>
          <p:txBody>
            <a:bodyPr wrap="none" rtlCol="0">
              <a:spAutoFit/>
            </a:bodyPr>
            <a:lstStyle/>
            <a:p>
              <a:r>
                <a:rPr lang="en-US" sz="2400" dirty="0"/>
                <a:t>It depends</a:t>
              </a:r>
            </a:p>
          </p:txBody>
        </p:sp>
        <p:sp>
          <p:nvSpPr>
            <p:cNvPr id="15" name="TextBox 14">
              <a:extLst>
                <a:ext uri="{FF2B5EF4-FFF2-40B4-BE49-F238E27FC236}">
                  <a16:creationId xmlns:a16="http://schemas.microsoft.com/office/drawing/2014/main" id="{BBF748D4-4966-4F64-1168-8EC0EEE16795}"/>
                </a:ext>
              </a:extLst>
            </p:cNvPr>
            <p:cNvSpPr txBox="1"/>
            <p:nvPr/>
          </p:nvSpPr>
          <p:spPr>
            <a:xfrm>
              <a:off x="4419601" y="3757137"/>
              <a:ext cx="4494010" cy="1200329"/>
            </a:xfrm>
            <a:prstGeom prst="rect">
              <a:avLst/>
            </a:prstGeom>
            <a:solidFill>
              <a:schemeClr val="accent6">
                <a:lumMod val="60000"/>
                <a:lumOff val="40000"/>
              </a:schemeClr>
            </a:solidFill>
            <a:ln>
              <a:solidFill>
                <a:schemeClr val="accent6">
                  <a:lumMod val="60000"/>
                  <a:lumOff val="40000"/>
                </a:schemeClr>
              </a:solidFill>
            </a:ln>
          </p:spPr>
          <p:txBody>
            <a:bodyPr wrap="square" rtlCol="0">
              <a:spAutoFit/>
            </a:bodyPr>
            <a:lstStyle/>
            <a:p>
              <a:r>
                <a:rPr lang="en-US" sz="2400" dirty="0"/>
                <a:t>Attacker A:   </a:t>
              </a:r>
            </a:p>
            <a:p>
              <a:pPr marL="457189" indent="-457189">
                <a:buAutoNum type="arabicParenBoth"/>
              </a:pPr>
              <a:r>
                <a:rPr lang="en-US" sz="2400" dirty="0"/>
                <a:t>query f(⋅) at  x=0 and x=1</a:t>
              </a:r>
            </a:p>
            <a:p>
              <a:r>
                <a:rPr lang="en-US" sz="2400" dirty="0" err="1"/>
                <a:t>Adv</a:t>
              </a:r>
              <a:r>
                <a:rPr lang="en-US" sz="2400" baseline="-25000" dirty="0" err="1"/>
                <a:t>PRF</a:t>
              </a:r>
              <a:r>
                <a:rPr lang="en-US" sz="2400" dirty="0"/>
                <a:t>[A,E] = |1/2 - 1/2| = 0</a:t>
              </a:r>
            </a:p>
          </p:txBody>
        </p:sp>
        <p:sp>
          <p:nvSpPr>
            <p:cNvPr id="16" name="Right Arrow 15">
              <a:extLst>
                <a:ext uri="{FF2B5EF4-FFF2-40B4-BE49-F238E27FC236}">
                  <a16:creationId xmlns:a16="http://schemas.microsoft.com/office/drawing/2014/main" id="{A4F755C0-BA39-CFC5-9868-E03265C7AA21}"/>
                </a:ext>
              </a:extLst>
            </p:cNvPr>
            <p:cNvSpPr/>
            <p:nvPr/>
          </p:nvSpPr>
          <p:spPr>
            <a:xfrm>
              <a:off x="866274" y="3762694"/>
              <a:ext cx="505326" cy="126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18" name="TextBox 17">
            <a:extLst>
              <a:ext uri="{FF2B5EF4-FFF2-40B4-BE49-F238E27FC236}">
                <a16:creationId xmlns:a16="http://schemas.microsoft.com/office/drawing/2014/main" id="{654E3000-F681-F64B-FBC9-E246E5A21A3E}"/>
              </a:ext>
            </a:extLst>
          </p:cNvPr>
          <p:cNvSpPr txBox="1"/>
          <p:nvPr/>
        </p:nvSpPr>
        <p:spPr>
          <a:xfrm>
            <a:off x="627643" y="4413798"/>
            <a:ext cx="6725657" cy="1835567"/>
          </a:xfrm>
          <a:prstGeom prst="rect">
            <a:avLst/>
          </a:prstGeom>
          <a:noFill/>
          <a:ln>
            <a:solidFill>
              <a:schemeClr val="accent1"/>
            </a:solidFill>
          </a:ln>
        </p:spPr>
        <p:txBody>
          <a:bodyPr wrap="square">
            <a:spAutoFit/>
          </a:bodyPr>
          <a:lstStyle/>
          <a:p>
            <a:pPr>
              <a:lnSpc>
                <a:spcPct val="120000"/>
              </a:lnSpc>
            </a:pPr>
            <a:r>
              <a:rPr lang="en-US" sz="2400" u="sng" dirty="0"/>
              <a:t>PRPs believed to be secure</a:t>
            </a:r>
            <a:r>
              <a:rPr lang="en-US" sz="2400" dirty="0"/>
              <a:t>:      3DES,   AES,   …</a:t>
            </a:r>
          </a:p>
          <a:p>
            <a:pPr>
              <a:lnSpc>
                <a:spcPct val="120000"/>
              </a:lnSpc>
            </a:pPr>
            <a:r>
              <a:rPr lang="en-US" sz="2400" dirty="0"/>
              <a:t>AES-128:   K </a:t>
            </a:r>
            <a:r>
              <a:rPr lang="en-US" sz="2400" dirty="0">
                <a:sym typeface="Symbol" pitchFamily="18" charset="2"/>
              </a:rPr>
              <a:t> X    X</a:t>
            </a:r>
            <a:r>
              <a:rPr lang="en-US" sz="2400" dirty="0"/>
              <a:t>        where      K = X = {0,1}</a:t>
            </a:r>
            <a:r>
              <a:rPr lang="en-US" sz="2400" baseline="30000" dirty="0"/>
              <a:t>128</a:t>
            </a:r>
            <a:r>
              <a:rPr lang="en-US" sz="2400" dirty="0"/>
              <a:t> </a:t>
            </a:r>
          </a:p>
          <a:p>
            <a:pPr>
              <a:lnSpc>
                <a:spcPct val="120000"/>
              </a:lnSpc>
            </a:pPr>
            <a:r>
              <a:rPr lang="en-US" sz="2400" dirty="0"/>
              <a:t>An example concrete assumption about AES:</a:t>
            </a:r>
          </a:p>
          <a:p>
            <a:pPr>
              <a:lnSpc>
                <a:spcPct val="120000"/>
              </a:lnSpc>
            </a:pPr>
            <a:r>
              <a:rPr lang="en-US" sz="2400" dirty="0"/>
              <a:t>All  2</a:t>
            </a:r>
            <a:r>
              <a:rPr lang="en-US" sz="2400" baseline="30000" dirty="0"/>
              <a:t>80</a:t>
            </a:r>
            <a:r>
              <a:rPr lang="en-US" sz="2400" dirty="0"/>
              <a:t>–time  </a:t>
            </a:r>
            <a:r>
              <a:rPr lang="en-US" sz="2400" dirty="0" err="1"/>
              <a:t>algs</a:t>
            </a:r>
            <a:r>
              <a:rPr lang="en-US" sz="2400" dirty="0"/>
              <a:t>. A have    </a:t>
            </a:r>
            <a:r>
              <a:rPr lang="en-US" sz="2400" dirty="0" err="1">
                <a:solidFill>
                  <a:schemeClr val="accent2"/>
                </a:solidFill>
              </a:rPr>
              <a:t>Adv</a:t>
            </a:r>
            <a:r>
              <a:rPr lang="en-US" sz="2400" baseline="-25000" dirty="0" err="1">
                <a:solidFill>
                  <a:schemeClr val="accent2"/>
                </a:solidFill>
              </a:rPr>
              <a:t>PRP</a:t>
            </a:r>
            <a:r>
              <a:rPr lang="en-US" sz="2400" dirty="0">
                <a:solidFill>
                  <a:schemeClr val="accent2"/>
                </a:solidFill>
              </a:rPr>
              <a:t>[A, </a:t>
            </a:r>
            <a:r>
              <a:rPr lang="en-US" sz="2400" b="1" dirty="0">
                <a:solidFill>
                  <a:schemeClr val="accent2"/>
                </a:solidFill>
              </a:rPr>
              <a:t>AES</a:t>
            </a:r>
            <a:r>
              <a:rPr lang="en-US" sz="2400" dirty="0">
                <a:solidFill>
                  <a:schemeClr val="accent2"/>
                </a:solidFill>
              </a:rPr>
              <a:t>] &lt; 2</a:t>
            </a:r>
            <a:r>
              <a:rPr lang="en-US" sz="2400" baseline="50000" dirty="0">
                <a:solidFill>
                  <a:schemeClr val="accent2"/>
                </a:solidFill>
              </a:rPr>
              <a:t>-40</a:t>
            </a:r>
            <a:endParaRPr sz="2400" dirty="0"/>
          </a:p>
        </p:txBody>
      </p:sp>
    </p:spTree>
    <p:extLst>
      <p:ext uri="{BB962C8B-B14F-4D97-AF65-F5344CB8AC3E}">
        <p14:creationId xmlns:p14="http://schemas.microsoft.com/office/powerpoint/2010/main" val="5200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71600" y="3581401"/>
            <a:ext cx="587340" cy="461665"/>
          </a:xfrm>
          <a:prstGeom prst="rect">
            <a:avLst/>
          </a:prstGeom>
          <a:noFill/>
        </p:spPr>
        <p:txBody>
          <a:bodyPr wrap="none" rtlCol="0">
            <a:spAutoFit/>
          </a:bodyPr>
          <a:lstStyle/>
          <a:p>
            <a:r>
              <a:rPr lang="en-US" sz="2400" dirty="0"/>
              <a:t>Yes</a:t>
            </a:r>
          </a:p>
        </p:txBody>
      </p:sp>
      <p:sp>
        <p:nvSpPr>
          <p:cNvPr id="8" name="TextBox 7"/>
          <p:cNvSpPr txBox="1"/>
          <p:nvPr/>
        </p:nvSpPr>
        <p:spPr>
          <a:xfrm>
            <a:off x="1371601" y="4034136"/>
            <a:ext cx="545342" cy="461665"/>
          </a:xfrm>
          <a:prstGeom prst="rect">
            <a:avLst/>
          </a:prstGeom>
          <a:noFill/>
        </p:spPr>
        <p:txBody>
          <a:bodyPr wrap="none" rtlCol="0">
            <a:spAutoFit/>
          </a:bodyPr>
          <a:lstStyle/>
          <a:p>
            <a:r>
              <a:rPr lang="en-US" sz="2400" dirty="0"/>
              <a:t>No</a:t>
            </a:r>
          </a:p>
        </p:txBody>
      </p:sp>
      <p:sp>
        <p:nvSpPr>
          <p:cNvPr id="9" name="TextBox 8"/>
          <p:cNvSpPr txBox="1"/>
          <p:nvPr/>
        </p:nvSpPr>
        <p:spPr>
          <a:xfrm>
            <a:off x="1371601" y="4495801"/>
            <a:ext cx="1508746" cy="461665"/>
          </a:xfrm>
          <a:prstGeom prst="rect">
            <a:avLst/>
          </a:prstGeom>
          <a:noFill/>
        </p:spPr>
        <p:txBody>
          <a:bodyPr wrap="none" rtlCol="0">
            <a:spAutoFit/>
          </a:bodyPr>
          <a:lstStyle/>
          <a:p>
            <a:r>
              <a:rPr lang="en-US" sz="2400" dirty="0"/>
              <a:t>It depends</a:t>
            </a:r>
          </a:p>
        </p:txBody>
      </p:sp>
      <p:sp>
        <p:nvSpPr>
          <p:cNvPr id="11" name="TextBox 10"/>
          <p:cNvSpPr txBox="1"/>
          <p:nvPr/>
        </p:nvSpPr>
        <p:spPr>
          <a:xfrm>
            <a:off x="4267201" y="3800557"/>
            <a:ext cx="4542334" cy="1569660"/>
          </a:xfrm>
          <a:prstGeom prst="rect">
            <a:avLst/>
          </a:prstGeom>
          <a:solidFill>
            <a:schemeClr val="accent6">
              <a:lumMod val="60000"/>
              <a:lumOff val="40000"/>
            </a:schemeClr>
          </a:solidFill>
          <a:ln>
            <a:solidFill>
              <a:schemeClr val="accent6">
                <a:lumMod val="60000"/>
                <a:lumOff val="40000"/>
              </a:schemeClr>
            </a:solidFill>
          </a:ln>
        </p:spPr>
        <p:txBody>
          <a:bodyPr wrap="none" rtlCol="0">
            <a:spAutoFit/>
          </a:bodyPr>
          <a:lstStyle/>
          <a:p>
            <a:r>
              <a:rPr lang="en-US" sz="2400" dirty="0"/>
              <a:t>Attacker A:   </a:t>
            </a:r>
          </a:p>
          <a:p>
            <a:pPr marL="457189" indent="-457189">
              <a:buAutoNum type="arabicParenBoth"/>
            </a:pPr>
            <a:r>
              <a:rPr lang="en-US" sz="2400" dirty="0"/>
              <a:t>query f(⋅) at  x=0 and x=1</a:t>
            </a:r>
          </a:p>
          <a:p>
            <a:pPr marL="457189" indent="-457189">
              <a:buAutoNum type="arabicParenBoth"/>
            </a:pPr>
            <a:r>
              <a:rPr lang="en-US" sz="2400" dirty="0"/>
              <a:t>if f(0) = f(1) output “1”, else “0”</a:t>
            </a:r>
          </a:p>
          <a:p>
            <a:r>
              <a:rPr lang="en-US" sz="2400" dirty="0" err="1"/>
              <a:t>Adv</a:t>
            </a:r>
            <a:r>
              <a:rPr lang="en-US" sz="2400" baseline="-25000" dirty="0" err="1"/>
              <a:t>PRF</a:t>
            </a:r>
            <a:r>
              <a:rPr lang="en-US" sz="2400" dirty="0"/>
              <a:t>[A,E] = |0-½| = ½   </a:t>
            </a:r>
          </a:p>
        </p:txBody>
      </p:sp>
      <p:sp>
        <p:nvSpPr>
          <p:cNvPr id="2" name="Title 1">
            <a:extLst>
              <a:ext uri="{FF2B5EF4-FFF2-40B4-BE49-F238E27FC236}">
                <a16:creationId xmlns:a16="http://schemas.microsoft.com/office/drawing/2014/main" id="{78983E76-6D55-8FC8-E06B-7754E2ABB4AE}"/>
              </a:ext>
            </a:extLst>
          </p:cNvPr>
          <p:cNvSpPr>
            <a:spLocks noGrp="1"/>
          </p:cNvSpPr>
          <p:nvPr>
            <p:ph type="title"/>
          </p:nvPr>
        </p:nvSpPr>
        <p:spPr/>
        <p:txBody>
          <a:bodyPr/>
          <a:lstStyle/>
          <a:p>
            <a:r>
              <a:rPr lang="vi-VN" dirty="0"/>
              <a:t>Ví dụ về PRF bảo mật </a:t>
            </a:r>
            <a:endParaRPr dirty="0"/>
          </a:p>
        </p:txBody>
      </p:sp>
      <p:sp>
        <p:nvSpPr>
          <p:cNvPr id="3" name="Content Placeholder 2">
            <a:extLst>
              <a:ext uri="{FF2B5EF4-FFF2-40B4-BE49-F238E27FC236}">
                <a16:creationId xmlns:a16="http://schemas.microsoft.com/office/drawing/2014/main" id="{F8E07ED5-E961-DF70-42F3-CF45BC54F5EE}"/>
              </a:ext>
            </a:extLst>
          </p:cNvPr>
          <p:cNvSpPr>
            <a:spLocks noGrp="1"/>
          </p:cNvSpPr>
          <p:nvPr>
            <p:ph sz="quarter" idx="13"/>
          </p:nvPr>
        </p:nvSpPr>
        <p:spPr>
          <a:xfrm>
            <a:off x="235077" y="841248"/>
            <a:ext cx="8674100" cy="451739"/>
          </a:xfrm>
        </p:spPr>
        <p:txBody>
          <a:bodyPr/>
          <a:lstStyle/>
          <a:p>
            <a:r>
              <a:rPr lang="en-US" sz="2800" dirty="0"/>
              <a:t>Consider the 1-bit PRP from the previous question: E(</a:t>
            </a:r>
            <a:r>
              <a:rPr lang="en-US" sz="2800" dirty="0" err="1"/>
              <a:t>k,x</a:t>
            </a:r>
            <a:r>
              <a:rPr lang="en-US" sz="2800" dirty="0"/>
              <a:t>) = </a:t>
            </a:r>
            <a:r>
              <a:rPr lang="en-US" sz="2800" dirty="0" err="1"/>
              <a:t>x⨁k</a:t>
            </a:r>
            <a:endParaRPr lang="en-US" sz="2800" dirty="0"/>
          </a:p>
          <a:p>
            <a:r>
              <a:rPr lang="en-US" sz="2800" dirty="0"/>
              <a:t>Is it a secure PRF? </a:t>
            </a:r>
          </a:p>
          <a:p>
            <a:r>
              <a:rPr lang="en-US" sz="2800" dirty="0"/>
              <a:t>Note that  Funs[X,X]  contains four functions </a:t>
            </a:r>
          </a:p>
          <a:p>
            <a:endParaRPr dirty="0"/>
          </a:p>
        </p:txBody>
      </p:sp>
    </p:spTree>
    <p:extLst>
      <p:ext uri="{BB962C8B-B14F-4D97-AF65-F5344CB8AC3E}">
        <p14:creationId xmlns:p14="http://schemas.microsoft.com/office/powerpoint/2010/main" val="257916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809702" y="1828800"/>
            <a:ext cx="6241161"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err="1">
                <a:solidFill>
                  <a:schemeClr val="tx1">
                    <a:lumMod val="75000"/>
                    <a:lumOff val="25000"/>
                  </a:schemeClr>
                </a:solidFill>
              </a:rPr>
              <a:t>Các</a:t>
            </a:r>
            <a:r>
              <a:rPr lang="en-US" sz="4000" b="1" dirty="0">
                <a:solidFill>
                  <a:schemeClr val="tx1">
                    <a:lumMod val="75000"/>
                    <a:lumOff val="25000"/>
                  </a:schemeClr>
                </a:solidFill>
              </a:rPr>
              <a:t> </a:t>
            </a:r>
            <a:r>
              <a:rPr lang="en-US" sz="4000" b="1" dirty="0" err="1">
                <a:solidFill>
                  <a:schemeClr val="tx1">
                    <a:lumMod val="75000"/>
                    <a:lumOff val="25000"/>
                  </a:schemeClr>
                </a:solidFill>
              </a:rPr>
              <a:t>chế</a:t>
            </a:r>
            <a:r>
              <a:rPr lang="en-US" sz="4000" b="1" dirty="0">
                <a:solidFill>
                  <a:schemeClr val="tx1">
                    <a:lumMod val="75000"/>
                    <a:lumOff val="25000"/>
                  </a:schemeClr>
                </a:solidFill>
              </a:rPr>
              <a:t> </a:t>
            </a:r>
            <a:r>
              <a:rPr lang="en-US" sz="4000" b="1" dirty="0" err="1">
                <a:solidFill>
                  <a:schemeClr val="tx1">
                    <a:lumMod val="75000"/>
                    <a:lumOff val="25000"/>
                  </a:schemeClr>
                </a:solidFill>
              </a:rPr>
              <a:t>độ</a:t>
            </a:r>
            <a:r>
              <a:rPr lang="en-US" sz="4000" b="1" dirty="0">
                <a:solidFill>
                  <a:schemeClr val="tx1">
                    <a:lumMod val="75000"/>
                    <a:lumOff val="25000"/>
                  </a:schemeClr>
                </a:solidFill>
              </a:rPr>
              <a:t> </a:t>
            </a:r>
            <a:r>
              <a:rPr lang="en-US" sz="4000" b="1" dirty="0" err="1">
                <a:solidFill>
                  <a:schemeClr val="tx1">
                    <a:lumMod val="75000"/>
                    <a:lumOff val="25000"/>
                  </a:schemeClr>
                </a:solidFill>
              </a:rPr>
              <a:t>sử</a:t>
            </a:r>
            <a:r>
              <a:rPr lang="en-US" sz="4000" b="1" dirty="0">
                <a:solidFill>
                  <a:schemeClr val="tx1">
                    <a:lumMod val="75000"/>
                    <a:lumOff val="25000"/>
                  </a:schemeClr>
                </a:solidFill>
              </a:rPr>
              <a:t> </a:t>
            </a:r>
            <a:r>
              <a:rPr lang="en-US" sz="4000" b="1" dirty="0" err="1">
                <a:solidFill>
                  <a:schemeClr val="tx1">
                    <a:lumMod val="75000"/>
                    <a:lumOff val="25000"/>
                  </a:schemeClr>
                </a:solidFill>
              </a:rPr>
              <a:t>dụng</a:t>
            </a:r>
            <a:r>
              <a:rPr lang="en-US" sz="4000" b="1" dirty="0">
                <a:solidFill>
                  <a:schemeClr val="tx1">
                    <a:lumMod val="75000"/>
                    <a:lumOff val="25000"/>
                  </a:schemeClr>
                </a:solidFill>
              </a:rPr>
              <a:t> </a:t>
            </a:r>
            <a:r>
              <a:rPr lang="en-US" sz="4000" b="1" dirty="0" err="1">
                <a:solidFill>
                  <a:schemeClr val="tx1">
                    <a:lumMod val="75000"/>
                    <a:lumOff val="25000"/>
                  </a:schemeClr>
                </a:solidFill>
              </a:rPr>
              <a:t>mã</a:t>
            </a:r>
            <a:r>
              <a:rPr lang="en-US" sz="4000" b="1" dirty="0">
                <a:solidFill>
                  <a:schemeClr val="tx1">
                    <a:lumMod val="75000"/>
                    <a:lumOff val="25000"/>
                  </a:schemeClr>
                </a:solidFill>
              </a:rPr>
              <a:t> </a:t>
            </a:r>
            <a:r>
              <a:rPr lang="en-US" sz="4000" b="1" dirty="0" err="1">
                <a:solidFill>
                  <a:schemeClr val="tx1">
                    <a:lumMod val="75000"/>
                    <a:lumOff val="25000"/>
                  </a:schemeClr>
                </a:solidFill>
              </a:rPr>
              <a:t>khối</a:t>
            </a:r>
            <a:endParaRPr lang="en-US" sz="4000" b="1" dirty="0">
              <a:solidFill>
                <a:schemeClr val="tx1">
                  <a:lumMod val="75000"/>
                  <a:lumOff val="25000"/>
                </a:schemeClr>
              </a:solidFill>
            </a:endParaRPr>
          </a:p>
        </p:txBody>
      </p:sp>
      <p:cxnSp>
        <p:nvCxnSpPr>
          <p:cNvPr id="6" name="Straight Connector 5"/>
          <p:cNvCxnSpPr/>
          <p:nvPr/>
        </p:nvCxnSpPr>
        <p:spPr>
          <a:xfrm>
            <a:off x="3460094" y="3081251"/>
            <a:ext cx="4297680"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700280" y="1400490"/>
              <a:ext cx="360" cy="360"/>
            </p14:xfrm>
          </p:contentPart>
        </mc:Choice>
        <mc:Fallback xmlns="">
          <p:pic>
            <p:nvPicPr>
              <p:cNvPr id="2" name="Ink 1"/>
              <p:cNvPicPr/>
              <p:nvPr/>
            </p:nvPicPr>
            <p:blipFill>
              <a:blip r:embed="rId4"/>
              <a:stretch>
                <a:fillRect/>
              </a:stretch>
            </p:blipFill>
            <p:spPr>
              <a:xfrm>
                <a:off x="1690920" y="1391130"/>
                <a:ext cx="19080" cy="19080"/>
              </a:xfrm>
              <a:prstGeom prst="rect">
                <a:avLst/>
              </a:prstGeom>
            </p:spPr>
          </p:pic>
        </mc:Fallback>
      </mc:AlternateContent>
      <p:pic>
        <p:nvPicPr>
          <p:cNvPr id="3" name="Picture 2" descr="logo.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600" y="1752600"/>
            <a:ext cx="2179320" cy="2514600"/>
          </a:xfrm>
          <a:prstGeom prst="rect">
            <a:avLst/>
          </a:prstGeom>
        </p:spPr>
      </p:pic>
      <p:sp>
        <p:nvSpPr>
          <p:cNvPr id="7" name="TextBox 6">
            <a:extLst>
              <a:ext uri="{FF2B5EF4-FFF2-40B4-BE49-F238E27FC236}">
                <a16:creationId xmlns:a16="http://schemas.microsoft.com/office/drawing/2014/main" id="{7A893BD5-7F23-38BB-71B7-15489B02718B}"/>
              </a:ext>
            </a:extLst>
          </p:cNvPr>
          <p:cNvSpPr txBox="1"/>
          <p:nvPr/>
        </p:nvSpPr>
        <p:spPr>
          <a:xfrm>
            <a:off x="3209249" y="3257550"/>
            <a:ext cx="5442065" cy="523220"/>
          </a:xfrm>
          <a:prstGeom prst="rect">
            <a:avLst/>
          </a:prstGeom>
          <a:noFill/>
        </p:spPr>
        <p:txBody>
          <a:bodyPr wrap="square">
            <a:spAutoFit/>
          </a:bodyPr>
          <a:lstStyle/>
          <a:p>
            <a:r>
              <a:rPr lang="en-US" sz="2800" dirty="0" err="1">
                <a:solidFill>
                  <a:schemeClr val="tx1">
                    <a:lumMod val="75000"/>
                    <a:lumOff val="25000"/>
                  </a:schemeClr>
                </a:solidFill>
              </a:rPr>
              <a:t>Khoá</a:t>
            </a:r>
            <a:r>
              <a:rPr lang="en-US" sz="2800" dirty="0">
                <a:solidFill>
                  <a:schemeClr val="tx1">
                    <a:lumMod val="75000"/>
                    <a:lumOff val="25000"/>
                  </a:schemeClr>
                </a:solidFill>
              </a:rPr>
              <a:t> </a:t>
            </a:r>
            <a:r>
              <a:rPr lang="en-US" sz="2800" dirty="0" err="1">
                <a:solidFill>
                  <a:schemeClr val="tx1">
                    <a:lumMod val="75000"/>
                    <a:lumOff val="25000"/>
                  </a:schemeClr>
                </a:solidFill>
              </a:rPr>
              <a:t>dùng</a:t>
            </a:r>
            <a:r>
              <a:rPr lang="en-US" sz="2800" dirty="0">
                <a:solidFill>
                  <a:schemeClr val="tx1">
                    <a:lumMod val="75000"/>
                    <a:lumOff val="25000"/>
                  </a:schemeClr>
                </a:solidFill>
              </a:rPr>
              <a:t> 1 </a:t>
            </a:r>
            <a:r>
              <a:rPr lang="en-US" sz="2800" dirty="0" err="1">
                <a:solidFill>
                  <a:schemeClr val="tx1">
                    <a:lumMod val="75000"/>
                    <a:lumOff val="25000"/>
                  </a:schemeClr>
                </a:solidFill>
              </a:rPr>
              <a:t>lần</a:t>
            </a:r>
            <a:r>
              <a:rPr lang="en-US" sz="2800" dirty="0">
                <a:solidFill>
                  <a:schemeClr val="tx1">
                    <a:lumMod val="75000"/>
                    <a:lumOff val="25000"/>
                  </a:schemeClr>
                </a:solidFill>
              </a:rPr>
              <a:t> (one time key)</a:t>
            </a:r>
            <a:endParaRPr sz="2800" dirty="0"/>
          </a:p>
        </p:txBody>
      </p:sp>
      <p:sp>
        <p:nvSpPr>
          <p:cNvPr id="13" name="Title 12">
            <a:extLst>
              <a:ext uri="{FF2B5EF4-FFF2-40B4-BE49-F238E27FC236}">
                <a16:creationId xmlns:a16="http://schemas.microsoft.com/office/drawing/2014/main" id="{5AA94C36-8AF4-D661-985A-6FC6FBF44484}"/>
              </a:ext>
            </a:extLst>
          </p:cNvPr>
          <p:cNvSpPr>
            <a:spLocks noGrp="1"/>
          </p:cNvSpPr>
          <p:nvPr>
            <p:ph type="title"/>
          </p:nvPr>
        </p:nvSpPr>
        <p:spPr/>
        <p:txBody>
          <a:bodyPr/>
          <a:lstStyle/>
          <a:p>
            <a:endParaRPr/>
          </a:p>
        </p:txBody>
      </p:sp>
    </p:spTree>
    <p:extLst>
      <p:ext uri="{BB962C8B-B14F-4D97-AF65-F5344CB8AC3E}">
        <p14:creationId xmlns:p14="http://schemas.microsoft.com/office/powerpoint/2010/main" val="4179833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b="1" dirty="0"/>
              <a:t>Using PRPs and PRFs</a:t>
            </a:r>
          </a:p>
        </p:txBody>
      </p:sp>
      <p:sp>
        <p:nvSpPr>
          <p:cNvPr id="9219" name="Rectangle 3"/>
          <p:cNvSpPr>
            <a:spLocks noGrp="1" noChangeArrowheads="1"/>
          </p:cNvSpPr>
          <p:nvPr>
            <p:ph sz="quarter" idx="13"/>
          </p:nvPr>
        </p:nvSpPr>
        <p:spPr>
          <a:noFill/>
        </p:spPr>
        <p:txBody>
          <a:bodyPr>
            <a:normAutofit/>
          </a:bodyPr>
          <a:lstStyle/>
          <a:p>
            <a:pPr marL="0" indent="0">
              <a:buNone/>
            </a:pPr>
            <a:r>
              <a:rPr lang="en-US" u="sng" dirty="0" err="1"/>
              <a:t>Mục</a:t>
            </a:r>
            <a:r>
              <a:rPr lang="en-US" u="sng" dirty="0"/>
              <a:t> </a:t>
            </a:r>
            <a:r>
              <a:rPr lang="en-US" u="sng" dirty="0" err="1"/>
              <a:t>tiêu</a:t>
            </a:r>
            <a:r>
              <a:rPr lang="en-US" dirty="0"/>
              <a:t>:  </a:t>
            </a:r>
            <a:r>
              <a:rPr lang="en-US" dirty="0" err="1"/>
              <a:t>tạo</a:t>
            </a:r>
            <a:r>
              <a:rPr lang="en-US" dirty="0"/>
              <a:t> </a:t>
            </a:r>
            <a:r>
              <a:rPr lang="en-US" dirty="0" err="1"/>
              <a:t>một</a:t>
            </a:r>
            <a:r>
              <a:rPr lang="en-US" dirty="0"/>
              <a:t> </a:t>
            </a:r>
            <a:r>
              <a:rPr lang="en-US" dirty="0" err="1"/>
              <a:t>mã</a:t>
            </a:r>
            <a:r>
              <a:rPr lang="en-US" dirty="0"/>
              <a:t> </a:t>
            </a:r>
            <a:r>
              <a:rPr lang="en-US" dirty="0" err="1"/>
              <a:t>bảo</a:t>
            </a:r>
            <a:r>
              <a:rPr lang="en-US" dirty="0"/>
              <a:t> </a:t>
            </a:r>
            <a:r>
              <a:rPr lang="en-US" dirty="0" err="1"/>
              <a:t>mật</a:t>
            </a:r>
            <a:r>
              <a:rPr lang="en-US" dirty="0"/>
              <a:t> </a:t>
            </a:r>
            <a:r>
              <a:rPr lang="en-US" dirty="0" err="1"/>
              <a:t>từ</a:t>
            </a:r>
            <a:r>
              <a:rPr lang="en-US" dirty="0"/>
              <a:t> PRP </a:t>
            </a:r>
            <a:r>
              <a:rPr lang="en-US" dirty="0" err="1"/>
              <a:t>bảo</a:t>
            </a:r>
            <a:r>
              <a:rPr lang="en-US" dirty="0"/>
              <a:t> </a:t>
            </a:r>
            <a:r>
              <a:rPr lang="en-US" dirty="0" err="1"/>
              <a:t>mật</a:t>
            </a:r>
            <a:r>
              <a:rPr lang="en-US" dirty="0"/>
              <a:t>   (e.g. AES).</a:t>
            </a:r>
          </a:p>
          <a:p>
            <a:pPr marL="0" indent="0">
              <a:spcBef>
                <a:spcPts val="2376"/>
              </a:spcBef>
              <a:buNone/>
            </a:pPr>
            <a:r>
              <a:rPr lang="en-US" dirty="0"/>
              <a:t>This segment:    </a:t>
            </a:r>
            <a:r>
              <a:rPr lang="en-US" b="1" dirty="0" err="1"/>
              <a:t>Các</a:t>
            </a:r>
            <a:r>
              <a:rPr lang="en-US" b="1" dirty="0"/>
              <a:t> </a:t>
            </a:r>
            <a:r>
              <a:rPr lang="en-US" b="1" dirty="0" err="1"/>
              <a:t>khoá</a:t>
            </a:r>
            <a:r>
              <a:rPr lang="en-US" b="1" dirty="0"/>
              <a:t> 1 </a:t>
            </a:r>
            <a:r>
              <a:rPr lang="en-US" b="1" dirty="0" err="1"/>
              <a:t>lần</a:t>
            </a:r>
            <a:r>
              <a:rPr lang="en-US" b="1" dirty="0"/>
              <a:t> (one-time keys)</a:t>
            </a:r>
          </a:p>
          <a:p>
            <a:pPr marL="914378" lvl="1" indent="-457189">
              <a:spcBef>
                <a:spcPts val="1200"/>
              </a:spcBef>
              <a:buFont typeface="+mj-lt"/>
              <a:buAutoNum type="arabicPeriod"/>
            </a:pPr>
            <a:r>
              <a:rPr lang="en-US" dirty="0"/>
              <a:t>Adversary’s power: Adv </a:t>
            </a:r>
            <a:r>
              <a:rPr lang="en-US" dirty="0" err="1"/>
              <a:t>có</a:t>
            </a:r>
            <a:r>
              <a:rPr lang="en-US" dirty="0"/>
              <a:t> </a:t>
            </a:r>
            <a:r>
              <a:rPr lang="en-US" dirty="0" err="1"/>
              <a:t>được</a:t>
            </a:r>
            <a:r>
              <a:rPr lang="en-US" dirty="0"/>
              <a:t> </a:t>
            </a:r>
            <a:r>
              <a:rPr lang="en-US" dirty="0" err="1"/>
              <a:t>một</a:t>
            </a:r>
            <a:r>
              <a:rPr lang="en-US" dirty="0"/>
              <a:t> ciphertext (one-time key)</a:t>
            </a:r>
          </a:p>
          <a:p>
            <a:pPr marL="914378" lvl="1" indent="-457189">
              <a:spcBef>
                <a:spcPts val="2400"/>
              </a:spcBef>
              <a:buFontTx/>
              <a:buAutoNum type="arabicPeriod" startAt="2"/>
            </a:pPr>
            <a:r>
              <a:rPr lang="en-US" dirty="0"/>
              <a:t>Adversary’s goal:  </a:t>
            </a:r>
            <a:r>
              <a:rPr lang="en-US" dirty="0" err="1"/>
              <a:t>khám</a:t>
            </a:r>
            <a:r>
              <a:rPr lang="en-US" dirty="0"/>
              <a:t> </a:t>
            </a:r>
            <a:r>
              <a:rPr lang="en-US" dirty="0" err="1"/>
              <a:t>phá</a:t>
            </a:r>
            <a:r>
              <a:rPr lang="en-US" dirty="0"/>
              <a:t> </a:t>
            </a:r>
            <a:r>
              <a:rPr lang="en-US" dirty="0" err="1"/>
              <a:t>về</a:t>
            </a:r>
            <a:r>
              <a:rPr lang="en-US" dirty="0"/>
              <a:t> PT </a:t>
            </a:r>
            <a:r>
              <a:rPr lang="en-US" dirty="0" err="1"/>
              <a:t>từ</a:t>
            </a:r>
            <a:r>
              <a:rPr lang="en-US" dirty="0"/>
              <a:t> CT   (semantic security)</a:t>
            </a:r>
          </a:p>
          <a:p>
            <a:pPr marL="114297" indent="0">
              <a:buNone/>
            </a:pPr>
            <a:r>
              <a:rPr lang="en-US" dirty="0"/>
              <a:t>Next segment:   many-time keys   (</a:t>
            </a:r>
            <a:r>
              <a:rPr lang="en-US" dirty="0" err="1"/>
              <a:t>a.k.a</a:t>
            </a:r>
            <a:r>
              <a:rPr lang="en-US" dirty="0"/>
              <a:t>  chosen-plaintext security)</a:t>
            </a:r>
          </a:p>
        </p:txBody>
      </p:sp>
    </p:spTree>
    <p:extLst>
      <p:ext uri="{BB962C8B-B14F-4D97-AF65-F5344CB8AC3E}">
        <p14:creationId xmlns:p14="http://schemas.microsoft.com/office/powerpoint/2010/main" val="1810835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normAutofit fontScale="90000"/>
          </a:bodyPr>
          <a:lstStyle/>
          <a:p>
            <a:pPr eaLnBrk="1" hangingPunct="1"/>
            <a:r>
              <a:rPr lang="en-US" dirty="0" err="1"/>
              <a:t>Cách</a:t>
            </a:r>
            <a:r>
              <a:rPr lang="en-US" dirty="0"/>
              <a:t> </a:t>
            </a:r>
            <a:r>
              <a:rPr lang="en-US" dirty="0" err="1"/>
              <a:t>sử</a:t>
            </a:r>
            <a:r>
              <a:rPr lang="en-US" dirty="0"/>
              <a:t> dung </a:t>
            </a:r>
            <a:r>
              <a:rPr lang="en-US" dirty="0" err="1"/>
              <a:t>sai</a:t>
            </a:r>
            <a:r>
              <a:rPr lang="en-US" dirty="0"/>
              <a:t> </a:t>
            </a:r>
            <a:r>
              <a:rPr lang="en-US" dirty="0" err="1"/>
              <a:t>một</a:t>
            </a:r>
            <a:r>
              <a:rPr lang="en-US" dirty="0"/>
              <a:t> PRP</a:t>
            </a:r>
          </a:p>
        </p:txBody>
      </p:sp>
      <p:sp>
        <p:nvSpPr>
          <p:cNvPr id="18437" name="Rectangle 3"/>
          <p:cNvSpPr>
            <a:spLocks noGrp="1" noChangeArrowheads="1"/>
          </p:cNvSpPr>
          <p:nvPr>
            <p:ph sz="quarter" idx="13"/>
          </p:nvPr>
        </p:nvSpPr>
        <p:spPr/>
        <p:txBody>
          <a:bodyPr>
            <a:normAutofit/>
          </a:bodyPr>
          <a:lstStyle/>
          <a:p>
            <a:pPr marL="0" indent="0">
              <a:buNone/>
            </a:pPr>
            <a:r>
              <a:rPr lang="en-US" dirty="0"/>
              <a:t>Electronic Code Book (ECB):</a:t>
            </a:r>
          </a:p>
          <a:p>
            <a:pPr marL="0" indent="0">
              <a:buNone/>
            </a:pPr>
            <a:endParaRPr lang="en-US" dirty="0"/>
          </a:p>
          <a:p>
            <a:pPr marL="0" indent="0">
              <a:buNone/>
            </a:pPr>
            <a:endParaRPr lang="en-US" sz="1800" dirty="0"/>
          </a:p>
          <a:p>
            <a:pPr marL="0" indent="0">
              <a:buNone/>
            </a:pPr>
            <a:endParaRPr lang="en-US" sz="1800" dirty="0"/>
          </a:p>
          <a:p>
            <a:pPr marL="0" indent="0"/>
            <a:endParaRPr lang="en-US" sz="1800" dirty="0"/>
          </a:p>
          <a:p>
            <a:pPr marL="0" indent="0"/>
            <a:endParaRPr lang="en-US" sz="1800" dirty="0"/>
          </a:p>
          <a:p>
            <a:pPr marL="0" indent="0"/>
            <a:endParaRPr lang="en-US" sz="1800" dirty="0"/>
          </a:p>
          <a:p>
            <a:pPr marL="0" indent="0"/>
            <a:endParaRPr lang="en-US" sz="2000" dirty="0"/>
          </a:p>
          <a:p>
            <a:pPr marL="0" indent="0"/>
            <a:endParaRPr lang="en-US" sz="2000" dirty="0"/>
          </a:p>
          <a:p>
            <a:pPr marL="0" indent="0">
              <a:buNone/>
            </a:pPr>
            <a:r>
              <a:rPr lang="en-US" u="sng" dirty="0"/>
              <a:t>Problem</a:t>
            </a:r>
            <a:r>
              <a:rPr lang="en-US" dirty="0"/>
              <a:t>:   </a:t>
            </a:r>
          </a:p>
          <a:p>
            <a:pPr lvl="1" eaLnBrk="1" hangingPunct="1"/>
            <a:r>
              <a:rPr lang="en-US" dirty="0"/>
              <a:t>if    m</a:t>
            </a:r>
            <a:r>
              <a:rPr lang="en-US" baseline="-25000" dirty="0"/>
              <a:t>1</a:t>
            </a:r>
            <a:r>
              <a:rPr lang="en-US" dirty="0"/>
              <a:t>=m</a:t>
            </a:r>
            <a:r>
              <a:rPr lang="en-US" baseline="-25000" dirty="0"/>
              <a:t>2</a:t>
            </a:r>
            <a:r>
              <a:rPr lang="en-US" dirty="0"/>
              <a:t>     then   c</a:t>
            </a:r>
            <a:r>
              <a:rPr lang="en-US" baseline="-25000" dirty="0"/>
              <a:t>1</a:t>
            </a:r>
            <a:r>
              <a:rPr lang="en-US" dirty="0"/>
              <a:t>=c</a:t>
            </a:r>
            <a:r>
              <a:rPr lang="en-US" baseline="-25000" dirty="0"/>
              <a:t>2</a:t>
            </a:r>
          </a:p>
        </p:txBody>
      </p:sp>
      <p:sp>
        <p:nvSpPr>
          <p:cNvPr id="18438" name="AutoShape 4"/>
          <p:cNvSpPr>
            <a:spLocks noChangeArrowheads="1"/>
          </p:cNvSpPr>
          <p:nvPr/>
        </p:nvSpPr>
        <p:spPr bwMode="auto">
          <a:xfrm>
            <a:off x="2468564" y="3206294"/>
            <a:ext cx="257175" cy="285750"/>
          </a:xfrm>
          <a:prstGeom prst="downArrow">
            <a:avLst>
              <a:gd name="adj1" fmla="val 50000"/>
              <a:gd name="adj2" fmla="val 37037"/>
            </a:avLst>
          </a:prstGeom>
          <a:noFill/>
          <a:ln w="9525">
            <a:solidFill>
              <a:srgbClr val="869406"/>
            </a:solidFill>
            <a:miter lim="800000"/>
            <a:headEnd/>
            <a:tailEnd/>
          </a:ln>
        </p:spPr>
        <p:txBody>
          <a:bodyPr wrap="none" anchor="ctr"/>
          <a:lstStyle/>
          <a:p>
            <a:endParaRPr lang="en-US"/>
          </a:p>
        </p:txBody>
      </p:sp>
      <p:sp>
        <p:nvSpPr>
          <p:cNvPr id="18439" name="AutoShape 5"/>
          <p:cNvSpPr>
            <a:spLocks noChangeArrowheads="1"/>
          </p:cNvSpPr>
          <p:nvPr/>
        </p:nvSpPr>
        <p:spPr bwMode="auto">
          <a:xfrm>
            <a:off x="7350127" y="3206294"/>
            <a:ext cx="257175" cy="285750"/>
          </a:xfrm>
          <a:prstGeom prst="downArrow">
            <a:avLst>
              <a:gd name="adj1" fmla="val 50000"/>
              <a:gd name="adj2" fmla="val 37037"/>
            </a:avLst>
          </a:prstGeom>
          <a:noFill/>
          <a:ln w="9525">
            <a:solidFill>
              <a:srgbClr val="869406"/>
            </a:solidFill>
            <a:miter lim="800000"/>
            <a:headEnd/>
            <a:tailEnd/>
          </a:ln>
        </p:spPr>
        <p:txBody>
          <a:bodyPr wrap="none" anchor="ctr"/>
          <a:lstStyle/>
          <a:p>
            <a:endParaRPr lang="en-US"/>
          </a:p>
        </p:txBody>
      </p:sp>
      <p:sp>
        <p:nvSpPr>
          <p:cNvPr id="18440" name="Line 6"/>
          <p:cNvSpPr>
            <a:spLocks noChangeShapeType="1"/>
          </p:cNvSpPr>
          <p:nvPr/>
        </p:nvSpPr>
        <p:spPr bwMode="auto">
          <a:xfrm>
            <a:off x="6049963" y="3006269"/>
            <a:ext cx="533400" cy="0"/>
          </a:xfrm>
          <a:prstGeom prst="line">
            <a:avLst/>
          </a:prstGeom>
          <a:noFill/>
          <a:ln w="28575">
            <a:solidFill>
              <a:srgbClr val="869406"/>
            </a:solidFill>
            <a:prstDash val="dashDot"/>
            <a:round/>
            <a:headEnd/>
            <a:tailEnd/>
          </a:ln>
        </p:spPr>
        <p:txBody>
          <a:bodyPr/>
          <a:lstStyle/>
          <a:p>
            <a:endParaRPr lang="en-US"/>
          </a:p>
        </p:txBody>
      </p:sp>
      <p:sp>
        <p:nvSpPr>
          <p:cNvPr id="18441" name="Rectangle 7"/>
          <p:cNvSpPr>
            <a:spLocks noChangeArrowheads="1"/>
          </p:cNvSpPr>
          <p:nvPr/>
        </p:nvSpPr>
        <p:spPr bwMode="auto">
          <a:xfrm>
            <a:off x="27257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2" name="Rectangle 8"/>
          <p:cNvSpPr>
            <a:spLocks noChangeArrowheads="1"/>
          </p:cNvSpPr>
          <p:nvPr/>
        </p:nvSpPr>
        <p:spPr bwMode="auto">
          <a:xfrm>
            <a:off x="37925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3" name="Rectangle 9"/>
          <p:cNvSpPr>
            <a:spLocks noChangeArrowheads="1"/>
          </p:cNvSpPr>
          <p:nvPr/>
        </p:nvSpPr>
        <p:spPr bwMode="auto">
          <a:xfrm>
            <a:off x="16589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4" name="Rectangle 10"/>
          <p:cNvSpPr>
            <a:spLocks noChangeArrowheads="1"/>
          </p:cNvSpPr>
          <p:nvPr/>
        </p:nvSpPr>
        <p:spPr bwMode="auto">
          <a:xfrm>
            <a:off x="32591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5" name="Rectangle 11"/>
          <p:cNvSpPr>
            <a:spLocks noChangeArrowheads="1"/>
          </p:cNvSpPr>
          <p:nvPr/>
        </p:nvSpPr>
        <p:spPr bwMode="auto">
          <a:xfrm>
            <a:off x="21923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6" name="Rectangle 12"/>
          <p:cNvSpPr>
            <a:spLocks noChangeArrowheads="1"/>
          </p:cNvSpPr>
          <p:nvPr/>
        </p:nvSpPr>
        <p:spPr bwMode="auto">
          <a:xfrm>
            <a:off x="43259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7" name="Rectangle 13"/>
          <p:cNvSpPr>
            <a:spLocks noChangeArrowheads="1"/>
          </p:cNvSpPr>
          <p:nvPr/>
        </p:nvSpPr>
        <p:spPr bwMode="auto">
          <a:xfrm>
            <a:off x="48593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8" name="Rectangle 14"/>
          <p:cNvSpPr>
            <a:spLocks noChangeArrowheads="1"/>
          </p:cNvSpPr>
          <p:nvPr/>
        </p:nvSpPr>
        <p:spPr bwMode="auto">
          <a:xfrm>
            <a:off x="6692900" y="2767013"/>
            <a:ext cx="533400" cy="272653"/>
          </a:xfrm>
          <a:prstGeom prst="rect">
            <a:avLst/>
          </a:prstGeom>
          <a:noFill/>
          <a:ln w="28575">
            <a:solidFill>
              <a:srgbClr val="869406"/>
            </a:solidFill>
            <a:miter lim="800000"/>
            <a:headEnd/>
            <a:tailEnd/>
          </a:ln>
        </p:spPr>
        <p:txBody>
          <a:bodyPr wrap="none" anchor="ctr"/>
          <a:lstStyle/>
          <a:p>
            <a:endParaRPr lang="en-US"/>
          </a:p>
        </p:txBody>
      </p:sp>
      <p:sp>
        <p:nvSpPr>
          <p:cNvPr id="18449" name="Rectangle 15"/>
          <p:cNvSpPr>
            <a:spLocks noChangeArrowheads="1"/>
          </p:cNvSpPr>
          <p:nvPr/>
        </p:nvSpPr>
        <p:spPr bwMode="auto">
          <a:xfrm>
            <a:off x="5392738" y="2775347"/>
            <a:ext cx="533400" cy="272653"/>
          </a:xfrm>
          <a:prstGeom prst="rect">
            <a:avLst/>
          </a:prstGeom>
          <a:noFill/>
          <a:ln w="28575">
            <a:solidFill>
              <a:srgbClr val="869406"/>
            </a:solidFill>
            <a:miter lim="800000"/>
            <a:headEnd/>
            <a:tailEnd/>
          </a:ln>
        </p:spPr>
        <p:txBody>
          <a:bodyPr wrap="none" anchor="ctr"/>
          <a:lstStyle/>
          <a:p>
            <a:endParaRPr lang="en-US"/>
          </a:p>
        </p:txBody>
      </p:sp>
      <p:sp>
        <p:nvSpPr>
          <p:cNvPr id="18450" name="Rectangle 16"/>
          <p:cNvSpPr>
            <a:spLocks noChangeArrowheads="1"/>
          </p:cNvSpPr>
          <p:nvPr/>
        </p:nvSpPr>
        <p:spPr bwMode="auto">
          <a:xfrm>
            <a:off x="7226300" y="2767013"/>
            <a:ext cx="533400" cy="272653"/>
          </a:xfrm>
          <a:prstGeom prst="rect">
            <a:avLst/>
          </a:prstGeom>
          <a:noFill/>
          <a:ln w="28575">
            <a:solidFill>
              <a:srgbClr val="869406"/>
            </a:solidFill>
            <a:miter lim="800000"/>
            <a:headEnd/>
            <a:tailEnd/>
          </a:ln>
        </p:spPr>
        <p:txBody>
          <a:bodyPr wrap="none" anchor="ctr"/>
          <a:lstStyle/>
          <a:p>
            <a:endParaRPr lang="en-US"/>
          </a:p>
        </p:txBody>
      </p:sp>
      <p:sp>
        <p:nvSpPr>
          <p:cNvPr id="18451" name="Rectangle 17"/>
          <p:cNvSpPr>
            <a:spLocks noChangeArrowheads="1"/>
          </p:cNvSpPr>
          <p:nvPr/>
        </p:nvSpPr>
        <p:spPr bwMode="auto">
          <a:xfrm>
            <a:off x="7759700" y="2767013"/>
            <a:ext cx="533400" cy="272653"/>
          </a:xfrm>
          <a:prstGeom prst="rect">
            <a:avLst/>
          </a:prstGeom>
          <a:noFill/>
          <a:ln w="28575">
            <a:solidFill>
              <a:srgbClr val="869406"/>
            </a:solidFill>
            <a:miter lim="800000"/>
            <a:headEnd/>
            <a:tailEnd/>
          </a:ln>
        </p:spPr>
        <p:txBody>
          <a:bodyPr wrap="none" anchor="ctr"/>
          <a:lstStyle/>
          <a:p>
            <a:endParaRPr lang="en-US"/>
          </a:p>
        </p:txBody>
      </p:sp>
      <p:sp>
        <p:nvSpPr>
          <p:cNvPr id="18452" name="Text Box 18"/>
          <p:cNvSpPr txBox="1">
            <a:spLocks noChangeArrowheads="1"/>
          </p:cNvSpPr>
          <p:nvPr/>
        </p:nvSpPr>
        <p:spPr bwMode="auto">
          <a:xfrm>
            <a:off x="980343" y="2686051"/>
            <a:ext cx="506292" cy="369332"/>
          </a:xfrm>
          <a:prstGeom prst="rect">
            <a:avLst/>
          </a:prstGeom>
          <a:noFill/>
          <a:ln w="9525">
            <a:noFill/>
            <a:miter lim="800000"/>
            <a:headEnd/>
            <a:tailEnd/>
          </a:ln>
        </p:spPr>
        <p:txBody>
          <a:bodyPr wrap="none">
            <a:spAutoFit/>
          </a:bodyPr>
          <a:lstStyle/>
          <a:p>
            <a:pPr algn="ctr">
              <a:spcBef>
                <a:spcPct val="50000"/>
              </a:spcBef>
            </a:pPr>
            <a:r>
              <a:rPr lang="en-US">
                <a:latin typeface="Tahoma" pitchFamily="34" charset="0"/>
              </a:rPr>
              <a:t>PT:</a:t>
            </a:r>
          </a:p>
        </p:txBody>
      </p:sp>
      <p:sp>
        <p:nvSpPr>
          <p:cNvPr id="18453" name="Line 19"/>
          <p:cNvSpPr>
            <a:spLocks noChangeShapeType="1"/>
          </p:cNvSpPr>
          <p:nvPr/>
        </p:nvSpPr>
        <p:spPr bwMode="auto">
          <a:xfrm>
            <a:off x="6057900" y="3815894"/>
            <a:ext cx="533400" cy="0"/>
          </a:xfrm>
          <a:prstGeom prst="line">
            <a:avLst/>
          </a:prstGeom>
          <a:noFill/>
          <a:ln w="28575">
            <a:solidFill>
              <a:srgbClr val="869406"/>
            </a:solidFill>
            <a:prstDash val="dashDot"/>
            <a:round/>
            <a:headEnd/>
            <a:tailEnd/>
          </a:ln>
        </p:spPr>
        <p:txBody>
          <a:bodyPr/>
          <a:lstStyle/>
          <a:p>
            <a:endParaRPr lang="en-US"/>
          </a:p>
        </p:txBody>
      </p:sp>
      <p:sp>
        <p:nvSpPr>
          <p:cNvPr id="18454" name="Rectangle 20"/>
          <p:cNvSpPr>
            <a:spLocks noChangeArrowheads="1"/>
          </p:cNvSpPr>
          <p:nvPr/>
        </p:nvSpPr>
        <p:spPr bwMode="auto">
          <a:xfrm>
            <a:off x="27336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55" name="Rectangle 21"/>
          <p:cNvSpPr>
            <a:spLocks noChangeArrowheads="1"/>
          </p:cNvSpPr>
          <p:nvPr/>
        </p:nvSpPr>
        <p:spPr bwMode="auto">
          <a:xfrm>
            <a:off x="38004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56" name="Rectangle 22"/>
          <p:cNvSpPr>
            <a:spLocks noChangeArrowheads="1"/>
          </p:cNvSpPr>
          <p:nvPr/>
        </p:nvSpPr>
        <p:spPr bwMode="auto">
          <a:xfrm>
            <a:off x="16668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57" name="Rectangle 23"/>
          <p:cNvSpPr>
            <a:spLocks noChangeArrowheads="1"/>
          </p:cNvSpPr>
          <p:nvPr/>
        </p:nvSpPr>
        <p:spPr bwMode="auto">
          <a:xfrm>
            <a:off x="32670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58" name="Rectangle 24"/>
          <p:cNvSpPr>
            <a:spLocks noChangeArrowheads="1"/>
          </p:cNvSpPr>
          <p:nvPr/>
        </p:nvSpPr>
        <p:spPr bwMode="auto">
          <a:xfrm>
            <a:off x="22002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59" name="Rectangle 25"/>
          <p:cNvSpPr>
            <a:spLocks noChangeArrowheads="1"/>
          </p:cNvSpPr>
          <p:nvPr/>
        </p:nvSpPr>
        <p:spPr bwMode="auto">
          <a:xfrm>
            <a:off x="43338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0" name="Rectangle 26"/>
          <p:cNvSpPr>
            <a:spLocks noChangeArrowheads="1"/>
          </p:cNvSpPr>
          <p:nvPr/>
        </p:nvSpPr>
        <p:spPr bwMode="auto">
          <a:xfrm>
            <a:off x="48672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1" name="Rectangle 27"/>
          <p:cNvSpPr>
            <a:spLocks noChangeArrowheads="1"/>
          </p:cNvSpPr>
          <p:nvPr/>
        </p:nvSpPr>
        <p:spPr bwMode="auto">
          <a:xfrm>
            <a:off x="6700838" y="3717072"/>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2" name="Rectangle 28"/>
          <p:cNvSpPr>
            <a:spLocks noChangeArrowheads="1"/>
          </p:cNvSpPr>
          <p:nvPr/>
        </p:nvSpPr>
        <p:spPr bwMode="auto">
          <a:xfrm>
            <a:off x="5400675" y="3725406"/>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3" name="Rectangle 29"/>
          <p:cNvSpPr>
            <a:spLocks noChangeArrowheads="1"/>
          </p:cNvSpPr>
          <p:nvPr/>
        </p:nvSpPr>
        <p:spPr bwMode="auto">
          <a:xfrm>
            <a:off x="7234238" y="3717072"/>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4" name="Rectangle 30"/>
          <p:cNvSpPr>
            <a:spLocks noChangeArrowheads="1"/>
          </p:cNvSpPr>
          <p:nvPr/>
        </p:nvSpPr>
        <p:spPr bwMode="auto">
          <a:xfrm>
            <a:off x="7767638" y="3717072"/>
            <a:ext cx="533400" cy="313194"/>
          </a:xfrm>
          <a:prstGeom prst="rect">
            <a:avLst/>
          </a:prstGeom>
          <a:noFill/>
          <a:ln w="28575">
            <a:solidFill>
              <a:srgbClr val="869406"/>
            </a:solidFill>
            <a:miter lim="800000"/>
            <a:headEnd/>
            <a:tailEnd/>
          </a:ln>
        </p:spPr>
        <p:txBody>
          <a:bodyPr wrap="none" anchor="ctr"/>
          <a:lstStyle/>
          <a:p>
            <a:endParaRPr lang="en-US"/>
          </a:p>
        </p:txBody>
      </p:sp>
      <p:sp>
        <p:nvSpPr>
          <p:cNvPr id="18465" name="Text Box 31"/>
          <p:cNvSpPr txBox="1">
            <a:spLocks noChangeArrowheads="1"/>
          </p:cNvSpPr>
          <p:nvPr/>
        </p:nvSpPr>
        <p:spPr bwMode="auto">
          <a:xfrm>
            <a:off x="989813" y="3644445"/>
            <a:ext cx="517514" cy="369332"/>
          </a:xfrm>
          <a:prstGeom prst="rect">
            <a:avLst/>
          </a:prstGeom>
          <a:noFill/>
          <a:ln w="9525">
            <a:noFill/>
            <a:miter lim="800000"/>
            <a:headEnd/>
            <a:tailEnd/>
          </a:ln>
        </p:spPr>
        <p:txBody>
          <a:bodyPr wrap="none">
            <a:spAutoFit/>
          </a:bodyPr>
          <a:lstStyle/>
          <a:p>
            <a:pPr algn="ctr">
              <a:spcBef>
                <a:spcPct val="50000"/>
              </a:spcBef>
            </a:pPr>
            <a:r>
              <a:rPr lang="en-US">
                <a:latin typeface="Tahoma" pitchFamily="34" charset="0"/>
              </a:rPr>
              <a:t>CT:</a:t>
            </a:r>
          </a:p>
        </p:txBody>
      </p:sp>
      <p:sp>
        <p:nvSpPr>
          <p:cNvPr id="34" name="TextBox 33"/>
          <p:cNvSpPr txBox="1"/>
          <p:nvPr/>
        </p:nvSpPr>
        <p:spPr>
          <a:xfrm>
            <a:off x="2743202" y="2686051"/>
            <a:ext cx="492125" cy="400110"/>
          </a:xfrm>
          <a:prstGeom prst="rect">
            <a:avLst/>
          </a:prstGeom>
          <a:noFill/>
        </p:spPr>
        <p:txBody>
          <a:bodyPr>
            <a:spAutoFit/>
          </a:bodyPr>
          <a:lstStyle/>
          <a:p>
            <a:pPr>
              <a:defRPr/>
            </a:pPr>
            <a:r>
              <a:rPr lang="en-US" sz="2000" dirty="0"/>
              <a:t>m</a:t>
            </a:r>
            <a:r>
              <a:rPr lang="en-US" sz="2000" baseline="-25000" dirty="0"/>
              <a:t>1</a:t>
            </a:r>
            <a:endParaRPr lang="en-US" sz="2000" dirty="0"/>
          </a:p>
        </p:txBody>
      </p:sp>
      <p:sp>
        <p:nvSpPr>
          <p:cNvPr id="35" name="TextBox 34"/>
          <p:cNvSpPr txBox="1"/>
          <p:nvPr/>
        </p:nvSpPr>
        <p:spPr>
          <a:xfrm>
            <a:off x="4384677" y="2686051"/>
            <a:ext cx="492125" cy="400110"/>
          </a:xfrm>
          <a:prstGeom prst="rect">
            <a:avLst/>
          </a:prstGeom>
          <a:noFill/>
        </p:spPr>
        <p:txBody>
          <a:bodyPr>
            <a:spAutoFit/>
          </a:bodyPr>
          <a:lstStyle/>
          <a:p>
            <a:pPr>
              <a:defRPr/>
            </a:pPr>
            <a:r>
              <a:rPr lang="en-US" sz="2000" dirty="0"/>
              <a:t>m</a:t>
            </a:r>
            <a:r>
              <a:rPr lang="en-US" sz="2000" baseline="-25000" dirty="0"/>
              <a:t>2</a:t>
            </a:r>
            <a:endParaRPr lang="en-US" sz="2000" dirty="0"/>
          </a:p>
        </p:txBody>
      </p:sp>
      <p:sp>
        <p:nvSpPr>
          <p:cNvPr id="36" name="TextBox 35"/>
          <p:cNvSpPr txBox="1"/>
          <p:nvPr/>
        </p:nvSpPr>
        <p:spPr>
          <a:xfrm>
            <a:off x="2789240" y="3638490"/>
            <a:ext cx="492125" cy="400110"/>
          </a:xfrm>
          <a:prstGeom prst="rect">
            <a:avLst/>
          </a:prstGeom>
          <a:noFill/>
        </p:spPr>
        <p:txBody>
          <a:bodyPr>
            <a:spAutoFit/>
          </a:bodyPr>
          <a:lstStyle/>
          <a:p>
            <a:pPr>
              <a:defRPr/>
            </a:pPr>
            <a:r>
              <a:rPr lang="en-US" sz="2000" dirty="0"/>
              <a:t>c</a:t>
            </a:r>
            <a:r>
              <a:rPr lang="en-US" sz="2000" baseline="-25000" dirty="0"/>
              <a:t>1</a:t>
            </a:r>
            <a:endParaRPr lang="en-US" sz="2000" dirty="0"/>
          </a:p>
        </p:txBody>
      </p:sp>
      <p:sp>
        <p:nvSpPr>
          <p:cNvPr id="37" name="TextBox 36"/>
          <p:cNvSpPr txBox="1"/>
          <p:nvPr/>
        </p:nvSpPr>
        <p:spPr>
          <a:xfrm>
            <a:off x="4389440" y="3630156"/>
            <a:ext cx="492125" cy="400110"/>
          </a:xfrm>
          <a:prstGeom prst="rect">
            <a:avLst/>
          </a:prstGeom>
          <a:noFill/>
        </p:spPr>
        <p:txBody>
          <a:bodyPr>
            <a:spAutoFit/>
          </a:bodyPr>
          <a:lstStyle/>
          <a:p>
            <a:pPr>
              <a:defRPr/>
            </a:pPr>
            <a:r>
              <a:rPr lang="en-US" sz="2000" dirty="0"/>
              <a:t>c</a:t>
            </a:r>
            <a:r>
              <a:rPr lang="en-US" sz="2000" baseline="-25000" dirty="0"/>
              <a:t>2</a:t>
            </a:r>
            <a:endParaRPr lang="en-US" sz="2000" dirty="0"/>
          </a:p>
        </p:txBody>
      </p:sp>
    </p:spTree>
    <p:extLst>
      <p:ext uri="{BB962C8B-B14F-4D97-AF65-F5344CB8AC3E}">
        <p14:creationId xmlns:p14="http://schemas.microsoft.com/office/powerpoint/2010/main" val="3191508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a:t>In pictures</a:t>
            </a:r>
          </a:p>
        </p:txBody>
      </p:sp>
      <p:sp>
        <p:nvSpPr>
          <p:cNvPr id="3" name="Content Placeholder 2">
            <a:extLst>
              <a:ext uri="{FF2B5EF4-FFF2-40B4-BE49-F238E27FC236}">
                <a16:creationId xmlns:a16="http://schemas.microsoft.com/office/drawing/2014/main" id="{EB65F7C2-31EC-E871-C547-A45870D33AE2}"/>
              </a:ext>
            </a:extLst>
          </p:cNvPr>
          <p:cNvSpPr>
            <a:spLocks noGrp="1"/>
          </p:cNvSpPr>
          <p:nvPr>
            <p:ph sz="quarter" idx="13"/>
          </p:nvPr>
        </p:nvSpPr>
        <p:spPr/>
        <p:txBody>
          <a:bodyPr/>
          <a:lstStyle/>
          <a:p>
            <a:endParaRPr/>
          </a:p>
        </p:txBody>
      </p:sp>
      <p:pic>
        <p:nvPicPr>
          <p:cNvPr id="19461" name="Picture 4"/>
          <p:cNvPicPr>
            <a:picLocks noChangeAspect="1" noChangeArrowheads="1"/>
          </p:cNvPicPr>
          <p:nvPr/>
        </p:nvPicPr>
        <p:blipFill>
          <a:blip r:embed="rId2"/>
          <a:srcRect l="4735" t="12686" r="3424" b="45523"/>
          <a:stretch>
            <a:fillRect/>
          </a:stretch>
        </p:blipFill>
        <p:spPr bwMode="auto">
          <a:xfrm>
            <a:off x="381000" y="2214562"/>
            <a:ext cx="8382000" cy="2357438"/>
          </a:xfrm>
          <a:prstGeom prst="rect">
            <a:avLst/>
          </a:prstGeom>
          <a:noFill/>
          <a:ln w="9525">
            <a:noFill/>
            <a:miter lim="800000"/>
            <a:headEnd/>
            <a:tailEnd/>
          </a:ln>
        </p:spPr>
      </p:pic>
      <p:sp>
        <p:nvSpPr>
          <p:cNvPr id="2" name="TextBox 1"/>
          <p:cNvSpPr txBox="1"/>
          <p:nvPr/>
        </p:nvSpPr>
        <p:spPr>
          <a:xfrm>
            <a:off x="5763720" y="5486401"/>
            <a:ext cx="2774029" cy="461665"/>
          </a:xfrm>
          <a:prstGeom prst="rect">
            <a:avLst/>
          </a:prstGeom>
          <a:noFill/>
        </p:spPr>
        <p:txBody>
          <a:bodyPr wrap="none" rtlCol="0">
            <a:spAutoFit/>
          </a:bodyPr>
          <a:lstStyle/>
          <a:p>
            <a:r>
              <a:rPr lang="en-US" sz="2400" dirty="0"/>
              <a:t>(courtesy B. </a:t>
            </a:r>
            <a:r>
              <a:rPr lang="en-US" sz="2400" dirty="0" err="1"/>
              <a:t>Preneel</a:t>
            </a:r>
            <a:r>
              <a:rPr lang="en-US" sz="2400" dirty="0"/>
              <a:t>)</a:t>
            </a:r>
          </a:p>
        </p:txBody>
      </p:sp>
    </p:spTree>
    <p:extLst>
      <p:ext uri="{BB962C8B-B14F-4D97-AF65-F5344CB8AC3E}">
        <p14:creationId xmlns:p14="http://schemas.microsoft.com/office/powerpoint/2010/main" val="4207591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Bảo</a:t>
            </a:r>
            <a:r>
              <a:rPr lang="en-US" b="1" dirty="0"/>
              <a:t> </a:t>
            </a:r>
            <a:r>
              <a:rPr lang="en-US" b="1" dirty="0" err="1"/>
              <a:t>mật</a:t>
            </a:r>
            <a:r>
              <a:rPr lang="en-US" b="1" dirty="0"/>
              <a:t> </a:t>
            </a:r>
            <a:r>
              <a:rPr lang="en-US" b="1" dirty="0" err="1"/>
              <a:t>ngữ</a:t>
            </a:r>
            <a:r>
              <a:rPr lang="en-US" b="1" dirty="0"/>
              <a:t> </a:t>
            </a:r>
            <a:r>
              <a:rPr lang="en-US" b="1" dirty="0" err="1"/>
              <a:t>nghĩa</a:t>
            </a:r>
            <a:r>
              <a:rPr lang="en-US" b="1" dirty="0"/>
              <a:t> -Semantic Security (one-time key)</a:t>
            </a:r>
          </a:p>
        </p:txBody>
      </p:sp>
      <p:sp>
        <p:nvSpPr>
          <p:cNvPr id="3" name="Content Placeholder 2">
            <a:extLst>
              <a:ext uri="{FF2B5EF4-FFF2-40B4-BE49-F238E27FC236}">
                <a16:creationId xmlns:a16="http://schemas.microsoft.com/office/drawing/2014/main" id="{F5EE3EE2-BBA7-EF3A-0534-95BA0F713AE9}"/>
              </a:ext>
            </a:extLst>
          </p:cNvPr>
          <p:cNvSpPr>
            <a:spLocks noGrp="1"/>
          </p:cNvSpPr>
          <p:nvPr>
            <p:ph sz="quarter" idx="13"/>
          </p:nvPr>
        </p:nvSpPr>
        <p:spPr/>
        <p:txBody>
          <a:bodyPr/>
          <a:lstStyle/>
          <a:p>
            <a:endParaRPr/>
          </a:p>
        </p:txBody>
      </p:sp>
      <p:sp>
        <p:nvSpPr>
          <p:cNvPr id="6" name="Text Box 33"/>
          <p:cNvSpPr txBox="1">
            <a:spLocks noChangeArrowheads="1"/>
          </p:cNvSpPr>
          <p:nvPr/>
        </p:nvSpPr>
        <p:spPr bwMode="auto">
          <a:xfrm>
            <a:off x="152400" y="5144870"/>
            <a:ext cx="8915400" cy="646331"/>
          </a:xfrm>
          <a:prstGeom prst="rect">
            <a:avLst/>
          </a:prstGeom>
          <a:noFill/>
          <a:ln w="9525">
            <a:noFill/>
            <a:miter lim="800000"/>
            <a:headEnd/>
            <a:tailEnd/>
          </a:ln>
          <a:effectLst/>
        </p:spPr>
        <p:txBody>
          <a:bodyPr wrap="square">
            <a:spAutoFit/>
          </a:bodyPr>
          <a:lstStyle/>
          <a:p>
            <a:r>
              <a:rPr lang="en-US" sz="2400" dirty="0" err="1"/>
              <a:t>Adv</a:t>
            </a:r>
            <a:r>
              <a:rPr lang="en-US" sz="2400" baseline="-25000" dirty="0" err="1"/>
              <a:t>SS</a:t>
            </a:r>
            <a:r>
              <a:rPr lang="en-US" sz="2400" dirty="0"/>
              <a:t>[A,OTP] = </a:t>
            </a:r>
            <a:r>
              <a:rPr lang="en-US" sz="3600" dirty="0"/>
              <a:t>|</a:t>
            </a:r>
            <a:r>
              <a:rPr lang="en-US" sz="2400" dirty="0"/>
              <a:t> </a:t>
            </a:r>
            <a:r>
              <a:rPr lang="en-US" sz="2400" dirty="0" err="1"/>
              <a:t>Pr</a:t>
            </a:r>
            <a:r>
              <a:rPr lang="en-US" sz="2400" dirty="0"/>
              <a:t>[ </a:t>
            </a:r>
            <a:r>
              <a:rPr lang="en-US" sz="2400" b="1" dirty="0"/>
              <a:t>EXP(0)</a:t>
            </a:r>
            <a:r>
              <a:rPr lang="en-US" sz="2000" dirty="0"/>
              <a:t>=1</a:t>
            </a:r>
            <a:r>
              <a:rPr lang="en-US" sz="2400" dirty="0"/>
              <a:t> ] −  </a:t>
            </a:r>
            <a:r>
              <a:rPr lang="en-US" sz="2400" dirty="0" err="1"/>
              <a:t>Pr</a:t>
            </a:r>
            <a:r>
              <a:rPr lang="en-US" sz="2400" dirty="0"/>
              <a:t>[ </a:t>
            </a:r>
            <a:r>
              <a:rPr lang="en-US" sz="2400" b="1" dirty="0"/>
              <a:t>EXP(1)</a:t>
            </a:r>
            <a:r>
              <a:rPr lang="en-US" sz="2000" dirty="0"/>
              <a:t>=1</a:t>
            </a:r>
            <a:r>
              <a:rPr lang="en-US" sz="2400" dirty="0"/>
              <a:t> ] </a:t>
            </a:r>
            <a:r>
              <a:rPr lang="en-US" sz="3600" dirty="0"/>
              <a:t>|</a:t>
            </a:r>
            <a:r>
              <a:rPr lang="en-US" sz="2400" dirty="0"/>
              <a:t>   should be “neg.”</a:t>
            </a:r>
          </a:p>
        </p:txBody>
      </p:sp>
      <p:grpSp>
        <p:nvGrpSpPr>
          <p:cNvPr id="8" name="Group 7"/>
          <p:cNvGrpSpPr/>
          <p:nvPr/>
        </p:nvGrpSpPr>
        <p:grpSpPr>
          <a:xfrm>
            <a:off x="152401" y="1828800"/>
            <a:ext cx="9012240" cy="1295400"/>
            <a:chOff x="152400" y="971550"/>
            <a:chExt cx="9012240" cy="1295400"/>
          </a:xfrm>
        </p:grpSpPr>
        <p:sp>
          <p:nvSpPr>
            <p:cNvPr id="9" name="Rounded Rectangle 8"/>
            <p:cNvSpPr/>
            <p:nvPr/>
          </p:nvSpPr>
          <p:spPr>
            <a:xfrm>
              <a:off x="3886200" y="1581150"/>
              <a:ext cx="1524000" cy="533400"/>
            </a:xfrm>
            <a:prstGeom prst="roundRect">
              <a:avLst/>
            </a:prstGeom>
            <a:solidFill>
              <a:schemeClr val="accent6">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4"/>
            <p:cNvSpPr>
              <a:spLocks noChangeArrowheads="1"/>
            </p:cNvSpPr>
            <p:nvPr/>
          </p:nvSpPr>
          <p:spPr bwMode="auto">
            <a:xfrm>
              <a:off x="1295400" y="1123950"/>
              <a:ext cx="1295400" cy="990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11" name="Rectangle 7"/>
            <p:cNvSpPr>
              <a:spLocks noChangeArrowheads="1"/>
            </p:cNvSpPr>
            <p:nvPr/>
          </p:nvSpPr>
          <p:spPr bwMode="auto">
            <a:xfrm>
              <a:off x="6477000" y="1123950"/>
              <a:ext cx="1295400" cy="990600"/>
            </a:xfrm>
            <a:prstGeom prst="rect">
              <a:avLst/>
            </a:prstGeom>
            <a:solidFill>
              <a:schemeClr val="accent1"/>
            </a:solidFill>
            <a:ln w="9525">
              <a:solidFill>
                <a:schemeClr val="tx1"/>
              </a:solidFill>
              <a:miter lim="800000"/>
              <a:headEnd/>
              <a:tailEnd/>
            </a:ln>
            <a:effectLst/>
          </p:spPr>
          <p:txBody>
            <a:bodyPr wrap="none"/>
            <a:lstStyle/>
            <a:p>
              <a:pPr algn="ctr"/>
              <a:r>
                <a:rPr lang="en-US"/>
                <a:t>Adv. A</a:t>
              </a:r>
            </a:p>
          </p:txBody>
        </p:sp>
        <p:sp>
          <p:nvSpPr>
            <p:cNvPr id="12" name="Text Box 8"/>
            <p:cNvSpPr txBox="1">
              <a:spLocks noChangeArrowheads="1"/>
            </p:cNvSpPr>
            <p:nvPr/>
          </p:nvSpPr>
          <p:spPr bwMode="auto">
            <a:xfrm>
              <a:off x="1600201" y="1477565"/>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13" name="Group 21"/>
            <p:cNvGrpSpPr>
              <a:grpSpLocks/>
            </p:cNvGrpSpPr>
            <p:nvPr/>
          </p:nvGrpSpPr>
          <p:grpSpPr bwMode="auto">
            <a:xfrm>
              <a:off x="2667000" y="1047750"/>
              <a:ext cx="3810000" cy="403622"/>
              <a:chOff x="1776" y="1783"/>
              <a:chExt cx="2400" cy="339"/>
            </a:xfrm>
          </p:grpSpPr>
          <p:sp>
            <p:nvSpPr>
              <p:cNvPr id="22" name="Line 10"/>
              <p:cNvSpPr>
                <a:spLocks noChangeShapeType="1"/>
              </p:cNvSpPr>
              <p:nvPr/>
            </p:nvSpPr>
            <p:spPr bwMode="auto">
              <a:xfrm flipH="1">
                <a:off x="1776" y="2122"/>
                <a:ext cx="2400" cy="0"/>
              </a:xfrm>
              <a:prstGeom prst="line">
                <a:avLst/>
              </a:prstGeom>
              <a:noFill/>
              <a:ln w="38100" cmpd="sng">
                <a:solidFill>
                  <a:schemeClr val="tx1"/>
                </a:solidFill>
                <a:round/>
                <a:headEnd/>
                <a:tailEnd type="triangle" w="med" len="med"/>
              </a:ln>
              <a:effectLst/>
            </p:spPr>
            <p:txBody>
              <a:bodyPr/>
              <a:lstStyle/>
              <a:p>
                <a:endParaRPr lang="en-US"/>
              </a:p>
            </p:txBody>
          </p:sp>
          <p:sp>
            <p:nvSpPr>
              <p:cNvPr id="23" name="Text Box 11"/>
              <p:cNvSpPr txBox="1">
                <a:spLocks noChangeArrowheads="1"/>
              </p:cNvSpPr>
              <p:nvPr/>
            </p:nvSpPr>
            <p:spPr bwMode="auto">
              <a:xfrm>
                <a:off x="1968" y="1783"/>
                <a:ext cx="1980" cy="336"/>
              </a:xfrm>
              <a:prstGeom prst="rect">
                <a:avLst/>
              </a:prstGeom>
              <a:noFill/>
              <a:ln w="9525">
                <a:noFill/>
                <a:miter lim="800000"/>
                <a:headEnd/>
                <a:tailEnd/>
              </a:ln>
              <a:effectLst/>
            </p:spPr>
            <p:txBody>
              <a:bodyPr wrap="none">
                <a:spAutoFit/>
              </a:bodyPr>
              <a:lstStyle/>
              <a:p>
                <a:r>
                  <a:rPr lang="en-US" sz="2000" dirty="0"/>
                  <a:t>m</a:t>
                </a:r>
                <a:r>
                  <a:rPr lang="en-US" sz="2000" baseline="-25000" dirty="0"/>
                  <a:t>0</a:t>
                </a:r>
                <a:r>
                  <a:rPr lang="en-US" sz="2000" dirty="0"/>
                  <a:t> , m</a:t>
                </a:r>
                <a:r>
                  <a:rPr lang="en-US" sz="2000" baseline="-25000" dirty="0"/>
                  <a:t>1  </a:t>
                </a:r>
                <a:r>
                  <a:rPr lang="en-US" sz="2000" dirty="0">
                    <a:sym typeface="Symbol" pitchFamily="18" charset="2"/>
                  </a:rPr>
                  <a:t> M :    |m</a:t>
                </a:r>
                <a:r>
                  <a:rPr lang="en-US" sz="2000" baseline="-25000" dirty="0">
                    <a:sym typeface="Symbol" pitchFamily="18" charset="2"/>
                  </a:rPr>
                  <a:t>0</a:t>
                </a:r>
                <a:r>
                  <a:rPr lang="en-US" sz="2000" dirty="0">
                    <a:sym typeface="Symbol" pitchFamily="18" charset="2"/>
                  </a:rPr>
                  <a:t>| = |m</a:t>
                </a:r>
                <a:r>
                  <a:rPr lang="en-US" sz="2000" baseline="-25000" dirty="0">
                    <a:sym typeface="Symbol" pitchFamily="18" charset="2"/>
                  </a:rPr>
                  <a:t>1</a:t>
                </a:r>
                <a:r>
                  <a:rPr lang="en-US" sz="2000" dirty="0">
                    <a:sym typeface="Symbol" pitchFamily="18" charset="2"/>
                  </a:rPr>
                  <a:t>|</a:t>
                </a:r>
              </a:p>
            </p:txBody>
          </p:sp>
        </p:grpSp>
        <p:grpSp>
          <p:nvGrpSpPr>
            <p:cNvPr id="14" name="Group 20"/>
            <p:cNvGrpSpPr>
              <a:grpSpLocks/>
            </p:cNvGrpSpPr>
            <p:nvPr/>
          </p:nvGrpSpPr>
          <p:grpSpPr bwMode="auto">
            <a:xfrm>
              <a:off x="2667000" y="1428751"/>
              <a:ext cx="3733800" cy="522685"/>
              <a:chOff x="1776" y="2018"/>
              <a:chExt cx="2352" cy="439"/>
            </a:xfrm>
          </p:grpSpPr>
          <p:sp>
            <p:nvSpPr>
              <p:cNvPr id="20" name="Line 13"/>
              <p:cNvSpPr>
                <a:spLocks noChangeShapeType="1"/>
              </p:cNvSpPr>
              <p:nvPr/>
            </p:nvSpPr>
            <p:spPr bwMode="auto">
              <a:xfrm>
                <a:off x="1776" y="2454"/>
                <a:ext cx="2352" cy="0"/>
              </a:xfrm>
              <a:prstGeom prst="line">
                <a:avLst/>
              </a:prstGeom>
              <a:noFill/>
              <a:ln w="38100" cmpd="sng">
                <a:solidFill>
                  <a:schemeClr val="tx1"/>
                </a:solidFill>
                <a:round/>
                <a:headEnd/>
                <a:tailEnd type="triangle" w="med" len="med"/>
              </a:ln>
              <a:effectLst/>
            </p:spPr>
            <p:txBody>
              <a:bodyPr/>
              <a:lstStyle/>
              <a:p>
                <a:endParaRPr lang="en-US"/>
              </a:p>
            </p:txBody>
          </p:sp>
          <p:sp>
            <p:nvSpPr>
              <p:cNvPr id="21" name="Text Box 14"/>
              <p:cNvSpPr txBox="1">
                <a:spLocks noChangeArrowheads="1"/>
              </p:cNvSpPr>
              <p:nvPr/>
            </p:nvSpPr>
            <p:spPr bwMode="auto">
              <a:xfrm>
                <a:off x="2581" y="2018"/>
                <a:ext cx="971" cy="439"/>
              </a:xfrm>
              <a:prstGeom prst="rect">
                <a:avLst/>
              </a:prstGeom>
              <a:noFill/>
              <a:ln w="9525">
                <a:noFill/>
                <a:miter lim="800000"/>
                <a:headEnd/>
                <a:tailEnd/>
              </a:ln>
              <a:effectLst/>
            </p:spPr>
            <p:txBody>
              <a:bodyPr wrap="none">
                <a:spAutoFit/>
              </a:bodyPr>
              <a:lstStyle/>
              <a:p>
                <a:r>
                  <a:rPr lang="en-US" sz="2000" dirty="0"/>
                  <a:t>c </a:t>
                </a:r>
                <a:r>
                  <a:rPr lang="en-US" sz="2000" dirty="0">
                    <a:sym typeface="Symbol" pitchFamily="18" charset="2"/>
                  </a:rPr>
                  <a:t> E(</a:t>
                </a:r>
                <a:r>
                  <a:rPr lang="en-US" sz="2000" dirty="0"/>
                  <a:t>k</a:t>
                </a:r>
                <a:r>
                  <a:rPr lang="en-US" sz="2800" dirty="0"/>
                  <a:t>,</a:t>
                </a:r>
                <a:r>
                  <a:rPr lang="en-US" sz="2400" b="1" dirty="0"/>
                  <a:t>m</a:t>
                </a:r>
                <a:r>
                  <a:rPr lang="en-US" sz="3200" b="1" baseline="-25000" dirty="0">
                    <a:solidFill>
                      <a:srgbClr val="FF0000"/>
                    </a:solidFill>
                  </a:rPr>
                  <a:t>0</a:t>
                </a:r>
                <a:r>
                  <a:rPr lang="en-US" sz="2000" dirty="0"/>
                  <a:t>)</a:t>
                </a:r>
                <a:endParaRPr lang="en-US" sz="2400" dirty="0"/>
              </a:p>
            </p:txBody>
          </p:sp>
        </p:grpSp>
        <p:grpSp>
          <p:nvGrpSpPr>
            <p:cNvPr id="15" name="Group 22"/>
            <p:cNvGrpSpPr>
              <a:grpSpLocks/>
            </p:cNvGrpSpPr>
            <p:nvPr/>
          </p:nvGrpSpPr>
          <p:grpSpPr bwMode="auto">
            <a:xfrm>
              <a:off x="7772402" y="1581141"/>
              <a:ext cx="1392238" cy="461961"/>
              <a:chOff x="4320" y="3290"/>
              <a:chExt cx="877" cy="388"/>
            </a:xfrm>
          </p:grpSpPr>
          <p:sp>
            <p:nvSpPr>
              <p:cNvPr id="18" name="Line 16"/>
              <p:cNvSpPr>
                <a:spLocks noChangeShapeType="1"/>
              </p:cNvSpPr>
              <p:nvPr/>
            </p:nvSpPr>
            <p:spPr bwMode="auto">
              <a:xfrm flipV="1">
                <a:off x="4320" y="3674"/>
                <a:ext cx="720" cy="0"/>
              </a:xfrm>
              <a:prstGeom prst="line">
                <a:avLst/>
              </a:prstGeom>
              <a:noFill/>
              <a:ln w="9525">
                <a:solidFill>
                  <a:schemeClr val="tx1"/>
                </a:solidFill>
                <a:round/>
                <a:headEnd/>
                <a:tailEnd type="triangle" w="med" len="med"/>
              </a:ln>
              <a:effectLst/>
            </p:spPr>
            <p:txBody>
              <a:bodyPr/>
              <a:lstStyle/>
              <a:p>
                <a:endParaRPr lang="en-US"/>
              </a:p>
            </p:txBody>
          </p:sp>
          <p:sp>
            <p:nvSpPr>
              <p:cNvPr id="19" name="Text Box 17"/>
              <p:cNvSpPr txBox="1">
                <a:spLocks noChangeArrowheads="1"/>
              </p:cNvSpPr>
              <p:nvPr/>
            </p:nvSpPr>
            <p:spPr bwMode="auto">
              <a:xfrm>
                <a:off x="4340" y="3290"/>
                <a:ext cx="857" cy="388"/>
              </a:xfrm>
              <a:prstGeom prst="rect">
                <a:avLst/>
              </a:prstGeom>
              <a:noFill/>
              <a:ln w="9525">
                <a:noFill/>
                <a:miter lim="800000"/>
                <a:headEnd/>
                <a:tailEnd/>
              </a:ln>
              <a:effectLst/>
            </p:spPr>
            <p:txBody>
              <a:bodyPr wrap="none">
                <a:spAutoFit/>
              </a:bodyPr>
              <a:lstStyle/>
              <a:p>
                <a:r>
                  <a:rPr lang="en-US" sz="2400" dirty="0"/>
                  <a:t>b’ </a:t>
                </a:r>
                <a:r>
                  <a:rPr lang="en-US" sz="2400" dirty="0">
                    <a:sym typeface="Symbol" pitchFamily="18" charset="2"/>
                  </a:rPr>
                  <a:t> {0,1}</a:t>
                </a:r>
                <a:endParaRPr lang="en-US" sz="2400" dirty="0"/>
              </a:p>
            </p:txBody>
          </p:sp>
        </p:grpSp>
        <p:sp>
          <p:nvSpPr>
            <p:cNvPr id="16" name="Rectangle 18"/>
            <p:cNvSpPr>
              <a:spLocks noChangeArrowheads="1"/>
            </p:cNvSpPr>
            <p:nvPr/>
          </p:nvSpPr>
          <p:spPr bwMode="auto">
            <a:xfrm>
              <a:off x="1066800" y="971550"/>
              <a:ext cx="7391400" cy="1295400"/>
            </a:xfrm>
            <a:prstGeom prst="rect">
              <a:avLst/>
            </a:prstGeom>
            <a:noFill/>
            <a:ln w="38100">
              <a:solidFill>
                <a:schemeClr val="bg1">
                  <a:lumMod val="65000"/>
                </a:schemeClr>
              </a:solidFill>
              <a:miter lim="800000"/>
              <a:headEnd/>
              <a:tailEnd/>
            </a:ln>
            <a:effectLst/>
          </p:spPr>
          <p:txBody>
            <a:bodyPr wrap="none" anchor="ctr"/>
            <a:lstStyle/>
            <a:p>
              <a:endParaRPr lang="en-US"/>
            </a:p>
          </p:txBody>
        </p:sp>
        <p:sp>
          <p:nvSpPr>
            <p:cNvPr id="17" name="TextBox 16"/>
            <p:cNvSpPr txBox="1"/>
            <p:nvPr/>
          </p:nvSpPr>
          <p:spPr>
            <a:xfrm>
              <a:off x="152400" y="1123950"/>
              <a:ext cx="856325" cy="369332"/>
            </a:xfrm>
            <a:prstGeom prst="rect">
              <a:avLst/>
            </a:prstGeom>
            <a:noFill/>
          </p:spPr>
          <p:txBody>
            <a:bodyPr wrap="none" rtlCol="0">
              <a:spAutoFit/>
            </a:bodyPr>
            <a:lstStyle/>
            <a:p>
              <a:r>
                <a:rPr lang="en-US" dirty="0"/>
                <a:t>EXP(0):</a:t>
              </a:r>
            </a:p>
          </p:txBody>
        </p:sp>
      </p:grpSp>
      <p:grpSp>
        <p:nvGrpSpPr>
          <p:cNvPr id="24" name="Group 23"/>
          <p:cNvGrpSpPr/>
          <p:nvPr/>
        </p:nvGrpSpPr>
        <p:grpSpPr>
          <a:xfrm>
            <a:off x="197181" y="3733800"/>
            <a:ext cx="8967459" cy="1295400"/>
            <a:chOff x="197181" y="2876550"/>
            <a:chExt cx="8967459" cy="1295400"/>
          </a:xfrm>
        </p:grpSpPr>
        <p:sp>
          <p:nvSpPr>
            <p:cNvPr id="25" name="Rounded Rectangle 24"/>
            <p:cNvSpPr/>
            <p:nvPr/>
          </p:nvSpPr>
          <p:spPr>
            <a:xfrm>
              <a:off x="3886200" y="3486150"/>
              <a:ext cx="1524000" cy="533400"/>
            </a:xfrm>
            <a:prstGeom prst="roundRect">
              <a:avLst/>
            </a:prstGeom>
            <a:solidFill>
              <a:schemeClr val="accent6">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4"/>
            <p:cNvSpPr>
              <a:spLocks noChangeArrowheads="1"/>
            </p:cNvSpPr>
            <p:nvPr/>
          </p:nvSpPr>
          <p:spPr bwMode="auto">
            <a:xfrm>
              <a:off x="1295400" y="3028950"/>
              <a:ext cx="1295400" cy="990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27" name="Rectangle 7"/>
            <p:cNvSpPr>
              <a:spLocks noChangeArrowheads="1"/>
            </p:cNvSpPr>
            <p:nvPr/>
          </p:nvSpPr>
          <p:spPr bwMode="auto">
            <a:xfrm>
              <a:off x="6477000" y="3028950"/>
              <a:ext cx="1295400" cy="990600"/>
            </a:xfrm>
            <a:prstGeom prst="rect">
              <a:avLst/>
            </a:prstGeom>
            <a:solidFill>
              <a:schemeClr val="accent1"/>
            </a:solidFill>
            <a:ln w="9525">
              <a:solidFill>
                <a:schemeClr val="tx1"/>
              </a:solidFill>
              <a:miter lim="800000"/>
              <a:headEnd/>
              <a:tailEnd/>
            </a:ln>
            <a:effectLst/>
          </p:spPr>
          <p:txBody>
            <a:bodyPr wrap="none"/>
            <a:lstStyle/>
            <a:p>
              <a:pPr algn="ctr"/>
              <a:r>
                <a:rPr lang="en-US"/>
                <a:t>Adv. A</a:t>
              </a:r>
            </a:p>
          </p:txBody>
        </p:sp>
        <p:sp>
          <p:nvSpPr>
            <p:cNvPr id="28" name="Text Box 8"/>
            <p:cNvSpPr txBox="1">
              <a:spLocks noChangeArrowheads="1"/>
            </p:cNvSpPr>
            <p:nvPr/>
          </p:nvSpPr>
          <p:spPr bwMode="auto">
            <a:xfrm>
              <a:off x="1600201" y="3382565"/>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29" name="Group 21"/>
            <p:cNvGrpSpPr>
              <a:grpSpLocks/>
            </p:cNvGrpSpPr>
            <p:nvPr/>
          </p:nvGrpSpPr>
          <p:grpSpPr bwMode="auto">
            <a:xfrm>
              <a:off x="2667000" y="2952750"/>
              <a:ext cx="3810000" cy="403622"/>
              <a:chOff x="1776" y="1783"/>
              <a:chExt cx="2400" cy="339"/>
            </a:xfrm>
          </p:grpSpPr>
          <p:sp>
            <p:nvSpPr>
              <p:cNvPr id="38" name="Line 10"/>
              <p:cNvSpPr>
                <a:spLocks noChangeShapeType="1"/>
              </p:cNvSpPr>
              <p:nvPr/>
            </p:nvSpPr>
            <p:spPr bwMode="auto">
              <a:xfrm flipH="1">
                <a:off x="1776" y="2122"/>
                <a:ext cx="2400" cy="0"/>
              </a:xfrm>
              <a:prstGeom prst="line">
                <a:avLst/>
              </a:prstGeom>
              <a:noFill/>
              <a:ln w="38100" cmpd="sng">
                <a:solidFill>
                  <a:schemeClr val="tx1"/>
                </a:solidFill>
                <a:round/>
                <a:headEnd/>
                <a:tailEnd type="triangle" w="med" len="med"/>
              </a:ln>
              <a:effectLst/>
            </p:spPr>
            <p:txBody>
              <a:bodyPr/>
              <a:lstStyle/>
              <a:p>
                <a:endParaRPr lang="en-US"/>
              </a:p>
            </p:txBody>
          </p:sp>
          <p:sp>
            <p:nvSpPr>
              <p:cNvPr id="39" name="Text Box 11"/>
              <p:cNvSpPr txBox="1">
                <a:spLocks noChangeArrowheads="1"/>
              </p:cNvSpPr>
              <p:nvPr/>
            </p:nvSpPr>
            <p:spPr bwMode="auto">
              <a:xfrm>
                <a:off x="1968" y="1783"/>
                <a:ext cx="1980" cy="336"/>
              </a:xfrm>
              <a:prstGeom prst="rect">
                <a:avLst/>
              </a:prstGeom>
              <a:noFill/>
              <a:ln w="9525">
                <a:noFill/>
                <a:miter lim="800000"/>
                <a:headEnd/>
                <a:tailEnd/>
              </a:ln>
              <a:effectLst/>
            </p:spPr>
            <p:txBody>
              <a:bodyPr wrap="none">
                <a:spAutoFit/>
              </a:bodyPr>
              <a:lstStyle/>
              <a:p>
                <a:r>
                  <a:rPr lang="en-US" sz="2000" dirty="0"/>
                  <a:t>m</a:t>
                </a:r>
                <a:r>
                  <a:rPr lang="en-US" sz="2000" baseline="-25000" dirty="0"/>
                  <a:t>0</a:t>
                </a:r>
                <a:r>
                  <a:rPr lang="en-US" sz="2000" dirty="0"/>
                  <a:t> , m</a:t>
                </a:r>
                <a:r>
                  <a:rPr lang="en-US" sz="2000" baseline="-25000" dirty="0"/>
                  <a:t>1  </a:t>
                </a:r>
                <a:r>
                  <a:rPr lang="en-US" sz="2000" dirty="0">
                    <a:sym typeface="Symbol" pitchFamily="18" charset="2"/>
                  </a:rPr>
                  <a:t> M :    |m</a:t>
                </a:r>
                <a:r>
                  <a:rPr lang="en-US" sz="2000" baseline="-25000" dirty="0">
                    <a:sym typeface="Symbol" pitchFamily="18" charset="2"/>
                  </a:rPr>
                  <a:t>0</a:t>
                </a:r>
                <a:r>
                  <a:rPr lang="en-US" sz="2000" dirty="0">
                    <a:sym typeface="Symbol" pitchFamily="18" charset="2"/>
                  </a:rPr>
                  <a:t>| = |m</a:t>
                </a:r>
                <a:r>
                  <a:rPr lang="en-US" sz="2000" baseline="-25000" dirty="0">
                    <a:sym typeface="Symbol" pitchFamily="18" charset="2"/>
                  </a:rPr>
                  <a:t>1</a:t>
                </a:r>
                <a:r>
                  <a:rPr lang="en-US" sz="2000" dirty="0">
                    <a:sym typeface="Symbol" pitchFamily="18" charset="2"/>
                  </a:rPr>
                  <a:t>|</a:t>
                </a:r>
              </a:p>
            </p:txBody>
          </p:sp>
        </p:grpSp>
        <p:grpSp>
          <p:nvGrpSpPr>
            <p:cNvPr id="30" name="Group 20"/>
            <p:cNvGrpSpPr>
              <a:grpSpLocks/>
            </p:cNvGrpSpPr>
            <p:nvPr/>
          </p:nvGrpSpPr>
          <p:grpSpPr bwMode="auto">
            <a:xfrm>
              <a:off x="2667000" y="3333751"/>
              <a:ext cx="3733800" cy="522685"/>
              <a:chOff x="1776" y="2018"/>
              <a:chExt cx="2352" cy="439"/>
            </a:xfrm>
          </p:grpSpPr>
          <p:sp>
            <p:nvSpPr>
              <p:cNvPr id="36" name="Line 13"/>
              <p:cNvSpPr>
                <a:spLocks noChangeShapeType="1"/>
              </p:cNvSpPr>
              <p:nvPr/>
            </p:nvSpPr>
            <p:spPr bwMode="auto">
              <a:xfrm>
                <a:off x="1776" y="2454"/>
                <a:ext cx="2352" cy="0"/>
              </a:xfrm>
              <a:prstGeom prst="line">
                <a:avLst/>
              </a:prstGeom>
              <a:noFill/>
              <a:ln w="38100" cmpd="sng">
                <a:solidFill>
                  <a:schemeClr val="tx1"/>
                </a:solidFill>
                <a:round/>
                <a:headEnd/>
                <a:tailEnd type="triangle" w="med" len="med"/>
              </a:ln>
              <a:effectLst/>
            </p:spPr>
            <p:txBody>
              <a:bodyPr/>
              <a:lstStyle/>
              <a:p>
                <a:endParaRPr lang="en-US"/>
              </a:p>
            </p:txBody>
          </p:sp>
          <p:sp>
            <p:nvSpPr>
              <p:cNvPr id="37" name="Text Box 14"/>
              <p:cNvSpPr txBox="1">
                <a:spLocks noChangeArrowheads="1"/>
              </p:cNvSpPr>
              <p:nvPr/>
            </p:nvSpPr>
            <p:spPr bwMode="auto">
              <a:xfrm>
                <a:off x="2581" y="2018"/>
                <a:ext cx="971" cy="439"/>
              </a:xfrm>
              <a:prstGeom prst="rect">
                <a:avLst/>
              </a:prstGeom>
              <a:noFill/>
              <a:ln w="9525">
                <a:noFill/>
                <a:miter lim="800000"/>
                <a:headEnd/>
                <a:tailEnd/>
              </a:ln>
              <a:effectLst/>
            </p:spPr>
            <p:txBody>
              <a:bodyPr wrap="none">
                <a:spAutoFit/>
              </a:bodyPr>
              <a:lstStyle/>
              <a:p>
                <a:r>
                  <a:rPr lang="en-US" sz="2000" dirty="0"/>
                  <a:t>c </a:t>
                </a:r>
                <a:r>
                  <a:rPr lang="en-US" sz="2000" dirty="0">
                    <a:sym typeface="Symbol" pitchFamily="18" charset="2"/>
                  </a:rPr>
                  <a:t> E(</a:t>
                </a:r>
                <a:r>
                  <a:rPr lang="en-US" sz="2000" dirty="0"/>
                  <a:t>k</a:t>
                </a:r>
                <a:r>
                  <a:rPr lang="en-US" sz="2800" dirty="0"/>
                  <a:t>,</a:t>
                </a:r>
                <a:r>
                  <a:rPr lang="en-US" sz="2400" b="1" dirty="0"/>
                  <a:t>m</a:t>
                </a:r>
                <a:r>
                  <a:rPr lang="en-US" sz="3200" b="1" baseline="-25000" dirty="0">
                    <a:solidFill>
                      <a:srgbClr val="FF0000"/>
                    </a:solidFill>
                  </a:rPr>
                  <a:t>1</a:t>
                </a:r>
                <a:r>
                  <a:rPr lang="en-US" sz="2000" dirty="0"/>
                  <a:t>)</a:t>
                </a:r>
                <a:endParaRPr lang="en-US" sz="2800" dirty="0">
                  <a:solidFill>
                    <a:srgbClr val="FF0000"/>
                  </a:solidFill>
                </a:endParaRPr>
              </a:p>
            </p:txBody>
          </p:sp>
        </p:grpSp>
        <p:grpSp>
          <p:nvGrpSpPr>
            <p:cNvPr id="31" name="Group 22"/>
            <p:cNvGrpSpPr>
              <a:grpSpLocks/>
            </p:cNvGrpSpPr>
            <p:nvPr/>
          </p:nvGrpSpPr>
          <p:grpSpPr bwMode="auto">
            <a:xfrm>
              <a:off x="7772402" y="3486141"/>
              <a:ext cx="1392238" cy="461961"/>
              <a:chOff x="4320" y="3290"/>
              <a:chExt cx="877" cy="388"/>
            </a:xfrm>
          </p:grpSpPr>
          <p:sp>
            <p:nvSpPr>
              <p:cNvPr id="34" name="Line 16"/>
              <p:cNvSpPr>
                <a:spLocks noChangeShapeType="1"/>
              </p:cNvSpPr>
              <p:nvPr/>
            </p:nvSpPr>
            <p:spPr bwMode="auto">
              <a:xfrm flipV="1">
                <a:off x="4320" y="3674"/>
                <a:ext cx="720" cy="0"/>
              </a:xfrm>
              <a:prstGeom prst="line">
                <a:avLst/>
              </a:prstGeom>
              <a:noFill/>
              <a:ln w="9525">
                <a:solidFill>
                  <a:schemeClr val="tx1"/>
                </a:solidFill>
                <a:round/>
                <a:headEnd/>
                <a:tailEnd type="triangle" w="med" len="med"/>
              </a:ln>
              <a:effectLst/>
            </p:spPr>
            <p:txBody>
              <a:bodyPr/>
              <a:lstStyle/>
              <a:p>
                <a:endParaRPr lang="en-US"/>
              </a:p>
            </p:txBody>
          </p:sp>
          <p:sp>
            <p:nvSpPr>
              <p:cNvPr id="35" name="Text Box 17"/>
              <p:cNvSpPr txBox="1">
                <a:spLocks noChangeArrowheads="1"/>
              </p:cNvSpPr>
              <p:nvPr/>
            </p:nvSpPr>
            <p:spPr bwMode="auto">
              <a:xfrm>
                <a:off x="4340" y="3290"/>
                <a:ext cx="857" cy="388"/>
              </a:xfrm>
              <a:prstGeom prst="rect">
                <a:avLst/>
              </a:prstGeom>
              <a:noFill/>
              <a:ln w="9525">
                <a:noFill/>
                <a:miter lim="800000"/>
                <a:headEnd/>
                <a:tailEnd/>
              </a:ln>
              <a:effectLst/>
            </p:spPr>
            <p:txBody>
              <a:bodyPr wrap="none">
                <a:spAutoFit/>
              </a:bodyPr>
              <a:lstStyle/>
              <a:p>
                <a:r>
                  <a:rPr lang="en-US" sz="2400" dirty="0"/>
                  <a:t>b’ </a:t>
                </a:r>
                <a:r>
                  <a:rPr lang="en-US" sz="2400" dirty="0">
                    <a:sym typeface="Symbol" pitchFamily="18" charset="2"/>
                  </a:rPr>
                  <a:t> {0,1}</a:t>
                </a:r>
                <a:endParaRPr lang="en-US" sz="2400" dirty="0"/>
              </a:p>
            </p:txBody>
          </p:sp>
        </p:grpSp>
        <p:sp>
          <p:nvSpPr>
            <p:cNvPr id="32" name="Rectangle 18"/>
            <p:cNvSpPr>
              <a:spLocks noChangeArrowheads="1"/>
            </p:cNvSpPr>
            <p:nvPr/>
          </p:nvSpPr>
          <p:spPr bwMode="auto">
            <a:xfrm>
              <a:off x="1066800" y="2876550"/>
              <a:ext cx="7391400" cy="1295400"/>
            </a:xfrm>
            <a:prstGeom prst="rect">
              <a:avLst/>
            </a:prstGeom>
            <a:noFill/>
            <a:ln w="38100">
              <a:solidFill>
                <a:srgbClr val="A6A6A6"/>
              </a:solidFill>
              <a:miter lim="800000"/>
              <a:headEnd/>
              <a:tailEnd/>
            </a:ln>
            <a:effectLst/>
          </p:spPr>
          <p:txBody>
            <a:bodyPr wrap="none" anchor="ctr"/>
            <a:lstStyle/>
            <a:p>
              <a:endParaRPr lang="en-US"/>
            </a:p>
          </p:txBody>
        </p:sp>
        <p:sp>
          <p:nvSpPr>
            <p:cNvPr id="33" name="TextBox 32"/>
            <p:cNvSpPr txBox="1"/>
            <p:nvPr/>
          </p:nvSpPr>
          <p:spPr>
            <a:xfrm>
              <a:off x="197181" y="3181350"/>
              <a:ext cx="856325" cy="369332"/>
            </a:xfrm>
            <a:prstGeom prst="rect">
              <a:avLst/>
            </a:prstGeom>
            <a:noFill/>
          </p:spPr>
          <p:txBody>
            <a:bodyPr wrap="none" rtlCol="0">
              <a:spAutoFit/>
            </a:bodyPr>
            <a:lstStyle/>
            <a:p>
              <a:r>
                <a:rPr lang="en-US" dirty="0"/>
                <a:t>EXP(1):</a:t>
              </a:r>
            </a:p>
          </p:txBody>
        </p:sp>
      </p:grpSp>
      <p:sp>
        <p:nvSpPr>
          <p:cNvPr id="40" name="TextBox 39"/>
          <p:cNvSpPr txBox="1"/>
          <p:nvPr/>
        </p:nvSpPr>
        <p:spPr>
          <a:xfrm>
            <a:off x="2140812" y="3200401"/>
            <a:ext cx="5105885" cy="369332"/>
          </a:xfrm>
          <a:prstGeom prst="rect">
            <a:avLst/>
          </a:prstGeom>
          <a:noFill/>
        </p:spPr>
        <p:txBody>
          <a:bodyPr wrap="none" rtlCol="0">
            <a:spAutoFit/>
          </a:bodyPr>
          <a:lstStyle/>
          <a:p>
            <a:r>
              <a:rPr lang="en-US" dirty="0"/>
              <a:t>one time key  ⇒   adversary sees only one </a:t>
            </a:r>
            <a:r>
              <a:rPr lang="en-US" dirty="0" err="1"/>
              <a:t>ciphertext</a:t>
            </a:r>
            <a:endParaRPr lang="en-US" dirty="0"/>
          </a:p>
        </p:txBody>
      </p:sp>
    </p:spTree>
    <p:extLst>
      <p:ext uri="{BB962C8B-B14F-4D97-AF65-F5344CB8AC3E}">
        <p14:creationId xmlns:p14="http://schemas.microsoft.com/office/powerpoint/2010/main" val="194256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b="1" dirty="0"/>
              <a:t>ECB is not Semantically Secure</a:t>
            </a:r>
          </a:p>
        </p:txBody>
      </p:sp>
      <p:sp>
        <p:nvSpPr>
          <p:cNvPr id="31747" name="Rectangle 3"/>
          <p:cNvSpPr>
            <a:spLocks noGrp="1" noChangeArrowheads="1"/>
          </p:cNvSpPr>
          <p:nvPr>
            <p:ph sz="quarter" idx="13"/>
          </p:nvPr>
        </p:nvSpPr>
        <p:spPr/>
        <p:txBody>
          <a:bodyPr>
            <a:normAutofit/>
          </a:bodyPr>
          <a:lstStyle/>
          <a:p>
            <a:pPr marL="0" indent="0">
              <a:buNone/>
            </a:pPr>
            <a:r>
              <a:rPr lang="en-US" dirty="0"/>
              <a:t>ECB </a:t>
            </a:r>
            <a:r>
              <a:rPr lang="en-US" dirty="0" err="1"/>
              <a:t>là</a:t>
            </a:r>
            <a:r>
              <a:rPr lang="en-US" dirty="0"/>
              <a:t> </a:t>
            </a:r>
            <a:r>
              <a:rPr lang="en-US" dirty="0" err="1"/>
              <a:t>không</a:t>
            </a:r>
            <a:r>
              <a:rPr lang="en-US" dirty="0"/>
              <a:t> </a:t>
            </a:r>
            <a:r>
              <a:rPr lang="en-US" dirty="0" err="1"/>
              <a:t>bảo</a:t>
            </a:r>
            <a:r>
              <a:rPr lang="en-US" dirty="0"/>
              <a:t> </a:t>
            </a:r>
            <a:r>
              <a:rPr lang="en-US" dirty="0" err="1"/>
              <a:t>mật</a:t>
            </a:r>
            <a:r>
              <a:rPr lang="en-US" dirty="0"/>
              <a:t> </a:t>
            </a:r>
            <a:r>
              <a:rPr lang="en-US" dirty="0" err="1"/>
              <a:t>ngữ</a:t>
            </a:r>
            <a:r>
              <a:rPr lang="en-US" dirty="0"/>
              <a:t> </a:t>
            </a:r>
            <a:r>
              <a:rPr lang="en-US" dirty="0" err="1"/>
              <a:t>nghĩa</a:t>
            </a:r>
            <a:r>
              <a:rPr lang="en-US" dirty="0"/>
              <a:t> </a:t>
            </a:r>
            <a:r>
              <a:rPr lang="en-US" dirty="0" err="1"/>
              <a:t>đối</a:t>
            </a:r>
            <a:r>
              <a:rPr lang="en-US" dirty="0"/>
              <a:t> </a:t>
            </a:r>
            <a:r>
              <a:rPr lang="en-US" dirty="0" err="1"/>
              <a:t>với</a:t>
            </a:r>
            <a:r>
              <a:rPr lang="en-US" dirty="0"/>
              <a:t> </a:t>
            </a:r>
            <a:r>
              <a:rPr lang="en-US" dirty="0" err="1"/>
              <a:t>những</a:t>
            </a:r>
            <a:r>
              <a:rPr lang="en-US" dirty="0"/>
              <a:t> </a:t>
            </a:r>
            <a:r>
              <a:rPr lang="en-US" dirty="0" err="1"/>
              <a:t>thông</a:t>
            </a:r>
            <a:r>
              <a:rPr lang="en-US" dirty="0"/>
              <a:t> </a:t>
            </a:r>
            <a:r>
              <a:rPr lang="en-US" dirty="0" err="1"/>
              <a:t>điệp</a:t>
            </a:r>
            <a:r>
              <a:rPr lang="en-US" dirty="0"/>
              <a:t> </a:t>
            </a:r>
            <a:r>
              <a:rPr lang="en-US" dirty="0" err="1"/>
              <a:t>chứa</a:t>
            </a:r>
            <a:r>
              <a:rPr lang="en-US" dirty="0"/>
              <a:t> </a:t>
            </a:r>
            <a:r>
              <a:rPr lang="en-US" dirty="0" err="1"/>
              <a:t>nhiều</a:t>
            </a:r>
            <a:r>
              <a:rPr lang="en-US" dirty="0"/>
              <a:t> </a:t>
            </a:r>
            <a:r>
              <a:rPr lang="en-US" dirty="0" err="1"/>
              <a:t>hơn</a:t>
            </a:r>
            <a:r>
              <a:rPr lang="en-US" dirty="0"/>
              <a:t> 1 </a:t>
            </a:r>
            <a:r>
              <a:rPr lang="en-US" dirty="0" err="1"/>
              <a:t>khối</a:t>
            </a:r>
            <a:r>
              <a:rPr lang="en-US" dirty="0"/>
              <a:t>.</a:t>
            </a:r>
          </a:p>
        </p:txBody>
      </p:sp>
      <p:grpSp>
        <p:nvGrpSpPr>
          <p:cNvPr id="31766" name="Group 22"/>
          <p:cNvGrpSpPr>
            <a:grpSpLocks/>
          </p:cNvGrpSpPr>
          <p:nvPr/>
        </p:nvGrpSpPr>
        <p:grpSpPr bwMode="auto">
          <a:xfrm>
            <a:off x="4013200" y="3212314"/>
            <a:ext cx="2209800" cy="369095"/>
            <a:chOff x="1968" y="3054"/>
            <a:chExt cx="1488" cy="310"/>
          </a:xfrm>
        </p:grpSpPr>
        <p:sp>
          <p:nvSpPr>
            <p:cNvPr id="31748" name="AutoShape 4"/>
            <p:cNvSpPr>
              <a:spLocks/>
            </p:cNvSpPr>
            <p:nvPr/>
          </p:nvSpPr>
          <p:spPr bwMode="auto">
            <a:xfrm rot="5400000" flipV="1">
              <a:off x="2688" y="2592"/>
              <a:ext cx="48" cy="1488"/>
            </a:xfrm>
            <a:prstGeom prst="leftBracket">
              <a:avLst>
                <a:gd name="adj" fmla="val 258333"/>
              </a:avLst>
            </a:prstGeom>
            <a:noFill/>
            <a:ln w="9525">
              <a:solidFill>
                <a:schemeClr val="tx1"/>
              </a:solidFill>
              <a:round/>
              <a:headEnd/>
              <a:tailEnd/>
            </a:ln>
            <a:effectLst/>
          </p:spPr>
          <p:txBody>
            <a:bodyPr wrap="none" anchor="ctr"/>
            <a:lstStyle/>
            <a:p>
              <a:endParaRPr lang="en-US"/>
            </a:p>
          </p:txBody>
        </p:sp>
        <p:sp>
          <p:nvSpPr>
            <p:cNvPr id="31749" name="Text Box 5"/>
            <p:cNvSpPr txBox="1">
              <a:spLocks noChangeArrowheads="1"/>
            </p:cNvSpPr>
            <p:nvPr/>
          </p:nvSpPr>
          <p:spPr bwMode="auto">
            <a:xfrm>
              <a:off x="2256" y="3054"/>
              <a:ext cx="816" cy="310"/>
            </a:xfrm>
            <a:prstGeom prst="rect">
              <a:avLst/>
            </a:prstGeom>
            <a:noFill/>
            <a:ln w="9525">
              <a:noFill/>
              <a:miter lim="800000"/>
              <a:headEnd/>
              <a:tailEnd/>
            </a:ln>
            <a:effectLst/>
          </p:spPr>
          <p:txBody>
            <a:bodyPr wrap="none">
              <a:spAutoFit/>
            </a:bodyPr>
            <a:lstStyle/>
            <a:p>
              <a:r>
                <a:rPr lang="en-US" dirty="0"/>
                <a:t>Two blocks</a:t>
              </a:r>
            </a:p>
          </p:txBody>
        </p:sp>
      </p:grpSp>
      <p:sp>
        <p:nvSpPr>
          <p:cNvPr id="31750" name="Rectangle 6"/>
          <p:cNvSpPr>
            <a:spLocks noChangeArrowheads="1"/>
          </p:cNvSpPr>
          <p:nvPr/>
        </p:nvSpPr>
        <p:spPr bwMode="auto">
          <a:xfrm>
            <a:off x="1295400" y="3580606"/>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31751" name="Line 7"/>
          <p:cNvSpPr>
            <a:spLocks noChangeShapeType="1"/>
          </p:cNvSpPr>
          <p:nvPr/>
        </p:nvSpPr>
        <p:spPr bwMode="auto">
          <a:xfrm>
            <a:off x="1905000" y="3066256"/>
            <a:ext cx="0" cy="514350"/>
          </a:xfrm>
          <a:prstGeom prst="line">
            <a:avLst/>
          </a:prstGeom>
          <a:noFill/>
          <a:ln w="9525">
            <a:solidFill>
              <a:schemeClr val="tx1"/>
            </a:solidFill>
            <a:round/>
            <a:headEnd/>
            <a:tailEnd type="triangle" w="med" len="med"/>
          </a:ln>
          <a:effectLst/>
        </p:spPr>
        <p:txBody>
          <a:bodyPr/>
          <a:lstStyle/>
          <a:p>
            <a:endParaRPr lang="en-US"/>
          </a:p>
        </p:txBody>
      </p:sp>
      <p:sp>
        <p:nvSpPr>
          <p:cNvPr id="31752" name="Text Box 8"/>
          <p:cNvSpPr txBox="1">
            <a:spLocks noChangeArrowheads="1"/>
          </p:cNvSpPr>
          <p:nvPr/>
        </p:nvSpPr>
        <p:spPr bwMode="auto">
          <a:xfrm>
            <a:off x="1876425" y="2730501"/>
            <a:ext cx="1050288" cy="461665"/>
          </a:xfrm>
          <a:prstGeom prst="rect">
            <a:avLst/>
          </a:prstGeom>
          <a:noFill/>
          <a:ln w="9525">
            <a:noFill/>
            <a:miter lim="800000"/>
            <a:headEnd/>
            <a:tailEnd/>
          </a:ln>
          <a:effectLst/>
        </p:spPr>
        <p:txBody>
          <a:bodyPr wrap="none">
            <a:spAutoFit/>
          </a:bodyPr>
          <a:lstStyle/>
          <a:p>
            <a:r>
              <a:rPr lang="en-US" sz="2400" dirty="0"/>
              <a:t>b</a:t>
            </a:r>
            <a:r>
              <a:rPr lang="en-US" sz="2400" dirty="0">
                <a:sym typeface="Symbol" pitchFamily="18" charset="2"/>
              </a:rPr>
              <a:t></a:t>
            </a:r>
            <a:r>
              <a:rPr lang="en-US" sz="2000" dirty="0">
                <a:sym typeface="Symbol" pitchFamily="18" charset="2"/>
              </a:rPr>
              <a:t>{0,1}</a:t>
            </a:r>
          </a:p>
        </p:txBody>
      </p:sp>
      <p:sp>
        <p:nvSpPr>
          <p:cNvPr id="31753" name="Rectangle 9"/>
          <p:cNvSpPr>
            <a:spLocks noChangeArrowheads="1"/>
          </p:cNvSpPr>
          <p:nvPr/>
        </p:nvSpPr>
        <p:spPr bwMode="auto">
          <a:xfrm>
            <a:off x="6477000" y="3580606"/>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a:t>Adv.  A</a:t>
            </a:r>
          </a:p>
        </p:txBody>
      </p:sp>
      <p:sp>
        <p:nvSpPr>
          <p:cNvPr id="31754" name="Text Box 10"/>
          <p:cNvSpPr txBox="1">
            <a:spLocks noChangeArrowheads="1"/>
          </p:cNvSpPr>
          <p:nvPr/>
        </p:nvSpPr>
        <p:spPr bwMode="auto">
          <a:xfrm>
            <a:off x="1600202" y="3934223"/>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31755" name="Group 11"/>
          <p:cNvGrpSpPr>
            <a:grpSpLocks/>
          </p:cNvGrpSpPr>
          <p:nvPr/>
        </p:nvGrpSpPr>
        <p:grpSpPr bwMode="auto">
          <a:xfrm>
            <a:off x="2667000" y="3961610"/>
            <a:ext cx="3810000" cy="369096"/>
            <a:chOff x="1776" y="1892"/>
            <a:chExt cx="2400" cy="310"/>
          </a:xfrm>
        </p:grpSpPr>
        <p:sp>
          <p:nvSpPr>
            <p:cNvPr id="31756" name="Line 12"/>
            <p:cNvSpPr>
              <a:spLocks noChangeShapeType="1"/>
            </p:cNvSpPr>
            <p:nvPr/>
          </p:nvSpPr>
          <p:spPr bwMode="auto">
            <a:xfrm flipH="1">
              <a:off x="1776" y="2122"/>
              <a:ext cx="2400" cy="0"/>
            </a:xfrm>
            <a:prstGeom prst="line">
              <a:avLst/>
            </a:prstGeom>
            <a:noFill/>
            <a:ln w="9525">
              <a:solidFill>
                <a:schemeClr val="tx1"/>
              </a:solidFill>
              <a:round/>
              <a:headEnd/>
              <a:tailEnd type="triangle" w="med" len="med"/>
            </a:ln>
            <a:effectLst/>
          </p:spPr>
          <p:txBody>
            <a:bodyPr/>
            <a:lstStyle/>
            <a:p>
              <a:endParaRPr lang="en-US"/>
            </a:p>
          </p:txBody>
        </p:sp>
        <p:sp>
          <p:nvSpPr>
            <p:cNvPr id="31757" name="Text Box 13"/>
            <p:cNvSpPr txBox="1">
              <a:spLocks noChangeArrowheads="1"/>
            </p:cNvSpPr>
            <p:nvPr/>
          </p:nvSpPr>
          <p:spPr bwMode="auto">
            <a:xfrm>
              <a:off x="2016" y="1892"/>
              <a:ext cx="116" cy="310"/>
            </a:xfrm>
            <a:prstGeom prst="rect">
              <a:avLst/>
            </a:prstGeom>
            <a:noFill/>
            <a:ln w="9525">
              <a:noFill/>
              <a:miter lim="800000"/>
              <a:headEnd/>
              <a:tailEnd/>
            </a:ln>
            <a:effectLst/>
          </p:spPr>
          <p:txBody>
            <a:bodyPr wrap="none">
              <a:spAutoFit/>
            </a:bodyPr>
            <a:lstStyle/>
            <a:p>
              <a:endParaRPr lang="en-US">
                <a:sym typeface="Symbol" pitchFamily="18" charset="2"/>
              </a:endParaRPr>
            </a:p>
          </p:txBody>
        </p:sp>
      </p:grpSp>
      <p:sp>
        <p:nvSpPr>
          <p:cNvPr id="31759" name="Line 15"/>
          <p:cNvSpPr>
            <a:spLocks noChangeShapeType="1"/>
          </p:cNvSpPr>
          <p:nvPr/>
        </p:nvSpPr>
        <p:spPr bwMode="auto">
          <a:xfrm>
            <a:off x="2667000" y="4777185"/>
            <a:ext cx="3733800" cy="0"/>
          </a:xfrm>
          <a:prstGeom prst="line">
            <a:avLst/>
          </a:prstGeom>
          <a:noFill/>
          <a:ln w="9525">
            <a:solidFill>
              <a:schemeClr val="tx1"/>
            </a:solidFill>
            <a:round/>
            <a:headEnd/>
            <a:tailEnd type="triangle" w="med" len="med"/>
          </a:ln>
          <a:effectLst/>
        </p:spPr>
        <p:txBody>
          <a:bodyPr/>
          <a:lstStyle/>
          <a:p>
            <a:endParaRPr lang="en-US"/>
          </a:p>
        </p:txBody>
      </p:sp>
      <p:sp>
        <p:nvSpPr>
          <p:cNvPr id="31760" name="Text Box 16"/>
          <p:cNvSpPr txBox="1">
            <a:spLocks noChangeArrowheads="1"/>
          </p:cNvSpPr>
          <p:nvPr/>
        </p:nvSpPr>
        <p:spPr bwMode="auto">
          <a:xfrm>
            <a:off x="3352801" y="4330701"/>
            <a:ext cx="2047355" cy="461665"/>
          </a:xfrm>
          <a:prstGeom prst="rect">
            <a:avLst/>
          </a:prstGeom>
          <a:noFill/>
          <a:ln w="9525">
            <a:noFill/>
            <a:miter lim="800000"/>
            <a:headEnd/>
            <a:tailEnd/>
          </a:ln>
          <a:effectLst/>
        </p:spPr>
        <p:txBody>
          <a:bodyPr wrap="none">
            <a:spAutoFit/>
          </a:bodyPr>
          <a:lstStyle/>
          <a:p>
            <a:r>
              <a:rPr lang="en-US" sz="2000" dirty="0"/>
              <a:t>(c</a:t>
            </a:r>
            <a:r>
              <a:rPr lang="en-US" sz="2000" baseline="-25000" dirty="0"/>
              <a:t>1</a:t>
            </a:r>
            <a:r>
              <a:rPr lang="en-US" sz="2000" dirty="0"/>
              <a:t>,c</a:t>
            </a:r>
            <a:r>
              <a:rPr lang="en-US" sz="2000" baseline="-25000" dirty="0"/>
              <a:t>2</a:t>
            </a:r>
            <a:r>
              <a:rPr lang="en-US" sz="2000" dirty="0"/>
              <a:t>) </a:t>
            </a:r>
            <a:r>
              <a:rPr lang="en-US" sz="2000" dirty="0">
                <a:sym typeface="Symbol" pitchFamily="18" charset="2"/>
              </a:rPr>
              <a:t> </a:t>
            </a:r>
            <a:r>
              <a:rPr lang="en-US" sz="2000" dirty="0"/>
              <a:t>E(k, </a:t>
            </a:r>
            <a:r>
              <a:rPr lang="en-US" sz="2400" b="1" dirty="0" err="1"/>
              <a:t>m</a:t>
            </a:r>
            <a:r>
              <a:rPr lang="en-US" sz="2400" b="1" baseline="-25000" dirty="0" err="1"/>
              <a:t>b</a:t>
            </a:r>
            <a:r>
              <a:rPr lang="en-US" sz="2000" dirty="0"/>
              <a:t>)</a:t>
            </a:r>
          </a:p>
        </p:txBody>
      </p:sp>
      <p:sp>
        <p:nvSpPr>
          <p:cNvPr id="31762" name="Line 18"/>
          <p:cNvSpPr>
            <a:spLocks noChangeShapeType="1"/>
          </p:cNvSpPr>
          <p:nvPr/>
        </p:nvSpPr>
        <p:spPr bwMode="auto">
          <a:xfrm>
            <a:off x="7086600" y="5009356"/>
            <a:ext cx="0" cy="400050"/>
          </a:xfrm>
          <a:prstGeom prst="line">
            <a:avLst/>
          </a:prstGeom>
          <a:noFill/>
          <a:ln w="9525">
            <a:solidFill>
              <a:schemeClr val="tx1"/>
            </a:solidFill>
            <a:round/>
            <a:headEnd/>
            <a:tailEnd type="triangle" w="med" len="med"/>
          </a:ln>
          <a:effectLst/>
        </p:spPr>
        <p:txBody>
          <a:bodyPr/>
          <a:lstStyle/>
          <a:p>
            <a:endParaRPr lang="en-US"/>
          </a:p>
        </p:txBody>
      </p:sp>
      <p:sp>
        <p:nvSpPr>
          <p:cNvPr id="31764" name="Rectangle 20"/>
          <p:cNvSpPr>
            <a:spLocks noChangeArrowheads="1"/>
          </p:cNvSpPr>
          <p:nvPr/>
        </p:nvSpPr>
        <p:spPr bwMode="auto">
          <a:xfrm>
            <a:off x="609600" y="3187701"/>
            <a:ext cx="7924800" cy="1993106"/>
          </a:xfrm>
          <a:prstGeom prst="rect">
            <a:avLst/>
          </a:prstGeom>
          <a:noFill/>
          <a:ln w="38100">
            <a:solidFill>
              <a:schemeClr val="folHlink"/>
            </a:solidFill>
            <a:miter lim="800000"/>
            <a:headEnd/>
            <a:tailEnd/>
          </a:ln>
          <a:effectLst/>
        </p:spPr>
        <p:txBody>
          <a:bodyPr wrap="none" anchor="ctr"/>
          <a:lstStyle/>
          <a:p>
            <a:endParaRPr lang="en-US"/>
          </a:p>
        </p:txBody>
      </p:sp>
      <p:sp>
        <p:nvSpPr>
          <p:cNvPr id="31765" name="Text Box 21"/>
          <p:cNvSpPr txBox="1">
            <a:spLocks noChangeArrowheads="1"/>
          </p:cNvSpPr>
          <p:nvPr/>
        </p:nvSpPr>
        <p:spPr bwMode="auto">
          <a:xfrm>
            <a:off x="2743200" y="3423504"/>
            <a:ext cx="3600666" cy="830997"/>
          </a:xfrm>
          <a:prstGeom prst="rect">
            <a:avLst/>
          </a:prstGeom>
          <a:noFill/>
          <a:ln w="9525">
            <a:noFill/>
            <a:miter lim="800000"/>
            <a:headEnd/>
            <a:tailEnd/>
          </a:ln>
          <a:effectLst/>
        </p:spPr>
        <p:txBody>
          <a:bodyPr wrap="none">
            <a:spAutoFit/>
          </a:bodyPr>
          <a:lstStyle/>
          <a:p>
            <a:pPr lvl="1"/>
            <a:r>
              <a:rPr lang="en-US" sz="2400" dirty="0">
                <a:latin typeface="Courier New" pitchFamily="49" charset="0"/>
              </a:rPr>
              <a:t>m</a:t>
            </a:r>
            <a:r>
              <a:rPr lang="en-US" sz="2400" baseline="-25000" dirty="0">
                <a:latin typeface="Courier New" pitchFamily="49" charset="0"/>
              </a:rPr>
              <a:t>0</a:t>
            </a:r>
            <a:r>
              <a:rPr lang="en-US" sz="2000" dirty="0">
                <a:latin typeface="Courier New" pitchFamily="49" charset="0"/>
              </a:rPr>
              <a:t> = “Hello  World”</a:t>
            </a:r>
          </a:p>
          <a:p>
            <a:pPr lvl="1"/>
            <a:r>
              <a:rPr lang="en-US" sz="2400" dirty="0">
                <a:latin typeface="Courier New" pitchFamily="49" charset="0"/>
              </a:rPr>
              <a:t>m</a:t>
            </a:r>
            <a:r>
              <a:rPr lang="en-US" sz="2400" baseline="-25000" dirty="0">
                <a:latin typeface="Courier New" pitchFamily="49" charset="0"/>
              </a:rPr>
              <a:t>1</a:t>
            </a:r>
            <a:r>
              <a:rPr lang="en-US" sz="2400" dirty="0">
                <a:latin typeface="Courier New" pitchFamily="49" charset="0"/>
              </a:rPr>
              <a:t> </a:t>
            </a:r>
            <a:r>
              <a:rPr lang="en-US" sz="2000" dirty="0">
                <a:latin typeface="Courier New" pitchFamily="49" charset="0"/>
              </a:rPr>
              <a:t>= “Hello  Hello”</a:t>
            </a:r>
          </a:p>
        </p:txBody>
      </p:sp>
      <p:sp>
        <p:nvSpPr>
          <p:cNvPr id="31767" name="Text Box 23"/>
          <p:cNvSpPr txBox="1">
            <a:spLocks noChangeArrowheads="1"/>
          </p:cNvSpPr>
          <p:nvPr/>
        </p:nvSpPr>
        <p:spPr bwMode="auto">
          <a:xfrm>
            <a:off x="4985307" y="5391090"/>
            <a:ext cx="3518912" cy="400110"/>
          </a:xfrm>
          <a:prstGeom prst="rect">
            <a:avLst/>
          </a:prstGeom>
          <a:noFill/>
          <a:ln w="9525">
            <a:solidFill>
              <a:schemeClr val="tx1"/>
            </a:solidFill>
            <a:miter lim="800000"/>
            <a:headEnd/>
            <a:tailEnd/>
          </a:ln>
          <a:effectLst/>
        </p:spPr>
        <p:txBody>
          <a:bodyPr wrap="none">
            <a:spAutoFit/>
          </a:bodyPr>
          <a:lstStyle/>
          <a:p>
            <a:r>
              <a:rPr lang="en-US" sz="2000" b="1" dirty="0"/>
              <a:t>If  c</a:t>
            </a:r>
            <a:r>
              <a:rPr lang="en-US" sz="2000" b="1" baseline="-25000" dirty="0"/>
              <a:t>1</a:t>
            </a:r>
            <a:r>
              <a:rPr lang="en-US" sz="2000" b="1" dirty="0"/>
              <a:t>=c</a:t>
            </a:r>
            <a:r>
              <a:rPr lang="en-US" sz="2000" b="1" baseline="-25000" dirty="0"/>
              <a:t>2</a:t>
            </a:r>
            <a:r>
              <a:rPr lang="en-US" sz="2000" b="1" dirty="0"/>
              <a:t> output 0,  else output 1</a:t>
            </a:r>
          </a:p>
        </p:txBody>
      </p:sp>
      <p:sp>
        <p:nvSpPr>
          <p:cNvPr id="31768" name="Text Box 24"/>
          <p:cNvSpPr txBox="1">
            <a:spLocks noChangeArrowheads="1"/>
          </p:cNvSpPr>
          <p:nvPr/>
        </p:nvSpPr>
        <p:spPr bwMode="auto">
          <a:xfrm>
            <a:off x="550864" y="5543551"/>
            <a:ext cx="3196965" cy="461665"/>
          </a:xfrm>
          <a:prstGeom prst="rect">
            <a:avLst/>
          </a:prstGeom>
          <a:noFill/>
          <a:ln w="9525">
            <a:noFill/>
            <a:miter lim="800000"/>
            <a:headEnd/>
            <a:tailEnd/>
          </a:ln>
          <a:effectLst/>
        </p:spPr>
        <p:txBody>
          <a:bodyPr wrap="none">
            <a:spAutoFit/>
          </a:bodyPr>
          <a:lstStyle/>
          <a:p>
            <a:r>
              <a:rPr lang="en-US" sz="2400" dirty="0"/>
              <a:t>Then  </a:t>
            </a:r>
            <a:r>
              <a:rPr lang="en-US" sz="2400" dirty="0" err="1">
                <a:solidFill>
                  <a:srgbClr val="0000FF"/>
                </a:solidFill>
              </a:rPr>
              <a:t>Adv</a:t>
            </a:r>
            <a:r>
              <a:rPr lang="en-US" sz="2400" baseline="-25000" dirty="0" err="1">
                <a:solidFill>
                  <a:srgbClr val="0000FF"/>
                </a:solidFill>
              </a:rPr>
              <a:t>SS</a:t>
            </a:r>
            <a:r>
              <a:rPr lang="en-US" sz="2400" dirty="0">
                <a:solidFill>
                  <a:srgbClr val="0000FF"/>
                </a:solidFill>
              </a:rPr>
              <a:t> [A, ECB] = 1 </a:t>
            </a:r>
          </a:p>
        </p:txBody>
      </p:sp>
      <p:sp>
        <p:nvSpPr>
          <p:cNvPr id="2" name="Rectangle 1"/>
          <p:cNvSpPr/>
          <p:nvPr/>
        </p:nvSpPr>
        <p:spPr>
          <a:xfrm>
            <a:off x="3349172" y="5454651"/>
            <a:ext cx="609600" cy="5143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599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7" grpId="0" animBg="1"/>
      <p:bldP spid="31768" grpId="0"/>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1" y="1295400"/>
            <a:ext cx="2575560" cy="2971800"/>
          </a:xfrm>
          <a:prstGeom prst="rect">
            <a:avLst/>
          </a:prstGeom>
        </p:spPr>
      </p:pic>
      <p:sp>
        <p:nvSpPr>
          <p:cNvPr id="5" name="Title 1"/>
          <p:cNvSpPr txBox="1">
            <a:spLocks/>
          </p:cNvSpPr>
          <p:nvPr/>
        </p:nvSpPr>
        <p:spPr>
          <a:xfrm>
            <a:off x="3366653" y="3059952"/>
            <a:ext cx="5624946" cy="78483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err="1">
                <a:solidFill>
                  <a:schemeClr val="tx1">
                    <a:lumMod val="75000"/>
                    <a:lumOff val="25000"/>
                  </a:schemeClr>
                </a:solidFill>
              </a:rPr>
              <a:t>Bảo</a:t>
            </a:r>
            <a:r>
              <a:rPr lang="en-US" sz="3200" b="1" dirty="0">
                <a:solidFill>
                  <a:schemeClr val="tx1">
                    <a:lumMod val="75000"/>
                    <a:lumOff val="25000"/>
                  </a:schemeClr>
                </a:solidFill>
              </a:rPr>
              <a:t> </a:t>
            </a:r>
            <a:r>
              <a:rPr lang="en-US" sz="3200" b="1" dirty="0" err="1">
                <a:solidFill>
                  <a:schemeClr val="tx1">
                    <a:lumMod val="75000"/>
                    <a:lumOff val="25000"/>
                  </a:schemeClr>
                </a:solidFill>
              </a:rPr>
              <a:t>mật</a:t>
            </a:r>
            <a:r>
              <a:rPr lang="en-US" sz="3200" b="1" dirty="0">
                <a:solidFill>
                  <a:schemeClr val="tx1">
                    <a:lumMod val="75000"/>
                    <a:lumOff val="25000"/>
                  </a:schemeClr>
                </a:solidFill>
              </a:rPr>
              <a:t> </a:t>
            </a:r>
            <a:r>
              <a:rPr lang="en-US" sz="3200" b="1" dirty="0" err="1">
                <a:solidFill>
                  <a:schemeClr val="tx1">
                    <a:lumMod val="75000"/>
                    <a:lumOff val="25000"/>
                  </a:schemeClr>
                </a:solidFill>
              </a:rPr>
              <a:t>với</a:t>
            </a:r>
            <a:r>
              <a:rPr lang="en-US" sz="3200" b="1" dirty="0">
                <a:solidFill>
                  <a:schemeClr val="tx1">
                    <a:lumMod val="75000"/>
                    <a:lumOff val="25000"/>
                  </a:schemeClr>
                </a:solidFill>
              </a:rPr>
              <a:t> </a:t>
            </a:r>
            <a:r>
              <a:rPr lang="en-US" sz="3200" b="1" dirty="0" err="1">
                <a:solidFill>
                  <a:schemeClr val="tx1">
                    <a:lumMod val="75000"/>
                    <a:lumOff val="25000"/>
                  </a:schemeClr>
                </a:solidFill>
              </a:rPr>
              <a:t>khoá</a:t>
            </a:r>
            <a:r>
              <a:rPr lang="en-US" sz="3200" b="1" dirty="0">
                <a:solidFill>
                  <a:schemeClr val="tx1">
                    <a:lumMod val="75000"/>
                    <a:lumOff val="25000"/>
                  </a:schemeClr>
                </a:solidFill>
              </a:rPr>
              <a:t> </a:t>
            </a:r>
            <a:r>
              <a:rPr lang="en-US" sz="3200" b="1" dirty="0" err="1">
                <a:solidFill>
                  <a:schemeClr val="tx1">
                    <a:lumMod val="75000"/>
                    <a:lumOff val="25000"/>
                  </a:schemeClr>
                </a:solidFill>
              </a:rPr>
              <a:t>dùng</a:t>
            </a:r>
            <a:r>
              <a:rPr lang="en-US" sz="3200" b="1" dirty="0">
                <a:solidFill>
                  <a:schemeClr val="tx1">
                    <a:lumMod val="75000"/>
                    <a:lumOff val="25000"/>
                  </a:schemeClr>
                </a:solidFill>
              </a:rPr>
              <a:t> </a:t>
            </a:r>
            <a:r>
              <a:rPr lang="en-US" sz="3200" b="1" dirty="0" err="1">
                <a:solidFill>
                  <a:schemeClr val="tx1">
                    <a:lumMod val="75000"/>
                    <a:lumOff val="25000"/>
                  </a:schemeClr>
                </a:solidFill>
              </a:rPr>
              <a:t>nhiều</a:t>
            </a:r>
            <a:r>
              <a:rPr lang="en-US" sz="3200" b="1" dirty="0">
                <a:solidFill>
                  <a:schemeClr val="tx1">
                    <a:lumMod val="75000"/>
                    <a:lumOff val="25000"/>
                  </a:schemeClr>
                </a:solidFill>
              </a:rPr>
              <a:t> </a:t>
            </a:r>
            <a:r>
              <a:rPr lang="en-US" sz="3200" b="1" dirty="0" err="1">
                <a:solidFill>
                  <a:schemeClr val="tx1">
                    <a:lumMod val="75000"/>
                    <a:lumOff val="25000"/>
                  </a:schemeClr>
                </a:solidFill>
              </a:rPr>
              <a:t>lần</a:t>
            </a:r>
            <a:r>
              <a:rPr lang="en-US" sz="3200" b="1" dirty="0">
                <a:solidFill>
                  <a:schemeClr val="tx1">
                    <a:lumMod val="75000"/>
                    <a:lumOff val="25000"/>
                  </a:schemeClr>
                </a:solidFill>
              </a:rPr>
              <a:t> </a:t>
            </a:r>
          </a:p>
        </p:txBody>
      </p:sp>
      <p:cxnSp>
        <p:nvCxnSpPr>
          <p:cNvPr id="6" name="Straight Connector 5"/>
          <p:cNvCxnSpPr/>
          <p:nvPr/>
        </p:nvCxnSpPr>
        <p:spPr>
          <a:xfrm>
            <a:off x="3532137" y="3059952"/>
            <a:ext cx="4297680"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700280" y="1400490"/>
              <a:ext cx="360" cy="360"/>
            </p14:xfrm>
          </p:contentPart>
        </mc:Choice>
        <mc:Fallback xmlns="">
          <p:pic>
            <p:nvPicPr>
              <p:cNvPr id="2" name="Ink 1"/>
              <p:cNvPicPr/>
              <p:nvPr/>
            </p:nvPicPr>
            <p:blipFill>
              <a:blip r:embed="rId5"/>
              <a:stretch>
                <a:fillRect/>
              </a:stretch>
            </p:blipFill>
            <p:spPr>
              <a:xfrm>
                <a:off x="1690920" y="1391130"/>
                <a:ext cx="19080" cy="19080"/>
              </a:xfrm>
              <a:prstGeom prst="rect">
                <a:avLst/>
              </a:prstGeom>
            </p:spPr>
          </p:pic>
        </mc:Fallback>
      </mc:AlternateContent>
      <p:sp>
        <p:nvSpPr>
          <p:cNvPr id="7" name="TextBox 6">
            <a:extLst>
              <a:ext uri="{FF2B5EF4-FFF2-40B4-BE49-F238E27FC236}">
                <a16:creationId xmlns:a16="http://schemas.microsoft.com/office/drawing/2014/main" id="{0D2B1782-816E-BF43-EC4E-FB0107EB14C4}"/>
              </a:ext>
            </a:extLst>
          </p:cNvPr>
          <p:cNvSpPr txBox="1"/>
          <p:nvPr/>
        </p:nvSpPr>
        <p:spPr>
          <a:xfrm>
            <a:off x="522259" y="5054768"/>
            <a:ext cx="8099482" cy="1015663"/>
          </a:xfrm>
          <a:prstGeom prst="rect">
            <a:avLst/>
          </a:prstGeom>
          <a:noFill/>
        </p:spPr>
        <p:txBody>
          <a:bodyPr wrap="square">
            <a:spAutoFit/>
          </a:bodyPr>
          <a:lstStyle/>
          <a:p>
            <a:pPr algn="l">
              <a:spcBef>
                <a:spcPct val="50000"/>
              </a:spcBef>
            </a:pPr>
            <a:r>
              <a:rPr lang="en-US" sz="2400" dirty="0">
                <a:solidFill>
                  <a:srgbClr val="000090"/>
                </a:solidFill>
              </a:rPr>
              <a:t>1.  File systems:    Same AES key used to encrypt many files.</a:t>
            </a:r>
          </a:p>
          <a:p>
            <a:pPr algn="l">
              <a:spcBef>
                <a:spcPct val="50000"/>
              </a:spcBef>
            </a:pPr>
            <a:r>
              <a:rPr lang="en-US" sz="2400" dirty="0">
                <a:solidFill>
                  <a:srgbClr val="000090"/>
                </a:solidFill>
              </a:rPr>
              <a:t>2.  IPsec:   Same AES key used to encrypt many packets.</a:t>
            </a:r>
          </a:p>
        </p:txBody>
      </p:sp>
      <p:sp>
        <p:nvSpPr>
          <p:cNvPr id="8" name="Title 1">
            <a:extLst>
              <a:ext uri="{FF2B5EF4-FFF2-40B4-BE49-F238E27FC236}">
                <a16:creationId xmlns:a16="http://schemas.microsoft.com/office/drawing/2014/main" id="{54436744-870B-3CEF-2D53-0CD1D8E27BBF}"/>
              </a:ext>
            </a:extLst>
          </p:cNvPr>
          <p:cNvSpPr txBox="1">
            <a:spLocks/>
          </p:cNvSpPr>
          <p:nvPr/>
        </p:nvSpPr>
        <p:spPr>
          <a:xfrm>
            <a:off x="3366653" y="2188530"/>
            <a:ext cx="5624946" cy="78483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err="1">
                <a:solidFill>
                  <a:schemeClr val="tx1">
                    <a:lumMod val="75000"/>
                    <a:lumOff val="25000"/>
                  </a:schemeClr>
                </a:solidFill>
              </a:rPr>
              <a:t>Các</a:t>
            </a:r>
            <a:r>
              <a:rPr lang="en-US" sz="3200" b="1" dirty="0">
                <a:solidFill>
                  <a:schemeClr val="tx1">
                    <a:lumMod val="75000"/>
                    <a:lumOff val="25000"/>
                  </a:schemeClr>
                </a:solidFill>
              </a:rPr>
              <a:t> </a:t>
            </a:r>
            <a:r>
              <a:rPr lang="en-US" sz="3200" b="1" dirty="0" err="1">
                <a:solidFill>
                  <a:schemeClr val="tx1">
                    <a:lumMod val="75000"/>
                    <a:lumOff val="25000"/>
                  </a:schemeClr>
                </a:solidFill>
              </a:rPr>
              <a:t>chế</a:t>
            </a:r>
            <a:r>
              <a:rPr lang="en-US" sz="3200" b="1" dirty="0">
                <a:solidFill>
                  <a:schemeClr val="tx1">
                    <a:lumMod val="75000"/>
                    <a:lumOff val="25000"/>
                  </a:schemeClr>
                </a:solidFill>
              </a:rPr>
              <a:t> </a:t>
            </a:r>
            <a:r>
              <a:rPr lang="en-US" sz="3200" b="1" dirty="0" err="1">
                <a:solidFill>
                  <a:schemeClr val="tx1">
                    <a:lumMod val="75000"/>
                    <a:lumOff val="25000"/>
                  </a:schemeClr>
                </a:solidFill>
              </a:rPr>
              <a:t>độ</a:t>
            </a:r>
            <a:r>
              <a:rPr lang="en-US" sz="3200" b="1" dirty="0">
                <a:solidFill>
                  <a:schemeClr val="tx1">
                    <a:lumMod val="75000"/>
                    <a:lumOff val="25000"/>
                  </a:schemeClr>
                </a:solidFill>
              </a:rPr>
              <a:t> </a:t>
            </a:r>
            <a:r>
              <a:rPr lang="en-US" sz="3200" b="1" dirty="0" err="1">
                <a:solidFill>
                  <a:schemeClr val="tx1">
                    <a:lumMod val="75000"/>
                    <a:lumOff val="25000"/>
                  </a:schemeClr>
                </a:solidFill>
              </a:rPr>
              <a:t>sử</a:t>
            </a:r>
            <a:r>
              <a:rPr lang="en-US" sz="3200" b="1" dirty="0">
                <a:solidFill>
                  <a:schemeClr val="tx1">
                    <a:lumMod val="75000"/>
                    <a:lumOff val="25000"/>
                  </a:schemeClr>
                </a:solidFill>
              </a:rPr>
              <a:t> dung </a:t>
            </a:r>
            <a:r>
              <a:rPr lang="en-US" sz="3200" b="1" dirty="0" err="1">
                <a:solidFill>
                  <a:schemeClr val="tx1">
                    <a:lumMod val="75000"/>
                    <a:lumOff val="25000"/>
                  </a:schemeClr>
                </a:solidFill>
              </a:rPr>
              <a:t>mã</a:t>
            </a:r>
            <a:r>
              <a:rPr lang="en-US" sz="3200" b="1" dirty="0">
                <a:solidFill>
                  <a:schemeClr val="tx1">
                    <a:lumMod val="75000"/>
                    <a:lumOff val="25000"/>
                  </a:schemeClr>
                </a:solidFill>
              </a:rPr>
              <a:t> </a:t>
            </a:r>
            <a:r>
              <a:rPr lang="en-US" sz="3200" b="1" dirty="0" err="1">
                <a:solidFill>
                  <a:schemeClr val="tx1">
                    <a:lumMod val="75000"/>
                    <a:lumOff val="25000"/>
                  </a:schemeClr>
                </a:solidFill>
              </a:rPr>
              <a:t>khối</a:t>
            </a:r>
            <a:r>
              <a:rPr lang="en-US" sz="3200" b="1" dirty="0">
                <a:solidFill>
                  <a:schemeClr val="tx1">
                    <a:lumMod val="75000"/>
                    <a:lumOff val="25000"/>
                  </a:schemeClr>
                </a:solidFill>
              </a:rPr>
              <a:t> </a:t>
            </a:r>
          </a:p>
        </p:txBody>
      </p:sp>
    </p:spTree>
    <p:extLst>
      <p:ext uri="{BB962C8B-B14F-4D97-AF65-F5344CB8AC3E}">
        <p14:creationId xmlns:p14="http://schemas.microsoft.com/office/powerpoint/2010/main" val="123443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Semantic Security </a:t>
            </a:r>
            <a:r>
              <a:rPr lang="en-US" b="1" dirty="0" err="1"/>
              <a:t>với</a:t>
            </a:r>
            <a:r>
              <a:rPr lang="en-US" b="1" dirty="0"/>
              <a:t> </a:t>
            </a:r>
            <a:r>
              <a:rPr lang="en-US" b="1" dirty="0" err="1"/>
              <a:t>khoá</a:t>
            </a:r>
            <a:r>
              <a:rPr lang="en-US" b="1" dirty="0"/>
              <a:t> </a:t>
            </a:r>
            <a:r>
              <a:rPr lang="en-US" b="1" dirty="0" err="1"/>
              <a:t>dùng</a:t>
            </a:r>
            <a:r>
              <a:rPr lang="en-US" b="1" dirty="0"/>
              <a:t> </a:t>
            </a:r>
            <a:r>
              <a:rPr lang="en-US" b="1" dirty="0" err="1"/>
              <a:t>nhiều</a:t>
            </a:r>
            <a:r>
              <a:rPr lang="en-US" b="1" dirty="0"/>
              <a:t> </a:t>
            </a:r>
            <a:r>
              <a:rPr lang="en-US" b="1" dirty="0" err="1"/>
              <a:t>lần</a:t>
            </a:r>
            <a:r>
              <a:rPr lang="en-US" b="1" dirty="0"/>
              <a:t> (many-time key)</a:t>
            </a:r>
          </a:p>
        </p:txBody>
      </p:sp>
      <p:sp>
        <p:nvSpPr>
          <p:cNvPr id="3" name="Content Placeholder 2"/>
          <p:cNvSpPr>
            <a:spLocks noGrp="1"/>
          </p:cNvSpPr>
          <p:nvPr>
            <p:ph sz="quarter" idx="13"/>
          </p:nvPr>
        </p:nvSpPr>
        <p:spPr/>
        <p:txBody>
          <a:bodyPr/>
          <a:lstStyle/>
          <a:p>
            <a:pPr marL="0" indent="0">
              <a:buNone/>
            </a:pPr>
            <a:r>
              <a:rPr lang="en-US" dirty="0" err="1"/>
              <a:t>Khoá</a:t>
            </a:r>
            <a:r>
              <a:rPr lang="en-US" dirty="0"/>
              <a:t> </a:t>
            </a:r>
            <a:r>
              <a:rPr lang="en-US" dirty="0" err="1"/>
              <a:t>sử</a:t>
            </a:r>
            <a:r>
              <a:rPr lang="en-US" dirty="0"/>
              <a:t> dung </a:t>
            </a:r>
            <a:r>
              <a:rPr lang="en-US" dirty="0" err="1"/>
              <a:t>nhiều</a:t>
            </a:r>
            <a:r>
              <a:rPr lang="en-US" dirty="0"/>
              <a:t> </a:t>
            </a:r>
            <a:r>
              <a:rPr lang="en-US" dirty="0" err="1"/>
              <a:t>lần</a:t>
            </a:r>
            <a:r>
              <a:rPr lang="en-US" dirty="0"/>
              <a:t> ⇒  adv. </a:t>
            </a:r>
            <a:r>
              <a:rPr lang="en-US" dirty="0" err="1"/>
              <a:t>Có</a:t>
            </a:r>
            <a:r>
              <a:rPr lang="en-US" dirty="0"/>
              <a:t> </a:t>
            </a:r>
            <a:r>
              <a:rPr lang="en-US" dirty="0" err="1"/>
              <a:t>được</a:t>
            </a:r>
            <a:r>
              <a:rPr lang="en-US" dirty="0"/>
              <a:t> </a:t>
            </a:r>
            <a:r>
              <a:rPr lang="en-US" dirty="0" err="1"/>
              <a:t>nhiều</a:t>
            </a:r>
            <a:r>
              <a:rPr lang="en-US" dirty="0"/>
              <a:t> CTs </a:t>
            </a:r>
            <a:r>
              <a:rPr lang="en-US" dirty="0" err="1"/>
              <a:t>với</a:t>
            </a:r>
            <a:r>
              <a:rPr lang="en-US" dirty="0"/>
              <a:t> </a:t>
            </a:r>
            <a:r>
              <a:rPr lang="en-US" dirty="0" err="1"/>
              <a:t>cùng</a:t>
            </a:r>
            <a:r>
              <a:rPr lang="en-US" dirty="0"/>
              <a:t> 1 </a:t>
            </a:r>
            <a:r>
              <a:rPr lang="en-US" dirty="0" err="1"/>
              <a:t>khoá</a:t>
            </a:r>
            <a:r>
              <a:rPr lang="en-US" dirty="0"/>
              <a:t> </a:t>
            </a:r>
          </a:p>
          <a:p>
            <a:pPr marL="0" indent="0">
              <a:buNone/>
            </a:pPr>
            <a:endParaRPr lang="en-US" dirty="0"/>
          </a:p>
          <a:p>
            <a:pPr marL="0" indent="0">
              <a:buNone/>
            </a:pPr>
            <a:r>
              <a:rPr lang="en-US" b="1" dirty="0"/>
              <a:t>Adversary’s power</a:t>
            </a:r>
            <a:r>
              <a:rPr lang="en-US" dirty="0"/>
              <a:t>:    chosen-plaintext attack (CPA)</a:t>
            </a:r>
          </a:p>
          <a:p>
            <a:r>
              <a:rPr lang="en-US" dirty="0" err="1"/>
              <a:t>Có</a:t>
            </a:r>
            <a:r>
              <a:rPr lang="en-US" dirty="0"/>
              <a:t> </a:t>
            </a:r>
            <a:r>
              <a:rPr lang="en-US" dirty="0" err="1"/>
              <a:t>thể</a:t>
            </a:r>
            <a:r>
              <a:rPr lang="en-US" dirty="0"/>
              <a:t> </a:t>
            </a:r>
            <a:r>
              <a:rPr lang="en-US" dirty="0" err="1"/>
              <a:t>có</a:t>
            </a:r>
            <a:r>
              <a:rPr lang="en-US" dirty="0"/>
              <a:t> </a:t>
            </a:r>
            <a:r>
              <a:rPr lang="en-US" dirty="0" err="1"/>
              <a:t>được</a:t>
            </a:r>
            <a:r>
              <a:rPr lang="en-US" dirty="0"/>
              <a:t> </a:t>
            </a:r>
            <a:r>
              <a:rPr lang="en-US" dirty="0" err="1"/>
              <a:t>các</a:t>
            </a:r>
            <a:r>
              <a:rPr lang="en-US" dirty="0"/>
              <a:t> </a:t>
            </a:r>
            <a:r>
              <a:rPr lang="en-US" dirty="0" err="1"/>
              <a:t>bản</a:t>
            </a:r>
            <a:r>
              <a:rPr lang="en-US" dirty="0"/>
              <a:t> </a:t>
            </a:r>
            <a:r>
              <a:rPr lang="en-US" dirty="0" err="1"/>
              <a:t>mã</a:t>
            </a:r>
            <a:r>
              <a:rPr lang="en-US" dirty="0"/>
              <a:t> </a:t>
            </a:r>
            <a:r>
              <a:rPr lang="en-US" dirty="0" err="1"/>
              <a:t>hoá</a:t>
            </a:r>
            <a:r>
              <a:rPr lang="en-US" dirty="0"/>
              <a:t> </a:t>
            </a:r>
            <a:r>
              <a:rPr lang="en-US" dirty="0" err="1"/>
              <a:t>của</a:t>
            </a:r>
            <a:r>
              <a:rPr lang="en-US" dirty="0"/>
              <a:t> </a:t>
            </a:r>
            <a:r>
              <a:rPr lang="en-US" dirty="0" err="1"/>
              <a:t>các</a:t>
            </a:r>
            <a:r>
              <a:rPr lang="en-US" dirty="0"/>
              <a:t> </a:t>
            </a:r>
            <a:r>
              <a:rPr lang="en-US" dirty="0" err="1"/>
              <a:t>bản</a:t>
            </a:r>
            <a:r>
              <a:rPr lang="en-US" dirty="0"/>
              <a:t> tin </a:t>
            </a:r>
            <a:r>
              <a:rPr lang="en-US" dirty="0" err="1"/>
              <a:t>đầu</a:t>
            </a:r>
            <a:r>
              <a:rPr lang="en-US" dirty="0"/>
              <a:t> </a:t>
            </a:r>
            <a:r>
              <a:rPr lang="en-US" dirty="0" err="1"/>
              <a:t>vào</a:t>
            </a:r>
            <a:r>
              <a:rPr lang="en-US" dirty="0"/>
              <a:t> </a:t>
            </a:r>
            <a:r>
              <a:rPr lang="en-US" dirty="0" err="1"/>
              <a:t>được</a:t>
            </a:r>
            <a:r>
              <a:rPr lang="en-US" dirty="0"/>
              <a:t> </a:t>
            </a:r>
            <a:r>
              <a:rPr lang="en-US" dirty="0" err="1"/>
              <a:t>lựa</a:t>
            </a:r>
            <a:r>
              <a:rPr lang="en-US" dirty="0"/>
              <a:t> </a:t>
            </a:r>
            <a:r>
              <a:rPr lang="en-US" dirty="0" err="1"/>
              <a:t>chọn</a:t>
            </a:r>
            <a:r>
              <a:rPr lang="en-US" dirty="0"/>
              <a:t> (conservative modeling of real life)</a:t>
            </a:r>
          </a:p>
          <a:p>
            <a:pPr marL="0" indent="0">
              <a:buNone/>
            </a:pPr>
            <a:endParaRPr lang="en-US" dirty="0"/>
          </a:p>
          <a:p>
            <a:pPr marL="0" indent="0">
              <a:buNone/>
            </a:pPr>
            <a:r>
              <a:rPr lang="en-US" b="1" dirty="0"/>
              <a:t>Adversary’s goal</a:t>
            </a:r>
            <a:r>
              <a:rPr lang="en-US" dirty="0"/>
              <a:t>:    </a:t>
            </a:r>
            <a:r>
              <a:rPr lang="en-US" dirty="0" err="1"/>
              <a:t>phá</a:t>
            </a:r>
            <a:r>
              <a:rPr lang="en-US" dirty="0"/>
              <a:t> </a:t>
            </a:r>
            <a:r>
              <a:rPr lang="en-US" dirty="0" err="1"/>
              <a:t>vỡ</a:t>
            </a:r>
            <a:r>
              <a:rPr lang="en-US" dirty="0"/>
              <a:t> sematic security</a:t>
            </a:r>
          </a:p>
        </p:txBody>
      </p:sp>
    </p:spTree>
    <p:extLst>
      <p:ext uri="{BB962C8B-B14F-4D97-AF65-F5344CB8AC3E}">
        <p14:creationId xmlns:p14="http://schemas.microsoft.com/office/powerpoint/2010/main" val="151166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sz="3600" b="1" dirty="0"/>
              <a:t>Semantic Security for many-time key</a:t>
            </a:r>
          </a:p>
        </p:txBody>
      </p:sp>
      <p:sp>
        <p:nvSpPr>
          <p:cNvPr id="15363" name="Rectangle 3"/>
          <p:cNvSpPr>
            <a:spLocks noGrp="1" noChangeArrowheads="1"/>
          </p:cNvSpPr>
          <p:nvPr>
            <p:ph sz="quarter" idx="13"/>
          </p:nvPr>
        </p:nvSpPr>
        <p:spPr/>
        <p:txBody>
          <a:bodyPr>
            <a:normAutofit/>
          </a:bodyPr>
          <a:lstStyle/>
          <a:p>
            <a:pPr marL="0" indent="0">
              <a:buNone/>
            </a:pPr>
            <a:r>
              <a:rPr lang="en-US" sz="2200" dirty="0">
                <a:latin typeface="Castellar" pitchFamily="18" charset="0"/>
              </a:rPr>
              <a:t>E </a:t>
            </a:r>
            <a:r>
              <a:rPr lang="en-US" sz="2200" dirty="0"/>
              <a:t>= (E,D)   a cipher defined over  (K,M,C)</a:t>
            </a:r>
            <a:r>
              <a:rPr lang="en-US" sz="2200" dirty="0">
                <a:latin typeface="Castellar" pitchFamily="18" charset="0"/>
              </a:rPr>
              <a:t>.    </a:t>
            </a:r>
            <a:r>
              <a:rPr lang="en-US" sz="2200" dirty="0"/>
              <a:t>For   b=0,1   define EXP(b)  as:</a:t>
            </a:r>
          </a:p>
        </p:txBody>
      </p:sp>
      <p:sp>
        <p:nvSpPr>
          <p:cNvPr id="15364" name="Rectangle 4"/>
          <p:cNvSpPr>
            <a:spLocks noChangeArrowheads="1"/>
          </p:cNvSpPr>
          <p:nvPr/>
        </p:nvSpPr>
        <p:spPr bwMode="auto">
          <a:xfrm>
            <a:off x="1295400" y="2438400"/>
            <a:ext cx="1295400" cy="1134974"/>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15365" name="Line 5"/>
          <p:cNvSpPr>
            <a:spLocks noChangeShapeType="1"/>
          </p:cNvSpPr>
          <p:nvPr/>
        </p:nvSpPr>
        <p:spPr bwMode="auto">
          <a:xfrm flipV="1">
            <a:off x="76200" y="2735759"/>
            <a:ext cx="1219200" cy="19050"/>
          </a:xfrm>
          <a:prstGeom prst="line">
            <a:avLst/>
          </a:prstGeom>
          <a:noFill/>
          <a:ln w="9525">
            <a:solidFill>
              <a:schemeClr val="tx1"/>
            </a:solidFill>
            <a:round/>
            <a:headEnd/>
            <a:tailEnd type="triangle" w="med" len="med"/>
          </a:ln>
          <a:effectLst/>
        </p:spPr>
        <p:txBody>
          <a:bodyPr/>
          <a:lstStyle/>
          <a:p>
            <a:endParaRPr lang="en-US"/>
          </a:p>
        </p:txBody>
      </p:sp>
      <p:sp>
        <p:nvSpPr>
          <p:cNvPr id="15366" name="Text Box 6"/>
          <p:cNvSpPr txBox="1">
            <a:spLocks noChangeArrowheads="1"/>
          </p:cNvSpPr>
          <p:nvPr/>
        </p:nvSpPr>
        <p:spPr bwMode="auto">
          <a:xfrm>
            <a:off x="76200" y="2369345"/>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15367" name="Rectangle 7"/>
          <p:cNvSpPr>
            <a:spLocks noChangeArrowheads="1"/>
          </p:cNvSpPr>
          <p:nvPr/>
        </p:nvSpPr>
        <p:spPr bwMode="auto">
          <a:xfrm>
            <a:off x="6477000" y="2438400"/>
            <a:ext cx="1295400" cy="1152522"/>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15368" name="Text Box 8"/>
          <p:cNvSpPr txBox="1">
            <a:spLocks noChangeArrowheads="1"/>
          </p:cNvSpPr>
          <p:nvPr/>
        </p:nvSpPr>
        <p:spPr bwMode="auto">
          <a:xfrm>
            <a:off x="1600202" y="2792017"/>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6" name="Group 5"/>
          <p:cNvGrpSpPr/>
          <p:nvPr/>
        </p:nvGrpSpPr>
        <p:grpSpPr>
          <a:xfrm>
            <a:off x="2667001" y="2750129"/>
            <a:ext cx="3811747" cy="400110"/>
            <a:chOff x="2667000" y="1283280"/>
            <a:chExt cx="3811747" cy="400110"/>
          </a:xfrm>
        </p:grpSpPr>
        <p:sp>
          <p:nvSpPr>
            <p:cNvPr id="15369" name="Line 9"/>
            <p:cNvSpPr>
              <a:spLocks noChangeShapeType="1"/>
            </p:cNvSpPr>
            <p:nvPr/>
          </p:nvSpPr>
          <p:spPr bwMode="auto">
            <a:xfrm flipH="1">
              <a:off x="2667000" y="1666875"/>
              <a:ext cx="3810000" cy="0"/>
            </a:xfrm>
            <a:prstGeom prst="line">
              <a:avLst/>
            </a:prstGeom>
            <a:noFill/>
            <a:ln w="9525">
              <a:solidFill>
                <a:schemeClr val="tx1"/>
              </a:solidFill>
              <a:round/>
              <a:headEnd/>
              <a:tailEnd type="triangle" w="med" len="med"/>
            </a:ln>
            <a:effectLst/>
          </p:spPr>
          <p:txBody>
            <a:bodyPr/>
            <a:lstStyle/>
            <a:p>
              <a:endParaRPr lang="en-US"/>
            </a:p>
          </p:txBody>
        </p:sp>
        <p:sp>
          <p:nvSpPr>
            <p:cNvPr id="15370" name="Text Box 10"/>
            <p:cNvSpPr txBox="1">
              <a:spLocks noChangeArrowheads="1"/>
            </p:cNvSpPr>
            <p:nvPr/>
          </p:nvSpPr>
          <p:spPr bwMode="auto">
            <a:xfrm>
              <a:off x="3048000" y="1283280"/>
              <a:ext cx="3430747" cy="400110"/>
            </a:xfrm>
            <a:prstGeom prst="rect">
              <a:avLst/>
            </a:prstGeom>
            <a:noFill/>
            <a:ln w="9525">
              <a:noFill/>
              <a:miter lim="800000"/>
              <a:headEnd/>
              <a:tailEnd/>
            </a:ln>
            <a:effectLst/>
          </p:spPr>
          <p:txBody>
            <a:bodyPr wrap="none">
              <a:spAutoFit/>
            </a:bodyPr>
            <a:lstStyle/>
            <a:p>
              <a:r>
                <a:rPr lang="en-US" sz="2000" dirty="0"/>
                <a:t>m</a:t>
              </a:r>
              <a:r>
                <a:rPr lang="en-US" sz="2000" baseline="-25000" dirty="0"/>
                <a:t>1,0</a:t>
              </a:r>
              <a:r>
                <a:rPr lang="en-US" sz="2000" dirty="0"/>
                <a:t> , m</a:t>
              </a:r>
              <a:r>
                <a:rPr lang="en-US" sz="2000" baseline="-25000" dirty="0"/>
                <a:t>1,1  </a:t>
              </a:r>
              <a:r>
                <a:rPr lang="en-US" dirty="0">
                  <a:sym typeface="Symbol" pitchFamily="18" charset="2"/>
                </a:rPr>
                <a:t> M :    |m</a:t>
              </a:r>
              <a:r>
                <a:rPr lang="en-US" baseline="-25000" dirty="0">
                  <a:sym typeface="Symbol" pitchFamily="18" charset="2"/>
                </a:rPr>
                <a:t>1,0</a:t>
              </a:r>
              <a:r>
                <a:rPr lang="en-US" dirty="0">
                  <a:sym typeface="Symbol" pitchFamily="18" charset="2"/>
                </a:rPr>
                <a:t>| = |m</a:t>
              </a:r>
              <a:r>
                <a:rPr lang="en-US" baseline="-25000" dirty="0">
                  <a:sym typeface="Symbol" pitchFamily="18" charset="2"/>
                </a:rPr>
                <a:t>1,1</a:t>
              </a:r>
              <a:r>
                <a:rPr lang="en-US" dirty="0">
                  <a:sym typeface="Symbol" pitchFamily="18" charset="2"/>
                </a:rPr>
                <a:t>|</a:t>
              </a:r>
            </a:p>
          </p:txBody>
        </p:sp>
      </p:grpSp>
      <p:grpSp>
        <p:nvGrpSpPr>
          <p:cNvPr id="15371" name="Group 11"/>
          <p:cNvGrpSpPr>
            <a:grpSpLocks/>
          </p:cNvGrpSpPr>
          <p:nvPr/>
        </p:nvGrpSpPr>
        <p:grpSpPr bwMode="auto">
          <a:xfrm>
            <a:off x="2667000" y="3333753"/>
            <a:ext cx="3733800" cy="400051"/>
            <a:chOff x="1776" y="2178"/>
            <a:chExt cx="2352" cy="336"/>
          </a:xfrm>
        </p:grpSpPr>
        <p:sp>
          <p:nvSpPr>
            <p:cNvPr id="15372" name="Line 12"/>
            <p:cNvSpPr>
              <a:spLocks noChangeShapeType="1"/>
            </p:cNvSpPr>
            <p:nvPr/>
          </p:nvSpPr>
          <p:spPr bwMode="auto">
            <a:xfrm>
              <a:off x="1776" y="2258"/>
              <a:ext cx="2352" cy="0"/>
            </a:xfrm>
            <a:prstGeom prst="line">
              <a:avLst/>
            </a:prstGeom>
            <a:noFill/>
            <a:ln w="9525">
              <a:solidFill>
                <a:schemeClr val="tx1"/>
              </a:solidFill>
              <a:round/>
              <a:headEnd/>
              <a:tailEnd type="triangle" w="med" len="med"/>
            </a:ln>
            <a:effectLst/>
          </p:spPr>
          <p:txBody>
            <a:bodyPr/>
            <a:lstStyle/>
            <a:p>
              <a:endParaRPr lang="en-US"/>
            </a:p>
          </p:txBody>
        </p:sp>
        <p:sp>
          <p:nvSpPr>
            <p:cNvPr id="15373" name="Text Box 13"/>
            <p:cNvSpPr txBox="1">
              <a:spLocks noChangeArrowheads="1"/>
            </p:cNvSpPr>
            <p:nvPr/>
          </p:nvSpPr>
          <p:spPr bwMode="auto">
            <a:xfrm>
              <a:off x="2440" y="2178"/>
              <a:ext cx="1007" cy="336"/>
            </a:xfrm>
            <a:prstGeom prst="rect">
              <a:avLst/>
            </a:prstGeom>
            <a:noFill/>
            <a:ln w="9525">
              <a:noFill/>
              <a:miter lim="800000"/>
              <a:headEnd/>
              <a:tailEnd/>
            </a:ln>
            <a:effectLst/>
          </p:spPr>
          <p:txBody>
            <a:bodyPr wrap="none">
              <a:spAutoFit/>
            </a:bodyPr>
            <a:lstStyle/>
            <a:p>
              <a:r>
                <a:rPr lang="en-US" dirty="0"/>
                <a:t>c</a:t>
              </a:r>
              <a:r>
                <a:rPr lang="en-US" baseline="-25000" dirty="0"/>
                <a:t>1</a:t>
              </a:r>
              <a:r>
                <a:rPr lang="en-US" dirty="0"/>
                <a:t> </a:t>
              </a:r>
              <a:r>
                <a:rPr lang="en-US" dirty="0">
                  <a:sym typeface="Symbol" pitchFamily="18" charset="2"/>
                </a:rPr>
                <a:t> </a:t>
              </a:r>
              <a:r>
                <a:rPr lang="en-US" dirty="0"/>
                <a:t>E(k,</a:t>
              </a:r>
              <a:r>
                <a:rPr lang="en-US" sz="2000" b="1" dirty="0"/>
                <a:t> m</a:t>
              </a:r>
              <a:r>
                <a:rPr lang="en-US" sz="2000" b="1" baseline="-25000" dirty="0"/>
                <a:t>1,b</a:t>
              </a:r>
              <a:r>
                <a:rPr lang="en-US" dirty="0"/>
                <a:t>)</a:t>
              </a:r>
            </a:p>
          </p:txBody>
        </p:sp>
      </p:grpSp>
      <p:sp>
        <p:nvSpPr>
          <p:cNvPr id="15376" name="Rectangle 16"/>
          <p:cNvSpPr>
            <a:spLocks noChangeArrowheads="1"/>
          </p:cNvSpPr>
          <p:nvPr/>
        </p:nvSpPr>
        <p:spPr bwMode="auto">
          <a:xfrm>
            <a:off x="609600" y="2133600"/>
            <a:ext cx="7924800" cy="1728993"/>
          </a:xfrm>
          <a:prstGeom prst="rect">
            <a:avLst/>
          </a:prstGeom>
          <a:noFill/>
          <a:ln w="38100">
            <a:solidFill>
              <a:schemeClr val="folHlink"/>
            </a:solidFill>
            <a:miter lim="800000"/>
            <a:headEnd/>
            <a:tailEnd/>
          </a:ln>
          <a:effectLst/>
        </p:spPr>
        <p:txBody>
          <a:bodyPr wrap="none" anchor="ctr"/>
          <a:lstStyle/>
          <a:p>
            <a:endParaRPr lang="en-US"/>
          </a:p>
        </p:txBody>
      </p:sp>
      <p:sp>
        <p:nvSpPr>
          <p:cNvPr id="16" name="Rectangle 4">
            <a:extLst>
              <a:ext uri="{FF2B5EF4-FFF2-40B4-BE49-F238E27FC236}">
                <a16:creationId xmlns:a16="http://schemas.microsoft.com/office/drawing/2014/main" id="{E4072D04-D4F7-7E44-A212-520F2750D840}"/>
              </a:ext>
            </a:extLst>
          </p:cNvPr>
          <p:cNvSpPr>
            <a:spLocks noChangeArrowheads="1"/>
          </p:cNvSpPr>
          <p:nvPr/>
        </p:nvSpPr>
        <p:spPr bwMode="auto">
          <a:xfrm>
            <a:off x="1330776" y="4645234"/>
            <a:ext cx="1295400" cy="1180499"/>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17" name="Line 5">
            <a:extLst>
              <a:ext uri="{FF2B5EF4-FFF2-40B4-BE49-F238E27FC236}">
                <a16:creationId xmlns:a16="http://schemas.microsoft.com/office/drawing/2014/main" id="{F581EA08-D09C-694C-BC72-F6930AF25C00}"/>
              </a:ext>
            </a:extLst>
          </p:cNvPr>
          <p:cNvSpPr>
            <a:spLocks noChangeShapeType="1"/>
          </p:cNvSpPr>
          <p:nvPr/>
        </p:nvSpPr>
        <p:spPr bwMode="auto">
          <a:xfrm>
            <a:off x="95516" y="5139619"/>
            <a:ext cx="1219200" cy="989"/>
          </a:xfrm>
          <a:prstGeom prst="line">
            <a:avLst/>
          </a:prstGeom>
          <a:noFill/>
          <a:ln w="9525">
            <a:solidFill>
              <a:schemeClr val="tx1"/>
            </a:solidFill>
            <a:round/>
            <a:headEnd/>
            <a:tailEnd type="triangle" w="med" len="med"/>
          </a:ln>
          <a:effectLst/>
        </p:spPr>
        <p:txBody>
          <a:bodyPr/>
          <a:lstStyle/>
          <a:p>
            <a:endParaRPr lang="en-US"/>
          </a:p>
        </p:txBody>
      </p:sp>
      <p:sp>
        <p:nvSpPr>
          <p:cNvPr id="18" name="Text Box 6">
            <a:extLst>
              <a:ext uri="{FF2B5EF4-FFF2-40B4-BE49-F238E27FC236}">
                <a16:creationId xmlns:a16="http://schemas.microsoft.com/office/drawing/2014/main" id="{D5D9E112-5673-7A4F-8536-C1A9EB5CB533}"/>
              </a:ext>
            </a:extLst>
          </p:cNvPr>
          <p:cNvSpPr txBox="1">
            <a:spLocks noChangeArrowheads="1"/>
          </p:cNvSpPr>
          <p:nvPr/>
        </p:nvSpPr>
        <p:spPr bwMode="auto">
          <a:xfrm>
            <a:off x="124276" y="4650822"/>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19" name="Rectangle 7">
            <a:extLst>
              <a:ext uri="{FF2B5EF4-FFF2-40B4-BE49-F238E27FC236}">
                <a16:creationId xmlns:a16="http://schemas.microsoft.com/office/drawing/2014/main" id="{4FE178A5-1786-584F-A5A0-32A01DA4A335}"/>
              </a:ext>
            </a:extLst>
          </p:cNvPr>
          <p:cNvSpPr>
            <a:spLocks noChangeArrowheads="1"/>
          </p:cNvSpPr>
          <p:nvPr/>
        </p:nvSpPr>
        <p:spPr bwMode="auto">
          <a:xfrm>
            <a:off x="6512376" y="4724400"/>
            <a:ext cx="1295400" cy="1101332"/>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20" name="Text Box 8">
            <a:extLst>
              <a:ext uri="{FF2B5EF4-FFF2-40B4-BE49-F238E27FC236}">
                <a16:creationId xmlns:a16="http://schemas.microsoft.com/office/drawing/2014/main" id="{A8410008-5557-124B-AF23-F6004CE92C63}"/>
              </a:ext>
            </a:extLst>
          </p:cNvPr>
          <p:cNvSpPr txBox="1">
            <a:spLocks noChangeArrowheads="1"/>
          </p:cNvSpPr>
          <p:nvPr/>
        </p:nvSpPr>
        <p:spPr bwMode="auto">
          <a:xfrm>
            <a:off x="1600202" y="5139619"/>
            <a:ext cx="636713" cy="369332"/>
          </a:xfrm>
          <a:prstGeom prst="rect">
            <a:avLst/>
          </a:prstGeom>
          <a:noFill/>
          <a:ln w="9525">
            <a:noFill/>
            <a:miter lim="800000"/>
            <a:headEnd/>
            <a:tailEnd/>
          </a:ln>
          <a:effectLst/>
        </p:spPr>
        <p:txBody>
          <a:bodyPr wrap="none">
            <a:spAutoFit/>
          </a:bodyPr>
          <a:lstStyle/>
          <a:p>
            <a:r>
              <a:rPr lang="en-US" dirty="0" err="1"/>
              <a:t>k</a:t>
            </a:r>
            <a:r>
              <a:rPr lang="en-US" dirty="0" err="1">
                <a:sym typeface="Symbol" pitchFamily="18" charset="2"/>
              </a:rPr>
              <a:t>K</a:t>
            </a:r>
            <a:endParaRPr lang="en-US" b="1" dirty="0">
              <a:cs typeface="Arial" charset="0"/>
              <a:sym typeface="Symbol" pitchFamily="18" charset="2"/>
            </a:endParaRPr>
          </a:p>
        </p:txBody>
      </p:sp>
      <p:grpSp>
        <p:nvGrpSpPr>
          <p:cNvPr id="21" name="Group 20">
            <a:extLst>
              <a:ext uri="{FF2B5EF4-FFF2-40B4-BE49-F238E27FC236}">
                <a16:creationId xmlns:a16="http://schemas.microsoft.com/office/drawing/2014/main" id="{837C2AD5-B8A8-CC46-8C5E-40E1786CE865}"/>
              </a:ext>
            </a:extLst>
          </p:cNvPr>
          <p:cNvGrpSpPr/>
          <p:nvPr/>
        </p:nvGrpSpPr>
        <p:grpSpPr>
          <a:xfrm>
            <a:off x="2702377" y="4461062"/>
            <a:ext cx="3811747" cy="400110"/>
            <a:chOff x="2667000" y="1283280"/>
            <a:chExt cx="3811747" cy="400110"/>
          </a:xfrm>
        </p:grpSpPr>
        <p:sp>
          <p:nvSpPr>
            <p:cNvPr id="22" name="Line 9">
              <a:extLst>
                <a:ext uri="{FF2B5EF4-FFF2-40B4-BE49-F238E27FC236}">
                  <a16:creationId xmlns:a16="http://schemas.microsoft.com/office/drawing/2014/main" id="{9E880715-C79B-4642-843A-A41D5FA893CD}"/>
                </a:ext>
              </a:extLst>
            </p:cNvPr>
            <p:cNvSpPr>
              <a:spLocks noChangeShapeType="1"/>
            </p:cNvSpPr>
            <p:nvPr/>
          </p:nvSpPr>
          <p:spPr bwMode="auto">
            <a:xfrm flipH="1">
              <a:off x="2667000" y="1666875"/>
              <a:ext cx="3810000" cy="0"/>
            </a:xfrm>
            <a:prstGeom prst="line">
              <a:avLst/>
            </a:prstGeom>
            <a:noFill/>
            <a:ln w="9525">
              <a:solidFill>
                <a:schemeClr val="tx1"/>
              </a:solidFill>
              <a:round/>
              <a:headEnd/>
              <a:tailEnd type="triangle" w="med" len="med"/>
            </a:ln>
            <a:effectLst/>
          </p:spPr>
          <p:txBody>
            <a:bodyPr/>
            <a:lstStyle/>
            <a:p>
              <a:endParaRPr lang="en-US"/>
            </a:p>
          </p:txBody>
        </p:sp>
        <p:sp>
          <p:nvSpPr>
            <p:cNvPr id="23" name="Text Box 10">
              <a:extLst>
                <a:ext uri="{FF2B5EF4-FFF2-40B4-BE49-F238E27FC236}">
                  <a16:creationId xmlns:a16="http://schemas.microsoft.com/office/drawing/2014/main" id="{BD97FF57-2CFD-A544-9833-5CF5BADA27EA}"/>
                </a:ext>
              </a:extLst>
            </p:cNvPr>
            <p:cNvSpPr txBox="1">
              <a:spLocks noChangeArrowheads="1"/>
            </p:cNvSpPr>
            <p:nvPr/>
          </p:nvSpPr>
          <p:spPr bwMode="auto">
            <a:xfrm>
              <a:off x="3048000" y="1283280"/>
              <a:ext cx="3430747" cy="400110"/>
            </a:xfrm>
            <a:prstGeom prst="rect">
              <a:avLst/>
            </a:prstGeom>
            <a:noFill/>
            <a:ln w="9525">
              <a:noFill/>
              <a:miter lim="800000"/>
              <a:headEnd/>
              <a:tailEnd/>
            </a:ln>
            <a:effectLst/>
          </p:spPr>
          <p:txBody>
            <a:bodyPr wrap="none">
              <a:spAutoFit/>
            </a:bodyPr>
            <a:lstStyle/>
            <a:p>
              <a:r>
                <a:rPr lang="en-US" sz="2000" dirty="0"/>
                <a:t>m</a:t>
              </a:r>
              <a:r>
                <a:rPr lang="en-US" sz="2000" baseline="-25000" dirty="0"/>
                <a:t>2,0</a:t>
              </a:r>
              <a:r>
                <a:rPr lang="en-US" sz="2000" dirty="0"/>
                <a:t> , m</a:t>
              </a:r>
              <a:r>
                <a:rPr lang="en-US" sz="2000" baseline="-25000" dirty="0"/>
                <a:t>2,1  </a:t>
              </a:r>
              <a:r>
                <a:rPr lang="en-US" dirty="0">
                  <a:sym typeface="Symbol" pitchFamily="18" charset="2"/>
                </a:rPr>
                <a:t> M :    |m</a:t>
              </a:r>
              <a:r>
                <a:rPr lang="en-US" baseline="-25000" dirty="0">
                  <a:sym typeface="Symbol" pitchFamily="18" charset="2"/>
                </a:rPr>
                <a:t>2,0</a:t>
              </a:r>
              <a:r>
                <a:rPr lang="en-US" dirty="0">
                  <a:sym typeface="Symbol" pitchFamily="18" charset="2"/>
                </a:rPr>
                <a:t>| = |m</a:t>
              </a:r>
              <a:r>
                <a:rPr lang="en-US" baseline="-25000" dirty="0">
                  <a:sym typeface="Symbol" pitchFamily="18" charset="2"/>
                </a:rPr>
                <a:t>2,1</a:t>
              </a:r>
              <a:r>
                <a:rPr lang="en-US" dirty="0">
                  <a:sym typeface="Symbol" pitchFamily="18" charset="2"/>
                </a:rPr>
                <a:t>|</a:t>
              </a:r>
            </a:p>
          </p:txBody>
        </p:sp>
      </p:grpSp>
      <p:grpSp>
        <p:nvGrpSpPr>
          <p:cNvPr id="24" name="Group 11">
            <a:extLst>
              <a:ext uri="{FF2B5EF4-FFF2-40B4-BE49-F238E27FC236}">
                <a16:creationId xmlns:a16="http://schemas.microsoft.com/office/drawing/2014/main" id="{E28CC5E3-B0EE-8547-B4FF-B163916C07FC}"/>
              </a:ext>
            </a:extLst>
          </p:cNvPr>
          <p:cNvGrpSpPr>
            <a:grpSpLocks/>
          </p:cNvGrpSpPr>
          <p:nvPr/>
        </p:nvGrpSpPr>
        <p:grpSpPr bwMode="auto">
          <a:xfrm>
            <a:off x="2702376" y="5044686"/>
            <a:ext cx="3733800" cy="400051"/>
            <a:chOff x="1776" y="2178"/>
            <a:chExt cx="2352" cy="336"/>
          </a:xfrm>
        </p:grpSpPr>
        <p:sp>
          <p:nvSpPr>
            <p:cNvPr id="25" name="Line 12">
              <a:extLst>
                <a:ext uri="{FF2B5EF4-FFF2-40B4-BE49-F238E27FC236}">
                  <a16:creationId xmlns:a16="http://schemas.microsoft.com/office/drawing/2014/main" id="{DC3CC7FD-F619-3248-AEBC-EEE41B0F60DC}"/>
                </a:ext>
              </a:extLst>
            </p:cNvPr>
            <p:cNvSpPr>
              <a:spLocks noChangeShapeType="1"/>
            </p:cNvSpPr>
            <p:nvPr/>
          </p:nvSpPr>
          <p:spPr bwMode="auto">
            <a:xfrm>
              <a:off x="1776" y="2258"/>
              <a:ext cx="2352" cy="0"/>
            </a:xfrm>
            <a:prstGeom prst="line">
              <a:avLst/>
            </a:prstGeom>
            <a:noFill/>
            <a:ln w="9525">
              <a:solidFill>
                <a:schemeClr val="tx1"/>
              </a:solidFill>
              <a:round/>
              <a:headEnd/>
              <a:tailEnd type="triangle" w="med" len="med"/>
            </a:ln>
            <a:effectLst/>
          </p:spPr>
          <p:txBody>
            <a:bodyPr/>
            <a:lstStyle/>
            <a:p>
              <a:endParaRPr lang="en-US"/>
            </a:p>
          </p:txBody>
        </p:sp>
        <p:sp>
          <p:nvSpPr>
            <p:cNvPr id="26" name="Text Box 13">
              <a:extLst>
                <a:ext uri="{FF2B5EF4-FFF2-40B4-BE49-F238E27FC236}">
                  <a16:creationId xmlns:a16="http://schemas.microsoft.com/office/drawing/2014/main" id="{AA99100C-EF87-5E47-AD80-FCB7938C2C94}"/>
                </a:ext>
              </a:extLst>
            </p:cNvPr>
            <p:cNvSpPr txBox="1">
              <a:spLocks noChangeArrowheads="1"/>
            </p:cNvSpPr>
            <p:nvPr/>
          </p:nvSpPr>
          <p:spPr bwMode="auto">
            <a:xfrm>
              <a:off x="2440" y="2178"/>
              <a:ext cx="1007" cy="336"/>
            </a:xfrm>
            <a:prstGeom prst="rect">
              <a:avLst/>
            </a:prstGeom>
            <a:noFill/>
            <a:ln w="9525">
              <a:noFill/>
              <a:miter lim="800000"/>
              <a:headEnd/>
              <a:tailEnd/>
            </a:ln>
            <a:effectLst/>
          </p:spPr>
          <p:txBody>
            <a:bodyPr wrap="none">
              <a:spAutoFit/>
            </a:bodyPr>
            <a:lstStyle/>
            <a:p>
              <a:r>
                <a:rPr lang="en-US" dirty="0"/>
                <a:t>c</a:t>
              </a:r>
              <a:r>
                <a:rPr lang="en-US" baseline="-25000" dirty="0"/>
                <a:t>2</a:t>
              </a:r>
              <a:r>
                <a:rPr lang="en-US" dirty="0"/>
                <a:t> </a:t>
              </a:r>
              <a:r>
                <a:rPr lang="en-US" dirty="0">
                  <a:sym typeface="Symbol" pitchFamily="18" charset="2"/>
                </a:rPr>
                <a:t> </a:t>
              </a:r>
              <a:r>
                <a:rPr lang="en-US" dirty="0"/>
                <a:t>E(k,</a:t>
              </a:r>
              <a:r>
                <a:rPr lang="en-US" sz="2000" b="1" dirty="0"/>
                <a:t> m</a:t>
              </a:r>
              <a:r>
                <a:rPr lang="en-US" sz="2000" b="1" baseline="-25000" dirty="0"/>
                <a:t>2,b</a:t>
              </a:r>
              <a:r>
                <a:rPr lang="en-US" dirty="0"/>
                <a:t>)</a:t>
              </a:r>
            </a:p>
          </p:txBody>
        </p:sp>
      </p:grpSp>
      <p:sp>
        <p:nvSpPr>
          <p:cNvPr id="27" name="Rectangle 16">
            <a:extLst>
              <a:ext uri="{FF2B5EF4-FFF2-40B4-BE49-F238E27FC236}">
                <a16:creationId xmlns:a16="http://schemas.microsoft.com/office/drawing/2014/main" id="{220B6B3F-8B3C-F243-A59D-8879AF8E5B39}"/>
              </a:ext>
            </a:extLst>
          </p:cNvPr>
          <p:cNvSpPr>
            <a:spLocks noChangeArrowheads="1"/>
          </p:cNvSpPr>
          <p:nvPr/>
        </p:nvSpPr>
        <p:spPr bwMode="auto">
          <a:xfrm>
            <a:off x="644976" y="4502949"/>
            <a:ext cx="7924800" cy="1475183"/>
          </a:xfrm>
          <a:prstGeom prst="rect">
            <a:avLst/>
          </a:prstGeom>
          <a:noFill/>
          <a:ln w="38100">
            <a:solidFill>
              <a:schemeClr val="folHlink"/>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379761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15371"/>
                                        </p:tgtEl>
                                        <p:attrNameLst>
                                          <p:attrName>style.visibility</p:attrName>
                                        </p:attrNameLst>
                                      </p:cBhvr>
                                      <p:to>
                                        <p:strVal val="visible"/>
                                      </p:to>
                                    </p:set>
                                    <p:anim calcmode="lin" valueType="num">
                                      <p:cBhvr additive="base">
                                        <p:cTn id="12" dur="500"/>
                                        <p:tgtEl>
                                          <p:spTgt spid="15371"/>
                                        </p:tgtEl>
                                        <p:attrNameLst>
                                          <p:attrName>ppt_x</p:attrName>
                                        </p:attrNameLst>
                                      </p:cBhvr>
                                      <p:tavLst>
                                        <p:tav tm="0">
                                          <p:val>
                                            <p:strVal val="#ppt_x-#ppt_w*1.125000"/>
                                          </p:val>
                                        </p:tav>
                                        <p:tav tm="100000">
                                          <p:val>
                                            <p:strVal val="#ppt_x"/>
                                          </p:val>
                                        </p:tav>
                                      </p:tavLst>
                                    </p:anim>
                                    <p:animEffect transition="in" filter="wipe(right)">
                                      <p:cBhvr>
                                        <p:cTn id="13" dur="500"/>
                                        <p:tgtEl>
                                          <p:spTgt spid="15371"/>
                                        </p:tgtEl>
                                      </p:cBhvr>
                                    </p:animEffect>
                                  </p:childTnLst>
                                </p:cTn>
                              </p:par>
                              <p:par>
                                <p:cTn id="14" presetID="12" presetClass="entr" presetSubtype="2"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p:tgtEl>
                                          <p:spTgt spid="21"/>
                                        </p:tgtEl>
                                        <p:attrNameLst>
                                          <p:attrName>ppt_x</p:attrName>
                                        </p:attrNameLst>
                                      </p:cBhvr>
                                      <p:tavLst>
                                        <p:tav tm="0">
                                          <p:val>
                                            <p:strVal val="#ppt_x+#ppt_w*1.125000"/>
                                          </p:val>
                                        </p:tav>
                                        <p:tav tm="100000">
                                          <p:val>
                                            <p:strVal val="#ppt_x"/>
                                          </p:val>
                                        </p:tav>
                                      </p:tavLst>
                                    </p:anim>
                                    <p:animEffect transition="in" filter="wipe(left)">
                                      <p:cBhvr>
                                        <p:cTn id="17" dur="500"/>
                                        <p:tgtEl>
                                          <p:spTgt spid="21"/>
                                        </p:tgtEl>
                                      </p:cBhvr>
                                    </p:animEffect>
                                  </p:childTnLst>
                                </p:cTn>
                              </p:par>
                            </p:childTnLst>
                          </p:cTn>
                        </p:par>
                        <p:par>
                          <p:cTn id="18" fill="hold">
                            <p:stCondLst>
                              <p:cond delay="1000"/>
                            </p:stCondLst>
                            <p:childTnLst>
                              <p:par>
                                <p:cTn id="19" presetID="12" presetClass="entr" presetSubtype="8"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65253"/>
            <a:ext cx="8959963" cy="451739"/>
          </a:xfrm>
        </p:spPr>
        <p:txBody>
          <a:bodyPr>
            <a:normAutofit fontScale="90000"/>
          </a:bodyPr>
          <a:lstStyle/>
          <a:p>
            <a:r>
              <a:rPr lang="en-US" sz="3600" dirty="0"/>
              <a:t>Semantic Security for many-time key </a:t>
            </a:r>
            <a:r>
              <a:rPr lang="en-US" sz="2700" dirty="0"/>
              <a:t>(CPA security)</a:t>
            </a:r>
          </a:p>
        </p:txBody>
      </p:sp>
      <p:sp>
        <p:nvSpPr>
          <p:cNvPr id="15363" name="Rectangle 3"/>
          <p:cNvSpPr>
            <a:spLocks noGrp="1" noChangeArrowheads="1"/>
          </p:cNvSpPr>
          <p:nvPr>
            <p:ph sz="quarter" idx="13"/>
          </p:nvPr>
        </p:nvSpPr>
        <p:spPr/>
        <p:txBody>
          <a:bodyPr>
            <a:noAutofit/>
          </a:bodyPr>
          <a:lstStyle/>
          <a:p>
            <a:pPr marL="0" indent="0">
              <a:buNone/>
            </a:pPr>
            <a:r>
              <a:rPr lang="en-US" sz="2400" dirty="0">
                <a:latin typeface="Castellar" pitchFamily="18" charset="0"/>
              </a:rPr>
              <a:t>E </a:t>
            </a:r>
            <a:r>
              <a:rPr lang="en-US" sz="2400" dirty="0"/>
              <a:t>= (E,D) a cipher defined over  (K,M,C)</a:t>
            </a:r>
            <a:r>
              <a:rPr lang="en-US" sz="2400" dirty="0">
                <a:latin typeface="Castellar" pitchFamily="18" charset="0"/>
              </a:rPr>
              <a:t>. </a:t>
            </a:r>
            <a:r>
              <a:rPr lang="en-US" sz="2400" dirty="0"/>
              <a:t>For b=0,1 define EXP(b)  as:</a:t>
            </a:r>
          </a:p>
          <a:p>
            <a:pPr>
              <a:lnSpc>
                <a:spcPct val="90000"/>
              </a:lnSpc>
            </a:pPr>
            <a:endParaRPr lang="en-US" sz="2400" dirty="0"/>
          </a:p>
          <a:p>
            <a:pPr>
              <a:lnSpc>
                <a:spcPct val="90000"/>
              </a:lnSpc>
            </a:pPr>
            <a:endParaRPr lang="en-US" sz="2400" dirty="0"/>
          </a:p>
          <a:p>
            <a:pPr>
              <a:lnSpc>
                <a:spcPct val="90000"/>
              </a:lnSpc>
            </a:pPr>
            <a:endParaRPr lang="en-US" sz="2400" dirty="0"/>
          </a:p>
          <a:p>
            <a:pPr>
              <a:lnSpc>
                <a:spcPct val="90000"/>
              </a:lnSpc>
            </a:pPr>
            <a:endParaRPr lang="en-US" sz="2400" dirty="0"/>
          </a:p>
          <a:p>
            <a:pPr marL="0" indent="0">
              <a:spcBef>
                <a:spcPts val="5032"/>
              </a:spcBef>
              <a:buNone/>
            </a:pPr>
            <a:endParaRPr lang="en-US" sz="2400" dirty="0"/>
          </a:p>
          <a:p>
            <a:pPr marL="0" indent="0">
              <a:spcBef>
                <a:spcPts val="0"/>
              </a:spcBef>
              <a:buNone/>
            </a:pPr>
            <a:endParaRPr lang="en-US" sz="2400" dirty="0"/>
          </a:p>
          <a:p>
            <a:pPr marL="0" indent="0">
              <a:spcBef>
                <a:spcPts val="0"/>
              </a:spcBef>
              <a:buNone/>
            </a:pPr>
            <a:r>
              <a:rPr lang="en-US" sz="2400" dirty="0"/>
              <a:t>Def: </a:t>
            </a:r>
            <a:r>
              <a:rPr lang="en-US" sz="2400" dirty="0">
                <a:latin typeface="Castellar" pitchFamily="18" charset="0"/>
              </a:rPr>
              <a:t>E</a:t>
            </a:r>
            <a:r>
              <a:rPr lang="en-US" sz="2400" dirty="0"/>
              <a:t> is sem. sec. under CPA if for all “efficient”  A: </a:t>
            </a:r>
          </a:p>
          <a:p>
            <a:pPr marL="0" indent="0">
              <a:spcBef>
                <a:spcPts val="0"/>
              </a:spcBef>
              <a:buNone/>
            </a:pPr>
            <a:r>
              <a:rPr lang="en-US" sz="2400" dirty="0" err="1">
                <a:solidFill>
                  <a:schemeClr val="accent2"/>
                </a:solidFill>
              </a:rPr>
              <a:t>Adv</a:t>
            </a:r>
            <a:r>
              <a:rPr lang="en-US" sz="2400" baseline="-25000" dirty="0" err="1">
                <a:solidFill>
                  <a:schemeClr val="accent2"/>
                </a:solidFill>
              </a:rPr>
              <a:t>CPA</a:t>
            </a:r>
            <a:r>
              <a:rPr lang="en-US" sz="2400" dirty="0">
                <a:solidFill>
                  <a:schemeClr val="accent2"/>
                </a:solidFill>
              </a:rPr>
              <a:t> [A,</a:t>
            </a:r>
            <a:r>
              <a:rPr lang="en-US" sz="2400" dirty="0">
                <a:latin typeface="Castellar" pitchFamily="18" charset="0"/>
              </a:rPr>
              <a:t>E</a:t>
            </a:r>
            <a:r>
              <a:rPr lang="en-US" sz="2400" dirty="0">
                <a:solidFill>
                  <a:schemeClr val="accent2"/>
                </a:solidFill>
              </a:rPr>
              <a:t>]  =  |</a:t>
            </a:r>
            <a:r>
              <a:rPr lang="en-US" sz="2400" dirty="0" err="1">
                <a:solidFill>
                  <a:schemeClr val="accent2"/>
                </a:solidFill>
              </a:rPr>
              <a:t>Pr</a:t>
            </a:r>
            <a:r>
              <a:rPr lang="en-US" sz="2400" dirty="0">
                <a:solidFill>
                  <a:schemeClr val="accent2"/>
                </a:solidFill>
              </a:rPr>
              <a:t>[EXP(0)=1] – </a:t>
            </a:r>
            <a:r>
              <a:rPr lang="en-US" sz="2400" dirty="0" err="1">
                <a:solidFill>
                  <a:schemeClr val="accent2"/>
                </a:solidFill>
              </a:rPr>
              <a:t>Pr</a:t>
            </a:r>
            <a:r>
              <a:rPr lang="en-US" sz="2400" dirty="0">
                <a:solidFill>
                  <a:schemeClr val="accent2"/>
                </a:solidFill>
              </a:rPr>
              <a:t>[EXP(1)=1] | </a:t>
            </a:r>
            <a:r>
              <a:rPr lang="en-US" sz="2400" dirty="0"/>
              <a:t>is “negligible.”</a:t>
            </a:r>
          </a:p>
        </p:txBody>
      </p:sp>
      <p:grpSp>
        <p:nvGrpSpPr>
          <p:cNvPr id="2" name="Group 1">
            <a:extLst>
              <a:ext uri="{FF2B5EF4-FFF2-40B4-BE49-F238E27FC236}">
                <a16:creationId xmlns:a16="http://schemas.microsoft.com/office/drawing/2014/main" id="{916F56DF-AEA9-9111-DBCB-FADED830B4AE}"/>
              </a:ext>
            </a:extLst>
          </p:cNvPr>
          <p:cNvGrpSpPr/>
          <p:nvPr/>
        </p:nvGrpSpPr>
        <p:grpSpPr>
          <a:xfrm>
            <a:off x="130118" y="1731818"/>
            <a:ext cx="8883763" cy="2595266"/>
            <a:chOff x="76200" y="2133600"/>
            <a:chExt cx="8883763" cy="2595266"/>
          </a:xfrm>
        </p:grpSpPr>
        <p:sp>
          <p:nvSpPr>
            <p:cNvPr id="15364" name="Rectangle 4"/>
            <p:cNvSpPr>
              <a:spLocks noChangeArrowheads="1"/>
            </p:cNvSpPr>
            <p:nvPr/>
          </p:nvSpPr>
          <p:spPr bwMode="auto">
            <a:xfrm>
              <a:off x="1295400" y="2438400"/>
              <a:ext cx="1295400" cy="16764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15365" name="Line 5"/>
            <p:cNvSpPr>
              <a:spLocks noChangeShapeType="1"/>
            </p:cNvSpPr>
            <p:nvPr/>
          </p:nvSpPr>
          <p:spPr bwMode="auto">
            <a:xfrm flipV="1">
              <a:off x="76200" y="2735759"/>
              <a:ext cx="1219200" cy="19050"/>
            </a:xfrm>
            <a:prstGeom prst="line">
              <a:avLst/>
            </a:prstGeom>
            <a:noFill/>
            <a:ln w="9525">
              <a:solidFill>
                <a:schemeClr val="tx1"/>
              </a:solidFill>
              <a:round/>
              <a:headEnd/>
              <a:tailEnd type="triangle" w="med" len="med"/>
            </a:ln>
            <a:effectLst/>
          </p:spPr>
          <p:txBody>
            <a:bodyPr/>
            <a:lstStyle/>
            <a:p>
              <a:endParaRPr lang="en-US"/>
            </a:p>
          </p:txBody>
        </p:sp>
        <p:sp>
          <p:nvSpPr>
            <p:cNvPr id="15366" name="Text Box 6"/>
            <p:cNvSpPr txBox="1">
              <a:spLocks noChangeArrowheads="1"/>
            </p:cNvSpPr>
            <p:nvPr/>
          </p:nvSpPr>
          <p:spPr bwMode="auto">
            <a:xfrm>
              <a:off x="76200" y="2369345"/>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15367" name="Rectangle 7"/>
            <p:cNvSpPr>
              <a:spLocks noChangeArrowheads="1"/>
            </p:cNvSpPr>
            <p:nvPr/>
          </p:nvSpPr>
          <p:spPr bwMode="auto">
            <a:xfrm>
              <a:off x="6477000" y="2438400"/>
              <a:ext cx="1295400" cy="1676400"/>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15368" name="Text Box 8"/>
            <p:cNvSpPr txBox="1">
              <a:spLocks noChangeArrowheads="1"/>
            </p:cNvSpPr>
            <p:nvPr/>
          </p:nvSpPr>
          <p:spPr bwMode="auto">
            <a:xfrm>
              <a:off x="1600202" y="2792017"/>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3" name="Group 2"/>
            <p:cNvGrpSpPr/>
            <p:nvPr/>
          </p:nvGrpSpPr>
          <p:grpSpPr>
            <a:xfrm>
              <a:off x="7742963" y="3534048"/>
              <a:ext cx="1217000" cy="542244"/>
              <a:chOff x="7742966" y="2562906"/>
              <a:chExt cx="1217000" cy="542244"/>
            </a:xfrm>
          </p:grpSpPr>
          <p:sp>
            <p:nvSpPr>
              <p:cNvPr id="15374" name="Line 14"/>
              <p:cNvSpPr>
                <a:spLocks noChangeShapeType="1"/>
              </p:cNvSpPr>
              <p:nvPr/>
            </p:nvSpPr>
            <p:spPr bwMode="auto">
              <a:xfrm flipV="1">
                <a:off x="7772400" y="3105150"/>
                <a:ext cx="1066800" cy="0"/>
              </a:xfrm>
              <a:prstGeom prst="line">
                <a:avLst/>
              </a:prstGeom>
              <a:noFill/>
              <a:ln w="9525">
                <a:solidFill>
                  <a:schemeClr val="tx1"/>
                </a:solidFill>
                <a:round/>
                <a:headEnd/>
                <a:tailEnd type="triangle" w="med" len="med"/>
              </a:ln>
              <a:effectLst/>
            </p:spPr>
            <p:txBody>
              <a:bodyPr/>
              <a:lstStyle/>
              <a:p>
                <a:endParaRPr lang="en-US"/>
              </a:p>
            </p:txBody>
          </p:sp>
          <p:sp>
            <p:nvSpPr>
              <p:cNvPr id="15375" name="Text Box 15"/>
              <p:cNvSpPr txBox="1">
                <a:spLocks noChangeArrowheads="1"/>
              </p:cNvSpPr>
              <p:nvPr/>
            </p:nvSpPr>
            <p:spPr bwMode="auto">
              <a:xfrm>
                <a:off x="7742966" y="2562906"/>
                <a:ext cx="1217000" cy="461665"/>
              </a:xfrm>
              <a:prstGeom prst="rect">
                <a:avLst/>
              </a:prstGeom>
              <a:noFill/>
              <a:ln w="9525">
                <a:noFill/>
                <a:miter lim="800000"/>
                <a:headEnd/>
                <a:tailEnd/>
              </a:ln>
              <a:effectLst/>
            </p:spPr>
            <p:txBody>
              <a:bodyPr wrap="none">
                <a:spAutoFit/>
              </a:bodyPr>
              <a:lstStyle/>
              <a:p>
                <a:r>
                  <a:rPr lang="en-US" sz="2400" dirty="0"/>
                  <a:t>b’ </a:t>
                </a:r>
                <a:r>
                  <a:rPr lang="en-US" sz="2000" dirty="0">
                    <a:sym typeface="Symbol" pitchFamily="18" charset="2"/>
                  </a:rPr>
                  <a:t> {0,1}</a:t>
                </a:r>
                <a:endParaRPr lang="en-US" sz="2000" dirty="0"/>
              </a:p>
            </p:txBody>
          </p:sp>
        </p:grpSp>
        <p:sp>
          <p:nvSpPr>
            <p:cNvPr id="15376" name="Rectangle 16"/>
            <p:cNvSpPr>
              <a:spLocks noChangeArrowheads="1"/>
            </p:cNvSpPr>
            <p:nvPr/>
          </p:nvSpPr>
          <p:spPr bwMode="auto">
            <a:xfrm>
              <a:off x="609600" y="2133600"/>
              <a:ext cx="7924800" cy="2133600"/>
            </a:xfrm>
            <a:prstGeom prst="rect">
              <a:avLst/>
            </a:prstGeom>
            <a:noFill/>
            <a:ln w="38100">
              <a:solidFill>
                <a:schemeClr val="folHlink"/>
              </a:solidFill>
              <a:miter lim="800000"/>
              <a:headEnd/>
              <a:tailEnd/>
            </a:ln>
            <a:effectLst/>
          </p:spPr>
          <p:txBody>
            <a:bodyPr wrap="none" anchor="ctr"/>
            <a:lstStyle/>
            <a:p>
              <a:endParaRPr lang="en-US"/>
            </a:p>
          </p:txBody>
        </p:sp>
        <p:grpSp>
          <p:nvGrpSpPr>
            <p:cNvPr id="7" name="Group 6"/>
            <p:cNvGrpSpPr/>
            <p:nvPr/>
          </p:nvGrpSpPr>
          <p:grpSpPr>
            <a:xfrm>
              <a:off x="2667001" y="2743201"/>
              <a:ext cx="3810000" cy="400110"/>
              <a:chOff x="2667000" y="2376632"/>
              <a:chExt cx="3810000" cy="400109"/>
            </a:xfrm>
          </p:grpSpPr>
          <p:sp>
            <p:nvSpPr>
              <p:cNvPr id="31" name="Line 9"/>
              <p:cNvSpPr>
                <a:spLocks noChangeShapeType="1"/>
              </p:cNvSpPr>
              <p:nvPr/>
            </p:nvSpPr>
            <p:spPr bwMode="auto">
              <a:xfrm flipH="1">
                <a:off x="2667000" y="2771772"/>
                <a:ext cx="3810000" cy="0"/>
              </a:xfrm>
              <a:prstGeom prst="line">
                <a:avLst/>
              </a:prstGeom>
              <a:noFill/>
              <a:ln w="9525">
                <a:solidFill>
                  <a:schemeClr val="tx1"/>
                </a:solidFill>
                <a:round/>
                <a:headEnd/>
                <a:tailEnd type="triangle" w="med" len="med"/>
              </a:ln>
              <a:effectLst/>
            </p:spPr>
            <p:txBody>
              <a:bodyPr/>
              <a:lstStyle/>
              <a:p>
                <a:endParaRPr lang="en-US"/>
              </a:p>
            </p:txBody>
          </p:sp>
          <p:sp>
            <p:nvSpPr>
              <p:cNvPr id="32" name="Text Box 10"/>
              <p:cNvSpPr txBox="1">
                <a:spLocks noChangeArrowheads="1"/>
              </p:cNvSpPr>
              <p:nvPr/>
            </p:nvSpPr>
            <p:spPr bwMode="auto">
              <a:xfrm>
                <a:off x="3048000" y="2376632"/>
                <a:ext cx="3248005" cy="400109"/>
              </a:xfrm>
              <a:prstGeom prst="rect">
                <a:avLst/>
              </a:prstGeom>
              <a:noFill/>
              <a:ln w="9525">
                <a:noFill/>
                <a:miter lim="800000"/>
                <a:headEnd/>
                <a:tailEnd/>
              </a:ln>
              <a:effectLst/>
            </p:spPr>
            <p:txBody>
              <a:bodyPr wrap="none">
                <a:spAutoFit/>
              </a:bodyPr>
              <a:lstStyle/>
              <a:p>
                <a:r>
                  <a:rPr lang="en-US" sz="2000" dirty="0"/>
                  <a:t>m</a:t>
                </a:r>
                <a:r>
                  <a:rPr lang="en-US" sz="2000" baseline="-25000" dirty="0"/>
                  <a:t>i,0</a:t>
                </a:r>
                <a:r>
                  <a:rPr lang="en-US" sz="2000" dirty="0"/>
                  <a:t> , m</a:t>
                </a:r>
                <a:r>
                  <a:rPr lang="en-US" sz="2000" baseline="-25000" dirty="0"/>
                  <a:t>i,1  </a:t>
                </a:r>
                <a:r>
                  <a:rPr lang="en-US" dirty="0">
                    <a:sym typeface="Symbol" pitchFamily="18" charset="2"/>
                  </a:rPr>
                  <a:t> M :    |m</a:t>
                </a:r>
                <a:r>
                  <a:rPr lang="en-US" baseline="-25000" dirty="0">
                    <a:sym typeface="Symbol" pitchFamily="18" charset="2"/>
                  </a:rPr>
                  <a:t>i,0</a:t>
                </a:r>
                <a:r>
                  <a:rPr lang="en-US" dirty="0">
                    <a:sym typeface="Symbol" pitchFamily="18" charset="2"/>
                  </a:rPr>
                  <a:t>| = |m</a:t>
                </a:r>
                <a:r>
                  <a:rPr lang="en-US" baseline="-25000" dirty="0">
                    <a:sym typeface="Symbol" pitchFamily="18" charset="2"/>
                  </a:rPr>
                  <a:t>i,1</a:t>
                </a:r>
                <a:r>
                  <a:rPr lang="en-US" dirty="0">
                    <a:sym typeface="Symbol" pitchFamily="18" charset="2"/>
                  </a:rPr>
                  <a:t>|</a:t>
                </a:r>
              </a:p>
            </p:txBody>
          </p:sp>
        </p:grpSp>
        <p:grpSp>
          <p:nvGrpSpPr>
            <p:cNvPr id="33" name="Group 11"/>
            <p:cNvGrpSpPr>
              <a:grpSpLocks/>
            </p:cNvGrpSpPr>
            <p:nvPr/>
          </p:nvGrpSpPr>
          <p:grpSpPr bwMode="auto">
            <a:xfrm>
              <a:off x="2667000" y="3333753"/>
              <a:ext cx="3733800" cy="400051"/>
              <a:chOff x="1776" y="2194"/>
              <a:chExt cx="2352" cy="336"/>
            </a:xfrm>
          </p:grpSpPr>
          <p:sp>
            <p:nvSpPr>
              <p:cNvPr id="34" name="Line 12"/>
              <p:cNvSpPr>
                <a:spLocks noChangeShapeType="1"/>
              </p:cNvSpPr>
              <p:nvPr/>
            </p:nvSpPr>
            <p:spPr bwMode="auto">
              <a:xfrm>
                <a:off x="1776" y="2274"/>
                <a:ext cx="2352" cy="0"/>
              </a:xfrm>
              <a:prstGeom prst="line">
                <a:avLst/>
              </a:prstGeom>
              <a:noFill/>
              <a:ln w="9525">
                <a:solidFill>
                  <a:schemeClr val="tx1"/>
                </a:solidFill>
                <a:round/>
                <a:headEnd/>
                <a:tailEnd type="triangle" w="med" len="med"/>
              </a:ln>
              <a:effectLst/>
            </p:spPr>
            <p:txBody>
              <a:bodyPr/>
              <a:lstStyle/>
              <a:p>
                <a:endParaRPr lang="en-US"/>
              </a:p>
            </p:txBody>
          </p:sp>
          <p:sp>
            <p:nvSpPr>
              <p:cNvPr id="35" name="Text Box 13"/>
              <p:cNvSpPr txBox="1">
                <a:spLocks noChangeArrowheads="1"/>
              </p:cNvSpPr>
              <p:nvPr/>
            </p:nvSpPr>
            <p:spPr bwMode="auto">
              <a:xfrm>
                <a:off x="2440" y="2194"/>
                <a:ext cx="964" cy="336"/>
              </a:xfrm>
              <a:prstGeom prst="rect">
                <a:avLst/>
              </a:prstGeom>
              <a:noFill/>
              <a:ln w="9525">
                <a:noFill/>
                <a:miter lim="800000"/>
                <a:headEnd/>
                <a:tailEnd/>
              </a:ln>
              <a:effectLst/>
            </p:spPr>
            <p:txBody>
              <a:bodyPr wrap="none">
                <a:spAutoFit/>
              </a:bodyPr>
              <a:lstStyle/>
              <a:p>
                <a:r>
                  <a:rPr lang="en-US" sz="2000" dirty="0"/>
                  <a:t>c</a:t>
                </a:r>
                <a:r>
                  <a:rPr lang="en-US" sz="2000" baseline="-25000" dirty="0"/>
                  <a:t>i</a:t>
                </a:r>
                <a:r>
                  <a:rPr lang="en-US" sz="2000" dirty="0"/>
                  <a:t> </a:t>
                </a:r>
                <a:r>
                  <a:rPr lang="en-US" dirty="0">
                    <a:sym typeface="Symbol" pitchFamily="18" charset="2"/>
                  </a:rPr>
                  <a:t> </a:t>
                </a:r>
                <a:r>
                  <a:rPr lang="en-US" dirty="0"/>
                  <a:t>E(k,</a:t>
                </a:r>
                <a:r>
                  <a:rPr lang="en-US" sz="2000" b="1" dirty="0"/>
                  <a:t> </a:t>
                </a:r>
                <a:r>
                  <a:rPr lang="en-US" sz="2000" b="1" dirty="0" err="1"/>
                  <a:t>m</a:t>
                </a:r>
                <a:r>
                  <a:rPr lang="en-US" sz="2000" b="1" baseline="-25000" dirty="0" err="1"/>
                  <a:t>i,b</a:t>
                </a:r>
                <a:r>
                  <a:rPr lang="en-US" dirty="0"/>
                  <a:t>)</a:t>
                </a:r>
              </a:p>
            </p:txBody>
          </p:sp>
        </p:grpSp>
        <p:sp>
          <p:nvSpPr>
            <p:cNvPr id="5" name="TextBox 4"/>
            <p:cNvSpPr txBox="1"/>
            <p:nvPr/>
          </p:nvSpPr>
          <p:spPr>
            <a:xfrm>
              <a:off x="1371600" y="4267201"/>
              <a:ext cx="7122912" cy="461665"/>
            </a:xfrm>
            <a:prstGeom prst="rect">
              <a:avLst/>
            </a:prstGeom>
            <a:noFill/>
          </p:spPr>
          <p:txBody>
            <a:bodyPr wrap="none" rtlCol="0">
              <a:spAutoFit/>
            </a:bodyPr>
            <a:lstStyle/>
            <a:p>
              <a:r>
                <a:rPr lang="en-US" sz="2400" dirty="0"/>
                <a:t>if adv. wants  c = E(k, m)  it queries with  m</a:t>
              </a:r>
              <a:r>
                <a:rPr lang="en-US" sz="2400" baseline="-25000" dirty="0"/>
                <a:t>j,0</a:t>
              </a:r>
              <a:r>
                <a:rPr lang="en-US" sz="2400" dirty="0"/>
                <a:t>= m</a:t>
              </a:r>
              <a:r>
                <a:rPr lang="en-US" sz="2400" baseline="-25000" dirty="0"/>
                <a:t>j,1</a:t>
              </a:r>
              <a:r>
                <a:rPr lang="en-US" sz="2400" dirty="0"/>
                <a:t>=m</a:t>
              </a:r>
              <a:r>
                <a:rPr lang="en-US" sz="2400" baseline="-25000" dirty="0"/>
                <a:t> </a:t>
              </a:r>
              <a:r>
                <a:rPr lang="en-US" sz="2400" dirty="0"/>
                <a:t>  </a:t>
              </a:r>
              <a:r>
                <a:rPr lang="en-US" sz="2400" baseline="-25000" dirty="0"/>
                <a:t> </a:t>
              </a:r>
              <a:r>
                <a:rPr lang="en-US" sz="2400" dirty="0"/>
                <a:t>  </a:t>
              </a:r>
              <a:endParaRPr lang="en-US" sz="2400" baseline="-25000" dirty="0"/>
            </a:p>
          </p:txBody>
        </p:sp>
        <p:sp>
          <p:nvSpPr>
            <p:cNvPr id="27" name="TextBox 26"/>
            <p:cNvSpPr txBox="1"/>
            <p:nvPr/>
          </p:nvSpPr>
          <p:spPr>
            <a:xfrm>
              <a:off x="2895601" y="2286000"/>
              <a:ext cx="1480918" cy="400110"/>
            </a:xfrm>
            <a:prstGeom prst="rect">
              <a:avLst/>
            </a:prstGeom>
            <a:noFill/>
          </p:spPr>
          <p:txBody>
            <a:bodyPr wrap="none" rtlCol="0">
              <a:spAutoFit/>
            </a:bodyPr>
            <a:lstStyle/>
            <a:p>
              <a:r>
                <a:rPr lang="en-US" sz="2000" dirty="0"/>
                <a:t>for </a:t>
              </a:r>
              <a:r>
                <a:rPr lang="en-US" sz="2000" dirty="0" err="1"/>
                <a:t>i</a:t>
              </a:r>
              <a:r>
                <a:rPr lang="en-US" sz="2000" dirty="0"/>
                <a:t>=1,…,q:  </a:t>
              </a:r>
            </a:p>
          </p:txBody>
        </p:sp>
      </p:grpSp>
    </p:spTree>
    <p:extLst>
      <p:ext uri="{BB962C8B-B14F-4D97-AF65-F5344CB8AC3E}">
        <p14:creationId xmlns:p14="http://schemas.microsoft.com/office/powerpoint/2010/main" val="11365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r>
              <a:rPr lang="en-US" sz="3600" b="1" dirty="0" err="1"/>
              <a:t>Bản</a:t>
            </a:r>
            <a:r>
              <a:rPr lang="en-US" sz="3600" b="1" dirty="0"/>
              <a:t> </a:t>
            </a:r>
            <a:r>
              <a:rPr lang="en-US" sz="3600" b="1" dirty="0" err="1"/>
              <a:t>mã</a:t>
            </a:r>
            <a:r>
              <a:rPr lang="en-US" sz="3600" b="1" dirty="0"/>
              <a:t> </a:t>
            </a:r>
            <a:r>
              <a:rPr lang="en-US" sz="3600" b="1" dirty="0" err="1"/>
              <a:t>không</a:t>
            </a:r>
            <a:r>
              <a:rPr lang="en-US" sz="3600" b="1" dirty="0"/>
              <a:t> </a:t>
            </a:r>
            <a:r>
              <a:rPr lang="en-US" sz="3600" b="1" dirty="0" err="1"/>
              <a:t>bảo</a:t>
            </a:r>
            <a:r>
              <a:rPr lang="en-US" sz="3600" b="1" dirty="0"/>
              <a:t> </a:t>
            </a:r>
            <a:r>
              <a:rPr lang="en-US" sz="3600" b="1" dirty="0" err="1"/>
              <a:t>mật</a:t>
            </a:r>
            <a:r>
              <a:rPr lang="en-US" sz="3600" b="1" dirty="0"/>
              <a:t> </a:t>
            </a:r>
            <a:r>
              <a:rPr lang="en-US" sz="3600" b="1" dirty="0" err="1"/>
              <a:t>dưới</a:t>
            </a:r>
            <a:r>
              <a:rPr lang="en-US" sz="3600" b="1" dirty="0"/>
              <a:t> </a:t>
            </a:r>
            <a:r>
              <a:rPr lang="en-US" sz="3600" b="1" dirty="0" err="1"/>
              <a:t>tấn</a:t>
            </a:r>
            <a:r>
              <a:rPr lang="en-US" sz="3600" b="1" dirty="0"/>
              <a:t> </a:t>
            </a:r>
            <a:r>
              <a:rPr lang="en-US" sz="3600" b="1" dirty="0" err="1"/>
              <a:t>công</a:t>
            </a:r>
            <a:r>
              <a:rPr lang="en-US" sz="3600" b="1" dirty="0"/>
              <a:t> CPA</a:t>
            </a:r>
          </a:p>
        </p:txBody>
      </p:sp>
      <p:sp>
        <p:nvSpPr>
          <p:cNvPr id="20483" name="Rectangle 3"/>
          <p:cNvSpPr>
            <a:spLocks noGrp="1" noChangeArrowheads="1"/>
          </p:cNvSpPr>
          <p:nvPr>
            <p:ph sz="quarter" idx="13"/>
          </p:nvPr>
        </p:nvSpPr>
        <p:spPr>
          <a:xfrm>
            <a:off x="411515" y="822193"/>
            <a:ext cx="8314332" cy="5421007"/>
          </a:xfrm>
        </p:spPr>
        <p:txBody>
          <a:bodyPr>
            <a:normAutofit fontScale="92500" lnSpcReduction="10000"/>
          </a:bodyPr>
          <a:lstStyle/>
          <a:p>
            <a:pPr marL="57149" indent="0">
              <a:spcBef>
                <a:spcPts val="1200"/>
              </a:spcBef>
              <a:buNone/>
            </a:pPr>
            <a:r>
              <a:rPr lang="en-US" dirty="0" err="1"/>
              <a:t>Giả</a:t>
            </a:r>
            <a:r>
              <a:rPr lang="en-US" dirty="0"/>
              <a:t> </a:t>
            </a:r>
            <a:r>
              <a:rPr lang="en-US" dirty="0" err="1"/>
              <a:t>sử</a:t>
            </a:r>
            <a:r>
              <a:rPr lang="en-US" dirty="0"/>
              <a:t> E(</a:t>
            </a:r>
            <a:r>
              <a:rPr lang="en-US" dirty="0" err="1"/>
              <a:t>k,m</a:t>
            </a:r>
            <a:r>
              <a:rPr lang="en-US" dirty="0"/>
              <a:t>) </a:t>
            </a:r>
            <a:r>
              <a:rPr lang="en-US" dirty="0" err="1"/>
              <a:t>luôn</a:t>
            </a:r>
            <a:r>
              <a:rPr lang="en-US" dirty="0"/>
              <a:t> </a:t>
            </a:r>
            <a:r>
              <a:rPr lang="en-US" dirty="0" err="1"/>
              <a:t>có</a:t>
            </a:r>
            <a:r>
              <a:rPr lang="en-US" dirty="0"/>
              <a:t> </a:t>
            </a:r>
            <a:r>
              <a:rPr lang="en-US" dirty="0" err="1"/>
              <a:t>đầu</a:t>
            </a:r>
            <a:r>
              <a:rPr lang="en-US" dirty="0"/>
              <a:t> ra </a:t>
            </a:r>
            <a:r>
              <a:rPr lang="en-US" dirty="0" err="1"/>
              <a:t>như</a:t>
            </a:r>
            <a:r>
              <a:rPr lang="en-US" dirty="0"/>
              <a:t> </a:t>
            </a:r>
            <a:r>
              <a:rPr lang="en-US" dirty="0" err="1"/>
              <a:t>nhau</a:t>
            </a:r>
            <a:r>
              <a:rPr lang="en-US" dirty="0"/>
              <a:t> (same ciphertext) </a:t>
            </a:r>
            <a:r>
              <a:rPr lang="en-US" dirty="0" err="1"/>
              <a:t>với</a:t>
            </a:r>
            <a:r>
              <a:rPr lang="en-US" dirty="0"/>
              <a:t> </a:t>
            </a:r>
            <a:r>
              <a:rPr lang="en-US" dirty="0" err="1"/>
              <a:t>bản</a:t>
            </a:r>
            <a:r>
              <a:rPr lang="en-US" dirty="0"/>
              <a:t> </a:t>
            </a:r>
            <a:r>
              <a:rPr lang="en-US" dirty="0" err="1"/>
              <a:t>tim</a:t>
            </a:r>
            <a:r>
              <a:rPr lang="en-US" dirty="0"/>
              <a:t> m. Do </a:t>
            </a:r>
            <a:r>
              <a:rPr lang="en-US" dirty="0" err="1"/>
              <a:t>đó</a:t>
            </a:r>
            <a:r>
              <a:rPr lang="en-US" dirty="0"/>
              <a:t>:</a:t>
            </a:r>
          </a:p>
          <a:p>
            <a:pPr>
              <a:buFontTx/>
              <a:buNone/>
            </a:pPr>
            <a:endParaRPr lang="en-US" dirty="0"/>
          </a:p>
          <a:p>
            <a:pPr>
              <a:buFontTx/>
              <a:buNone/>
            </a:pPr>
            <a:endParaRPr lang="en-US" dirty="0"/>
          </a:p>
          <a:p>
            <a:pPr>
              <a:buFontTx/>
              <a:buNone/>
            </a:pPr>
            <a:endParaRPr lang="en-US" dirty="0"/>
          </a:p>
          <a:p>
            <a:pPr marL="0" indent="0">
              <a:buNone/>
            </a:pPr>
            <a:endParaRPr lang="en-US" dirty="0"/>
          </a:p>
          <a:p>
            <a:pPr marL="0" indent="0">
              <a:spcBef>
                <a:spcPts val="624"/>
              </a:spcBef>
              <a:buNone/>
            </a:pPr>
            <a:endParaRPr lang="en-US" dirty="0"/>
          </a:p>
          <a:p>
            <a:pPr marL="0" indent="0">
              <a:spcBef>
                <a:spcPts val="624"/>
              </a:spcBef>
              <a:buNone/>
            </a:pPr>
            <a:endParaRPr lang="en-US" dirty="0"/>
          </a:p>
          <a:p>
            <a:pPr marL="0" indent="0">
              <a:spcBef>
                <a:spcPts val="624"/>
              </a:spcBef>
              <a:buNone/>
            </a:pPr>
            <a:r>
              <a:rPr lang="en-US" dirty="0"/>
              <a:t>So what? </a:t>
            </a:r>
            <a:r>
              <a:rPr lang="en-US" dirty="0" err="1"/>
              <a:t>Kẻ</a:t>
            </a:r>
            <a:r>
              <a:rPr lang="en-US" dirty="0"/>
              <a:t> </a:t>
            </a:r>
            <a:r>
              <a:rPr lang="en-US" dirty="0" err="1"/>
              <a:t>tấn</a:t>
            </a:r>
            <a:r>
              <a:rPr lang="en-US" dirty="0"/>
              <a:t> </a:t>
            </a:r>
            <a:r>
              <a:rPr lang="en-US" dirty="0" err="1"/>
              <a:t>công</a:t>
            </a:r>
            <a:r>
              <a:rPr lang="en-US" dirty="0"/>
              <a:t> </a:t>
            </a:r>
            <a:r>
              <a:rPr lang="en-US" dirty="0" err="1"/>
              <a:t>có</a:t>
            </a:r>
            <a:r>
              <a:rPr lang="en-US" dirty="0"/>
              <a:t> </a:t>
            </a:r>
            <a:r>
              <a:rPr lang="en-US" dirty="0" err="1"/>
              <a:t>thể</a:t>
            </a:r>
            <a:r>
              <a:rPr lang="en-US" dirty="0"/>
              <a:t> </a:t>
            </a:r>
            <a:r>
              <a:rPr lang="en-US" dirty="0" err="1"/>
              <a:t>học</a:t>
            </a:r>
            <a:r>
              <a:rPr lang="en-US" dirty="0"/>
              <a:t> </a:t>
            </a:r>
            <a:r>
              <a:rPr lang="en-US" dirty="0" err="1"/>
              <a:t>được</a:t>
            </a:r>
            <a:r>
              <a:rPr lang="en-US" dirty="0"/>
              <a:t> </a:t>
            </a:r>
            <a:r>
              <a:rPr lang="en-US" dirty="0" err="1"/>
              <a:t>khi</a:t>
            </a:r>
            <a:r>
              <a:rPr lang="en-US" dirty="0"/>
              <a:t> </a:t>
            </a:r>
            <a:r>
              <a:rPr lang="en-US" dirty="0" err="1"/>
              <a:t>nào</a:t>
            </a:r>
            <a:r>
              <a:rPr lang="en-US" dirty="0"/>
              <a:t> </a:t>
            </a:r>
            <a:r>
              <a:rPr lang="en-US" dirty="0" err="1"/>
              <a:t>thì</a:t>
            </a:r>
            <a:r>
              <a:rPr lang="en-US" dirty="0"/>
              <a:t> 2 file </a:t>
            </a:r>
            <a:r>
              <a:rPr lang="en-US" dirty="0" err="1"/>
              <a:t>được</a:t>
            </a:r>
            <a:r>
              <a:rPr lang="en-US" dirty="0"/>
              <a:t> </a:t>
            </a:r>
            <a:r>
              <a:rPr lang="en-US" dirty="0" err="1"/>
              <a:t>mã</a:t>
            </a:r>
            <a:r>
              <a:rPr lang="en-US" dirty="0"/>
              <a:t> </a:t>
            </a:r>
            <a:r>
              <a:rPr lang="en-US" dirty="0" err="1"/>
              <a:t>hoá</a:t>
            </a:r>
            <a:r>
              <a:rPr lang="en-US" dirty="0"/>
              <a:t> </a:t>
            </a:r>
            <a:r>
              <a:rPr lang="en-US" dirty="0" err="1"/>
              <a:t>là</a:t>
            </a:r>
            <a:r>
              <a:rPr lang="en-US" dirty="0"/>
              <a:t> </a:t>
            </a:r>
            <a:r>
              <a:rPr lang="en-US" dirty="0" err="1"/>
              <a:t>như</a:t>
            </a:r>
            <a:r>
              <a:rPr lang="en-US" dirty="0"/>
              <a:t> </a:t>
            </a:r>
            <a:r>
              <a:rPr lang="en-US" dirty="0" err="1"/>
              <a:t>nhau</a:t>
            </a:r>
            <a:r>
              <a:rPr lang="en-US" dirty="0"/>
              <a:t>, </a:t>
            </a:r>
            <a:r>
              <a:rPr lang="en-US" dirty="0" err="1"/>
              <a:t>hai</a:t>
            </a:r>
            <a:r>
              <a:rPr lang="en-US" dirty="0"/>
              <a:t> </a:t>
            </a:r>
            <a:r>
              <a:rPr lang="en-US" dirty="0" err="1"/>
              <a:t>gói</a:t>
            </a:r>
            <a:r>
              <a:rPr lang="en-US" dirty="0"/>
              <a:t> tin </a:t>
            </a:r>
            <a:r>
              <a:rPr lang="en-US" dirty="0" err="1"/>
              <a:t>được</a:t>
            </a:r>
            <a:r>
              <a:rPr lang="en-US" dirty="0"/>
              <a:t> </a:t>
            </a:r>
            <a:r>
              <a:rPr lang="en-US" dirty="0" err="1"/>
              <a:t>mã</a:t>
            </a:r>
            <a:r>
              <a:rPr lang="en-US" dirty="0"/>
              <a:t> </a:t>
            </a:r>
            <a:r>
              <a:rPr lang="en-US" dirty="0" err="1"/>
              <a:t>hoá</a:t>
            </a:r>
            <a:r>
              <a:rPr lang="en-US" dirty="0"/>
              <a:t> </a:t>
            </a:r>
            <a:r>
              <a:rPr lang="en-US" dirty="0" err="1"/>
              <a:t>là</a:t>
            </a:r>
            <a:r>
              <a:rPr lang="en-US" dirty="0"/>
              <a:t> </a:t>
            </a:r>
            <a:r>
              <a:rPr lang="en-US" dirty="0" err="1"/>
              <a:t>như</a:t>
            </a:r>
            <a:r>
              <a:rPr lang="en-US" dirty="0"/>
              <a:t> </a:t>
            </a:r>
            <a:r>
              <a:rPr lang="en-US" dirty="0" err="1"/>
              <a:t>nhau</a:t>
            </a:r>
            <a:r>
              <a:rPr lang="en-US" dirty="0"/>
              <a:t>, etc.  </a:t>
            </a:r>
          </a:p>
          <a:p>
            <a:pPr marL="0" indent="0">
              <a:spcBef>
                <a:spcPts val="624"/>
              </a:spcBef>
              <a:buNone/>
            </a:pPr>
            <a:r>
              <a:rPr lang="en-US" dirty="0" err="1"/>
              <a:t>Dẫn</a:t>
            </a:r>
            <a:r>
              <a:rPr lang="en-US" dirty="0"/>
              <a:t> </a:t>
            </a:r>
            <a:r>
              <a:rPr lang="en-US" dirty="0" err="1"/>
              <a:t>tới</a:t>
            </a:r>
            <a:r>
              <a:rPr lang="en-US" dirty="0"/>
              <a:t> </a:t>
            </a:r>
            <a:r>
              <a:rPr lang="en-US" dirty="0" err="1"/>
              <a:t>các</a:t>
            </a:r>
            <a:r>
              <a:rPr lang="en-US" dirty="0"/>
              <a:t> </a:t>
            </a:r>
            <a:r>
              <a:rPr lang="en-US" dirty="0" err="1"/>
              <a:t>tấn</a:t>
            </a:r>
            <a:r>
              <a:rPr lang="en-US" dirty="0"/>
              <a:t> </a:t>
            </a:r>
            <a:r>
              <a:rPr lang="en-US" dirty="0" err="1"/>
              <a:t>công</a:t>
            </a:r>
            <a:r>
              <a:rPr lang="en-US" dirty="0"/>
              <a:t> </a:t>
            </a:r>
            <a:r>
              <a:rPr lang="en-US" dirty="0" err="1"/>
              <a:t>đáng</a:t>
            </a:r>
            <a:r>
              <a:rPr lang="en-US" dirty="0"/>
              <a:t> </a:t>
            </a:r>
            <a:r>
              <a:rPr lang="en-US" dirty="0" err="1"/>
              <a:t>kể</a:t>
            </a:r>
            <a:r>
              <a:rPr lang="en-US" dirty="0"/>
              <a:t> </a:t>
            </a:r>
            <a:r>
              <a:rPr lang="en-US" dirty="0" err="1"/>
              <a:t>khi</a:t>
            </a:r>
            <a:r>
              <a:rPr lang="en-US" dirty="0"/>
              <a:t> </a:t>
            </a:r>
            <a:r>
              <a:rPr lang="en-US" dirty="0" err="1"/>
              <a:t>không</a:t>
            </a:r>
            <a:r>
              <a:rPr lang="en-US" dirty="0"/>
              <a:t> </a:t>
            </a:r>
            <a:r>
              <a:rPr lang="en-US" dirty="0" err="1"/>
              <a:t>gian</a:t>
            </a:r>
            <a:r>
              <a:rPr lang="en-US" dirty="0"/>
              <a:t> </a:t>
            </a:r>
            <a:r>
              <a:rPr lang="en-US" dirty="0" err="1"/>
              <a:t>bản</a:t>
            </a:r>
            <a:r>
              <a:rPr lang="en-US" dirty="0"/>
              <a:t> </a:t>
            </a:r>
            <a:r>
              <a:rPr lang="en-US" dirty="0" err="1"/>
              <a:t>mã</a:t>
            </a:r>
            <a:r>
              <a:rPr lang="en-US" dirty="0"/>
              <a:t> M </a:t>
            </a:r>
            <a:r>
              <a:rPr lang="en-US" dirty="0" err="1"/>
              <a:t>là</a:t>
            </a:r>
            <a:r>
              <a:rPr lang="en-US" dirty="0"/>
              <a:t> </a:t>
            </a:r>
            <a:r>
              <a:rPr lang="en-US" dirty="0" err="1"/>
              <a:t>quá</a:t>
            </a:r>
            <a:r>
              <a:rPr lang="en-US" dirty="0"/>
              <a:t> </a:t>
            </a:r>
            <a:r>
              <a:rPr lang="en-US" dirty="0" err="1"/>
              <a:t>nhỏ</a:t>
            </a:r>
            <a:endParaRPr lang="en-US" dirty="0"/>
          </a:p>
        </p:txBody>
      </p:sp>
      <p:grpSp>
        <p:nvGrpSpPr>
          <p:cNvPr id="2" name="Group 1">
            <a:extLst>
              <a:ext uri="{FF2B5EF4-FFF2-40B4-BE49-F238E27FC236}">
                <a16:creationId xmlns:a16="http://schemas.microsoft.com/office/drawing/2014/main" id="{2499B2D2-69D2-5C42-F8B7-D944BD9BF228}"/>
              </a:ext>
            </a:extLst>
          </p:cNvPr>
          <p:cNvGrpSpPr/>
          <p:nvPr/>
        </p:nvGrpSpPr>
        <p:grpSpPr>
          <a:xfrm>
            <a:off x="741218" y="2043231"/>
            <a:ext cx="7467600" cy="1557949"/>
            <a:chOff x="838200" y="2514604"/>
            <a:chExt cx="7467600" cy="1557949"/>
          </a:xfrm>
        </p:grpSpPr>
        <p:sp>
          <p:nvSpPr>
            <p:cNvPr id="5" name="Rectangle 4"/>
            <p:cNvSpPr>
              <a:spLocks noChangeArrowheads="1"/>
            </p:cNvSpPr>
            <p:nvPr/>
          </p:nvSpPr>
          <p:spPr bwMode="auto">
            <a:xfrm>
              <a:off x="838200" y="2632470"/>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8" name="Rectangle 7"/>
            <p:cNvSpPr>
              <a:spLocks noChangeArrowheads="1"/>
            </p:cNvSpPr>
            <p:nvPr/>
          </p:nvSpPr>
          <p:spPr bwMode="auto">
            <a:xfrm>
              <a:off x="6019800" y="2632470"/>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9" name="Text Box 8"/>
            <p:cNvSpPr txBox="1">
              <a:spLocks noChangeArrowheads="1"/>
            </p:cNvSpPr>
            <p:nvPr/>
          </p:nvSpPr>
          <p:spPr bwMode="auto">
            <a:xfrm>
              <a:off x="1143002" y="2986087"/>
              <a:ext cx="636713" cy="369332"/>
            </a:xfrm>
            <a:prstGeom prst="rect">
              <a:avLst/>
            </a:prstGeom>
            <a:noFill/>
            <a:ln w="9525">
              <a:noFill/>
              <a:miter lim="800000"/>
              <a:headEnd/>
              <a:tailEnd/>
            </a:ln>
            <a:effectLst/>
          </p:spPr>
          <p:txBody>
            <a:bodyPr wrap="none">
              <a:spAutoFit/>
            </a:bodyPr>
            <a:lstStyle/>
            <a:p>
              <a:r>
                <a:rPr lang="en-US" dirty="0" err="1"/>
                <a:t>k</a:t>
              </a:r>
              <a:r>
                <a:rPr lang="en-US" dirty="0" err="1">
                  <a:sym typeface="Symbol" pitchFamily="18" charset="2"/>
                </a:rPr>
                <a:t>K</a:t>
              </a:r>
              <a:endParaRPr lang="en-US" b="1" dirty="0">
                <a:cs typeface="Arial" charset="0"/>
                <a:sym typeface="Symbol" pitchFamily="18" charset="2"/>
              </a:endParaRPr>
            </a:p>
          </p:txBody>
        </p:sp>
        <p:sp>
          <p:nvSpPr>
            <p:cNvPr id="10" name="Line 9"/>
            <p:cNvSpPr>
              <a:spLocks noChangeShapeType="1"/>
            </p:cNvSpPr>
            <p:nvPr/>
          </p:nvSpPr>
          <p:spPr bwMode="auto">
            <a:xfrm flipH="1">
              <a:off x="2209800" y="3592114"/>
              <a:ext cx="3810000" cy="0"/>
            </a:xfrm>
            <a:prstGeom prst="line">
              <a:avLst/>
            </a:prstGeom>
            <a:noFill/>
            <a:ln w="9525">
              <a:solidFill>
                <a:schemeClr val="tx1"/>
              </a:solidFill>
              <a:round/>
              <a:headEnd/>
              <a:tailEnd type="triangle" w="med" len="med"/>
            </a:ln>
            <a:effectLst/>
          </p:spPr>
          <p:txBody>
            <a:bodyPr/>
            <a:lstStyle/>
            <a:p>
              <a:endParaRPr lang="en-US"/>
            </a:p>
          </p:txBody>
        </p:sp>
        <p:sp>
          <p:nvSpPr>
            <p:cNvPr id="11" name="Text Box 10"/>
            <p:cNvSpPr txBox="1">
              <a:spLocks noChangeArrowheads="1"/>
            </p:cNvSpPr>
            <p:nvPr/>
          </p:nvSpPr>
          <p:spPr bwMode="auto">
            <a:xfrm>
              <a:off x="3352800" y="3265090"/>
              <a:ext cx="1420582" cy="369332"/>
            </a:xfrm>
            <a:prstGeom prst="rect">
              <a:avLst/>
            </a:prstGeom>
            <a:noFill/>
            <a:ln w="9525">
              <a:noFill/>
              <a:miter lim="800000"/>
              <a:headEnd/>
              <a:tailEnd/>
            </a:ln>
            <a:effectLst/>
          </p:spPr>
          <p:txBody>
            <a:bodyPr wrap="none">
              <a:spAutoFit/>
            </a:bodyPr>
            <a:lstStyle/>
            <a:p>
              <a:r>
                <a:rPr lang="en-US" b="1" dirty="0"/>
                <a:t>m</a:t>
              </a:r>
              <a:r>
                <a:rPr lang="en-US" b="1" baseline="-25000" dirty="0"/>
                <a:t>0</a:t>
              </a:r>
              <a:r>
                <a:rPr lang="en-US" b="1" dirty="0"/>
                <a:t> , m</a:t>
              </a:r>
              <a:r>
                <a:rPr lang="en-US" b="1" baseline="-25000" dirty="0"/>
                <a:t>1  </a:t>
              </a:r>
              <a:r>
                <a:rPr lang="en-US" dirty="0">
                  <a:sym typeface="Symbol" pitchFamily="18" charset="2"/>
                </a:rPr>
                <a:t> M </a:t>
              </a:r>
            </a:p>
          </p:txBody>
        </p:sp>
        <p:grpSp>
          <p:nvGrpSpPr>
            <p:cNvPr id="12" name="Group 11"/>
            <p:cNvGrpSpPr>
              <a:grpSpLocks/>
            </p:cNvGrpSpPr>
            <p:nvPr/>
          </p:nvGrpSpPr>
          <p:grpSpPr bwMode="auto">
            <a:xfrm>
              <a:off x="2209800" y="3562352"/>
              <a:ext cx="3733800" cy="400050"/>
              <a:chOff x="1776" y="2097"/>
              <a:chExt cx="2352" cy="336"/>
            </a:xfrm>
          </p:grpSpPr>
          <p:sp>
            <p:nvSpPr>
              <p:cNvPr id="13" name="Line 12"/>
              <p:cNvSpPr>
                <a:spLocks noChangeShapeType="1"/>
              </p:cNvSpPr>
              <p:nvPr/>
            </p:nvSpPr>
            <p:spPr bwMode="auto">
              <a:xfrm>
                <a:off x="1776" y="2410"/>
                <a:ext cx="2352" cy="0"/>
              </a:xfrm>
              <a:prstGeom prst="line">
                <a:avLst/>
              </a:prstGeom>
              <a:noFill/>
              <a:ln w="9525">
                <a:solidFill>
                  <a:schemeClr val="tx1"/>
                </a:solidFill>
                <a:round/>
                <a:headEnd/>
                <a:tailEnd type="triangle" w="med" len="med"/>
              </a:ln>
              <a:effectLst/>
            </p:spPr>
            <p:txBody>
              <a:bodyPr/>
              <a:lstStyle/>
              <a:p>
                <a:endParaRPr lang="en-US"/>
              </a:p>
            </p:txBody>
          </p:sp>
          <p:sp>
            <p:nvSpPr>
              <p:cNvPr id="14" name="Text Box 13"/>
              <p:cNvSpPr txBox="1">
                <a:spLocks noChangeArrowheads="1"/>
              </p:cNvSpPr>
              <p:nvPr/>
            </p:nvSpPr>
            <p:spPr bwMode="auto">
              <a:xfrm>
                <a:off x="2448" y="2097"/>
                <a:ext cx="875" cy="336"/>
              </a:xfrm>
              <a:prstGeom prst="rect">
                <a:avLst/>
              </a:prstGeom>
              <a:noFill/>
              <a:ln w="9525">
                <a:noFill/>
                <a:miter lim="800000"/>
                <a:headEnd/>
                <a:tailEnd/>
              </a:ln>
              <a:effectLst/>
            </p:spPr>
            <p:txBody>
              <a:bodyPr wrap="none">
                <a:spAutoFit/>
              </a:bodyPr>
              <a:lstStyle/>
              <a:p>
                <a:r>
                  <a:rPr lang="en-US" dirty="0"/>
                  <a:t>c </a:t>
                </a:r>
                <a:r>
                  <a:rPr lang="en-US" dirty="0">
                    <a:sym typeface="Symbol" pitchFamily="18" charset="2"/>
                  </a:rPr>
                  <a:t> </a:t>
                </a:r>
                <a:r>
                  <a:rPr lang="en-US" dirty="0"/>
                  <a:t>E(k,</a:t>
                </a:r>
                <a:r>
                  <a:rPr lang="en-US" sz="2000" b="1" dirty="0"/>
                  <a:t> </a:t>
                </a:r>
                <a:r>
                  <a:rPr lang="en-US" sz="2000" b="1" dirty="0" err="1"/>
                  <a:t>m</a:t>
                </a:r>
                <a:r>
                  <a:rPr lang="en-US" sz="2000" b="1" baseline="-25000" dirty="0" err="1"/>
                  <a:t>b</a:t>
                </a:r>
                <a:r>
                  <a:rPr lang="en-US" dirty="0"/>
                  <a:t>)</a:t>
                </a:r>
              </a:p>
            </p:txBody>
          </p:sp>
        </p:grpSp>
        <p:grpSp>
          <p:nvGrpSpPr>
            <p:cNvPr id="18" name="Group 17"/>
            <p:cNvGrpSpPr>
              <a:grpSpLocks/>
            </p:cNvGrpSpPr>
            <p:nvPr/>
          </p:nvGrpSpPr>
          <p:grpSpPr bwMode="auto">
            <a:xfrm>
              <a:off x="2133600" y="2514604"/>
              <a:ext cx="3810000" cy="369093"/>
              <a:chOff x="1776" y="2014"/>
              <a:chExt cx="2400" cy="310"/>
            </a:xfrm>
          </p:grpSpPr>
          <p:sp>
            <p:nvSpPr>
              <p:cNvPr id="19" name="Line 18"/>
              <p:cNvSpPr>
                <a:spLocks noChangeShapeType="1"/>
              </p:cNvSpPr>
              <p:nvPr/>
            </p:nvSpPr>
            <p:spPr bwMode="auto">
              <a:xfrm flipH="1">
                <a:off x="1776" y="2304"/>
                <a:ext cx="2400" cy="0"/>
              </a:xfrm>
              <a:prstGeom prst="line">
                <a:avLst/>
              </a:prstGeom>
              <a:noFill/>
              <a:ln w="9525">
                <a:solidFill>
                  <a:schemeClr val="tx1"/>
                </a:solidFill>
                <a:round/>
                <a:headEnd/>
                <a:tailEnd type="triangle" w="med" len="med"/>
              </a:ln>
              <a:effectLst/>
            </p:spPr>
            <p:txBody>
              <a:bodyPr/>
              <a:lstStyle/>
              <a:p>
                <a:endParaRPr lang="en-US"/>
              </a:p>
            </p:txBody>
          </p:sp>
          <p:sp>
            <p:nvSpPr>
              <p:cNvPr id="20" name="Text Box 19"/>
              <p:cNvSpPr txBox="1">
                <a:spLocks noChangeArrowheads="1"/>
              </p:cNvSpPr>
              <p:nvPr/>
            </p:nvSpPr>
            <p:spPr bwMode="auto">
              <a:xfrm>
                <a:off x="2544" y="2014"/>
                <a:ext cx="850" cy="310"/>
              </a:xfrm>
              <a:prstGeom prst="rect">
                <a:avLst/>
              </a:prstGeom>
              <a:noFill/>
              <a:ln w="9525">
                <a:noFill/>
                <a:miter lim="800000"/>
                <a:headEnd/>
                <a:tailEnd/>
              </a:ln>
              <a:effectLst/>
            </p:spPr>
            <p:txBody>
              <a:bodyPr wrap="none">
                <a:spAutoFit/>
              </a:bodyPr>
              <a:lstStyle/>
              <a:p>
                <a:r>
                  <a:rPr lang="en-US" b="1" dirty="0"/>
                  <a:t>m</a:t>
                </a:r>
                <a:r>
                  <a:rPr lang="en-US" b="1" baseline="-25000" dirty="0"/>
                  <a:t>0</a:t>
                </a:r>
                <a:r>
                  <a:rPr lang="en-US" b="1" dirty="0"/>
                  <a:t> , m</a:t>
                </a:r>
                <a:r>
                  <a:rPr lang="en-US" b="1" baseline="-25000" dirty="0"/>
                  <a:t>0</a:t>
                </a:r>
                <a:r>
                  <a:rPr lang="en-US" b="1" dirty="0"/>
                  <a:t> </a:t>
                </a:r>
                <a:r>
                  <a:rPr lang="en-US" dirty="0">
                    <a:sym typeface="Symbol" pitchFamily="18" charset="2"/>
                  </a:rPr>
                  <a:t> M</a:t>
                </a:r>
              </a:p>
            </p:txBody>
          </p:sp>
        </p:grpSp>
        <p:grpSp>
          <p:nvGrpSpPr>
            <p:cNvPr id="21" name="Group 20"/>
            <p:cNvGrpSpPr>
              <a:grpSpLocks/>
            </p:cNvGrpSpPr>
            <p:nvPr/>
          </p:nvGrpSpPr>
          <p:grpSpPr bwMode="auto">
            <a:xfrm>
              <a:off x="2133600" y="2840820"/>
              <a:ext cx="3733800" cy="369093"/>
              <a:chOff x="1776" y="2422"/>
              <a:chExt cx="2352" cy="310"/>
            </a:xfrm>
          </p:grpSpPr>
          <p:sp>
            <p:nvSpPr>
              <p:cNvPr id="22" name="Line 21"/>
              <p:cNvSpPr>
                <a:spLocks noChangeShapeType="1"/>
              </p:cNvSpPr>
              <p:nvPr/>
            </p:nvSpPr>
            <p:spPr bwMode="auto">
              <a:xfrm>
                <a:off x="1776" y="2688"/>
                <a:ext cx="2352" cy="0"/>
              </a:xfrm>
              <a:prstGeom prst="line">
                <a:avLst/>
              </a:prstGeom>
              <a:noFill/>
              <a:ln w="9525">
                <a:solidFill>
                  <a:schemeClr val="tx1"/>
                </a:solidFill>
                <a:round/>
                <a:headEnd/>
                <a:tailEnd type="triangle" w="med" len="med"/>
              </a:ln>
              <a:effectLst/>
            </p:spPr>
            <p:txBody>
              <a:bodyPr/>
              <a:lstStyle/>
              <a:p>
                <a:endParaRPr lang="en-US"/>
              </a:p>
            </p:txBody>
          </p:sp>
          <p:sp>
            <p:nvSpPr>
              <p:cNvPr id="23" name="Text Box 22"/>
              <p:cNvSpPr txBox="1">
                <a:spLocks noChangeArrowheads="1"/>
              </p:cNvSpPr>
              <p:nvPr/>
            </p:nvSpPr>
            <p:spPr bwMode="auto">
              <a:xfrm>
                <a:off x="2523" y="2422"/>
                <a:ext cx="865" cy="310"/>
              </a:xfrm>
              <a:prstGeom prst="rect">
                <a:avLst/>
              </a:prstGeom>
              <a:noFill/>
              <a:ln w="9525">
                <a:noFill/>
                <a:miter lim="800000"/>
                <a:headEnd/>
                <a:tailEnd/>
              </a:ln>
              <a:effectLst/>
            </p:spPr>
            <p:txBody>
              <a:bodyPr wrap="none">
                <a:spAutoFit/>
              </a:bodyPr>
              <a:lstStyle/>
              <a:p>
                <a:r>
                  <a:rPr lang="en-US" dirty="0"/>
                  <a:t>c</a:t>
                </a:r>
                <a:r>
                  <a:rPr lang="en-US" baseline="-25000" dirty="0"/>
                  <a:t>0</a:t>
                </a:r>
                <a:r>
                  <a:rPr lang="en-US" dirty="0"/>
                  <a:t> </a:t>
                </a:r>
                <a:r>
                  <a:rPr lang="en-US" dirty="0">
                    <a:sym typeface="Symbol"/>
                  </a:rPr>
                  <a:t></a:t>
                </a:r>
                <a:r>
                  <a:rPr lang="en-US" dirty="0"/>
                  <a:t>E(k, m</a:t>
                </a:r>
                <a:r>
                  <a:rPr lang="en-US" baseline="-25000" dirty="0"/>
                  <a:t>0</a:t>
                </a:r>
                <a:r>
                  <a:rPr lang="en-US" dirty="0"/>
                  <a:t>)</a:t>
                </a:r>
              </a:p>
            </p:txBody>
          </p:sp>
        </p:grpSp>
        <p:sp>
          <p:nvSpPr>
            <p:cNvPr id="25" name="TextBox 24"/>
            <p:cNvSpPr txBox="1"/>
            <p:nvPr/>
          </p:nvSpPr>
          <p:spPr>
            <a:xfrm>
              <a:off x="6177586" y="3426222"/>
              <a:ext cx="995786" cy="646331"/>
            </a:xfrm>
            <a:prstGeom prst="rect">
              <a:avLst/>
            </a:prstGeom>
            <a:noFill/>
          </p:spPr>
          <p:txBody>
            <a:bodyPr wrap="none" rtlCol="0">
              <a:spAutoFit/>
            </a:bodyPr>
            <a:lstStyle/>
            <a:p>
              <a:pPr algn="ctr"/>
              <a:r>
                <a:rPr lang="en-US" dirty="0"/>
                <a:t>output 0</a:t>
              </a:r>
            </a:p>
            <a:p>
              <a:pPr algn="ctr"/>
              <a:r>
                <a:rPr lang="en-US" dirty="0"/>
                <a:t>if c = c</a:t>
              </a:r>
              <a:r>
                <a:rPr lang="en-US" baseline="-25000" dirty="0"/>
                <a:t>0</a:t>
              </a:r>
              <a:endParaRPr lang="en-US" dirty="0"/>
            </a:p>
          </p:txBody>
        </p:sp>
        <p:cxnSp>
          <p:nvCxnSpPr>
            <p:cNvPr id="27" name="Straight Arrow Connector 26"/>
            <p:cNvCxnSpPr/>
            <p:nvPr/>
          </p:nvCxnSpPr>
          <p:spPr bwMode="auto">
            <a:xfrm>
              <a:off x="7315200" y="3718321"/>
              <a:ext cx="990600" cy="119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1920014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r>
              <a:rPr lang="en-US" b="1" dirty="0" err="1"/>
              <a:t>Bản</a:t>
            </a:r>
            <a:r>
              <a:rPr lang="en-US" b="1" dirty="0"/>
              <a:t> </a:t>
            </a:r>
            <a:r>
              <a:rPr lang="en-US" b="1" dirty="0" err="1"/>
              <a:t>mã</a:t>
            </a:r>
            <a:r>
              <a:rPr lang="en-US" b="1" dirty="0"/>
              <a:t> </a:t>
            </a:r>
            <a:r>
              <a:rPr lang="en-US" b="1" dirty="0" err="1"/>
              <a:t>không</a:t>
            </a:r>
            <a:r>
              <a:rPr lang="en-US" b="1" dirty="0"/>
              <a:t> </a:t>
            </a:r>
            <a:r>
              <a:rPr lang="en-US" b="1" dirty="0" err="1"/>
              <a:t>bảo</a:t>
            </a:r>
            <a:r>
              <a:rPr lang="en-US" b="1" dirty="0"/>
              <a:t> </a:t>
            </a:r>
            <a:r>
              <a:rPr lang="en-US" b="1" dirty="0" err="1"/>
              <a:t>mật</a:t>
            </a:r>
            <a:r>
              <a:rPr lang="en-US" b="1" dirty="0"/>
              <a:t> </a:t>
            </a:r>
            <a:r>
              <a:rPr lang="en-US" b="1" dirty="0" err="1"/>
              <a:t>dưới</a:t>
            </a:r>
            <a:r>
              <a:rPr lang="en-US" b="1" dirty="0"/>
              <a:t> </a:t>
            </a:r>
            <a:r>
              <a:rPr lang="en-US" b="1" dirty="0" err="1"/>
              <a:t>tấn</a:t>
            </a:r>
            <a:r>
              <a:rPr lang="en-US" b="1" dirty="0"/>
              <a:t> </a:t>
            </a:r>
            <a:r>
              <a:rPr lang="en-US" b="1" dirty="0" err="1"/>
              <a:t>công</a:t>
            </a:r>
            <a:r>
              <a:rPr lang="en-US" b="1" dirty="0"/>
              <a:t> CPA</a:t>
            </a:r>
          </a:p>
        </p:txBody>
      </p:sp>
      <p:sp>
        <p:nvSpPr>
          <p:cNvPr id="20483" name="Rectangle 3"/>
          <p:cNvSpPr>
            <a:spLocks noGrp="1" noChangeArrowheads="1"/>
          </p:cNvSpPr>
          <p:nvPr>
            <p:ph sz="quarter" idx="13"/>
          </p:nvPr>
        </p:nvSpPr>
        <p:spPr>
          <a:xfrm>
            <a:off x="235077" y="841247"/>
            <a:ext cx="8674100" cy="5434862"/>
          </a:xfrm>
        </p:spPr>
        <p:txBody>
          <a:bodyPr>
            <a:normAutofit/>
          </a:bodyPr>
          <a:lstStyle/>
          <a:p>
            <a:pPr marL="57149" indent="0">
              <a:spcBef>
                <a:spcPts val="1200"/>
              </a:spcBef>
              <a:buNone/>
            </a:pPr>
            <a:r>
              <a:rPr lang="en-US" dirty="0"/>
              <a:t>Suppose E(</a:t>
            </a:r>
            <a:r>
              <a:rPr lang="en-US" dirty="0" err="1"/>
              <a:t>k,m</a:t>
            </a:r>
            <a:r>
              <a:rPr lang="en-US" dirty="0"/>
              <a:t>) always outputs same </a:t>
            </a:r>
            <a:r>
              <a:rPr lang="en-US" dirty="0" err="1"/>
              <a:t>ciphertext</a:t>
            </a:r>
            <a:r>
              <a:rPr lang="en-US" dirty="0"/>
              <a:t> for </a:t>
            </a:r>
            <a:r>
              <a:rPr lang="en-US" dirty="0" err="1"/>
              <a:t>msg</a:t>
            </a:r>
            <a:r>
              <a:rPr lang="en-US" dirty="0"/>
              <a:t> m.   Then:</a:t>
            </a:r>
          </a:p>
          <a:p>
            <a:pPr>
              <a:buFontTx/>
              <a:buNone/>
            </a:pPr>
            <a:endParaRPr lang="en-US" dirty="0"/>
          </a:p>
          <a:p>
            <a:pPr>
              <a:buFontTx/>
              <a:buNone/>
            </a:pPr>
            <a:endParaRPr lang="en-US" dirty="0"/>
          </a:p>
          <a:p>
            <a:pPr>
              <a:buFontTx/>
              <a:buNone/>
            </a:pPr>
            <a:endParaRPr lang="en-US" dirty="0"/>
          </a:p>
          <a:p>
            <a:pPr>
              <a:buFontTx/>
              <a:buNone/>
            </a:pPr>
            <a:endParaRPr lang="en-US" dirty="0"/>
          </a:p>
          <a:p>
            <a:endParaRPr lang="en-US" dirty="0"/>
          </a:p>
          <a:p>
            <a:pPr marL="0" indent="0">
              <a:spcBef>
                <a:spcPts val="2424"/>
              </a:spcBef>
              <a:buNone/>
            </a:pPr>
            <a:r>
              <a:rPr lang="en-US" sz="2600" dirty="0" err="1"/>
              <a:t>Nếu</a:t>
            </a:r>
            <a:r>
              <a:rPr lang="en-US" sz="2600" dirty="0"/>
              <a:t> </a:t>
            </a:r>
            <a:r>
              <a:rPr lang="en-US" sz="2600" dirty="0" err="1"/>
              <a:t>khoá</a:t>
            </a:r>
            <a:r>
              <a:rPr lang="en-US" sz="2600" dirty="0"/>
              <a:t> </a:t>
            </a:r>
            <a:r>
              <a:rPr lang="en-US" sz="2600" dirty="0" err="1"/>
              <a:t>bí</a:t>
            </a:r>
            <a:r>
              <a:rPr lang="en-US" sz="2600" dirty="0"/>
              <a:t> </a:t>
            </a:r>
            <a:r>
              <a:rPr lang="en-US" sz="2600" dirty="0" err="1"/>
              <a:t>mật</a:t>
            </a:r>
            <a:r>
              <a:rPr lang="en-US" sz="2600" dirty="0"/>
              <a:t> </a:t>
            </a:r>
            <a:r>
              <a:rPr lang="en-US" sz="2600" dirty="0" err="1"/>
              <a:t>được</a:t>
            </a:r>
            <a:r>
              <a:rPr lang="en-US" sz="2600" dirty="0"/>
              <a:t> </a:t>
            </a:r>
            <a:r>
              <a:rPr lang="en-US" sz="2600" dirty="0" err="1"/>
              <a:t>sử</a:t>
            </a:r>
            <a:r>
              <a:rPr lang="en-US" sz="2600" dirty="0"/>
              <a:t> </a:t>
            </a:r>
            <a:r>
              <a:rPr lang="en-US" sz="2600" dirty="0" err="1"/>
              <a:t>dụng</a:t>
            </a:r>
            <a:r>
              <a:rPr lang="en-US" sz="2600" dirty="0"/>
              <a:t> </a:t>
            </a:r>
            <a:r>
              <a:rPr lang="en-US" sz="2600" dirty="0" err="1"/>
              <a:t>nhiều</a:t>
            </a:r>
            <a:r>
              <a:rPr lang="en-US" sz="2600" dirty="0"/>
              <a:t> </a:t>
            </a:r>
            <a:r>
              <a:rPr lang="en-US" sz="2600" dirty="0" err="1"/>
              <a:t>lần</a:t>
            </a:r>
            <a:r>
              <a:rPr lang="en-US" sz="2600" dirty="0"/>
              <a:t> </a:t>
            </a:r>
            <a:r>
              <a:rPr lang="en-US" sz="2600" dirty="0">
                <a:sym typeface="Symbol" pitchFamily="18" charset="2"/>
              </a:rPr>
              <a:t> </a:t>
            </a:r>
            <a:r>
              <a:rPr lang="en-US" sz="2600" dirty="0" err="1"/>
              <a:t>đưa</a:t>
            </a:r>
            <a:r>
              <a:rPr lang="en-US" sz="2600" dirty="0"/>
              <a:t> </a:t>
            </a:r>
            <a:r>
              <a:rPr lang="en-US" sz="2600" dirty="0" err="1"/>
              <a:t>vào</a:t>
            </a:r>
            <a:r>
              <a:rPr lang="en-US" sz="2600" dirty="0"/>
              <a:t> </a:t>
            </a:r>
            <a:r>
              <a:rPr lang="en-US" sz="2600" dirty="0" err="1"/>
              <a:t>cùng</a:t>
            </a:r>
            <a:r>
              <a:rPr lang="en-US" sz="2600" dirty="0"/>
              <a:t> 1 plaintext </a:t>
            </a:r>
            <a:r>
              <a:rPr lang="en-US" sz="2600" dirty="0" err="1"/>
              <a:t>nhưng</a:t>
            </a:r>
            <a:r>
              <a:rPr lang="en-US" sz="2600" dirty="0"/>
              <a:t> </a:t>
            </a:r>
            <a:r>
              <a:rPr lang="en-US" sz="2600" dirty="0" err="1"/>
              <a:t>sẽ</a:t>
            </a:r>
            <a:r>
              <a:rPr lang="en-US" sz="2600" dirty="0"/>
              <a:t> </a:t>
            </a:r>
            <a:r>
              <a:rPr lang="en-US" sz="2600" dirty="0" err="1"/>
              <a:t>tạo</a:t>
            </a:r>
            <a:r>
              <a:rPr lang="en-US" sz="2600" dirty="0"/>
              <a:t> ra </a:t>
            </a:r>
            <a:r>
              <a:rPr lang="en-US" sz="2600" dirty="0" err="1"/>
              <a:t>những</a:t>
            </a:r>
            <a:r>
              <a:rPr lang="en-US" sz="2600" dirty="0"/>
              <a:t> </a:t>
            </a:r>
            <a:r>
              <a:rPr lang="en-US" sz="2600" dirty="0" err="1"/>
              <a:t>bản</a:t>
            </a:r>
            <a:r>
              <a:rPr lang="en-US" sz="2600" dirty="0"/>
              <a:t> </a:t>
            </a:r>
            <a:r>
              <a:rPr lang="en-US" sz="2600" dirty="0" err="1"/>
              <a:t>mã</a:t>
            </a:r>
            <a:r>
              <a:rPr lang="en-US" sz="2600" dirty="0"/>
              <a:t> </a:t>
            </a:r>
            <a:r>
              <a:rPr lang="en-US" sz="2600" dirty="0" err="1"/>
              <a:t>khác</a:t>
            </a:r>
            <a:r>
              <a:rPr lang="en-US" sz="2600" dirty="0"/>
              <a:t> </a:t>
            </a:r>
            <a:r>
              <a:rPr lang="en-US" sz="2600" dirty="0" err="1"/>
              <a:t>nhau</a:t>
            </a:r>
            <a:r>
              <a:rPr lang="en-US" sz="2600" dirty="0"/>
              <a:t>.</a:t>
            </a:r>
          </a:p>
        </p:txBody>
      </p:sp>
      <p:grpSp>
        <p:nvGrpSpPr>
          <p:cNvPr id="2" name="Group 1">
            <a:extLst>
              <a:ext uri="{FF2B5EF4-FFF2-40B4-BE49-F238E27FC236}">
                <a16:creationId xmlns:a16="http://schemas.microsoft.com/office/drawing/2014/main" id="{D35F8953-9625-E0FE-CBB7-814AB7966943}"/>
              </a:ext>
            </a:extLst>
          </p:cNvPr>
          <p:cNvGrpSpPr/>
          <p:nvPr/>
        </p:nvGrpSpPr>
        <p:grpSpPr>
          <a:xfrm>
            <a:off x="838200" y="2514604"/>
            <a:ext cx="7467600" cy="1557949"/>
            <a:chOff x="838200" y="2514604"/>
            <a:chExt cx="7467600" cy="1557949"/>
          </a:xfrm>
        </p:grpSpPr>
        <p:sp>
          <p:nvSpPr>
            <p:cNvPr id="5" name="Rectangle 4"/>
            <p:cNvSpPr>
              <a:spLocks noChangeArrowheads="1"/>
            </p:cNvSpPr>
            <p:nvPr/>
          </p:nvSpPr>
          <p:spPr bwMode="auto">
            <a:xfrm>
              <a:off x="838200" y="2632470"/>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8" name="Rectangle 7"/>
            <p:cNvSpPr>
              <a:spLocks noChangeArrowheads="1"/>
            </p:cNvSpPr>
            <p:nvPr/>
          </p:nvSpPr>
          <p:spPr bwMode="auto">
            <a:xfrm>
              <a:off x="6019800" y="2632470"/>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9" name="Text Box 8"/>
            <p:cNvSpPr txBox="1">
              <a:spLocks noChangeArrowheads="1"/>
            </p:cNvSpPr>
            <p:nvPr/>
          </p:nvSpPr>
          <p:spPr bwMode="auto">
            <a:xfrm>
              <a:off x="1143002" y="2986087"/>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sp>
          <p:nvSpPr>
            <p:cNvPr id="10" name="Line 9"/>
            <p:cNvSpPr>
              <a:spLocks noChangeShapeType="1"/>
            </p:cNvSpPr>
            <p:nvPr/>
          </p:nvSpPr>
          <p:spPr bwMode="auto">
            <a:xfrm flipH="1">
              <a:off x="2209800" y="3592114"/>
              <a:ext cx="3810000" cy="0"/>
            </a:xfrm>
            <a:prstGeom prst="line">
              <a:avLst/>
            </a:prstGeom>
            <a:noFill/>
            <a:ln w="9525">
              <a:solidFill>
                <a:schemeClr val="tx1"/>
              </a:solidFill>
              <a:round/>
              <a:headEnd/>
              <a:tailEnd type="triangle" w="med" len="med"/>
            </a:ln>
            <a:effectLst/>
          </p:spPr>
          <p:txBody>
            <a:bodyPr/>
            <a:lstStyle/>
            <a:p>
              <a:endParaRPr lang="en-US"/>
            </a:p>
          </p:txBody>
        </p:sp>
        <p:sp>
          <p:nvSpPr>
            <p:cNvPr id="11" name="Text Box 10"/>
            <p:cNvSpPr txBox="1">
              <a:spLocks noChangeArrowheads="1"/>
            </p:cNvSpPr>
            <p:nvPr/>
          </p:nvSpPr>
          <p:spPr bwMode="auto">
            <a:xfrm>
              <a:off x="3352800" y="3265090"/>
              <a:ext cx="1420582" cy="369332"/>
            </a:xfrm>
            <a:prstGeom prst="rect">
              <a:avLst/>
            </a:prstGeom>
            <a:noFill/>
            <a:ln w="9525">
              <a:noFill/>
              <a:miter lim="800000"/>
              <a:headEnd/>
              <a:tailEnd/>
            </a:ln>
            <a:effectLst/>
          </p:spPr>
          <p:txBody>
            <a:bodyPr wrap="none">
              <a:spAutoFit/>
            </a:bodyPr>
            <a:lstStyle/>
            <a:p>
              <a:r>
                <a:rPr lang="en-US" b="1" dirty="0"/>
                <a:t>m</a:t>
              </a:r>
              <a:r>
                <a:rPr lang="en-US" b="1" baseline="-25000" dirty="0"/>
                <a:t>0</a:t>
              </a:r>
              <a:r>
                <a:rPr lang="en-US" b="1" dirty="0"/>
                <a:t> , m</a:t>
              </a:r>
              <a:r>
                <a:rPr lang="en-US" b="1" baseline="-25000" dirty="0"/>
                <a:t>1  </a:t>
              </a:r>
              <a:r>
                <a:rPr lang="en-US" dirty="0">
                  <a:sym typeface="Symbol" pitchFamily="18" charset="2"/>
                </a:rPr>
                <a:t> M </a:t>
              </a:r>
            </a:p>
          </p:txBody>
        </p:sp>
        <p:grpSp>
          <p:nvGrpSpPr>
            <p:cNvPr id="12" name="Group 11"/>
            <p:cNvGrpSpPr>
              <a:grpSpLocks/>
            </p:cNvGrpSpPr>
            <p:nvPr/>
          </p:nvGrpSpPr>
          <p:grpSpPr bwMode="auto">
            <a:xfrm>
              <a:off x="2209800" y="3562352"/>
              <a:ext cx="3733800" cy="400050"/>
              <a:chOff x="1776" y="2097"/>
              <a:chExt cx="2352" cy="336"/>
            </a:xfrm>
          </p:grpSpPr>
          <p:sp>
            <p:nvSpPr>
              <p:cNvPr id="13" name="Line 12"/>
              <p:cNvSpPr>
                <a:spLocks noChangeShapeType="1"/>
              </p:cNvSpPr>
              <p:nvPr/>
            </p:nvSpPr>
            <p:spPr bwMode="auto">
              <a:xfrm>
                <a:off x="1776" y="2410"/>
                <a:ext cx="2352" cy="0"/>
              </a:xfrm>
              <a:prstGeom prst="line">
                <a:avLst/>
              </a:prstGeom>
              <a:noFill/>
              <a:ln w="9525">
                <a:solidFill>
                  <a:schemeClr val="tx1"/>
                </a:solidFill>
                <a:round/>
                <a:headEnd/>
                <a:tailEnd type="triangle" w="med" len="med"/>
              </a:ln>
              <a:effectLst/>
            </p:spPr>
            <p:txBody>
              <a:bodyPr/>
              <a:lstStyle/>
              <a:p>
                <a:endParaRPr lang="en-US"/>
              </a:p>
            </p:txBody>
          </p:sp>
          <p:sp>
            <p:nvSpPr>
              <p:cNvPr id="14" name="Text Box 13"/>
              <p:cNvSpPr txBox="1">
                <a:spLocks noChangeArrowheads="1"/>
              </p:cNvSpPr>
              <p:nvPr/>
            </p:nvSpPr>
            <p:spPr bwMode="auto">
              <a:xfrm>
                <a:off x="2448" y="2097"/>
                <a:ext cx="875" cy="336"/>
              </a:xfrm>
              <a:prstGeom prst="rect">
                <a:avLst/>
              </a:prstGeom>
              <a:noFill/>
              <a:ln w="9525">
                <a:noFill/>
                <a:miter lim="800000"/>
                <a:headEnd/>
                <a:tailEnd/>
              </a:ln>
              <a:effectLst/>
            </p:spPr>
            <p:txBody>
              <a:bodyPr wrap="none">
                <a:spAutoFit/>
              </a:bodyPr>
              <a:lstStyle/>
              <a:p>
                <a:r>
                  <a:rPr lang="en-US" dirty="0"/>
                  <a:t>c </a:t>
                </a:r>
                <a:r>
                  <a:rPr lang="en-US" dirty="0">
                    <a:sym typeface="Symbol" pitchFamily="18" charset="2"/>
                  </a:rPr>
                  <a:t> </a:t>
                </a:r>
                <a:r>
                  <a:rPr lang="en-US" dirty="0"/>
                  <a:t>E(k,</a:t>
                </a:r>
                <a:r>
                  <a:rPr lang="en-US" sz="2000" b="1" dirty="0"/>
                  <a:t> </a:t>
                </a:r>
                <a:r>
                  <a:rPr lang="en-US" sz="2000" b="1" dirty="0" err="1"/>
                  <a:t>m</a:t>
                </a:r>
                <a:r>
                  <a:rPr lang="en-US" sz="2000" b="1" baseline="-25000" dirty="0" err="1"/>
                  <a:t>b</a:t>
                </a:r>
                <a:r>
                  <a:rPr lang="en-US" dirty="0"/>
                  <a:t>)</a:t>
                </a:r>
              </a:p>
            </p:txBody>
          </p:sp>
        </p:grpSp>
        <p:grpSp>
          <p:nvGrpSpPr>
            <p:cNvPr id="18" name="Group 17"/>
            <p:cNvGrpSpPr>
              <a:grpSpLocks/>
            </p:cNvGrpSpPr>
            <p:nvPr/>
          </p:nvGrpSpPr>
          <p:grpSpPr bwMode="auto">
            <a:xfrm>
              <a:off x="2133600" y="2514604"/>
              <a:ext cx="3810000" cy="369093"/>
              <a:chOff x="1776" y="2014"/>
              <a:chExt cx="2400" cy="310"/>
            </a:xfrm>
          </p:grpSpPr>
          <p:sp>
            <p:nvSpPr>
              <p:cNvPr id="19" name="Line 18"/>
              <p:cNvSpPr>
                <a:spLocks noChangeShapeType="1"/>
              </p:cNvSpPr>
              <p:nvPr/>
            </p:nvSpPr>
            <p:spPr bwMode="auto">
              <a:xfrm flipH="1">
                <a:off x="1776" y="2304"/>
                <a:ext cx="2400" cy="0"/>
              </a:xfrm>
              <a:prstGeom prst="line">
                <a:avLst/>
              </a:prstGeom>
              <a:noFill/>
              <a:ln w="9525">
                <a:solidFill>
                  <a:schemeClr val="tx1"/>
                </a:solidFill>
                <a:round/>
                <a:headEnd/>
                <a:tailEnd type="triangle" w="med" len="med"/>
              </a:ln>
              <a:effectLst/>
            </p:spPr>
            <p:txBody>
              <a:bodyPr/>
              <a:lstStyle/>
              <a:p>
                <a:endParaRPr lang="en-US"/>
              </a:p>
            </p:txBody>
          </p:sp>
          <p:sp>
            <p:nvSpPr>
              <p:cNvPr id="20" name="Text Box 19"/>
              <p:cNvSpPr txBox="1">
                <a:spLocks noChangeArrowheads="1"/>
              </p:cNvSpPr>
              <p:nvPr/>
            </p:nvSpPr>
            <p:spPr bwMode="auto">
              <a:xfrm>
                <a:off x="2544" y="2014"/>
                <a:ext cx="850" cy="310"/>
              </a:xfrm>
              <a:prstGeom prst="rect">
                <a:avLst/>
              </a:prstGeom>
              <a:noFill/>
              <a:ln w="9525">
                <a:noFill/>
                <a:miter lim="800000"/>
                <a:headEnd/>
                <a:tailEnd/>
              </a:ln>
              <a:effectLst/>
            </p:spPr>
            <p:txBody>
              <a:bodyPr wrap="none">
                <a:spAutoFit/>
              </a:bodyPr>
              <a:lstStyle/>
              <a:p>
                <a:r>
                  <a:rPr lang="en-US" b="1" dirty="0"/>
                  <a:t>m</a:t>
                </a:r>
                <a:r>
                  <a:rPr lang="en-US" b="1" baseline="-25000" dirty="0"/>
                  <a:t>0</a:t>
                </a:r>
                <a:r>
                  <a:rPr lang="en-US" b="1" dirty="0"/>
                  <a:t> , m</a:t>
                </a:r>
                <a:r>
                  <a:rPr lang="en-US" b="1" baseline="-25000" dirty="0"/>
                  <a:t>0</a:t>
                </a:r>
                <a:r>
                  <a:rPr lang="en-US" b="1" dirty="0"/>
                  <a:t> </a:t>
                </a:r>
                <a:r>
                  <a:rPr lang="en-US" dirty="0">
                    <a:sym typeface="Symbol" pitchFamily="18" charset="2"/>
                  </a:rPr>
                  <a:t> M</a:t>
                </a:r>
              </a:p>
            </p:txBody>
          </p:sp>
        </p:grpSp>
        <p:grpSp>
          <p:nvGrpSpPr>
            <p:cNvPr id="21" name="Group 20"/>
            <p:cNvGrpSpPr>
              <a:grpSpLocks/>
            </p:cNvGrpSpPr>
            <p:nvPr/>
          </p:nvGrpSpPr>
          <p:grpSpPr bwMode="auto">
            <a:xfrm>
              <a:off x="2133600" y="2840820"/>
              <a:ext cx="3733800" cy="369093"/>
              <a:chOff x="1776" y="2422"/>
              <a:chExt cx="2352" cy="310"/>
            </a:xfrm>
          </p:grpSpPr>
          <p:sp>
            <p:nvSpPr>
              <p:cNvPr id="22" name="Line 21"/>
              <p:cNvSpPr>
                <a:spLocks noChangeShapeType="1"/>
              </p:cNvSpPr>
              <p:nvPr/>
            </p:nvSpPr>
            <p:spPr bwMode="auto">
              <a:xfrm>
                <a:off x="1776" y="2688"/>
                <a:ext cx="2352" cy="0"/>
              </a:xfrm>
              <a:prstGeom prst="line">
                <a:avLst/>
              </a:prstGeom>
              <a:noFill/>
              <a:ln w="9525">
                <a:solidFill>
                  <a:schemeClr val="tx1"/>
                </a:solidFill>
                <a:round/>
                <a:headEnd/>
                <a:tailEnd type="triangle" w="med" len="med"/>
              </a:ln>
              <a:effectLst/>
            </p:spPr>
            <p:txBody>
              <a:bodyPr/>
              <a:lstStyle/>
              <a:p>
                <a:endParaRPr lang="en-US"/>
              </a:p>
            </p:txBody>
          </p:sp>
          <p:sp>
            <p:nvSpPr>
              <p:cNvPr id="23" name="Text Box 22"/>
              <p:cNvSpPr txBox="1">
                <a:spLocks noChangeArrowheads="1"/>
              </p:cNvSpPr>
              <p:nvPr/>
            </p:nvSpPr>
            <p:spPr bwMode="auto">
              <a:xfrm>
                <a:off x="2523" y="2422"/>
                <a:ext cx="865" cy="310"/>
              </a:xfrm>
              <a:prstGeom prst="rect">
                <a:avLst/>
              </a:prstGeom>
              <a:noFill/>
              <a:ln w="9525">
                <a:noFill/>
                <a:miter lim="800000"/>
                <a:headEnd/>
                <a:tailEnd/>
              </a:ln>
              <a:effectLst/>
            </p:spPr>
            <p:txBody>
              <a:bodyPr wrap="none">
                <a:spAutoFit/>
              </a:bodyPr>
              <a:lstStyle/>
              <a:p>
                <a:r>
                  <a:rPr lang="en-US" dirty="0"/>
                  <a:t>c</a:t>
                </a:r>
                <a:r>
                  <a:rPr lang="en-US" baseline="-25000" dirty="0"/>
                  <a:t>0</a:t>
                </a:r>
                <a:r>
                  <a:rPr lang="en-US" dirty="0"/>
                  <a:t> </a:t>
                </a:r>
                <a:r>
                  <a:rPr lang="en-US" dirty="0">
                    <a:sym typeface="Symbol"/>
                  </a:rPr>
                  <a:t></a:t>
                </a:r>
                <a:r>
                  <a:rPr lang="en-US" dirty="0"/>
                  <a:t>E(k, m</a:t>
                </a:r>
                <a:r>
                  <a:rPr lang="en-US" baseline="-25000" dirty="0"/>
                  <a:t>0</a:t>
                </a:r>
                <a:r>
                  <a:rPr lang="en-US" dirty="0"/>
                  <a:t>)</a:t>
                </a:r>
              </a:p>
            </p:txBody>
          </p:sp>
        </p:grpSp>
        <p:sp>
          <p:nvSpPr>
            <p:cNvPr id="25" name="TextBox 24"/>
            <p:cNvSpPr txBox="1"/>
            <p:nvPr/>
          </p:nvSpPr>
          <p:spPr>
            <a:xfrm>
              <a:off x="6177586" y="3426222"/>
              <a:ext cx="995786" cy="646331"/>
            </a:xfrm>
            <a:prstGeom prst="rect">
              <a:avLst/>
            </a:prstGeom>
            <a:noFill/>
          </p:spPr>
          <p:txBody>
            <a:bodyPr wrap="none" rtlCol="0">
              <a:spAutoFit/>
            </a:bodyPr>
            <a:lstStyle/>
            <a:p>
              <a:pPr algn="ctr"/>
              <a:r>
                <a:rPr lang="en-US" dirty="0"/>
                <a:t>output 0</a:t>
              </a:r>
            </a:p>
            <a:p>
              <a:pPr algn="ctr"/>
              <a:r>
                <a:rPr lang="en-US" dirty="0"/>
                <a:t>if c = c</a:t>
              </a:r>
              <a:r>
                <a:rPr lang="en-US" baseline="-25000" dirty="0"/>
                <a:t>0</a:t>
              </a:r>
              <a:endParaRPr lang="en-US" dirty="0"/>
            </a:p>
          </p:txBody>
        </p:sp>
        <p:cxnSp>
          <p:nvCxnSpPr>
            <p:cNvPr id="27" name="Straight Arrow Connector 26"/>
            <p:cNvCxnSpPr/>
            <p:nvPr/>
          </p:nvCxnSpPr>
          <p:spPr bwMode="auto">
            <a:xfrm>
              <a:off x="7315200" y="3718321"/>
              <a:ext cx="990600" cy="119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2138746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2790"/>
            <a:ext cx="9476959" cy="451739"/>
          </a:xfrm>
        </p:spPr>
        <p:txBody>
          <a:bodyPr>
            <a:normAutofit fontScale="90000"/>
          </a:bodyPr>
          <a:lstStyle/>
          <a:p>
            <a:r>
              <a:rPr lang="en-US" b="1" dirty="0" err="1"/>
              <a:t>Giải</a:t>
            </a:r>
            <a:r>
              <a:rPr lang="en-US" b="1" dirty="0"/>
              <a:t> </a:t>
            </a:r>
            <a:r>
              <a:rPr lang="en-US" b="1" dirty="0" err="1"/>
              <a:t>pháp</a:t>
            </a:r>
            <a:r>
              <a:rPr lang="en-US" b="1" dirty="0"/>
              <a:t> 1:   </a:t>
            </a:r>
            <a:r>
              <a:rPr lang="en-US" b="1" dirty="0" err="1"/>
              <a:t>Hàm</a:t>
            </a:r>
            <a:r>
              <a:rPr lang="en-US" b="1" dirty="0"/>
              <a:t> </a:t>
            </a:r>
            <a:r>
              <a:rPr lang="en-US" b="1" dirty="0" err="1"/>
              <a:t>mã</a:t>
            </a:r>
            <a:r>
              <a:rPr lang="en-US" b="1" dirty="0"/>
              <a:t> </a:t>
            </a:r>
            <a:r>
              <a:rPr lang="en-US" b="1" dirty="0" err="1"/>
              <a:t>hoá</a:t>
            </a:r>
            <a:r>
              <a:rPr lang="en-US" b="1" dirty="0"/>
              <a:t> </a:t>
            </a:r>
            <a:r>
              <a:rPr lang="en-US" b="1" dirty="0" err="1"/>
              <a:t>ngẫu</a:t>
            </a:r>
            <a:r>
              <a:rPr lang="en-US" b="1" dirty="0"/>
              <a:t> </a:t>
            </a:r>
            <a:r>
              <a:rPr lang="en-US" b="1" dirty="0" err="1"/>
              <a:t>nhiên</a:t>
            </a:r>
            <a:r>
              <a:rPr lang="en-US" b="1" dirty="0"/>
              <a:t> (randomized encryption)</a:t>
            </a:r>
          </a:p>
        </p:txBody>
      </p:sp>
      <p:sp>
        <p:nvSpPr>
          <p:cNvPr id="3" name="Content Placeholder 2"/>
          <p:cNvSpPr>
            <a:spLocks noGrp="1"/>
          </p:cNvSpPr>
          <p:nvPr>
            <p:ph sz="quarter" idx="13"/>
          </p:nvPr>
        </p:nvSpPr>
        <p:spPr>
          <a:xfrm>
            <a:off x="235077" y="841247"/>
            <a:ext cx="8674100" cy="5324025"/>
          </a:xfrm>
        </p:spPr>
        <p:txBody>
          <a:bodyPr/>
          <a:lstStyle/>
          <a:p>
            <a:r>
              <a:rPr lang="en-US" dirty="0"/>
              <a:t>E(</a:t>
            </a:r>
            <a:r>
              <a:rPr lang="en-US" dirty="0" err="1"/>
              <a:t>k,m</a:t>
            </a:r>
            <a:r>
              <a:rPr lang="en-US" dirty="0"/>
              <a:t>) </a:t>
            </a:r>
            <a:r>
              <a:rPr lang="en-US" dirty="0" err="1"/>
              <a:t>là</a:t>
            </a:r>
            <a:r>
              <a:rPr lang="en-US" dirty="0"/>
              <a:t> </a:t>
            </a:r>
            <a:r>
              <a:rPr lang="en-US" dirty="0" err="1"/>
              <a:t>một</a:t>
            </a:r>
            <a:r>
              <a:rPr lang="en-US" dirty="0"/>
              <a:t> </a:t>
            </a:r>
            <a:r>
              <a:rPr lang="en-US" dirty="0" err="1"/>
              <a:t>thuật</a:t>
            </a:r>
            <a:r>
              <a:rPr lang="en-US" dirty="0"/>
              <a:t> </a:t>
            </a:r>
            <a:r>
              <a:rPr lang="en-US" dirty="0" err="1"/>
              <a:t>toán</a:t>
            </a:r>
            <a:r>
              <a:rPr lang="en-US" dirty="0"/>
              <a:t> </a:t>
            </a:r>
            <a:r>
              <a:rPr lang="en-US" dirty="0" err="1"/>
              <a:t>ngẫu</a:t>
            </a:r>
            <a:r>
              <a:rPr lang="en-US" dirty="0"/>
              <a:t> </a:t>
            </a:r>
            <a:r>
              <a:rPr lang="en-US" dirty="0" err="1"/>
              <a:t>nhiên</a:t>
            </a:r>
            <a:r>
              <a:rPr lang="en-US" dirty="0"/>
              <a:t>:</a:t>
            </a:r>
          </a:p>
          <a:p>
            <a:endParaRPr lang="en-US" dirty="0"/>
          </a:p>
          <a:p>
            <a:endParaRPr lang="en-US" dirty="0"/>
          </a:p>
          <a:p>
            <a:pPr marL="0" indent="0">
              <a:buNone/>
            </a:pPr>
            <a:endParaRPr lang="en-US" dirty="0"/>
          </a:p>
          <a:p>
            <a:pPr marL="0" indent="0">
              <a:spcBef>
                <a:spcPts val="3576"/>
              </a:spcBef>
              <a:buNone/>
            </a:pPr>
            <a:r>
              <a:rPr lang="en-US" dirty="0"/>
              <a:t>⇒  encrypting same msg twice gives different ciphertexts   (</a:t>
            </a:r>
            <a:r>
              <a:rPr lang="en-US" dirty="0" err="1"/>
              <a:t>w.h.p</a:t>
            </a:r>
            <a:r>
              <a:rPr lang="en-US" dirty="0"/>
              <a:t>)</a:t>
            </a:r>
          </a:p>
          <a:p>
            <a:pPr marL="0" indent="0">
              <a:spcBef>
                <a:spcPts val="2976"/>
              </a:spcBef>
              <a:buNone/>
            </a:pPr>
            <a:r>
              <a:rPr lang="en-US" dirty="0"/>
              <a:t>⇒  ciphertext must be longer than plaintext</a:t>
            </a:r>
          </a:p>
          <a:p>
            <a:pPr marL="0" indent="0">
              <a:spcBef>
                <a:spcPts val="2376"/>
              </a:spcBef>
              <a:buNone/>
            </a:pPr>
            <a:r>
              <a:rPr lang="en-US" dirty="0"/>
              <a:t>Roughly speaking:   CT-size =   PT-size + “# random bits”</a:t>
            </a:r>
          </a:p>
          <a:p>
            <a:endParaRPr lang="en-US" dirty="0"/>
          </a:p>
          <a:p>
            <a:endParaRPr lang="en-US" dirty="0"/>
          </a:p>
        </p:txBody>
      </p:sp>
      <p:grpSp>
        <p:nvGrpSpPr>
          <p:cNvPr id="9" name="Group 8">
            <a:extLst>
              <a:ext uri="{FF2B5EF4-FFF2-40B4-BE49-F238E27FC236}">
                <a16:creationId xmlns:a16="http://schemas.microsoft.com/office/drawing/2014/main" id="{BB068361-7630-EA6F-E4AF-F4DFF1EDDFC0}"/>
              </a:ext>
            </a:extLst>
          </p:cNvPr>
          <p:cNvGrpSpPr/>
          <p:nvPr/>
        </p:nvGrpSpPr>
        <p:grpSpPr>
          <a:xfrm>
            <a:off x="1565563" y="1648692"/>
            <a:ext cx="5687274" cy="1371599"/>
            <a:chOff x="1676400" y="2438401"/>
            <a:chExt cx="5687274" cy="1371599"/>
          </a:xfrm>
        </p:grpSpPr>
        <p:sp>
          <p:nvSpPr>
            <p:cNvPr id="4" name="Rounded Rectangle 3"/>
            <p:cNvSpPr/>
            <p:nvPr/>
          </p:nvSpPr>
          <p:spPr>
            <a:xfrm>
              <a:off x="3733800" y="2590800"/>
              <a:ext cx="1524000" cy="1219200"/>
            </a:xfrm>
            <a:prstGeom prst="round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Oval 4"/>
            <p:cNvSpPr/>
            <p:nvPr/>
          </p:nvSpPr>
          <p:spPr>
            <a:xfrm>
              <a:off x="4191000" y="2667000"/>
              <a:ext cx="457200" cy="457200"/>
            </a:xfrm>
            <a:prstGeom prst="ellipse">
              <a:avLst/>
            </a:prstGeom>
            <a:solidFill>
              <a:schemeClr val="bg1">
                <a:lumMod val="6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4191000" y="3276600"/>
              <a:ext cx="457200" cy="457200"/>
            </a:xfrm>
            <a:prstGeom prst="ellipse">
              <a:avLst/>
            </a:prstGeom>
            <a:solidFill>
              <a:srgbClr val="A6A6A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1676401" y="3195936"/>
              <a:ext cx="534121" cy="461665"/>
            </a:xfrm>
            <a:prstGeom prst="rect">
              <a:avLst/>
            </a:prstGeom>
            <a:noFill/>
          </p:spPr>
          <p:txBody>
            <a:bodyPr wrap="none" rtlCol="0">
              <a:spAutoFit/>
            </a:bodyPr>
            <a:lstStyle/>
            <a:p>
              <a:r>
                <a:rPr lang="en-US" sz="2400" dirty="0"/>
                <a:t>m</a:t>
              </a:r>
              <a:r>
                <a:rPr lang="en-US" sz="2400" baseline="-25000" dirty="0"/>
                <a:t>1</a:t>
              </a:r>
            </a:p>
          </p:txBody>
        </p:sp>
        <p:cxnSp>
          <p:nvCxnSpPr>
            <p:cNvPr id="29" name="Straight Arrow Connector 28"/>
            <p:cNvCxnSpPr/>
            <p:nvPr/>
          </p:nvCxnSpPr>
          <p:spPr>
            <a:xfrm flipV="1">
              <a:off x="2224802" y="3402611"/>
              <a:ext cx="2249201" cy="39477"/>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2209801" y="3437088"/>
              <a:ext cx="2244201" cy="185513"/>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224802" y="3442088"/>
              <a:ext cx="2304202" cy="65605"/>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grpSp>
          <p:nvGrpSpPr>
            <p:cNvPr id="33" name="Group 32"/>
            <p:cNvGrpSpPr/>
            <p:nvPr/>
          </p:nvGrpSpPr>
          <p:grpSpPr>
            <a:xfrm>
              <a:off x="1676400" y="2463801"/>
              <a:ext cx="2853724" cy="588665"/>
              <a:chOff x="1676400" y="1606550"/>
              <a:chExt cx="2853724" cy="588665"/>
            </a:xfrm>
          </p:grpSpPr>
          <p:sp>
            <p:nvSpPr>
              <p:cNvPr id="7" name="TextBox 6"/>
              <p:cNvSpPr txBox="1"/>
              <p:nvPr/>
            </p:nvSpPr>
            <p:spPr>
              <a:xfrm>
                <a:off x="1676400" y="1733550"/>
                <a:ext cx="534121" cy="461665"/>
              </a:xfrm>
              <a:prstGeom prst="rect">
                <a:avLst/>
              </a:prstGeom>
              <a:noFill/>
            </p:spPr>
            <p:txBody>
              <a:bodyPr wrap="none" rtlCol="0">
                <a:spAutoFit/>
              </a:bodyPr>
              <a:lstStyle/>
              <a:p>
                <a:r>
                  <a:rPr lang="en-US" sz="2400" dirty="0"/>
                  <a:t>m</a:t>
                </a:r>
                <a:r>
                  <a:rPr lang="en-US" sz="2400" baseline="-25000" dirty="0"/>
                  <a:t>0</a:t>
                </a:r>
              </a:p>
            </p:txBody>
          </p:sp>
          <p:cxnSp>
            <p:nvCxnSpPr>
              <p:cNvPr id="12" name="Straight Arrow Connector 11"/>
              <p:cNvCxnSpPr/>
              <p:nvPr/>
            </p:nvCxnSpPr>
            <p:spPr>
              <a:xfrm flipV="1">
                <a:off x="2225922" y="1929906"/>
                <a:ext cx="2249201" cy="39477"/>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7" idx="3"/>
              </p:cNvCxnSpPr>
              <p:nvPr/>
            </p:nvCxnSpPr>
            <p:spPr>
              <a:xfrm>
                <a:off x="2210521" y="1964383"/>
                <a:ext cx="2244600" cy="185513"/>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225922" y="1969383"/>
                <a:ext cx="2304202" cy="65605"/>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758196" y="1606550"/>
                <a:ext cx="519694" cy="369332"/>
              </a:xfrm>
              <a:prstGeom prst="rect">
                <a:avLst/>
              </a:prstGeom>
              <a:noFill/>
            </p:spPr>
            <p:txBody>
              <a:bodyPr wrap="none" rtlCol="0">
                <a:spAutoFit/>
              </a:bodyPr>
              <a:lstStyle/>
              <a:p>
                <a:r>
                  <a:rPr lang="en-US" dirty="0" err="1"/>
                  <a:t>enc</a:t>
                </a:r>
                <a:endParaRPr lang="en-US" dirty="0"/>
              </a:p>
            </p:txBody>
          </p:sp>
        </p:grpSp>
        <p:grpSp>
          <p:nvGrpSpPr>
            <p:cNvPr id="34" name="Group 33"/>
            <p:cNvGrpSpPr/>
            <p:nvPr/>
          </p:nvGrpSpPr>
          <p:grpSpPr>
            <a:xfrm flipH="1">
              <a:off x="4510349" y="2438401"/>
              <a:ext cx="2853325" cy="588665"/>
              <a:chOff x="1676800" y="1606550"/>
              <a:chExt cx="2853324" cy="588665"/>
            </a:xfrm>
          </p:grpSpPr>
          <p:sp>
            <p:nvSpPr>
              <p:cNvPr id="35" name="TextBox 34"/>
              <p:cNvSpPr txBox="1"/>
              <p:nvPr/>
            </p:nvSpPr>
            <p:spPr>
              <a:xfrm>
                <a:off x="1676800" y="1733550"/>
                <a:ext cx="534121" cy="461665"/>
              </a:xfrm>
              <a:prstGeom prst="rect">
                <a:avLst/>
              </a:prstGeom>
              <a:noFill/>
            </p:spPr>
            <p:txBody>
              <a:bodyPr wrap="none" rtlCol="0">
                <a:spAutoFit/>
              </a:bodyPr>
              <a:lstStyle/>
              <a:p>
                <a:r>
                  <a:rPr lang="en-US" sz="2400" dirty="0"/>
                  <a:t>m</a:t>
                </a:r>
                <a:r>
                  <a:rPr lang="en-US" sz="2400" baseline="-25000" dirty="0"/>
                  <a:t>0</a:t>
                </a:r>
              </a:p>
            </p:txBody>
          </p:sp>
          <p:cxnSp>
            <p:nvCxnSpPr>
              <p:cNvPr id="36" name="Straight Arrow Connector 35"/>
              <p:cNvCxnSpPr/>
              <p:nvPr/>
            </p:nvCxnSpPr>
            <p:spPr>
              <a:xfrm flipV="1">
                <a:off x="2225922" y="1929906"/>
                <a:ext cx="2249201" cy="39477"/>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35" idx="3"/>
              </p:cNvCxnSpPr>
              <p:nvPr/>
            </p:nvCxnSpPr>
            <p:spPr>
              <a:xfrm>
                <a:off x="2210921" y="1964383"/>
                <a:ext cx="2244200" cy="185513"/>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2225922" y="1969383"/>
                <a:ext cx="2304202" cy="65605"/>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56906" y="1606550"/>
                <a:ext cx="519694" cy="369332"/>
              </a:xfrm>
              <a:prstGeom prst="rect">
                <a:avLst/>
              </a:prstGeom>
              <a:noFill/>
            </p:spPr>
            <p:txBody>
              <a:bodyPr wrap="none" rtlCol="0">
                <a:spAutoFit/>
              </a:bodyPr>
              <a:lstStyle/>
              <a:p>
                <a:r>
                  <a:rPr lang="en-US" dirty="0" err="1"/>
                  <a:t>dec</a:t>
                </a:r>
                <a:endParaRPr lang="en-US" dirty="0"/>
              </a:p>
            </p:txBody>
          </p:sp>
        </p:grpSp>
        <p:grpSp>
          <p:nvGrpSpPr>
            <p:cNvPr id="40" name="Group 39"/>
            <p:cNvGrpSpPr/>
            <p:nvPr/>
          </p:nvGrpSpPr>
          <p:grpSpPr>
            <a:xfrm flipH="1">
              <a:off x="4495799" y="3175001"/>
              <a:ext cx="2853325" cy="461665"/>
              <a:chOff x="1676800" y="1733550"/>
              <a:chExt cx="2853324" cy="461665"/>
            </a:xfrm>
          </p:grpSpPr>
          <p:sp>
            <p:nvSpPr>
              <p:cNvPr id="41" name="TextBox 40"/>
              <p:cNvSpPr txBox="1"/>
              <p:nvPr/>
            </p:nvSpPr>
            <p:spPr>
              <a:xfrm>
                <a:off x="1676800" y="1733550"/>
                <a:ext cx="534121" cy="461665"/>
              </a:xfrm>
              <a:prstGeom prst="rect">
                <a:avLst/>
              </a:prstGeom>
              <a:noFill/>
            </p:spPr>
            <p:txBody>
              <a:bodyPr wrap="none" rtlCol="0">
                <a:spAutoFit/>
              </a:bodyPr>
              <a:lstStyle/>
              <a:p>
                <a:r>
                  <a:rPr lang="en-US" sz="2400" dirty="0"/>
                  <a:t>m</a:t>
                </a:r>
                <a:r>
                  <a:rPr lang="en-US" sz="2400" baseline="-25000" dirty="0"/>
                  <a:t>1</a:t>
                </a:r>
              </a:p>
            </p:txBody>
          </p:sp>
          <p:cxnSp>
            <p:nvCxnSpPr>
              <p:cNvPr id="42" name="Straight Arrow Connector 41"/>
              <p:cNvCxnSpPr/>
              <p:nvPr/>
            </p:nvCxnSpPr>
            <p:spPr>
              <a:xfrm flipV="1">
                <a:off x="2225922" y="1929906"/>
                <a:ext cx="2249201" cy="39477"/>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41" idx="3"/>
              </p:cNvCxnSpPr>
              <p:nvPr/>
            </p:nvCxnSpPr>
            <p:spPr>
              <a:xfrm>
                <a:off x="2210921" y="1964383"/>
                <a:ext cx="2244200" cy="185513"/>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2225922" y="1969383"/>
                <a:ext cx="2304202" cy="65605"/>
              </a:xfrm>
              <a:prstGeom prst="straightConnector1">
                <a:avLst/>
              </a:prstGeom>
              <a:ln>
                <a:solidFill>
                  <a:srgbClr val="000090"/>
                </a:solidFill>
                <a:headEnd type="arrow"/>
                <a:tailEnd type="non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1361906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685801" y="1143001"/>
                <a:ext cx="7768665" cy="2496709"/>
              </a:xfrm>
              <a:prstGeom prst="rect">
                <a:avLst/>
              </a:prstGeom>
              <a:noFill/>
            </p:spPr>
            <p:txBody>
              <a:bodyPr wrap="none" rtlCol="0">
                <a:spAutoFit/>
              </a:bodyPr>
              <a:lstStyle/>
              <a:p>
                <a:r>
                  <a:rPr lang="en-US" sz="2400" dirty="0"/>
                  <a:t>Cho  F: K × R ⟶ M  </a:t>
                </a:r>
                <a:r>
                  <a:rPr lang="en-US" sz="2400" dirty="0" err="1"/>
                  <a:t>là</a:t>
                </a:r>
                <a:r>
                  <a:rPr lang="en-US" sz="2400" dirty="0"/>
                  <a:t> </a:t>
                </a:r>
                <a:r>
                  <a:rPr lang="en-US" sz="2400" dirty="0" err="1"/>
                  <a:t>một</a:t>
                </a:r>
                <a:r>
                  <a:rPr lang="en-US" sz="2400" dirty="0"/>
                  <a:t> PRF </a:t>
                </a:r>
                <a:r>
                  <a:rPr lang="en-US" sz="2400" dirty="0" err="1"/>
                  <a:t>bảo</a:t>
                </a:r>
                <a:r>
                  <a:rPr lang="en-US" sz="2400" dirty="0"/>
                  <a:t> </a:t>
                </a:r>
                <a:r>
                  <a:rPr lang="en-US" sz="2400" dirty="0" err="1"/>
                  <a:t>mật</a:t>
                </a:r>
                <a:r>
                  <a:rPr lang="en-US" sz="2400" dirty="0"/>
                  <a:t>.</a:t>
                </a:r>
              </a:p>
              <a:p>
                <a:endParaRPr lang="en-US" sz="2400" dirty="0"/>
              </a:p>
              <a:p>
                <a:r>
                  <a:rPr lang="en-US" sz="2400" dirty="0"/>
                  <a:t>Cho </a:t>
                </a:r>
                <a:r>
                  <a:rPr lang="en-US" sz="2400" dirty="0" err="1"/>
                  <a:t>m∈M</a:t>
                </a:r>
                <a:r>
                  <a:rPr lang="en-US" sz="2400" dirty="0"/>
                  <a:t>, </a:t>
                </a:r>
                <a:r>
                  <a:rPr lang="en-US" sz="2400" dirty="0" err="1"/>
                  <a:t>với</a:t>
                </a:r>
                <a:r>
                  <a:rPr lang="en-US" sz="2400" dirty="0"/>
                  <a:t>      E(</a:t>
                </a:r>
                <a:r>
                  <a:rPr lang="en-US" sz="2400" dirty="0" err="1"/>
                  <a:t>k,m</a:t>
                </a:r>
                <a:r>
                  <a:rPr lang="en-US" sz="2400" dirty="0"/>
                  <a:t>) = </a:t>
                </a:r>
                <a:r>
                  <a:rPr lang="en-US" sz="3200" dirty="0"/>
                  <a:t>[</a:t>
                </a:r>
                <a:r>
                  <a:rPr lang="en-US" sz="2400" dirty="0"/>
                  <a:t> </a:t>
                </a:r>
                <a:r>
                  <a:rPr lang="en-US" sz="2400" dirty="0" err="1"/>
                  <a:t>r⟵R</a:t>
                </a:r>
                <a:r>
                  <a:rPr lang="en-US" sz="2400" dirty="0"/>
                  <a:t>,  output  </a:t>
                </a:r>
                <a:r>
                  <a:rPr lang="en-US" sz="3200" b="1" dirty="0">
                    <a:solidFill>
                      <a:srgbClr val="0000FF"/>
                    </a:solidFill>
                  </a:rPr>
                  <a:t>(</a:t>
                </a:r>
                <a:r>
                  <a:rPr lang="en-US" sz="2400" b="1" dirty="0">
                    <a:solidFill>
                      <a:srgbClr val="0000FF"/>
                    </a:solidFill>
                  </a:rPr>
                  <a:t>r, F(</a:t>
                </a:r>
                <a:r>
                  <a:rPr lang="en-US" sz="2400" b="1" dirty="0" err="1">
                    <a:solidFill>
                      <a:srgbClr val="0000FF"/>
                    </a:solidFill>
                  </a:rPr>
                  <a:t>k,r</a:t>
                </a:r>
                <a:r>
                  <a:rPr lang="en-US" sz="2400" b="1" dirty="0">
                    <a:solidFill>
                      <a:srgbClr val="0000FF"/>
                    </a:solidFill>
                  </a:rPr>
                  <a:t>)⨁m</a:t>
                </a:r>
                <a:r>
                  <a:rPr lang="en-US" sz="3200" b="1" dirty="0">
                    <a:solidFill>
                      <a:srgbClr val="0000FF"/>
                    </a:solidFill>
                  </a:rPr>
                  <a:t>)</a:t>
                </a:r>
                <a:r>
                  <a:rPr lang="en-US" sz="2400" b="1" dirty="0">
                    <a:solidFill>
                      <a:srgbClr val="0000FF"/>
                    </a:solidFill>
                  </a:rPr>
                  <a:t>  </a:t>
                </a:r>
                <a:r>
                  <a:rPr lang="en-US" sz="3200" dirty="0"/>
                  <a:t>]</a:t>
                </a:r>
                <a14:m>
                  <m:oMath xmlns:m="http://schemas.openxmlformats.org/officeDocument/2006/math">
                    <m:r>
                      <a:rPr lang="en-US" sz="3300" i="1">
                        <a:latin typeface="Cambria Math" panose="02040503050406030204" pitchFamily="18" charset="0"/>
                        <a:ea typeface="Cambria Math" panose="02040503050406030204" pitchFamily="18" charset="0"/>
                      </a:rPr>
                      <m:t>≈</m:t>
                    </m:r>
                  </m:oMath>
                </a14:m>
                <a:endParaRPr lang="vi-VN" sz="2800" i="1" baseline="-250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vi-VN" sz="2800" i="1" baseline="-25000">
                          <a:latin typeface="Cambria Math" panose="02040503050406030204" pitchFamily="18" charset="0"/>
                          <a:ea typeface="Cambria Math" panose="02040503050406030204" pitchFamily="18" charset="0"/>
                        </a:rPr>
                        <m:t>p</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r</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F</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r</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m</m:t>
                      </m:r>
                      <m:r>
                        <a:rPr lang="vi-VN" sz="2800" i="1">
                          <a:latin typeface="Cambria Math" panose="02040503050406030204" pitchFamily="18" charset="0"/>
                          <a:ea typeface="Cambria Math" panose="02040503050406030204" pitchFamily="18" charset="0"/>
                        </a:rPr>
                        <m:t>]</m:t>
                      </m:r>
                    </m:oMath>
                  </m:oMathPara>
                </a14:m>
                <a:endParaRPr lang="en-US" sz="2800" dirty="0"/>
              </a:p>
              <a:p>
                <a:r>
                  <a:rPr lang="en-US" sz="2400" dirty="0"/>
                  <a:t> </a:t>
                </a:r>
              </a:p>
              <a:p>
                <a:r>
                  <a:rPr lang="en-US" sz="2400" dirty="0"/>
                  <a:t>E </a:t>
                </a:r>
                <a:r>
                  <a:rPr lang="en-US" sz="2400" dirty="0" err="1"/>
                  <a:t>bảo</a:t>
                </a:r>
                <a:r>
                  <a:rPr lang="en-US" sz="2400" dirty="0"/>
                  <a:t> </a:t>
                </a:r>
                <a:r>
                  <a:rPr lang="en-US" sz="2400" dirty="0" err="1"/>
                  <a:t>mật</a:t>
                </a:r>
                <a:r>
                  <a:rPr lang="en-US" sz="2400" dirty="0"/>
                  <a:t> </a:t>
                </a:r>
                <a:r>
                  <a:rPr lang="en-US" sz="2400" dirty="0" err="1"/>
                  <a:t>ngữ</a:t>
                </a:r>
                <a:r>
                  <a:rPr lang="en-US" sz="2400" dirty="0"/>
                  <a:t> </a:t>
                </a:r>
                <a:r>
                  <a:rPr lang="en-US" sz="2400" dirty="0" err="1"/>
                  <a:t>nghĩa</a:t>
                </a:r>
                <a:r>
                  <a:rPr lang="en-US" sz="2400" dirty="0"/>
                  <a:t> </a:t>
                </a:r>
                <a:r>
                  <a:rPr lang="en-US" sz="2400" dirty="0" err="1"/>
                  <a:t>dưới</a:t>
                </a:r>
                <a:r>
                  <a:rPr lang="en-US" sz="2400" dirty="0"/>
                  <a:t> </a:t>
                </a:r>
                <a:r>
                  <a:rPr lang="en-US" sz="2400" dirty="0" err="1"/>
                  <a:t>tấn</a:t>
                </a:r>
                <a:r>
                  <a:rPr lang="en-US" sz="2400" dirty="0"/>
                  <a:t> </a:t>
                </a:r>
                <a:r>
                  <a:rPr lang="en-US" sz="2400" dirty="0" err="1"/>
                  <a:t>công</a:t>
                </a:r>
                <a:r>
                  <a:rPr lang="en-US" sz="2400" dirty="0"/>
                  <a:t> CPA?</a:t>
                </a:r>
              </a:p>
            </p:txBody>
          </p:sp>
        </mc:Choice>
        <mc:Fallback xmlns="">
          <p:sp>
            <p:nvSpPr>
              <p:cNvPr id="4" name="TextBox 3"/>
              <p:cNvSpPr txBox="1">
                <a:spLocks noRot="1" noChangeAspect="1" noMove="1" noResize="1" noEditPoints="1" noAdjustHandles="1" noChangeArrowheads="1" noChangeShapeType="1" noTextEdit="1"/>
              </p:cNvSpPr>
              <p:nvPr/>
            </p:nvSpPr>
            <p:spPr>
              <a:xfrm>
                <a:off x="685801" y="1143001"/>
                <a:ext cx="7768665" cy="2496709"/>
              </a:xfrm>
              <a:prstGeom prst="rect">
                <a:avLst/>
              </a:prstGeom>
              <a:blipFill>
                <a:blip r:embed="rId2"/>
                <a:stretch>
                  <a:fillRect l="-1307" t="-2538" b="-4569"/>
                </a:stretch>
              </a:blipFill>
            </p:spPr>
            <p:txBody>
              <a:bodyPr/>
              <a:lstStyle/>
              <a:p>
                <a:r>
                  <a:rPr>
                    <a:noFill/>
                  </a:rPr>
                  <a:t> </a:t>
                </a:r>
              </a:p>
            </p:txBody>
          </p:sp>
        </mc:Fallback>
      </mc:AlternateContent>
      <p:sp>
        <p:nvSpPr>
          <p:cNvPr id="5" name="TextBox 4"/>
          <p:cNvSpPr txBox="1"/>
          <p:nvPr/>
        </p:nvSpPr>
        <p:spPr>
          <a:xfrm>
            <a:off x="4419600" y="1978224"/>
            <a:ext cx="282450" cy="307777"/>
          </a:xfrm>
          <a:prstGeom prst="rect">
            <a:avLst/>
          </a:prstGeom>
          <a:noFill/>
        </p:spPr>
        <p:txBody>
          <a:bodyPr wrap="none" rtlCol="0">
            <a:spAutoFit/>
          </a:bodyPr>
          <a:lstStyle/>
          <a:p>
            <a:r>
              <a:rPr lang="en-US" sz="1400" dirty="0"/>
              <a:t>R</a:t>
            </a:r>
          </a:p>
        </p:txBody>
      </p:sp>
      <p:sp>
        <p:nvSpPr>
          <p:cNvPr id="6" name="TextBox 5"/>
          <p:cNvSpPr txBox="1"/>
          <p:nvPr/>
        </p:nvSpPr>
        <p:spPr>
          <a:xfrm>
            <a:off x="1371600" y="3581401"/>
            <a:ext cx="4094198" cy="461665"/>
          </a:xfrm>
          <a:prstGeom prst="rect">
            <a:avLst/>
          </a:prstGeom>
          <a:noFill/>
        </p:spPr>
        <p:txBody>
          <a:bodyPr wrap="none" rtlCol="0">
            <a:spAutoFit/>
          </a:bodyPr>
          <a:lstStyle/>
          <a:p>
            <a:r>
              <a:rPr lang="en-US" sz="2400" dirty="0"/>
              <a:t>Yes, whenever F is a secure PRF</a:t>
            </a:r>
          </a:p>
        </p:txBody>
      </p:sp>
      <p:sp>
        <p:nvSpPr>
          <p:cNvPr id="7" name="TextBox 6"/>
          <p:cNvSpPr txBox="1"/>
          <p:nvPr/>
        </p:nvSpPr>
        <p:spPr>
          <a:xfrm>
            <a:off x="1371600" y="4034136"/>
            <a:ext cx="5964966" cy="461665"/>
          </a:xfrm>
          <a:prstGeom prst="rect">
            <a:avLst/>
          </a:prstGeom>
          <a:noFill/>
        </p:spPr>
        <p:txBody>
          <a:bodyPr wrap="none" rtlCol="0">
            <a:spAutoFit/>
          </a:bodyPr>
          <a:lstStyle/>
          <a:p>
            <a:r>
              <a:rPr lang="en-US" sz="2400" dirty="0"/>
              <a:t>No, there is always a CPA attack on this system</a:t>
            </a:r>
          </a:p>
        </p:txBody>
      </p:sp>
      <p:sp>
        <p:nvSpPr>
          <p:cNvPr id="8" name="TextBox 7"/>
          <p:cNvSpPr txBox="1"/>
          <p:nvPr/>
        </p:nvSpPr>
        <p:spPr>
          <a:xfrm>
            <a:off x="1371600" y="4491336"/>
            <a:ext cx="7442358" cy="461665"/>
          </a:xfrm>
          <a:prstGeom prst="rect">
            <a:avLst/>
          </a:prstGeom>
          <a:noFill/>
        </p:spPr>
        <p:txBody>
          <a:bodyPr wrap="none" rtlCol="0">
            <a:spAutoFit/>
          </a:bodyPr>
          <a:lstStyle/>
          <a:p>
            <a:r>
              <a:rPr lang="en-US" sz="2400" dirty="0"/>
              <a:t>Yes, but only if R is large enough so r never repeats (</a:t>
            </a:r>
            <a:r>
              <a:rPr lang="en-US" sz="2400" dirty="0" err="1"/>
              <a:t>w.h.p</a:t>
            </a:r>
            <a:r>
              <a:rPr lang="en-US" sz="2400" dirty="0"/>
              <a:t>)</a:t>
            </a:r>
          </a:p>
        </p:txBody>
      </p:sp>
      <p:sp>
        <p:nvSpPr>
          <p:cNvPr id="9" name="TextBox 8"/>
          <p:cNvSpPr txBox="1"/>
          <p:nvPr/>
        </p:nvSpPr>
        <p:spPr>
          <a:xfrm>
            <a:off x="1371600" y="4953001"/>
            <a:ext cx="3735638" cy="461665"/>
          </a:xfrm>
          <a:prstGeom prst="rect">
            <a:avLst/>
          </a:prstGeom>
          <a:noFill/>
        </p:spPr>
        <p:txBody>
          <a:bodyPr wrap="none" rtlCol="0">
            <a:spAutoFit/>
          </a:bodyPr>
          <a:lstStyle/>
          <a:p>
            <a:r>
              <a:rPr lang="en-US" sz="2400" dirty="0"/>
              <a:t>It depends on what F is used</a:t>
            </a:r>
          </a:p>
        </p:txBody>
      </p:sp>
      <p:sp>
        <p:nvSpPr>
          <p:cNvPr id="10" name="Right Arrow 9">
            <a:extLst>
              <a:ext uri="{FF2B5EF4-FFF2-40B4-BE49-F238E27FC236}">
                <a16:creationId xmlns:a16="http://schemas.microsoft.com/office/drawing/2014/main" id="{62557905-01FC-354C-B01D-EB77DCE2C2EE}"/>
              </a:ext>
            </a:extLst>
          </p:cNvPr>
          <p:cNvSpPr/>
          <p:nvPr/>
        </p:nvSpPr>
        <p:spPr>
          <a:xfrm>
            <a:off x="893345" y="4633924"/>
            <a:ext cx="342900" cy="153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2" name="Title 1">
            <a:extLst>
              <a:ext uri="{FF2B5EF4-FFF2-40B4-BE49-F238E27FC236}">
                <a16:creationId xmlns:a16="http://schemas.microsoft.com/office/drawing/2014/main" id="{9FE3BCD1-A4ED-B6BA-94BB-C2548C76B274}"/>
              </a:ext>
            </a:extLst>
          </p:cNvPr>
          <p:cNvSpPr>
            <a:spLocks noGrp="1"/>
          </p:cNvSpPr>
          <p:nvPr>
            <p:ph type="title"/>
          </p:nvPr>
        </p:nvSpPr>
        <p:spPr/>
        <p:txBody>
          <a:bodyPr/>
          <a:lstStyle/>
          <a:p>
            <a:endParaRPr/>
          </a:p>
        </p:txBody>
      </p:sp>
      <p:sp>
        <p:nvSpPr>
          <p:cNvPr id="3" name="Content Placeholder 2">
            <a:extLst>
              <a:ext uri="{FF2B5EF4-FFF2-40B4-BE49-F238E27FC236}">
                <a16:creationId xmlns:a16="http://schemas.microsoft.com/office/drawing/2014/main" id="{EAA98219-CCE7-76D3-DC0C-27B1B7E2B489}"/>
              </a:ext>
            </a:extLst>
          </p:cNvPr>
          <p:cNvSpPr>
            <a:spLocks noGrp="1"/>
          </p:cNvSpPr>
          <p:nvPr>
            <p:ph sz="quarter" idx="13"/>
          </p:nvPr>
        </p:nvSpPr>
        <p:spPr/>
        <p:txBody>
          <a:bodyPr/>
          <a:lstStyle/>
          <a:p>
            <a:endParaRPr/>
          </a:p>
        </p:txBody>
      </p:sp>
    </p:spTree>
    <p:extLst>
      <p:ext uri="{BB962C8B-B14F-4D97-AF65-F5344CB8AC3E}">
        <p14:creationId xmlns:p14="http://schemas.microsoft.com/office/powerpoint/2010/main" val="13942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2" y="160783"/>
            <a:ext cx="9239649" cy="451739"/>
          </a:xfrm>
        </p:spPr>
        <p:txBody>
          <a:bodyPr>
            <a:normAutofit/>
          </a:bodyPr>
          <a:lstStyle/>
          <a:p>
            <a:r>
              <a:rPr lang="en-US" sz="2400" b="1" dirty="0" err="1"/>
              <a:t>Giải</a:t>
            </a:r>
            <a:r>
              <a:rPr lang="en-US" sz="2400" b="1" dirty="0"/>
              <a:t> </a:t>
            </a:r>
            <a:r>
              <a:rPr lang="en-US" sz="2400" b="1" dirty="0" err="1"/>
              <a:t>pháp</a:t>
            </a:r>
            <a:r>
              <a:rPr lang="en-US" sz="2400" b="1" dirty="0"/>
              <a:t> 2:  </a:t>
            </a:r>
            <a:r>
              <a:rPr lang="en-US" sz="2400" b="1" dirty="0" err="1"/>
              <a:t>Mã</a:t>
            </a:r>
            <a:r>
              <a:rPr lang="en-US" sz="2400" b="1" dirty="0"/>
              <a:t> </a:t>
            </a:r>
            <a:r>
              <a:rPr lang="en-US" sz="2400" b="1" dirty="0" err="1"/>
              <a:t>hoá</a:t>
            </a:r>
            <a:r>
              <a:rPr lang="en-US" sz="2400" b="1" dirty="0"/>
              <a:t> </a:t>
            </a:r>
            <a:r>
              <a:rPr lang="en-US" sz="2400" b="1" dirty="0" err="1"/>
              <a:t>dựa</a:t>
            </a:r>
            <a:r>
              <a:rPr lang="en-US" sz="2400" b="1" dirty="0"/>
              <a:t> </a:t>
            </a:r>
            <a:r>
              <a:rPr lang="en-US" sz="2400" b="1" dirty="0" err="1"/>
              <a:t>trên</a:t>
            </a:r>
            <a:r>
              <a:rPr lang="en-US" sz="2400" b="1" dirty="0"/>
              <a:t> </a:t>
            </a:r>
            <a:r>
              <a:rPr lang="en-US" sz="2400" b="1" dirty="0" err="1"/>
              <a:t>số</a:t>
            </a:r>
            <a:r>
              <a:rPr lang="en-US" sz="2400" b="1" dirty="0"/>
              <a:t> Nonce (nonce-based Encryption)</a:t>
            </a:r>
          </a:p>
        </p:txBody>
      </p:sp>
      <p:sp>
        <p:nvSpPr>
          <p:cNvPr id="3" name="Content Placeholder 2"/>
          <p:cNvSpPr>
            <a:spLocks noGrp="1"/>
          </p:cNvSpPr>
          <p:nvPr>
            <p:ph sz="quarter" idx="13"/>
          </p:nvPr>
        </p:nvSpPr>
        <p:spPr>
          <a:xfrm>
            <a:off x="235077" y="841248"/>
            <a:ext cx="8674100" cy="5407152"/>
          </a:xfrm>
        </p:spPr>
        <p:txBody>
          <a:bodyPr>
            <a:normAutofit fontScale="92500"/>
          </a:bodyPr>
          <a:lstStyle/>
          <a:p>
            <a:r>
              <a:rPr lang="en-US" dirty="0"/>
              <a:t>nonce  n:   </a:t>
            </a:r>
            <a:r>
              <a:rPr lang="en-US" dirty="0" err="1"/>
              <a:t>là</a:t>
            </a:r>
            <a:r>
              <a:rPr lang="en-US" dirty="0"/>
              <a:t> </a:t>
            </a:r>
            <a:r>
              <a:rPr lang="en-US" dirty="0" err="1"/>
              <a:t>một</a:t>
            </a:r>
            <a:r>
              <a:rPr lang="en-US" dirty="0"/>
              <a:t> </a:t>
            </a:r>
            <a:r>
              <a:rPr lang="en-US" dirty="0" err="1"/>
              <a:t>giá</a:t>
            </a:r>
            <a:r>
              <a:rPr lang="en-US" dirty="0"/>
              <a:t> </a:t>
            </a:r>
            <a:r>
              <a:rPr lang="en-US" dirty="0" err="1"/>
              <a:t>trị</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từ</a:t>
            </a:r>
            <a:r>
              <a:rPr lang="en-US" dirty="0"/>
              <a:t> msg </a:t>
            </a:r>
            <a:r>
              <a:rPr lang="en-US" dirty="0" err="1"/>
              <a:t>tới</a:t>
            </a:r>
            <a:r>
              <a:rPr lang="en-US" dirty="0"/>
              <a:t> msg, </a:t>
            </a:r>
            <a:r>
              <a:rPr lang="en-US" dirty="0" err="1"/>
              <a:t>cặp</a:t>
            </a:r>
            <a:r>
              <a:rPr lang="en-US" dirty="0"/>
              <a:t> (</a:t>
            </a:r>
            <a:r>
              <a:rPr lang="en-US" dirty="0" err="1"/>
              <a:t>k,n</a:t>
            </a:r>
            <a:r>
              <a:rPr lang="en-US" dirty="0"/>
              <a:t>)  </a:t>
            </a:r>
            <a:r>
              <a:rPr lang="en-US" dirty="0" err="1"/>
              <a:t>không</a:t>
            </a:r>
            <a:r>
              <a:rPr lang="en-US" dirty="0"/>
              <a:t> bao </a:t>
            </a:r>
            <a:r>
              <a:rPr lang="en-US" dirty="0" err="1"/>
              <a:t>giờ</a:t>
            </a:r>
            <a:r>
              <a:rPr lang="en-US" dirty="0"/>
              <a:t> </a:t>
            </a:r>
            <a:r>
              <a:rPr lang="en-US" dirty="0" err="1"/>
              <a:t>sử</a:t>
            </a:r>
            <a:r>
              <a:rPr lang="en-US" dirty="0"/>
              <a:t> </a:t>
            </a:r>
            <a:r>
              <a:rPr lang="en-US" dirty="0" err="1"/>
              <a:t>dụng</a:t>
            </a:r>
            <a:r>
              <a:rPr lang="en-US" dirty="0"/>
              <a:t> </a:t>
            </a:r>
            <a:r>
              <a:rPr lang="en-US" dirty="0" err="1"/>
              <a:t>hơn</a:t>
            </a:r>
            <a:r>
              <a:rPr lang="en-US" dirty="0"/>
              <a:t> 1 </a:t>
            </a:r>
            <a:r>
              <a:rPr lang="en-US" dirty="0" err="1"/>
              <a:t>lần</a:t>
            </a:r>
            <a:r>
              <a:rPr lang="en-US" dirty="0"/>
              <a:t> (pair </a:t>
            </a:r>
            <a:r>
              <a:rPr lang="en-US" u="sng" dirty="0"/>
              <a:t>never</a:t>
            </a:r>
            <a:r>
              <a:rPr lang="en-US" dirty="0"/>
              <a:t> used more than once)</a:t>
            </a:r>
          </a:p>
          <a:p>
            <a:endParaRPr lang="en-US" dirty="0"/>
          </a:p>
          <a:p>
            <a:endParaRPr lang="en-US" dirty="0"/>
          </a:p>
          <a:p>
            <a:pPr>
              <a:spcBef>
                <a:spcPts val="2000"/>
              </a:spcBef>
            </a:pPr>
            <a:endParaRPr lang="en-US" u="sng" dirty="0"/>
          </a:p>
          <a:p>
            <a:pPr>
              <a:spcBef>
                <a:spcPts val="2000"/>
              </a:spcBef>
            </a:pPr>
            <a:endParaRPr lang="en-US" u="sng" dirty="0"/>
          </a:p>
          <a:p>
            <a:pPr>
              <a:spcBef>
                <a:spcPts val="2000"/>
              </a:spcBef>
            </a:pPr>
            <a:r>
              <a:rPr lang="en-US" u="sng" dirty="0"/>
              <a:t>method 1</a:t>
            </a:r>
            <a:r>
              <a:rPr lang="en-US" dirty="0"/>
              <a:t>:   nonce is a </a:t>
            </a:r>
            <a:r>
              <a:rPr lang="en-US" b="1" dirty="0"/>
              <a:t>counter</a:t>
            </a:r>
            <a:r>
              <a:rPr lang="en-US" dirty="0"/>
              <a:t>   (e.g. packet counter)</a:t>
            </a:r>
          </a:p>
          <a:p>
            <a:pPr lvl="1"/>
            <a:r>
              <a:rPr lang="en-US" dirty="0"/>
              <a:t>used when encryptor keeps state from </a:t>
            </a:r>
            <a:r>
              <a:rPr lang="en-US" dirty="0" err="1"/>
              <a:t>msg</a:t>
            </a:r>
            <a:r>
              <a:rPr lang="en-US" dirty="0"/>
              <a:t> to </a:t>
            </a:r>
            <a:r>
              <a:rPr lang="en-US" dirty="0" err="1"/>
              <a:t>msg</a:t>
            </a:r>
            <a:endParaRPr lang="en-US" dirty="0"/>
          </a:p>
          <a:p>
            <a:pPr lvl="1"/>
            <a:r>
              <a:rPr lang="en-US" dirty="0"/>
              <a:t>if </a:t>
            </a:r>
            <a:r>
              <a:rPr lang="en-US" dirty="0" err="1"/>
              <a:t>decryptor</a:t>
            </a:r>
            <a:r>
              <a:rPr lang="en-US" dirty="0"/>
              <a:t> has same state, need not send nonce with CT</a:t>
            </a:r>
          </a:p>
          <a:p>
            <a:pPr marL="166688" indent="-166688">
              <a:spcBef>
                <a:spcPts val="1728"/>
              </a:spcBef>
            </a:pPr>
            <a:r>
              <a:rPr lang="en-US" u="sng" dirty="0"/>
              <a:t>method 2</a:t>
            </a:r>
            <a:r>
              <a:rPr lang="en-US" dirty="0"/>
              <a:t>:   encryptor chooses a </a:t>
            </a:r>
            <a:r>
              <a:rPr lang="en-US" b="1" dirty="0"/>
              <a:t>random nonce</a:t>
            </a:r>
            <a:r>
              <a:rPr lang="en-US" dirty="0"/>
              <a:t>,   n </a:t>
            </a:r>
            <a:r>
              <a:rPr lang="en-US" dirty="0">
                <a:sym typeface="Symbol"/>
              </a:rPr>
              <a:t> </a:t>
            </a:r>
            <a:r>
              <a:rPr lang="en-US" dirty="0">
                <a:latin typeface="Curlz MT" pitchFamily="82" charset="0"/>
                <a:sym typeface="Symbol"/>
              </a:rPr>
              <a:t>N</a:t>
            </a:r>
            <a:r>
              <a:rPr lang="en-US" dirty="0"/>
              <a:t> </a:t>
            </a:r>
          </a:p>
        </p:txBody>
      </p:sp>
      <p:grpSp>
        <p:nvGrpSpPr>
          <p:cNvPr id="4" name="Group 3">
            <a:extLst>
              <a:ext uri="{FF2B5EF4-FFF2-40B4-BE49-F238E27FC236}">
                <a16:creationId xmlns:a16="http://schemas.microsoft.com/office/drawing/2014/main" id="{D83DC45D-4752-759C-8919-D1DFE9DABB1D}"/>
              </a:ext>
            </a:extLst>
          </p:cNvPr>
          <p:cNvGrpSpPr/>
          <p:nvPr/>
        </p:nvGrpSpPr>
        <p:grpSpPr>
          <a:xfrm>
            <a:off x="492042" y="2256562"/>
            <a:ext cx="8416881" cy="1798082"/>
            <a:chOff x="304800" y="1771652"/>
            <a:chExt cx="8416881" cy="1798082"/>
          </a:xfrm>
        </p:grpSpPr>
        <p:sp>
          <p:nvSpPr>
            <p:cNvPr id="5" name="Text Box 5"/>
            <p:cNvSpPr txBox="1">
              <a:spLocks noChangeArrowheads="1"/>
            </p:cNvSpPr>
            <p:nvPr/>
          </p:nvSpPr>
          <p:spPr bwMode="auto">
            <a:xfrm>
              <a:off x="1249081" y="1943101"/>
              <a:ext cx="656205" cy="369332"/>
            </a:xfrm>
            <a:prstGeom prst="rect">
              <a:avLst/>
            </a:prstGeom>
            <a:noFill/>
            <a:ln w="9525">
              <a:noFill/>
              <a:miter lim="800000"/>
              <a:headEnd/>
              <a:tailEnd/>
            </a:ln>
          </p:spPr>
          <p:txBody>
            <a:bodyPr wrap="none">
              <a:spAutoFit/>
            </a:bodyPr>
            <a:lstStyle/>
            <a:p>
              <a:pPr algn="ctr">
                <a:spcBef>
                  <a:spcPct val="50000"/>
                </a:spcBef>
              </a:pPr>
              <a:r>
                <a:rPr lang="en-US">
                  <a:latin typeface="Tahoma" pitchFamily="34" charset="0"/>
                </a:rPr>
                <a:t>Alice</a:t>
              </a:r>
            </a:p>
          </p:txBody>
        </p:sp>
        <p:sp>
          <p:nvSpPr>
            <p:cNvPr id="6" name="Rectangle 6"/>
            <p:cNvSpPr>
              <a:spLocks noChangeArrowheads="1"/>
            </p:cNvSpPr>
            <p:nvPr/>
          </p:nvSpPr>
          <p:spPr bwMode="auto">
            <a:xfrm>
              <a:off x="1219200" y="2318147"/>
              <a:ext cx="762000" cy="685800"/>
            </a:xfrm>
            <a:prstGeom prst="rect">
              <a:avLst/>
            </a:prstGeom>
            <a:solidFill>
              <a:schemeClr val="accent1"/>
            </a:solidFill>
            <a:ln w="9525">
              <a:solidFill>
                <a:schemeClr val="tx1"/>
              </a:solidFill>
              <a:miter lim="800000"/>
              <a:headEnd/>
              <a:tailEnd/>
            </a:ln>
          </p:spPr>
          <p:txBody>
            <a:bodyPr wrap="none" anchor="ctr"/>
            <a:lstStyle/>
            <a:p>
              <a:pPr algn="ctr">
                <a:spcBef>
                  <a:spcPct val="50000"/>
                </a:spcBef>
              </a:pPr>
              <a:r>
                <a:rPr lang="en-US">
                  <a:latin typeface="Tahoma" pitchFamily="34" charset="0"/>
                </a:rPr>
                <a:t>E</a:t>
              </a:r>
            </a:p>
          </p:txBody>
        </p:sp>
        <p:sp>
          <p:nvSpPr>
            <p:cNvPr id="7" name="Line 7"/>
            <p:cNvSpPr>
              <a:spLocks noChangeShapeType="1"/>
            </p:cNvSpPr>
            <p:nvPr/>
          </p:nvSpPr>
          <p:spPr bwMode="auto">
            <a:xfrm>
              <a:off x="304800" y="2661047"/>
              <a:ext cx="914400" cy="0"/>
            </a:xfrm>
            <a:prstGeom prst="line">
              <a:avLst/>
            </a:prstGeom>
            <a:noFill/>
            <a:ln w="9525">
              <a:solidFill>
                <a:schemeClr val="tx1"/>
              </a:solidFill>
              <a:round/>
              <a:headEnd/>
              <a:tailEnd type="triangle" w="med" len="med"/>
            </a:ln>
          </p:spPr>
          <p:txBody>
            <a:bodyPr wrap="none" anchor="ctr"/>
            <a:lstStyle/>
            <a:p>
              <a:endParaRPr lang="en-US"/>
            </a:p>
          </p:txBody>
        </p:sp>
        <p:sp>
          <p:nvSpPr>
            <p:cNvPr id="8" name="Text Box 8"/>
            <p:cNvSpPr txBox="1">
              <a:spLocks noChangeArrowheads="1"/>
            </p:cNvSpPr>
            <p:nvPr/>
          </p:nvSpPr>
          <p:spPr bwMode="auto">
            <a:xfrm>
              <a:off x="305471" y="2302670"/>
              <a:ext cx="649538" cy="369332"/>
            </a:xfrm>
            <a:prstGeom prst="rect">
              <a:avLst/>
            </a:prstGeom>
            <a:noFill/>
            <a:ln w="9525">
              <a:noFill/>
              <a:miter lim="800000"/>
              <a:headEnd/>
              <a:tailEnd/>
            </a:ln>
          </p:spPr>
          <p:txBody>
            <a:bodyPr wrap="none">
              <a:spAutoFit/>
            </a:bodyPr>
            <a:lstStyle/>
            <a:p>
              <a:pPr algn="ctr">
                <a:spcBef>
                  <a:spcPct val="50000"/>
                </a:spcBef>
              </a:pPr>
              <a:r>
                <a:rPr lang="en-US">
                  <a:latin typeface="Tahoma" pitchFamily="34" charset="0"/>
                </a:rPr>
                <a:t>m, n</a:t>
              </a:r>
            </a:p>
          </p:txBody>
        </p:sp>
        <p:sp>
          <p:nvSpPr>
            <p:cNvPr id="9" name="Text Box 10"/>
            <p:cNvSpPr txBox="1">
              <a:spLocks noChangeArrowheads="1"/>
            </p:cNvSpPr>
            <p:nvPr/>
          </p:nvSpPr>
          <p:spPr bwMode="auto">
            <a:xfrm>
              <a:off x="2073274" y="2286001"/>
              <a:ext cx="1412567" cy="461665"/>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E(</a:t>
              </a:r>
              <a:r>
                <a:rPr lang="en-US" dirty="0" err="1">
                  <a:latin typeface="Tahoma" pitchFamily="34" charset="0"/>
                </a:rPr>
                <a:t>k,m,</a:t>
              </a:r>
              <a:r>
                <a:rPr lang="en-US" sz="2400" b="1" dirty="0" err="1">
                  <a:latin typeface="Tahoma" pitchFamily="34" charset="0"/>
                </a:rPr>
                <a:t>n</a:t>
              </a:r>
              <a:r>
                <a:rPr lang="en-US" dirty="0">
                  <a:latin typeface="Tahoma" pitchFamily="34" charset="0"/>
                </a:rPr>
                <a:t>)=c</a:t>
              </a:r>
            </a:p>
          </p:txBody>
        </p:sp>
        <p:pic>
          <p:nvPicPr>
            <p:cNvPr id="10" name="Picture 11" descr="j0089304"/>
            <p:cNvPicPr>
              <a:picLocks noChangeAspect="1" noChangeArrowheads="1"/>
            </p:cNvPicPr>
            <p:nvPr/>
          </p:nvPicPr>
          <p:blipFill>
            <a:blip r:embed="rId3" cstate="print"/>
            <a:srcRect/>
            <a:stretch>
              <a:fillRect/>
            </a:stretch>
          </p:blipFill>
          <p:spPr bwMode="auto">
            <a:xfrm>
              <a:off x="4171952" y="2203849"/>
              <a:ext cx="1223963" cy="816769"/>
            </a:xfrm>
            <a:prstGeom prst="rect">
              <a:avLst/>
            </a:prstGeom>
            <a:noFill/>
            <a:ln w="9525">
              <a:noFill/>
              <a:miter lim="800000"/>
              <a:headEnd/>
              <a:tailEnd/>
            </a:ln>
          </p:spPr>
        </p:pic>
        <p:sp>
          <p:nvSpPr>
            <p:cNvPr id="11" name="Text Box 12"/>
            <p:cNvSpPr txBox="1">
              <a:spLocks noChangeArrowheads="1"/>
            </p:cNvSpPr>
            <p:nvPr/>
          </p:nvSpPr>
          <p:spPr bwMode="auto">
            <a:xfrm>
              <a:off x="6571119" y="1959770"/>
              <a:ext cx="575350" cy="369332"/>
            </a:xfrm>
            <a:prstGeom prst="rect">
              <a:avLst/>
            </a:prstGeom>
            <a:noFill/>
            <a:ln w="9525">
              <a:noFill/>
              <a:miter lim="800000"/>
              <a:headEnd/>
              <a:tailEnd/>
            </a:ln>
          </p:spPr>
          <p:txBody>
            <a:bodyPr wrap="none">
              <a:spAutoFit/>
            </a:bodyPr>
            <a:lstStyle/>
            <a:p>
              <a:pPr algn="ctr">
                <a:spcBef>
                  <a:spcPct val="50000"/>
                </a:spcBef>
              </a:pPr>
              <a:r>
                <a:rPr lang="en-US">
                  <a:latin typeface="Tahoma" pitchFamily="34" charset="0"/>
                </a:rPr>
                <a:t>Bob</a:t>
              </a:r>
            </a:p>
          </p:txBody>
        </p:sp>
        <p:sp>
          <p:nvSpPr>
            <p:cNvPr id="12" name="Rectangle 13"/>
            <p:cNvSpPr>
              <a:spLocks noChangeArrowheads="1"/>
            </p:cNvSpPr>
            <p:nvPr/>
          </p:nvSpPr>
          <p:spPr bwMode="auto">
            <a:xfrm>
              <a:off x="6445250" y="2334816"/>
              <a:ext cx="762000" cy="685800"/>
            </a:xfrm>
            <a:prstGeom prst="rect">
              <a:avLst/>
            </a:prstGeom>
            <a:solidFill>
              <a:schemeClr val="accent1"/>
            </a:solidFill>
            <a:ln w="9525">
              <a:solidFill>
                <a:schemeClr val="tx1"/>
              </a:solidFill>
              <a:miter lim="800000"/>
              <a:headEnd/>
              <a:tailEnd/>
            </a:ln>
          </p:spPr>
          <p:txBody>
            <a:bodyPr wrap="none" anchor="ctr"/>
            <a:lstStyle/>
            <a:p>
              <a:pPr algn="ctr">
                <a:spcBef>
                  <a:spcPct val="50000"/>
                </a:spcBef>
              </a:pPr>
              <a:r>
                <a:rPr lang="en-US">
                  <a:latin typeface="Tahoma" pitchFamily="34" charset="0"/>
                </a:rPr>
                <a:t>D</a:t>
              </a:r>
            </a:p>
          </p:txBody>
        </p:sp>
        <p:sp>
          <p:nvSpPr>
            <p:cNvPr id="13" name="Line 14"/>
            <p:cNvSpPr>
              <a:spLocks noChangeShapeType="1"/>
            </p:cNvSpPr>
            <p:nvPr/>
          </p:nvSpPr>
          <p:spPr bwMode="auto">
            <a:xfrm>
              <a:off x="5715001" y="2677716"/>
              <a:ext cx="730250" cy="0"/>
            </a:xfrm>
            <a:prstGeom prst="line">
              <a:avLst/>
            </a:prstGeom>
            <a:noFill/>
            <a:ln w="9525">
              <a:solidFill>
                <a:schemeClr val="tx1"/>
              </a:solidFill>
              <a:round/>
              <a:headEnd/>
              <a:tailEnd type="triangle" w="med" len="med"/>
            </a:ln>
          </p:spPr>
          <p:txBody>
            <a:bodyPr wrap="none" anchor="ctr"/>
            <a:lstStyle/>
            <a:p>
              <a:endParaRPr lang="en-US"/>
            </a:p>
          </p:txBody>
        </p:sp>
        <p:sp>
          <p:nvSpPr>
            <p:cNvPr id="14" name="Text Box 15"/>
            <p:cNvSpPr txBox="1">
              <a:spLocks noChangeArrowheads="1"/>
            </p:cNvSpPr>
            <p:nvPr/>
          </p:nvSpPr>
          <p:spPr bwMode="auto">
            <a:xfrm>
              <a:off x="5735640" y="2318147"/>
              <a:ext cx="596638" cy="400110"/>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c, </a:t>
              </a:r>
              <a:r>
                <a:rPr lang="en-US" sz="2000" b="1" dirty="0">
                  <a:latin typeface="Tahoma" pitchFamily="34" charset="0"/>
                </a:rPr>
                <a:t>n</a:t>
              </a:r>
              <a:endParaRPr lang="en-US" b="1" dirty="0">
                <a:latin typeface="Tahoma" pitchFamily="34" charset="0"/>
              </a:endParaRPr>
            </a:p>
          </p:txBody>
        </p:sp>
        <p:sp>
          <p:nvSpPr>
            <p:cNvPr id="15" name="Line 16"/>
            <p:cNvSpPr>
              <a:spLocks noChangeShapeType="1"/>
            </p:cNvSpPr>
            <p:nvPr/>
          </p:nvSpPr>
          <p:spPr bwMode="auto">
            <a:xfrm>
              <a:off x="7207250" y="2677716"/>
              <a:ext cx="1143000" cy="0"/>
            </a:xfrm>
            <a:prstGeom prst="line">
              <a:avLst/>
            </a:prstGeom>
            <a:noFill/>
            <a:ln w="9525">
              <a:solidFill>
                <a:schemeClr val="tx1"/>
              </a:solidFill>
              <a:round/>
              <a:headEnd/>
              <a:tailEnd type="triangle" w="med" len="med"/>
            </a:ln>
          </p:spPr>
          <p:txBody>
            <a:bodyPr wrap="none" anchor="ctr"/>
            <a:lstStyle/>
            <a:p>
              <a:endParaRPr lang="en-US"/>
            </a:p>
          </p:txBody>
        </p:sp>
        <p:sp>
          <p:nvSpPr>
            <p:cNvPr id="16" name="Text Box 17"/>
            <p:cNvSpPr txBox="1">
              <a:spLocks noChangeArrowheads="1"/>
            </p:cNvSpPr>
            <p:nvPr/>
          </p:nvSpPr>
          <p:spPr bwMode="auto">
            <a:xfrm>
              <a:off x="7281863" y="2302670"/>
              <a:ext cx="1439818" cy="461665"/>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D(</a:t>
              </a:r>
              <a:r>
                <a:rPr lang="en-US" dirty="0" err="1">
                  <a:latin typeface="Tahoma" pitchFamily="34" charset="0"/>
                </a:rPr>
                <a:t>k,c,</a:t>
              </a:r>
              <a:r>
                <a:rPr lang="en-US" sz="2400" b="1" dirty="0" err="1">
                  <a:latin typeface="Tahoma" pitchFamily="34" charset="0"/>
                </a:rPr>
                <a:t>n</a:t>
              </a:r>
              <a:r>
                <a:rPr lang="en-US" dirty="0">
                  <a:latin typeface="Tahoma" pitchFamily="34" charset="0"/>
                </a:rPr>
                <a:t>)=m</a:t>
              </a:r>
            </a:p>
          </p:txBody>
        </p:sp>
        <p:cxnSp>
          <p:nvCxnSpPr>
            <p:cNvPr id="17" name="Straight Arrow Connector 20"/>
            <p:cNvCxnSpPr>
              <a:cxnSpLocks noChangeShapeType="1"/>
              <a:endCxn id="6" idx="2"/>
            </p:cNvCxnSpPr>
            <p:nvPr/>
          </p:nvCxnSpPr>
          <p:spPr bwMode="auto">
            <a:xfrm rot="5400000" flipH="1" flipV="1">
              <a:off x="1472805" y="3129758"/>
              <a:ext cx="254794" cy="3175"/>
            </a:xfrm>
            <a:prstGeom prst="straightConnector1">
              <a:avLst/>
            </a:prstGeom>
            <a:noFill/>
            <a:ln w="9525" algn="ctr">
              <a:solidFill>
                <a:schemeClr val="tx1"/>
              </a:solidFill>
              <a:round/>
              <a:headEnd/>
              <a:tailEnd type="arrow" w="med" len="med"/>
            </a:ln>
          </p:spPr>
        </p:cxnSp>
        <p:cxnSp>
          <p:nvCxnSpPr>
            <p:cNvPr id="18" name="Straight Arrow Connector 21"/>
            <p:cNvCxnSpPr>
              <a:cxnSpLocks noChangeShapeType="1"/>
            </p:cNvCxnSpPr>
            <p:nvPr/>
          </p:nvCxnSpPr>
          <p:spPr bwMode="auto">
            <a:xfrm rot="5400000" flipH="1" flipV="1">
              <a:off x="6731992" y="3154959"/>
              <a:ext cx="253604" cy="1588"/>
            </a:xfrm>
            <a:prstGeom prst="straightConnector1">
              <a:avLst/>
            </a:prstGeom>
            <a:noFill/>
            <a:ln w="9525" algn="ctr">
              <a:solidFill>
                <a:schemeClr val="tx1"/>
              </a:solidFill>
              <a:round/>
              <a:headEnd/>
              <a:tailEnd type="arrow" w="med" len="med"/>
            </a:ln>
          </p:spPr>
        </p:cxnSp>
        <p:sp>
          <p:nvSpPr>
            <p:cNvPr id="19" name="TextBox 18"/>
            <p:cNvSpPr txBox="1"/>
            <p:nvPr/>
          </p:nvSpPr>
          <p:spPr>
            <a:xfrm>
              <a:off x="1414464" y="3200402"/>
              <a:ext cx="288862" cy="369332"/>
            </a:xfrm>
            <a:prstGeom prst="rect">
              <a:avLst/>
            </a:prstGeom>
            <a:noFill/>
          </p:spPr>
          <p:txBody>
            <a:bodyPr wrap="none">
              <a:spAutoFit/>
            </a:bodyPr>
            <a:lstStyle/>
            <a:p>
              <a:pPr>
                <a:defRPr/>
              </a:pPr>
              <a:r>
                <a:rPr lang="en-US" dirty="0"/>
                <a:t>k</a:t>
              </a:r>
            </a:p>
          </p:txBody>
        </p:sp>
        <p:sp>
          <p:nvSpPr>
            <p:cNvPr id="20" name="TextBox 19"/>
            <p:cNvSpPr txBox="1"/>
            <p:nvPr/>
          </p:nvSpPr>
          <p:spPr>
            <a:xfrm>
              <a:off x="6672263" y="3196829"/>
              <a:ext cx="288862" cy="369332"/>
            </a:xfrm>
            <a:prstGeom prst="rect">
              <a:avLst/>
            </a:prstGeom>
            <a:noFill/>
          </p:spPr>
          <p:txBody>
            <a:bodyPr wrap="none">
              <a:spAutoFit/>
            </a:bodyPr>
            <a:lstStyle/>
            <a:p>
              <a:pPr>
                <a:defRPr/>
              </a:pPr>
              <a:r>
                <a:rPr lang="en-US" dirty="0"/>
                <a:t>k</a:t>
              </a:r>
            </a:p>
          </p:txBody>
        </p:sp>
        <p:cxnSp>
          <p:nvCxnSpPr>
            <p:cNvPr id="21" name="Straight Arrow Connector 27"/>
            <p:cNvCxnSpPr>
              <a:cxnSpLocks noChangeShapeType="1"/>
            </p:cNvCxnSpPr>
            <p:nvPr/>
          </p:nvCxnSpPr>
          <p:spPr bwMode="auto">
            <a:xfrm>
              <a:off x="1981200" y="2686051"/>
              <a:ext cx="2057400" cy="1191"/>
            </a:xfrm>
            <a:prstGeom prst="straightConnector1">
              <a:avLst/>
            </a:prstGeom>
            <a:noFill/>
            <a:ln w="9525" algn="ctr">
              <a:solidFill>
                <a:schemeClr val="tx1"/>
              </a:solidFill>
              <a:round/>
              <a:headEnd/>
              <a:tailEnd type="arrow" w="med" len="med"/>
            </a:ln>
          </p:spPr>
        </p:cxnSp>
        <p:sp>
          <p:nvSpPr>
            <p:cNvPr id="22" name="TextBox 21"/>
            <p:cNvSpPr txBox="1"/>
            <p:nvPr/>
          </p:nvSpPr>
          <p:spPr>
            <a:xfrm>
              <a:off x="3962401" y="1771652"/>
              <a:ext cx="763351" cy="369332"/>
            </a:xfrm>
            <a:prstGeom prst="rect">
              <a:avLst/>
            </a:prstGeom>
            <a:noFill/>
            <a:ln w="28575">
              <a:noFill/>
            </a:ln>
          </p:spPr>
          <p:txBody>
            <a:bodyPr wrap="none">
              <a:spAutoFit/>
            </a:bodyPr>
            <a:lstStyle/>
            <a:p>
              <a:pPr>
                <a:defRPr/>
              </a:pPr>
              <a:r>
                <a:rPr lang="en-US" dirty="0">
                  <a:solidFill>
                    <a:srgbClr val="002060"/>
                  </a:solidFill>
                </a:rPr>
                <a:t>nonce</a:t>
              </a:r>
            </a:p>
          </p:txBody>
        </p:sp>
        <p:sp>
          <p:nvSpPr>
            <p:cNvPr id="23" name="Freeform 39"/>
            <p:cNvSpPr>
              <a:spLocks noChangeArrowheads="1"/>
            </p:cNvSpPr>
            <p:nvPr/>
          </p:nvSpPr>
          <p:spPr bwMode="auto">
            <a:xfrm>
              <a:off x="2971801" y="1985964"/>
              <a:ext cx="1084263" cy="475060"/>
            </a:xfrm>
            <a:custGeom>
              <a:avLst/>
              <a:gdLst>
                <a:gd name="T0" fmla="*/ 914400 w 914400"/>
                <a:gd name="T1" fmla="*/ 0 h 634181"/>
                <a:gd name="T2" fmla="*/ 324465 w 914400"/>
                <a:gd name="T3" fmla="*/ 58781 h 634181"/>
                <a:gd name="T4" fmla="*/ 0 w 914400"/>
                <a:gd name="T5" fmla="*/ 631880 h 634181"/>
                <a:gd name="T6" fmla="*/ 0 60000 65536"/>
                <a:gd name="T7" fmla="*/ 0 60000 65536"/>
                <a:gd name="T8" fmla="*/ 0 60000 65536"/>
                <a:gd name="T9" fmla="*/ 0 w 914400"/>
                <a:gd name="T10" fmla="*/ 0 h 634181"/>
                <a:gd name="T11" fmla="*/ 914400 w 914400"/>
                <a:gd name="T12" fmla="*/ 634181 h 634181"/>
              </a:gdLst>
              <a:ahLst/>
              <a:cxnLst>
                <a:cxn ang="T6">
                  <a:pos x="T0" y="T1"/>
                </a:cxn>
                <a:cxn ang="T7">
                  <a:pos x="T2" y="T3"/>
                </a:cxn>
                <a:cxn ang="T8">
                  <a:pos x="T4" y="T5"/>
                </a:cxn>
              </a:cxnLst>
              <a:rect l="T9" t="T10" r="T11" b="T12"/>
              <a:pathLst>
                <a:path w="914400" h="634181">
                  <a:moveTo>
                    <a:pt x="914400" y="0"/>
                  </a:moveTo>
                  <a:lnTo>
                    <a:pt x="324465" y="58994"/>
                  </a:lnTo>
                  <a:cubicBezTo>
                    <a:pt x="172065" y="164691"/>
                    <a:pt x="86032" y="399436"/>
                    <a:pt x="0" y="634181"/>
                  </a:cubicBezTo>
                </a:path>
              </a:pathLst>
            </a:custGeom>
            <a:noFill/>
            <a:ln w="28575" algn="ctr">
              <a:solidFill>
                <a:srgbClr val="002060"/>
              </a:solidFill>
              <a:round/>
              <a:headEnd/>
              <a:tailEnd type="triangle" w="med" len="med"/>
            </a:ln>
          </p:spPr>
          <p:txBody>
            <a:bodyPr/>
            <a:lstStyle/>
            <a:p>
              <a:endParaRPr lang="en-US">
                <a:solidFill>
                  <a:srgbClr val="002060"/>
                </a:solidFill>
              </a:endParaRPr>
            </a:p>
          </p:txBody>
        </p:sp>
        <p:sp>
          <p:nvSpPr>
            <p:cNvPr id="24" name="Freeform 40"/>
            <p:cNvSpPr>
              <a:spLocks noChangeArrowheads="1"/>
            </p:cNvSpPr>
            <p:nvPr/>
          </p:nvSpPr>
          <p:spPr bwMode="auto">
            <a:xfrm flipH="1">
              <a:off x="5029200" y="1943100"/>
              <a:ext cx="1143000" cy="475060"/>
            </a:xfrm>
            <a:custGeom>
              <a:avLst/>
              <a:gdLst>
                <a:gd name="T0" fmla="*/ 2232423 w 914400"/>
                <a:gd name="T1" fmla="*/ 0 h 634181"/>
                <a:gd name="T2" fmla="*/ 792150 w 914400"/>
                <a:gd name="T3" fmla="*/ 58781 h 634181"/>
                <a:gd name="T4" fmla="*/ 0 w 914400"/>
                <a:gd name="T5" fmla="*/ 631880 h 634181"/>
                <a:gd name="T6" fmla="*/ 0 60000 65536"/>
                <a:gd name="T7" fmla="*/ 0 60000 65536"/>
                <a:gd name="T8" fmla="*/ 0 60000 65536"/>
                <a:gd name="T9" fmla="*/ 0 w 914400"/>
                <a:gd name="T10" fmla="*/ 0 h 634181"/>
                <a:gd name="T11" fmla="*/ 914400 w 914400"/>
                <a:gd name="T12" fmla="*/ 634181 h 634181"/>
              </a:gdLst>
              <a:ahLst/>
              <a:cxnLst>
                <a:cxn ang="T6">
                  <a:pos x="T0" y="T1"/>
                </a:cxn>
                <a:cxn ang="T7">
                  <a:pos x="T2" y="T3"/>
                </a:cxn>
                <a:cxn ang="T8">
                  <a:pos x="T4" y="T5"/>
                </a:cxn>
              </a:cxnLst>
              <a:rect l="T9" t="T10" r="T11" b="T12"/>
              <a:pathLst>
                <a:path w="914400" h="634181">
                  <a:moveTo>
                    <a:pt x="914400" y="0"/>
                  </a:moveTo>
                  <a:lnTo>
                    <a:pt x="324465" y="58994"/>
                  </a:lnTo>
                  <a:cubicBezTo>
                    <a:pt x="172065" y="164691"/>
                    <a:pt x="86032" y="399436"/>
                    <a:pt x="0" y="634181"/>
                  </a:cubicBezTo>
                </a:path>
              </a:pathLst>
            </a:custGeom>
            <a:noFill/>
            <a:ln w="28575" algn="ctr">
              <a:solidFill>
                <a:srgbClr val="002060"/>
              </a:solidFill>
              <a:round/>
              <a:headEnd/>
              <a:tailEnd type="triangle" w="med" len="med"/>
            </a:ln>
          </p:spPr>
          <p:txBody>
            <a:bodyPr/>
            <a:lstStyle/>
            <a:p>
              <a:endParaRPr lang="en-US">
                <a:solidFill>
                  <a:srgbClr val="002060"/>
                </a:solidFill>
              </a:endParaRPr>
            </a:p>
          </p:txBody>
        </p:sp>
      </p:grpSp>
    </p:spTree>
    <p:extLst>
      <p:ext uri="{BB962C8B-B14F-4D97-AF65-F5344CB8AC3E}">
        <p14:creationId xmlns:p14="http://schemas.microsoft.com/office/powerpoint/2010/main" val="342235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sz="3600" b="1" dirty="0"/>
              <a:t>CPA security for nonce-based encryption</a:t>
            </a:r>
          </a:p>
        </p:txBody>
      </p:sp>
      <p:sp>
        <p:nvSpPr>
          <p:cNvPr id="15363" name="Rectangle 3"/>
          <p:cNvSpPr>
            <a:spLocks noGrp="1" noChangeArrowheads="1"/>
          </p:cNvSpPr>
          <p:nvPr>
            <p:ph sz="quarter" idx="13"/>
          </p:nvPr>
        </p:nvSpPr>
        <p:spPr>
          <a:xfrm>
            <a:off x="165096" y="829561"/>
            <a:ext cx="8674100" cy="5834475"/>
          </a:xfrm>
        </p:spPr>
        <p:txBody>
          <a:bodyPr>
            <a:normAutofit/>
          </a:bodyPr>
          <a:lstStyle/>
          <a:p>
            <a:pPr marL="0" indent="0">
              <a:buNone/>
            </a:pPr>
            <a:r>
              <a:rPr lang="en-US" dirty="0"/>
              <a:t>System should be secure when nonces are chosen </a:t>
            </a:r>
            <a:r>
              <a:rPr lang="en-US" dirty="0" err="1"/>
              <a:t>adversarially</a:t>
            </a:r>
            <a:r>
              <a:rPr lang="en-US" dirty="0"/>
              <a:t>.</a:t>
            </a:r>
            <a:endParaRPr lang="en-US" sz="2000"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marL="0" indent="0">
              <a:spcBef>
                <a:spcPct val="100000"/>
              </a:spcBef>
              <a:buNone/>
            </a:pPr>
            <a:endParaRPr lang="en-US" dirty="0"/>
          </a:p>
          <a:p>
            <a:pPr marL="0" indent="0">
              <a:lnSpc>
                <a:spcPts val="4480"/>
              </a:lnSpc>
              <a:spcBef>
                <a:spcPts val="0"/>
              </a:spcBef>
              <a:buNone/>
            </a:pPr>
            <a:r>
              <a:rPr lang="en-US" dirty="0" err="1"/>
              <a:t>Def</a:t>
            </a:r>
            <a:r>
              <a:rPr lang="en-US" dirty="0"/>
              <a:t>: nonce-based </a:t>
            </a:r>
            <a:r>
              <a:rPr lang="en-US" dirty="0">
                <a:latin typeface="Castellar" pitchFamily="18" charset="0"/>
              </a:rPr>
              <a:t>E</a:t>
            </a:r>
            <a:r>
              <a:rPr lang="en-US" dirty="0"/>
              <a:t> is sem. sec. under CPA if for all “efficient”  A: </a:t>
            </a:r>
            <a:r>
              <a:rPr lang="en-US" dirty="0" err="1">
                <a:solidFill>
                  <a:schemeClr val="accent2"/>
                </a:solidFill>
              </a:rPr>
              <a:t>Adv</a:t>
            </a:r>
            <a:r>
              <a:rPr lang="en-US" baseline="-25000" dirty="0" err="1">
                <a:solidFill>
                  <a:schemeClr val="accent2"/>
                </a:solidFill>
              </a:rPr>
              <a:t>nCPA</a:t>
            </a:r>
            <a:r>
              <a:rPr lang="en-US" dirty="0">
                <a:solidFill>
                  <a:schemeClr val="accent2"/>
                </a:solidFill>
              </a:rPr>
              <a:t> [A,</a:t>
            </a:r>
            <a:r>
              <a:rPr lang="en-US" dirty="0">
                <a:latin typeface="Castellar" pitchFamily="18" charset="0"/>
              </a:rPr>
              <a:t>E</a:t>
            </a:r>
            <a:r>
              <a:rPr lang="en-US" dirty="0">
                <a:solidFill>
                  <a:schemeClr val="accent2"/>
                </a:solidFill>
              </a:rPr>
              <a:t>]  =  </a:t>
            </a:r>
            <a:r>
              <a:rPr lang="en-US" sz="3600" dirty="0">
                <a:solidFill>
                  <a:schemeClr val="accent2"/>
                </a:solidFill>
              </a:rPr>
              <a:t>|</a:t>
            </a:r>
            <a:r>
              <a:rPr lang="en-US" dirty="0" err="1">
                <a:solidFill>
                  <a:schemeClr val="accent2"/>
                </a:solidFill>
              </a:rPr>
              <a:t>Pr</a:t>
            </a:r>
            <a:r>
              <a:rPr lang="en-US" dirty="0">
                <a:solidFill>
                  <a:schemeClr val="accent2"/>
                </a:solidFill>
              </a:rPr>
              <a:t>[EXP(0)=1] – </a:t>
            </a:r>
            <a:r>
              <a:rPr lang="en-US" dirty="0" err="1">
                <a:solidFill>
                  <a:schemeClr val="accent2"/>
                </a:solidFill>
              </a:rPr>
              <a:t>Pr</a:t>
            </a:r>
            <a:r>
              <a:rPr lang="en-US" dirty="0">
                <a:solidFill>
                  <a:schemeClr val="accent2"/>
                </a:solidFill>
              </a:rPr>
              <a:t>[EXP(1)=1] </a:t>
            </a:r>
            <a:r>
              <a:rPr lang="en-US" sz="3600" dirty="0">
                <a:solidFill>
                  <a:schemeClr val="accent2"/>
                </a:solidFill>
              </a:rPr>
              <a:t>|  </a:t>
            </a:r>
            <a:r>
              <a:rPr lang="en-US" dirty="0"/>
              <a:t>is “negligible.”</a:t>
            </a:r>
          </a:p>
        </p:txBody>
      </p:sp>
      <p:grpSp>
        <p:nvGrpSpPr>
          <p:cNvPr id="6" name="Group 5">
            <a:extLst>
              <a:ext uri="{FF2B5EF4-FFF2-40B4-BE49-F238E27FC236}">
                <a16:creationId xmlns:a16="http://schemas.microsoft.com/office/drawing/2014/main" id="{61C857E4-26EC-9AC7-099B-8A7183A74F46}"/>
              </a:ext>
            </a:extLst>
          </p:cNvPr>
          <p:cNvGrpSpPr/>
          <p:nvPr/>
        </p:nvGrpSpPr>
        <p:grpSpPr>
          <a:xfrm>
            <a:off x="147479" y="1952024"/>
            <a:ext cx="8996521" cy="2239666"/>
            <a:chOff x="76200" y="2209800"/>
            <a:chExt cx="8996521" cy="2239666"/>
          </a:xfrm>
        </p:grpSpPr>
        <p:sp>
          <p:nvSpPr>
            <p:cNvPr id="15364" name="Rectangle 4"/>
            <p:cNvSpPr>
              <a:spLocks noChangeArrowheads="1"/>
            </p:cNvSpPr>
            <p:nvPr/>
          </p:nvSpPr>
          <p:spPr bwMode="auto">
            <a:xfrm>
              <a:off x="1295400" y="2438400"/>
              <a:ext cx="1295400" cy="1371600"/>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15365" name="Line 5"/>
            <p:cNvSpPr>
              <a:spLocks noChangeShapeType="1"/>
            </p:cNvSpPr>
            <p:nvPr/>
          </p:nvSpPr>
          <p:spPr bwMode="auto">
            <a:xfrm flipV="1">
              <a:off x="76200" y="2735759"/>
              <a:ext cx="1219200" cy="19050"/>
            </a:xfrm>
            <a:prstGeom prst="line">
              <a:avLst/>
            </a:prstGeom>
            <a:noFill/>
            <a:ln w="9525">
              <a:solidFill>
                <a:schemeClr val="tx1"/>
              </a:solidFill>
              <a:round/>
              <a:headEnd/>
              <a:tailEnd type="triangle" w="med" len="med"/>
            </a:ln>
            <a:effectLst/>
          </p:spPr>
          <p:txBody>
            <a:bodyPr/>
            <a:lstStyle/>
            <a:p>
              <a:endParaRPr lang="en-US"/>
            </a:p>
          </p:txBody>
        </p:sp>
        <p:sp>
          <p:nvSpPr>
            <p:cNvPr id="15366" name="Text Box 6"/>
            <p:cNvSpPr txBox="1">
              <a:spLocks noChangeArrowheads="1"/>
            </p:cNvSpPr>
            <p:nvPr/>
          </p:nvSpPr>
          <p:spPr bwMode="auto">
            <a:xfrm>
              <a:off x="76200" y="2369345"/>
              <a:ext cx="346570" cy="461665"/>
            </a:xfrm>
            <a:prstGeom prst="rect">
              <a:avLst/>
            </a:prstGeom>
            <a:noFill/>
            <a:ln w="9525">
              <a:noFill/>
              <a:miter lim="800000"/>
              <a:headEnd/>
              <a:tailEnd/>
            </a:ln>
            <a:effectLst/>
          </p:spPr>
          <p:txBody>
            <a:bodyPr wrap="none">
              <a:spAutoFit/>
            </a:bodyPr>
            <a:lstStyle/>
            <a:p>
              <a:r>
                <a:rPr lang="en-US" sz="2400" dirty="0"/>
                <a:t>b</a:t>
              </a:r>
            </a:p>
          </p:txBody>
        </p:sp>
        <p:sp>
          <p:nvSpPr>
            <p:cNvPr id="15367" name="Rectangle 7"/>
            <p:cNvSpPr>
              <a:spLocks noChangeArrowheads="1"/>
            </p:cNvSpPr>
            <p:nvPr/>
          </p:nvSpPr>
          <p:spPr bwMode="auto">
            <a:xfrm>
              <a:off x="6477000" y="2438400"/>
              <a:ext cx="1295400" cy="1428750"/>
            </a:xfrm>
            <a:prstGeom prst="rect">
              <a:avLst/>
            </a:prstGeom>
            <a:solidFill>
              <a:schemeClr val="accent1"/>
            </a:solidFill>
            <a:ln w="9525">
              <a:solidFill>
                <a:schemeClr val="tx1"/>
              </a:solidFill>
              <a:miter lim="800000"/>
              <a:headEnd/>
              <a:tailEnd/>
            </a:ln>
            <a:effectLst/>
          </p:spPr>
          <p:txBody>
            <a:bodyPr wrap="none"/>
            <a:lstStyle/>
            <a:p>
              <a:pPr algn="ctr"/>
              <a:r>
                <a:rPr lang="en-US"/>
                <a:t>Adv.</a:t>
              </a:r>
            </a:p>
          </p:txBody>
        </p:sp>
        <p:sp>
          <p:nvSpPr>
            <p:cNvPr id="15368" name="Text Box 8"/>
            <p:cNvSpPr txBox="1">
              <a:spLocks noChangeArrowheads="1"/>
            </p:cNvSpPr>
            <p:nvPr/>
          </p:nvSpPr>
          <p:spPr bwMode="auto">
            <a:xfrm>
              <a:off x="1600202" y="2792017"/>
              <a:ext cx="636713"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grpSp>
          <p:nvGrpSpPr>
            <p:cNvPr id="2" name="Group 1"/>
            <p:cNvGrpSpPr/>
            <p:nvPr/>
          </p:nvGrpSpPr>
          <p:grpSpPr>
            <a:xfrm>
              <a:off x="2667000" y="2620822"/>
              <a:ext cx="3810000" cy="1006052"/>
              <a:chOff x="2667000" y="2263419"/>
              <a:chExt cx="3810000" cy="1006052"/>
            </a:xfrm>
          </p:grpSpPr>
          <p:sp>
            <p:nvSpPr>
              <p:cNvPr id="15369" name="Line 9"/>
              <p:cNvSpPr>
                <a:spLocks noChangeShapeType="1"/>
              </p:cNvSpPr>
              <p:nvPr/>
            </p:nvSpPr>
            <p:spPr bwMode="auto">
              <a:xfrm flipH="1">
                <a:off x="2667000" y="2693194"/>
                <a:ext cx="3810000" cy="0"/>
              </a:xfrm>
              <a:prstGeom prst="line">
                <a:avLst/>
              </a:prstGeom>
              <a:noFill/>
              <a:ln w="9525">
                <a:solidFill>
                  <a:schemeClr val="tx1"/>
                </a:solidFill>
                <a:round/>
                <a:headEnd/>
                <a:tailEnd type="triangle" w="med" len="med"/>
              </a:ln>
              <a:effectLst/>
            </p:spPr>
            <p:txBody>
              <a:bodyPr/>
              <a:lstStyle/>
              <a:p>
                <a:endParaRPr lang="en-US"/>
              </a:p>
            </p:txBody>
          </p:sp>
          <p:sp>
            <p:nvSpPr>
              <p:cNvPr id="15370" name="Text Box 10"/>
              <p:cNvSpPr txBox="1">
                <a:spLocks noChangeArrowheads="1"/>
              </p:cNvSpPr>
              <p:nvPr/>
            </p:nvSpPr>
            <p:spPr bwMode="auto">
              <a:xfrm>
                <a:off x="2954799" y="2263419"/>
                <a:ext cx="3480440" cy="461665"/>
              </a:xfrm>
              <a:prstGeom prst="rect">
                <a:avLst/>
              </a:prstGeom>
              <a:noFill/>
              <a:ln w="9525">
                <a:noFill/>
                <a:miter lim="800000"/>
                <a:headEnd/>
                <a:tailEnd/>
              </a:ln>
              <a:effectLst/>
            </p:spPr>
            <p:txBody>
              <a:bodyPr wrap="none">
                <a:spAutoFit/>
              </a:bodyPr>
              <a:lstStyle/>
              <a:p>
                <a:r>
                  <a:rPr lang="en-US" sz="2400" b="1" dirty="0" err="1"/>
                  <a:t>n</a:t>
                </a:r>
                <a:r>
                  <a:rPr lang="en-US" sz="2400" b="1" baseline="-25000" dirty="0" err="1"/>
                  <a:t>i</a:t>
                </a:r>
                <a:r>
                  <a:rPr lang="en-US" sz="2400" b="1" dirty="0"/>
                  <a:t> </a:t>
                </a:r>
                <a:r>
                  <a:rPr lang="en-US" dirty="0"/>
                  <a:t> and  m</a:t>
                </a:r>
                <a:r>
                  <a:rPr lang="en-US" baseline="-25000" dirty="0"/>
                  <a:t>i,0</a:t>
                </a:r>
                <a:r>
                  <a:rPr lang="en-US" dirty="0"/>
                  <a:t> , m</a:t>
                </a:r>
                <a:r>
                  <a:rPr lang="en-US" baseline="-25000" dirty="0"/>
                  <a:t>i,1  </a:t>
                </a:r>
                <a:r>
                  <a:rPr lang="en-US" dirty="0">
                    <a:sym typeface="Symbol" pitchFamily="18" charset="2"/>
                  </a:rPr>
                  <a:t> :   |m</a:t>
                </a:r>
                <a:r>
                  <a:rPr lang="en-US" baseline="-25000" dirty="0">
                    <a:sym typeface="Symbol" pitchFamily="18" charset="2"/>
                  </a:rPr>
                  <a:t>i,0</a:t>
                </a:r>
                <a:r>
                  <a:rPr lang="en-US" dirty="0">
                    <a:sym typeface="Symbol" pitchFamily="18" charset="2"/>
                  </a:rPr>
                  <a:t>| = |m</a:t>
                </a:r>
                <a:r>
                  <a:rPr lang="en-US" baseline="-25000" dirty="0">
                    <a:sym typeface="Symbol" pitchFamily="18" charset="2"/>
                  </a:rPr>
                  <a:t>i,1</a:t>
                </a:r>
                <a:r>
                  <a:rPr lang="en-US" dirty="0">
                    <a:sym typeface="Symbol" pitchFamily="18" charset="2"/>
                  </a:rPr>
                  <a:t>|</a:t>
                </a:r>
              </a:p>
            </p:txBody>
          </p:sp>
          <p:grpSp>
            <p:nvGrpSpPr>
              <p:cNvPr id="15371" name="Group 11"/>
              <p:cNvGrpSpPr>
                <a:grpSpLocks/>
              </p:cNvGrpSpPr>
              <p:nvPr/>
            </p:nvGrpSpPr>
            <p:grpSpPr bwMode="auto">
              <a:xfrm>
                <a:off x="2667000" y="2807507"/>
                <a:ext cx="3733800" cy="461964"/>
                <a:chOff x="1776" y="2218"/>
                <a:chExt cx="2352" cy="388"/>
              </a:xfrm>
            </p:grpSpPr>
            <p:sp>
              <p:nvSpPr>
                <p:cNvPr id="15372" name="Line 12"/>
                <p:cNvSpPr>
                  <a:spLocks noChangeShapeType="1"/>
                </p:cNvSpPr>
                <p:nvPr/>
              </p:nvSpPr>
              <p:spPr bwMode="auto">
                <a:xfrm>
                  <a:off x="1776" y="2312"/>
                  <a:ext cx="2352" cy="0"/>
                </a:xfrm>
                <a:prstGeom prst="line">
                  <a:avLst/>
                </a:prstGeom>
                <a:noFill/>
                <a:ln w="9525">
                  <a:solidFill>
                    <a:schemeClr val="tx1"/>
                  </a:solidFill>
                  <a:round/>
                  <a:headEnd/>
                  <a:tailEnd type="triangle" w="med" len="med"/>
                </a:ln>
                <a:effectLst/>
              </p:spPr>
              <p:txBody>
                <a:bodyPr/>
                <a:lstStyle/>
                <a:p>
                  <a:endParaRPr lang="en-US" dirty="0"/>
                </a:p>
              </p:txBody>
            </p:sp>
            <p:sp>
              <p:nvSpPr>
                <p:cNvPr id="15373" name="Text Box 13"/>
                <p:cNvSpPr txBox="1">
                  <a:spLocks noChangeArrowheads="1"/>
                </p:cNvSpPr>
                <p:nvPr/>
              </p:nvSpPr>
              <p:spPr bwMode="auto">
                <a:xfrm>
                  <a:off x="2243" y="2218"/>
                  <a:ext cx="1166" cy="388"/>
                </a:xfrm>
                <a:prstGeom prst="rect">
                  <a:avLst/>
                </a:prstGeom>
                <a:noFill/>
                <a:ln w="9525">
                  <a:noFill/>
                  <a:miter lim="800000"/>
                  <a:headEnd/>
                  <a:tailEnd/>
                </a:ln>
                <a:effectLst/>
              </p:spPr>
              <p:txBody>
                <a:bodyPr wrap="none">
                  <a:spAutoFit/>
                </a:bodyPr>
                <a:lstStyle/>
                <a:p>
                  <a:r>
                    <a:rPr lang="en-US" dirty="0"/>
                    <a:t>c </a:t>
                  </a:r>
                  <a:r>
                    <a:rPr lang="en-US" dirty="0">
                      <a:sym typeface="Symbol" pitchFamily="18" charset="2"/>
                    </a:rPr>
                    <a:t> </a:t>
                  </a:r>
                  <a:r>
                    <a:rPr lang="en-US" dirty="0"/>
                    <a:t>E(k,</a:t>
                  </a:r>
                  <a:r>
                    <a:rPr lang="en-US" sz="2000" b="1" dirty="0"/>
                    <a:t> </a:t>
                  </a:r>
                  <a:r>
                    <a:rPr lang="en-US" sz="2000" b="1" dirty="0" err="1"/>
                    <a:t>m</a:t>
                  </a:r>
                  <a:r>
                    <a:rPr lang="en-US" sz="2000" b="1" baseline="-25000" dirty="0" err="1"/>
                    <a:t>i,b</a:t>
                  </a:r>
                  <a:r>
                    <a:rPr lang="en-US" sz="2000" b="1" baseline="-25000" dirty="0"/>
                    <a:t> </a:t>
                  </a:r>
                  <a:r>
                    <a:rPr lang="en-US" sz="2000" b="1" dirty="0"/>
                    <a:t>, </a:t>
                  </a:r>
                  <a:r>
                    <a:rPr lang="en-US" sz="2400" b="1" dirty="0" err="1"/>
                    <a:t>n</a:t>
                  </a:r>
                  <a:r>
                    <a:rPr lang="en-US" sz="2400" b="1" baseline="-25000" dirty="0" err="1"/>
                    <a:t>i</a:t>
                  </a:r>
                  <a:r>
                    <a:rPr lang="en-US" dirty="0"/>
                    <a:t>)</a:t>
                  </a:r>
                </a:p>
              </p:txBody>
            </p:sp>
          </p:grpSp>
        </p:grpSp>
        <p:grpSp>
          <p:nvGrpSpPr>
            <p:cNvPr id="4" name="Group 3"/>
            <p:cNvGrpSpPr/>
            <p:nvPr/>
          </p:nvGrpSpPr>
          <p:grpSpPr>
            <a:xfrm>
              <a:off x="7772397" y="3352801"/>
              <a:ext cx="1300324" cy="461665"/>
              <a:chOff x="7772400" y="2495550"/>
              <a:chExt cx="1300325" cy="461665"/>
            </a:xfrm>
          </p:grpSpPr>
          <p:sp>
            <p:nvSpPr>
              <p:cNvPr id="15374" name="Line 14"/>
              <p:cNvSpPr>
                <a:spLocks noChangeShapeType="1"/>
              </p:cNvSpPr>
              <p:nvPr/>
            </p:nvSpPr>
            <p:spPr bwMode="auto">
              <a:xfrm flipV="1">
                <a:off x="7772400" y="2952750"/>
                <a:ext cx="1066800" cy="0"/>
              </a:xfrm>
              <a:prstGeom prst="line">
                <a:avLst/>
              </a:prstGeom>
              <a:noFill/>
              <a:ln w="9525">
                <a:solidFill>
                  <a:schemeClr val="tx1"/>
                </a:solidFill>
                <a:round/>
                <a:headEnd/>
                <a:tailEnd type="triangle" w="med" len="med"/>
              </a:ln>
              <a:effectLst/>
            </p:spPr>
            <p:txBody>
              <a:bodyPr/>
              <a:lstStyle/>
              <a:p>
                <a:endParaRPr lang="en-US"/>
              </a:p>
            </p:txBody>
          </p:sp>
          <p:sp>
            <p:nvSpPr>
              <p:cNvPr id="15375" name="Text Box 15"/>
              <p:cNvSpPr txBox="1">
                <a:spLocks noChangeArrowheads="1"/>
              </p:cNvSpPr>
              <p:nvPr/>
            </p:nvSpPr>
            <p:spPr bwMode="auto">
              <a:xfrm>
                <a:off x="7855724" y="2495550"/>
                <a:ext cx="1217001" cy="461665"/>
              </a:xfrm>
              <a:prstGeom prst="rect">
                <a:avLst/>
              </a:prstGeom>
              <a:noFill/>
              <a:ln w="9525">
                <a:noFill/>
                <a:miter lim="800000"/>
                <a:headEnd/>
                <a:tailEnd/>
              </a:ln>
              <a:effectLst/>
            </p:spPr>
            <p:txBody>
              <a:bodyPr wrap="none">
                <a:spAutoFit/>
              </a:bodyPr>
              <a:lstStyle/>
              <a:p>
                <a:r>
                  <a:rPr lang="en-US" sz="2400" dirty="0"/>
                  <a:t>b’ </a:t>
                </a:r>
                <a:r>
                  <a:rPr lang="en-US" sz="2000" dirty="0">
                    <a:sym typeface="Symbol" pitchFamily="18" charset="2"/>
                  </a:rPr>
                  <a:t> {0,1}</a:t>
                </a:r>
                <a:endParaRPr lang="en-US" sz="2000" dirty="0"/>
              </a:p>
            </p:txBody>
          </p:sp>
        </p:grpSp>
        <p:sp>
          <p:nvSpPr>
            <p:cNvPr id="15376" name="Rectangle 16"/>
            <p:cNvSpPr>
              <a:spLocks noChangeArrowheads="1"/>
            </p:cNvSpPr>
            <p:nvPr/>
          </p:nvSpPr>
          <p:spPr bwMode="auto">
            <a:xfrm>
              <a:off x="609600" y="2209800"/>
              <a:ext cx="7924800" cy="1828800"/>
            </a:xfrm>
            <a:prstGeom prst="rect">
              <a:avLst/>
            </a:prstGeom>
            <a:noFill/>
            <a:ln w="38100">
              <a:solidFill>
                <a:schemeClr val="folHlink"/>
              </a:solidFill>
              <a:miter lim="800000"/>
              <a:headEnd/>
              <a:tailEnd/>
            </a:ln>
            <a:effectLst/>
          </p:spPr>
          <p:txBody>
            <a:bodyPr wrap="none" anchor="ctr"/>
            <a:lstStyle/>
            <a:p>
              <a:endParaRPr lang="en-US"/>
            </a:p>
          </p:txBody>
        </p:sp>
        <p:sp>
          <p:nvSpPr>
            <p:cNvPr id="3" name="TextBox 2"/>
            <p:cNvSpPr txBox="1"/>
            <p:nvPr/>
          </p:nvSpPr>
          <p:spPr>
            <a:xfrm>
              <a:off x="1828800" y="3987801"/>
              <a:ext cx="5575950" cy="461665"/>
            </a:xfrm>
            <a:prstGeom prst="rect">
              <a:avLst/>
            </a:prstGeom>
            <a:noFill/>
          </p:spPr>
          <p:txBody>
            <a:bodyPr wrap="none" rtlCol="0">
              <a:spAutoFit/>
            </a:bodyPr>
            <a:lstStyle/>
            <a:p>
              <a:r>
                <a:rPr lang="en-US" sz="2400" b="1" dirty="0" err="1"/>
                <a:t>Tất</a:t>
              </a:r>
              <a:r>
                <a:rPr lang="en-US" sz="2400" b="1" dirty="0"/>
                <a:t> </a:t>
              </a:r>
              <a:r>
                <a:rPr lang="en-US" sz="2400" b="1" dirty="0" err="1"/>
                <a:t>cả</a:t>
              </a:r>
              <a:r>
                <a:rPr lang="en-US" sz="2400" b="1" dirty="0"/>
                <a:t> </a:t>
              </a:r>
              <a:r>
                <a:rPr lang="en-US" sz="2400" b="1" dirty="0" err="1"/>
                <a:t>số</a:t>
              </a:r>
              <a:r>
                <a:rPr lang="en-US" sz="2400" b="1" dirty="0"/>
                <a:t> nonces {n</a:t>
              </a:r>
              <a:r>
                <a:rPr lang="en-US" sz="2400" b="1" baseline="-25000" dirty="0"/>
                <a:t>1</a:t>
              </a:r>
              <a:r>
                <a:rPr lang="en-US" sz="2400" b="1" dirty="0"/>
                <a:t>, …, n</a:t>
              </a:r>
              <a:r>
                <a:rPr lang="en-US" sz="2400" b="1" baseline="-25000" dirty="0"/>
                <a:t>q</a:t>
              </a:r>
              <a:r>
                <a:rPr lang="en-US" sz="2400" b="1" dirty="0"/>
                <a:t>}  </a:t>
              </a:r>
              <a:r>
                <a:rPr lang="en-US" sz="2400" b="1" dirty="0" err="1"/>
                <a:t>phải</a:t>
              </a:r>
              <a:r>
                <a:rPr lang="en-US" sz="2400" b="1" dirty="0"/>
                <a:t> </a:t>
              </a:r>
              <a:r>
                <a:rPr lang="en-US" sz="2400" b="1" dirty="0" err="1"/>
                <a:t>riêng</a:t>
              </a:r>
              <a:r>
                <a:rPr lang="en-US" sz="2400" b="1" dirty="0"/>
                <a:t> </a:t>
              </a:r>
              <a:r>
                <a:rPr lang="en-US" sz="2400" b="1" dirty="0" err="1"/>
                <a:t>biệt</a:t>
              </a:r>
              <a:endParaRPr lang="en-US" sz="2400" b="1" dirty="0"/>
            </a:p>
          </p:txBody>
        </p:sp>
        <p:sp>
          <p:nvSpPr>
            <p:cNvPr id="5" name="TextBox 4"/>
            <p:cNvSpPr txBox="1"/>
            <p:nvPr/>
          </p:nvSpPr>
          <p:spPr>
            <a:xfrm>
              <a:off x="2895601" y="2286001"/>
              <a:ext cx="1354794" cy="369332"/>
            </a:xfrm>
            <a:prstGeom prst="rect">
              <a:avLst/>
            </a:prstGeom>
            <a:noFill/>
          </p:spPr>
          <p:txBody>
            <a:bodyPr wrap="none" rtlCol="0">
              <a:spAutoFit/>
            </a:bodyPr>
            <a:lstStyle/>
            <a:p>
              <a:r>
                <a:rPr lang="en-US" dirty="0"/>
                <a:t>for </a:t>
              </a:r>
              <a:r>
                <a:rPr lang="en-US" dirty="0" err="1"/>
                <a:t>i</a:t>
              </a:r>
              <a:r>
                <a:rPr lang="en-US" dirty="0"/>
                <a:t>=1,…,q:  </a:t>
              </a:r>
            </a:p>
          </p:txBody>
        </p:sp>
      </p:grpSp>
    </p:spTree>
    <p:extLst>
      <p:ext uri="{BB962C8B-B14F-4D97-AF65-F5344CB8AC3E}">
        <p14:creationId xmlns:p14="http://schemas.microsoft.com/office/powerpoint/2010/main" val="117777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685801" y="1143001"/>
                <a:ext cx="7282763" cy="2554545"/>
              </a:xfrm>
              <a:prstGeom prst="rect">
                <a:avLst/>
              </a:prstGeom>
              <a:noFill/>
            </p:spPr>
            <p:txBody>
              <a:bodyPr wrap="none" rtlCol="0">
                <a:spAutoFit/>
              </a:bodyPr>
              <a:lstStyle/>
              <a:p>
                <a:r>
                  <a:rPr lang="en-US" sz="2400" dirty="0"/>
                  <a:t>Let  F: K × R ⟶ M  be a secure PRF.     Let  r = 0  initially.</a:t>
                </a:r>
              </a:p>
              <a:p>
                <a:endParaRPr lang="en-US" sz="2400" dirty="0"/>
              </a:p>
              <a:p>
                <a:r>
                  <a:rPr lang="en-US" sz="2400" dirty="0"/>
                  <a:t>For </a:t>
                </a:r>
                <a:r>
                  <a:rPr lang="en-US" sz="2400" dirty="0" err="1"/>
                  <a:t>m∈M</a:t>
                </a:r>
                <a:r>
                  <a:rPr lang="en-US" sz="2400" dirty="0"/>
                  <a:t> define   E(</a:t>
                </a:r>
                <a:r>
                  <a:rPr lang="en-US" sz="2400" dirty="0" err="1"/>
                  <a:t>k,m</a:t>
                </a:r>
                <a:r>
                  <a:rPr lang="en-US" sz="2400" dirty="0"/>
                  <a:t>) = </a:t>
                </a:r>
                <a:r>
                  <a:rPr lang="en-US" sz="3200" dirty="0"/>
                  <a:t>[</a:t>
                </a:r>
                <a:r>
                  <a:rPr lang="en-US" sz="2400" dirty="0"/>
                  <a:t> r++,  output  </a:t>
                </a:r>
                <a:r>
                  <a:rPr lang="en-US" sz="3200" b="1" dirty="0">
                    <a:solidFill>
                      <a:srgbClr val="0000FF"/>
                    </a:solidFill>
                  </a:rPr>
                  <a:t>(</a:t>
                </a:r>
                <a:r>
                  <a:rPr lang="en-US" sz="2400" b="1" dirty="0">
                    <a:solidFill>
                      <a:srgbClr val="0000FF"/>
                    </a:solidFill>
                  </a:rPr>
                  <a:t>r, F(</a:t>
                </a:r>
                <a:r>
                  <a:rPr lang="en-US" sz="2400" b="1" dirty="0" err="1">
                    <a:solidFill>
                      <a:srgbClr val="0000FF"/>
                    </a:solidFill>
                  </a:rPr>
                  <a:t>k,r</a:t>
                </a:r>
                <a:r>
                  <a:rPr lang="en-US" sz="2400" b="1" dirty="0">
                    <a:solidFill>
                      <a:srgbClr val="0000FF"/>
                    </a:solidFill>
                  </a:rPr>
                  <a:t>)⨁m</a:t>
                </a:r>
                <a:r>
                  <a:rPr lang="en-US" sz="3200" b="1" dirty="0">
                    <a:solidFill>
                      <a:srgbClr val="0000FF"/>
                    </a:solidFill>
                  </a:rPr>
                  <a:t>)</a:t>
                </a:r>
                <a:r>
                  <a:rPr lang="en-US" sz="2400" b="1" dirty="0">
                    <a:solidFill>
                      <a:srgbClr val="0000FF"/>
                    </a:solidFill>
                  </a:rPr>
                  <a:t>  </a:t>
                </a:r>
                <a:r>
                  <a:rPr lang="en-US" sz="3200" dirty="0"/>
                  <a:t>]</a:t>
                </a: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Cambria Math" panose="02040503050406030204" pitchFamily="18" charset="0"/>
                        </a:rPr>
                        <m:t>≈</m:t>
                      </m:r>
                      <m:r>
                        <m:rPr>
                          <m:sty m:val="p"/>
                        </m:rPr>
                        <a:rPr lang="vi-VN" sz="2800" i="1" baseline="-25000">
                          <a:latin typeface="Cambria Math" panose="02040503050406030204" pitchFamily="18" charset="0"/>
                          <a:ea typeface="Cambria Math" panose="02040503050406030204" pitchFamily="18" charset="0"/>
                        </a:rPr>
                        <m:t>p</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r</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F</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r</m:t>
                      </m:r>
                      <m:r>
                        <a:rPr lang="vi-VN" sz="2800" i="1">
                          <a:latin typeface="Cambria Math" panose="02040503050406030204" pitchFamily="18" charset="0"/>
                          <a:ea typeface="Cambria Math" panose="02040503050406030204" pitchFamily="18" charset="0"/>
                        </a:rPr>
                        <m:t>)⨁</m:t>
                      </m:r>
                      <m:r>
                        <m:rPr>
                          <m:sty m:val="p"/>
                        </m:rPr>
                        <a:rPr lang="vi-VN" sz="2800" i="1">
                          <a:latin typeface="Cambria Math" panose="02040503050406030204" pitchFamily="18" charset="0"/>
                          <a:ea typeface="Cambria Math" panose="02040503050406030204" pitchFamily="18" charset="0"/>
                        </a:rPr>
                        <m:t>m</m:t>
                      </m:r>
                      <m:r>
                        <a:rPr lang="vi-VN" sz="2800" i="1">
                          <a:latin typeface="Cambria Math" panose="02040503050406030204" pitchFamily="18" charset="0"/>
                          <a:ea typeface="Cambria Math" panose="02040503050406030204" pitchFamily="18" charset="0"/>
                        </a:rPr>
                        <m:t>]</m:t>
                      </m:r>
                    </m:oMath>
                  </m:oMathPara>
                </a14:m>
                <a:endParaRPr lang="en-US" sz="2800" dirty="0"/>
              </a:p>
              <a:p>
                <a:endParaRPr lang="en-US" sz="2800" dirty="0"/>
              </a:p>
              <a:p>
                <a:r>
                  <a:rPr lang="en-US" sz="2400" dirty="0"/>
                  <a:t>Is  E  CPA secure nonce-based encryption?</a:t>
                </a:r>
              </a:p>
            </p:txBody>
          </p:sp>
        </mc:Choice>
        <mc:Fallback xmlns="">
          <p:sp>
            <p:nvSpPr>
              <p:cNvPr id="4" name="TextBox 3"/>
              <p:cNvSpPr txBox="1">
                <a:spLocks noRot="1" noChangeAspect="1" noMove="1" noResize="1" noEditPoints="1" noAdjustHandles="1" noChangeArrowheads="1" noChangeShapeType="1" noTextEdit="1"/>
              </p:cNvSpPr>
              <p:nvPr/>
            </p:nvSpPr>
            <p:spPr>
              <a:xfrm>
                <a:off x="685801" y="1143001"/>
                <a:ext cx="7282763" cy="2554545"/>
              </a:xfrm>
              <a:prstGeom prst="rect">
                <a:avLst/>
              </a:prstGeom>
              <a:blipFill>
                <a:blip r:embed="rId2"/>
                <a:stretch>
                  <a:fillRect l="-1394" t="-2475" r="-1220" b="-4455"/>
                </a:stretch>
              </a:blipFill>
            </p:spPr>
            <p:txBody>
              <a:bodyPr/>
              <a:lstStyle/>
              <a:p>
                <a:r>
                  <a:rPr>
                    <a:noFill/>
                  </a:rPr>
                  <a:t> </a:t>
                </a:r>
              </a:p>
            </p:txBody>
          </p:sp>
        </mc:Fallback>
      </mc:AlternateContent>
      <p:sp>
        <p:nvSpPr>
          <p:cNvPr id="6" name="TextBox 5"/>
          <p:cNvSpPr txBox="1"/>
          <p:nvPr/>
        </p:nvSpPr>
        <p:spPr>
          <a:xfrm>
            <a:off x="1371600" y="3581401"/>
            <a:ext cx="4094198" cy="461665"/>
          </a:xfrm>
          <a:prstGeom prst="rect">
            <a:avLst/>
          </a:prstGeom>
          <a:noFill/>
        </p:spPr>
        <p:txBody>
          <a:bodyPr wrap="none" rtlCol="0">
            <a:spAutoFit/>
          </a:bodyPr>
          <a:lstStyle/>
          <a:p>
            <a:r>
              <a:rPr lang="en-US" sz="2400" dirty="0"/>
              <a:t>Yes, whenever F is a secure PRF</a:t>
            </a:r>
          </a:p>
        </p:txBody>
      </p:sp>
      <p:sp>
        <p:nvSpPr>
          <p:cNvPr id="7" name="TextBox 6"/>
          <p:cNvSpPr txBox="1"/>
          <p:nvPr/>
        </p:nvSpPr>
        <p:spPr>
          <a:xfrm>
            <a:off x="1371601" y="4034136"/>
            <a:ext cx="7643311" cy="461665"/>
          </a:xfrm>
          <a:prstGeom prst="rect">
            <a:avLst/>
          </a:prstGeom>
          <a:noFill/>
        </p:spPr>
        <p:txBody>
          <a:bodyPr wrap="none" rtlCol="0">
            <a:spAutoFit/>
          </a:bodyPr>
          <a:lstStyle/>
          <a:p>
            <a:r>
              <a:rPr lang="en-US" sz="2400" dirty="0"/>
              <a:t>No, there is always a nonce-based CPA attack on this system</a:t>
            </a:r>
          </a:p>
        </p:txBody>
      </p:sp>
      <p:sp>
        <p:nvSpPr>
          <p:cNvPr id="8" name="TextBox 7"/>
          <p:cNvSpPr txBox="1"/>
          <p:nvPr/>
        </p:nvSpPr>
        <p:spPr>
          <a:xfrm>
            <a:off x="1371601" y="4491336"/>
            <a:ext cx="6509859" cy="461665"/>
          </a:xfrm>
          <a:prstGeom prst="rect">
            <a:avLst/>
          </a:prstGeom>
          <a:noFill/>
        </p:spPr>
        <p:txBody>
          <a:bodyPr wrap="none" rtlCol="0">
            <a:spAutoFit/>
          </a:bodyPr>
          <a:lstStyle/>
          <a:p>
            <a:r>
              <a:rPr lang="en-US" sz="2400" dirty="0"/>
              <a:t>Yes, but only if R is large enough so r never repeats</a:t>
            </a:r>
          </a:p>
        </p:txBody>
      </p:sp>
      <p:sp>
        <p:nvSpPr>
          <p:cNvPr id="9" name="TextBox 8"/>
          <p:cNvSpPr txBox="1"/>
          <p:nvPr/>
        </p:nvSpPr>
        <p:spPr>
          <a:xfrm>
            <a:off x="1371600" y="4953001"/>
            <a:ext cx="3735638" cy="461665"/>
          </a:xfrm>
          <a:prstGeom prst="rect">
            <a:avLst/>
          </a:prstGeom>
          <a:noFill/>
        </p:spPr>
        <p:txBody>
          <a:bodyPr wrap="none" rtlCol="0">
            <a:spAutoFit/>
          </a:bodyPr>
          <a:lstStyle/>
          <a:p>
            <a:r>
              <a:rPr lang="en-US" sz="2400" dirty="0"/>
              <a:t>It depends on what F is used</a:t>
            </a:r>
          </a:p>
        </p:txBody>
      </p:sp>
      <p:sp>
        <p:nvSpPr>
          <p:cNvPr id="3" name="Right Arrow 2">
            <a:extLst>
              <a:ext uri="{FF2B5EF4-FFF2-40B4-BE49-F238E27FC236}">
                <a16:creationId xmlns:a16="http://schemas.microsoft.com/office/drawing/2014/main" id="{35475D4B-8F24-DC4D-AC28-6425D39BA4F7}"/>
              </a:ext>
            </a:extLst>
          </p:cNvPr>
          <p:cNvSpPr/>
          <p:nvPr/>
        </p:nvSpPr>
        <p:spPr>
          <a:xfrm>
            <a:off x="956910" y="4676629"/>
            <a:ext cx="342900" cy="187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2" name="Title 1">
            <a:extLst>
              <a:ext uri="{FF2B5EF4-FFF2-40B4-BE49-F238E27FC236}">
                <a16:creationId xmlns:a16="http://schemas.microsoft.com/office/drawing/2014/main" id="{B5262924-05E9-7DC1-63D8-BA01307CE3EC}"/>
              </a:ext>
            </a:extLst>
          </p:cNvPr>
          <p:cNvSpPr>
            <a:spLocks noGrp="1"/>
          </p:cNvSpPr>
          <p:nvPr>
            <p:ph type="title"/>
          </p:nvPr>
        </p:nvSpPr>
        <p:spPr/>
        <p:txBody>
          <a:bodyPr/>
          <a:lstStyle/>
          <a:p>
            <a:endParaRPr/>
          </a:p>
        </p:txBody>
      </p:sp>
      <p:sp>
        <p:nvSpPr>
          <p:cNvPr id="5" name="Content Placeholder 4">
            <a:extLst>
              <a:ext uri="{FF2B5EF4-FFF2-40B4-BE49-F238E27FC236}">
                <a16:creationId xmlns:a16="http://schemas.microsoft.com/office/drawing/2014/main" id="{656C2C02-DD92-2744-F76B-241769D1AA18}"/>
              </a:ext>
            </a:extLst>
          </p:cNvPr>
          <p:cNvSpPr>
            <a:spLocks noGrp="1"/>
          </p:cNvSpPr>
          <p:nvPr>
            <p:ph sz="quarter" idx="13"/>
          </p:nvPr>
        </p:nvSpPr>
        <p:spPr/>
        <p:txBody>
          <a:bodyPr/>
          <a:lstStyle/>
          <a:p>
            <a:endParaRPr/>
          </a:p>
        </p:txBody>
      </p:sp>
    </p:spTree>
    <p:extLst>
      <p:ext uri="{BB962C8B-B14F-4D97-AF65-F5344CB8AC3E}">
        <p14:creationId xmlns:p14="http://schemas.microsoft.com/office/powerpoint/2010/main" val="416924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35" name="Rectangle 51"/>
          <p:cNvSpPr>
            <a:spLocks noChangeArrowheads="1"/>
          </p:cNvSpPr>
          <p:nvPr/>
        </p:nvSpPr>
        <p:spPr bwMode="auto">
          <a:xfrm>
            <a:off x="457200" y="4838700"/>
            <a:ext cx="7924800" cy="400050"/>
          </a:xfrm>
          <a:prstGeom prst="rect">
            <a:avLst/>
          </a:prstGeom>
          <a:solidFill>
            <a:schemeClr val="folHlink"/>
          </a:solidFill>
          <a:ln w="9525">
            <a:noFill/>
            <a:miter lim="800000"/>
            <a:headEnd/>
            <a:tailEnd/>
          </a:ln>
          <a:effectLst/>
        </p:spPr>
        <p:txBody>
          <a:bodyPr wrap="none" anchor="ctr"/>
          <a:lstStyle/>
          <a:p>
            <a:endParaRPr lang="en-US"/>
          </a:p>
        </p:txBody>
      </p:sp>
      <p:sp>
        <p:nvSpPr>
          <p:cNvPr id="16386" name="Rectangle 2"/>
          <p:cNvSpPr>
            <a:spLocks noGrp="1" noChangeArrowheads="1"/>
          </p:cNvSpPr>
          <p:nvPr>
            <p:ph type="title"/>
          </p:nvPr>
        </p:nvSpPr>
        <p:spPr/>
        <p:txBody>
          <a:bodyPr/>
          <a:lstStyle/>
          <a:p>
            <a:r>
              <a:rPr lang="en-US" sz="3200" dirty="0" err="1"/>
              <a:t>Cấu</a:t>
            </a:r>
            <a:r>
              <a:rPr lang="en-US" sz="3200" dirty="0"/>
              <a:t> </a:t>
            </a:r>
            <a:r>
              <a:rPr lang="en-US" sz="3200" dirty="0" err="1"/>
              <a:t>trúc</a:t>
            </a:r>
            <a:r>
              <a:rPr lang="en-US" sz="3200" dirty="0"/>
              <a:t> 1:   CBC with random IV</a:t>
            </a:r>
          </a:p>
        </p:txBody>
      </p:sp>
      <mc:AlternateContent xmlns:mc="http://schemas.openxmlformats.org/markup-compatibility/2006" xmlns:a14="http://schemas.microsoft.com/office/drawing/2010/main">
        <mc:Choice Requires="a14">
          <p:sp>
            <p:nvSpPr>
              <p:cNvPr id="16387" name="Rectangle 3"/>
              <p:cNvSpPr>
                <a:spLocks noGrp="1" noChangeArrowheads="1"/>
              </p:cNvSpPr>
              <p:nvPr>
                <p:ph sz="quarter" idx="13"/>
              </p:nvPr>
            </p:nvSpPr>
            <p:spPr/>
            <p:txBody>
              <a:bodyPr/>
              <a:lstStyle/>
              <a:p>
                <a:pPr marL="0" indent="0">
                  <a:buNone/>
                </a:pPr>
                <a:r>
                  <a:rPr lang="en-US" dirty="0"/>
                  <a:t>Let (E,D) be a PRP.  E</a:t>
                </a:r>
                <a:r>
                  <a:rPr lang="en-US" baseline="-25000" dirty="0"/>
                  <a:t>CBC</a:t>
                </a:r>
                <a:r>
                  <a:rPr lang="en-US" dirty="0"/>
                  <a:t>(</a:t>
                </a:r>
                <a:r>
                  <a:rPr lang="en-US" dirty="0" err="1"/>
                  <a:t>k,m</a:t>
                </a:r>
                <a:r>
                  <a:rPr lang="en-US" dirty="0"/>
                  <a:t>):   choose </a:t>
                </a:r>
                <a:r>
                  <a:rPr lang="en-US" b="1" u="sng" dirty="0"/>
                  <a:t>random</a:t>
                </a:r>
                <a:r>
                  <a:rPr lang="en-US" dirty="0"/>
                  <a:t> IV∈X and do: </a:t>
                </a:r>
                <a14:m>
                  <m:oMath xmlns:m="http://schemas.openxmlformats.org/officeDocument/2006/math">
                    <m:sSup>
                      <m:sSupPr>
                        <m:ctrlPr>
                          <a:rPr lang="vi-VN" sz="2000" i="1">
                            <a:latin typeface="Cambria Math" panose="02040503050406030204" pitchFamily="18" charset="0"/>
                            <a:ea typeface="Cambria Math" panose="02040503050406030204" pitchFamily="18" charset="0"/>
                          </a:rPr>
                        </m:ctrlPr>
                      </m:sSupPr>
                      <m:e>
                        <m:r>
                          <m:rPr>
                            <m:sty m:val="p"/>
                          </m:rPr>
                          <a:rPr lang="vi-VN" sz="2000" i="1">
                            <a:latin typeface="Cambria Math" panose="02040503050406030204" pitchFamily="18" charset="0"/>
                            <a:ea typeface="Cambria Math" panose="02040503050406030204" pitchFamily="18" charset="0"/>
                          </a:rPr>
                          <m:t>IV</m:t>
                        </m:r>
                        <m:r>
                          <a:rPr lang="vi-VN" sz="2000" i="1">
                            <a:latin typeface="Cambria Math" panose="02040503050406030204" pitchFamily="18" charset="0"/>
                            <a:ea typeface="Cambria Math" panose="02040503050406030204" pitchFamily="18" charset="0"/>
                          </a:rPr>
                          <m:t> ∈[0,1]</m:t>
                        </m:r>
                      </m:e>
                      <m:sup>
                        <m:r>
                          <m:rPr>
                            <m:sty m:val="p"/>
                          </m:rPr>
                          <a:rPr lang="vi-VN" sz="2000" i="1">
                            <a:latin typeface="Cambria Math" panose="02040503050406030204" pitchFamily="18" charset="0"/>
                            <a:ea typeface="Cambria Math" panose="02040503050406030204" pitchFamily="18" charset="0"/>
                          </a:rPr>
                          <m:t>n</m:t>
                        </m:r>
                      </m:sup>
                    </m:sSup>
                  </m:oMath>
                </a14:m>
                <a:r>
                  <a:rPr lang="en-US" sz="2000" dirty="0"/>
                  <a:t> </a:t>
                </a:r>
              </a:p>
              <a:p>
                <a:pPr marL="0" indent="0">
                  <a:buNone/>
                </a:pPr>
                <a14:m>
                  <m:oMath xmlns:m="http://schemas.openxmlformats.org/officeDocument/2006/math">
                    <m:r>
                      <a:rPr lang="vi-VN" b="0" i="1" smtClean="0">
                        <a:latin typeface="Cambria Math" panose="02040503050406030204" pitchFamily="18" charset="0"/>
                      </a:rPr>
                      <m:t>𝐸</m:t>
                    </m:r>
                    <m:r>
                      <a:rPr lang="vi-VN" b="0" i="1" smtClean="0">
                        <a:latin typeface="Cambria Math" panose="02040503050406030204" pitchFamily="18" charset="0"/>
                      </a:rPr>
                      <m:t>: </m:t>
                    </m:r>
                    <m:r>
                      <m:rPr>
                        <m:sty m:val="p"/>
                      </m:rPr>
                      <a:rPr lang="vi-VN" i="1">
                        <a:latin typeface="Cambria Math" panose="02040503050406030204" pitchFamily="18" charset="0"/>
                      </a:rPr>
                      <m:t>K</m:t>
                    </m:r>
                    <m:r>
                      <a:rPr lang="vi-VN" i="1">
                        <a:latin typeface="Cambria Math" panose="02040503050406030204" pitchFamily="18" charset="0"/>
                        <a:ea typeface="Cambria Math" panose="02040503050406030204" pitchFamily="18" charset="0"/>
                      </a:rPr>
                      <m:t>×</m:t>
                    </m:r>
                    <m:sSup>
                      <m:sSupPr>
                        <m:ctrlPr>
                          <a:rPr lang="vi-VN" i="1" smtClean="0">
                            <a:latin typeface="Cambria Math" panose="02040503050406030204" pitchFamily="18" charset="0"/>
                            <a:ea typeface="Cambria Math" panose="02040503050406030204" pitchFamily="18" charset="0"/>
                          </a:rPr>
                        </m:ctrlPr>
                      </m:sSupPr>
                      <m:e>
                        <m:r>
                          <a:rPr lang="vi-VN" b="0" i="1" smtClean="0">
                            <a:latin typeface="Cambria Math" panose="02040503050406030204" pitchFamily="18" charset="0"/>
                            <a:ea typeface="Cambria Math" panose="02040503050406030204" pitchFamily="18" charset="0"/>
                          </a:rPr>
                          <m:t>[0,1]</m:t>
                        </m:r>
                      </m:e>
                      <m:sup>
                        <m:r>
                          <m:rPr>
                            <m:sty m:val="p"/>
                          </m:rPr>
                          <a:rPr lang="vi-VN" i="1">
                            <a:latin typeface="Cambria Math" panose="02040503050406030204" pitchFamily="18" charset="0"/>
                            <a:ea typeface="Cambria Math" panose="02040503050406030204" pitchFamily="18" charset="0"/>
                          </a:rPr>
                          <m:t>n</m:t>
                        </m:r>
                      </m:sup>
                    </m:sSup>
                    <m:r>
                      <a:rPr lang="vi-VN" b="0" i="0" smtClean="0">
                        <a:latin typeface="Cambria Math" panose="02040503050406030204" pitchFamily="18" charset="0"/>
                        <a:ea typeface="Cambria Math" panose="02040503050406030204" pitchFamily="18" charset="0"/>
                      </a:rPr>
                      <m:t>→</m:t>
                    </m:r>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[0,1]</m:t>
                        </m:r>
                      </m:e>
                      <m:sup>
                        <m:r>
                          <m:rPr>
                            <m:sty m:val="p"/>
                          </m:rPr>
                          <a:rPr lang="vi-VN" i="1">
                            <a:latin typeface="Cambria Math" panose="02040503050406030204" pitchFamily="18" charset="0"/>
                            <a:ea typeface="Cambria Math" panose="02040503050406030204" pitchFamily="18" charset="0"/>
                          </a:rPr>
                          <m:t>n</m:t>
                        </m:r>
                      </m:sup>
                    </m:sSup>
                  </m:oMath>
                </a14:m>
                <a:r>
                  <a:rPr lang="en-US" dirty="0"/>
                  <a:t> </a:t>
                </a:r>
              </a:p>
            </p:txBody>
          </p:sp>
        </mc:Choice>
        <mc:Fallback xmlns="">
          <p:sp>
            <p:nvSpPr>
              <p:cNvPr id="16387" name="Rectangle 3"/>
              <p:cNvSpPr>
                <a:spLocks noGrp="1" noRot="1" noChangeAspect="1" noMove="1" noResize="1" noEditPoints="1" noAdjustHandles="1" noChangeArrowheads="1" noChangeShapeType="1" noTextEdit="1"/>
              </p:cNvSpPr>
              <p:nvPr>
                <p:ph sz="quarter" idx="13"/>
              </p:nvPr>
            </p:nvSpPr>
            <p:spPr>
              <a:blipFill>
                <a:blip r:embed="rId3"/>
                <a:stretch>
                  <a:fillRect l="-1462" t="-2392"/>
                </a:stretch>
              </a:blipFill>
            </p:spPr>
            <p:txBody>
              <a:bodyPr/>
              <a:lstStyle/>
              <a:p>
                <a:r>
                  <a:rPr>
                    <a:noFill/>
                  </a:rPr>
                  <a:t> </a:t>
                </a:r>
              </a:p>
            </p:txBody>
          </p:sp>
        </mc:Fallback>
      </mc:AlternateContent>
      <p:sp>
        <p:nvSpPr>
          <p:cNvPr id="16389" name="Rectangle 5"/>
          <p:cNvSpPr>
            <a:spLocks noChangeArrowheads="1"/>
          </p:cNvSpPr>
          <p:nvPr/>
        </p:nvSpPr>
        <p:spPr bwMode="auto">
          <a:xfrm>
            <a:off x="2133600" y="381000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a:t>E(k,</a:t>
            </a:r>
            <a:r>
              <a:rPr lang="en-US" sz="2400">
                <a:sym typeface="Symbol" pitchFamily="18" charset="2"/>
              </a:rPr>
              <a:t>)</a:t>
            </a:r>
          </a:p>
        </p:txBody>
      </p:sp>
      <p:sp>
        <p:nvSpPr>
          <p:cNvPr id="16390" name="Rectangle 6"/>
          <p:cNvSpPr>
            <a:spLocks noChangeArrowheads="1"/>
          </p:cNvSpPr>
          <p:nvPr/>
        </p:nvSpPr>
        <p:spPr bwMode="auto">
          <a:xfrm>
            <a:off x="3810000" y="381000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a:t>E(k,</a:t>
            </a:r>
            <a:r>
              <a:rPr lang="en-US" sz="2400">
                <a:sym typeface="Symbol" pitchFamily="18" charset="2"/>
              </a:rPr>
              <a:t>)</a:t>
            </a:r>
          </a:p>
        </p:txBody>
      </p:sp>
      <p:sp>
        <p:nvSpPr>
          <p:cNvPr id="16392" name="Rectangle 8"/>
          <p:cNvSpPr>
            <a:spLocks noChangeArrowheads="1"/>
          </p:cNvSpPr>
          <p:nvPr/>
        </p:nvSpPr>
        <p:spPr bwMode="auto">
          <a:xfrm>
            <a:off x="7010400" y="381000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a:t>E(k,</a:t>
            </a:r>
            <a:r>
              <a:rPr lang="en-US" sz="2400">
                <a:sym typeface="Symbol" pitchFamily="18" charset="2"/>
              </a:rPr>
              <a:t>)</a:t>
            </a:r>
          </a:p>
        </p:txBody>
      </p:sp>
      <p:sp>
        <p:nvSpPr>
          <p:cNvPr id="16394" name="Rectangle 10"/>
          <p:cNvSpPr>
            <a:spLocks noChangeArrowheads="1"/>
          </p:cNvSpPr>
          <p:nvPr/>
        </p:nvSpPr>
        <p:spPr bwMode="auto">
          <a:xfrm>
            <a:off x="1828800" y="2724150"/>
            <a:ext cx="15240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m[0]</a:t>
            </a:r>
          </a:p>
        </p:txBody>
      </p:sp>
      <p:sp>
        <p:nvSpPr>
          <p:cNvPr id="16395" name="Rectangle 11"/>
          <p:cNvSpPr>
            <a:spLocks noChangeArrowheads="1"/>
          </p:cNvSpPr>
          <p:nvPr/>
        </p:nvSpPr>
        <p:spPr bwMode="auto">
          <a:xfrm>
            <a:off x="3352800" y="2724150"/>
            <a:ext cx="16764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m[1]</a:t>
            </a:r>
          </a:p>
        </p:txBody>
      </p:sp>
      <p:sp>
        <p:nvSpPr>
          <p:cNvPr id="16396" name="Rectangle 12"/>
          <p:cNvSpPr>
            <a:spLocks noChangeArrowheads="1"/>
          </p:cNvSpPr>
          <p:nvPr/>
        </p:nvSpPr>
        <p:spPr bwMode="auto">
          <a:xfrm>
            <a:off x="5029200" y="2724150"/>
            <a:ext cx="16002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m[2]</a:t>
            </a:r>
          </a:p>
        </p:txBody>
      </p:sp>
      <p:sp>
        <p:nvSpPr>
          <p:cNvPr id="16397" name="Rectangle 13"/>
          <p:cNvSpPr>
            <a:spLocks noChangeArrowheads="1"/>
          </p:cNvSpPr>
          <p:nvPr/>
        </p:nvSpPr>
        <p:spPr bwMode="auto">
          <a:xfrm>
            <a:off x="6629400" y="2724150"/>
            <a:ext cx="15240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m[3]</a:t>
            </a:r>
          </a:p>
        </p:txBody>
      </p:sp>
      <p:sp>
        <p:nvSpPr>
          <p:cNvPr id="16398" name="Rectangle 14"/>
          <p:cNvSpPr>
            <a:spLocks noChangeArrowheads="1"/>
          </p:cNvSpPr>
          <p:nvPr/>
        </p:nvSpPr>
        <p:spPr bwMode="auto">
          <a:xfrm>
            <a:off x="685800" y="2724150"/>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6399" name="Text Box 15"/>
          <p:cNvSpPr txBox="1">
            <a:spLocks noChangeArrowheads="1"/>
          </p:cNvSpPr>
          <p:nvPr/>
        </p:nvSpPr>
        <p:spPr bwMode="auto">
          <a:xfrm>
            <a:off x="2322514" y="3110924"/>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6400" name="Text Box 16"/>
          <p:cNvSpPr txBox="1">
            <a:spLocks noChangeArrowheads="1"/>
          </p:cNvSpPr>
          <p:nvPr/>
        </p:nvSpPr>
        <p:spPr bwMode="auto">
          <a:xfrm>
            <a:off x="7239000" y="3110924"/>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6401" name="Text Box 17"/>
          <p:cNvSpPr txBox="1">
            <a:spLocks noChangeArrowheads="1"/>
          </p:cNvSpPr>
          <p:nvPr/>
        </p:nvSpPr>
        <p:spPr bwMode="auto">
          <a:xfrm>
            <a:off x="4038600" y="3110924"/>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6403" name="Line 19"/>
          <p:cNvSpPr>
            <a:spLocks noChangeShapeType="1"/>
          </p:cNvSpPr>
          <p:nvPr/>
        </p:nvSpPr>
        <p:spPr bwMode="auto">
          <a:xfrm>
            <a:off x="2559050" y="300990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04" name="Line 20"/>
          <p:cNvSpPr>
            <a:spLocks noChangeShapeType="1"/>
          </p:cNvSpPr>
          <p:nvPr/>
        </p:nvSpPr>
        <p:spPr bwMode="auto">
          <a:xfrm>
            <a:off x="4267200" y="3033713"/>
            <a:ext cx="0" cy="285750"/>
          </a:xfrm>
          <a:prstGeom prst="line">
            <a:avLst/>
          </a:prstGeom>
          <a:noFill/>
          <a:ln w="9525">
            <a:solidFill>
              <a:schemeClr val="tx1"/>
            </a:solidFill>
            <a:round/>
            <a:headEnd/>
            <a:tailEnd type="triangle" w="med" len="med"/>
          </a:ln>
          <a:effectLst/>
        </p:spPr>
        <p:txBody>
          <a:bodyPr/>
          <a:lstStyle/>
          <a:p>
            <a:endParaRPr lang="en-US"/>
          </a:p>
        </p:txBody>
      </p:sp>
      <p:sp>
        <p:nvSpPr>
          <p:cNvPr id="16405" name="Line 21"/>
          <p:cNvSpPr>
            <a:spLocks noChangeShapeType="1"/>
          </p:cNvSpPr>
          <p:nvPr/>
        </p:nvSpPr>
        <p:spPr bwMode="auto">
          <a:xfrm>
            <a:off x="7467600" y="300990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06" name="Line 22"/>
          <p:cNvSpPr>
            <a:spLocks noChangeShapeType="1"/>
          </p:cNvSpPr>
          <p:nvPr/>
        </p:nvSpPr>
        <p:spPr bwMode="auto">
          <a:xfrm>
            <a:off x="4267200" y="352425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07" name="Line 23"/>
          <p:cNvSpPr>
            <a:spLocks noChangeShapeType="1"/>
          </p:cNvSpPr>
          <p:nvPr/>
        </p:nvSpPr>
        <p:spPr bwMode="auto">
          <a:xfrm>
            <a:off x="7467600" y="352425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08" name="Line 24"/>
          <p:cNvSpPr>
            <a:spLocks noChangeShapeType="1"/>
          </p:cNvSpPr>
          <p:nvPr/>
        </p:nvSpPr>
        <p:spPr bwMode="auto">
          <a:xfrm>
            <a:off x="2514600" y="352425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10" name="Freeform 26"/>
          <p:cNvSpPr>
            <a:spLocks/>
          </p:cNvSpPr>
          <p:nvPr/>
        </p:nvSpPr>
        <p:spPr bwMode="auto">
          <a:xfrm>
            <a:off x="1066800" y="3009900"/>
            <a:ext cx="1371600" cy="400050"/>
          </a:xfrm>
          <a:custGeom>
            <a:avLst/>
            <a:gdLst/>
            <a:ahLst/>
            <a:cxnLst>
              <a:cxn ang="0">
                <a:pos x="0" y="0"/>
              </a:cxn>
              <a:cxn ang="0">
                <a:pos x="0" y="336"/>
              </a:cxn>
              <a:cxn ang="0">
                <a:pos x="864" y="336"/>
              </a:cxn>
            </a:cxnLst>
            <a:rect l="0" t="0" r="r" b="b"/>
            <a:pathLst>
              <a:path w="864" h="336">
                <a:moveTo>
                  <a:pt x="0" y="0"/>
                </a:moveTo>
                <a:lnTo>
                  <a:pt x="0" y="336"/>
                </a:lnTo>
                <a:lnTo>
                  <a:pt x="864" y="336"/>
                </a:lnTo>
              </a:path>
            </a:pathLst>
          </a:custGeom>
          <a:noFill/>
          <a:ln w="12700" cmpd="sng">
            <a:solidFill>
              <a:schemeClr val="tx1"/>
            </a:solidFill>
            <a:round/>
            <a:headEnd type="none" w="med" len="med"/>
            <a:tailEnd type="triangle" w="med" len="med"/>
          </a:ln>
          <a:effectLst/>
        </p:spPr>
        <p:txBody>
          <a:bodyPr/>
          <a:lstStyle/>
          <a:p>
            <a:endParaRPr lang="en-US"/>
          </a:p>
        </p:txBody>
      </p:sp>
      <p:sp>
        <p:nvSpPr>
          <p:cNvPr id="16411" name="Line 27"/>
          <p:cNvSpPr>
            <a:spLocks noChangeShapeType="1"/>
          </p:cNvSpPr>
          <p:nvPr/>
        </p:nvSpPr>
        <p:spPr bwMode="auto">
          <a:xfrm>
            <a:off x="2514600" y="44386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16412" name="Freeform 28"/>
          <p:cNvSpPr>
            <a:spLocks/>
          </p:cNvSpPr>
          <p:nvPr/>
        </p:nvSpPr>
        <p:spPr bwMode="auto">
          <a:xfrm>
            <a:off x="2514600" y="3409950"/>
            <a:ext cx="16002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16413" name="Line 29"/>
          <p:cNvSpPr>
            <a:spLocks noChangeShapeType="1"/>
          </p:cNvSpPr>
          <p:nvPr/>
        </p:nvSpPr>
        <p:spPr bwMode="auto">
          <a:xfrm>
            <a:off x="4267200" y="44386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16420" name="Rectangle 36"/>
          <p:cNvSpPr>
            <a:spLocks noChangeArrowheads="1"/>
          </p:cNvSpPr>
          <p:nvPr/>
        </p:nvSpPr>
        <p:spPr bwMode="auto">
          <a:xfrm>
            <a:off x="5486400" y="381000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a:t>E(k,</a:t>
            </a:r>
            <a:r>
              <a:rPr lang="en-US" sz="2400">
                <a:sym typeface="Symbol" pitchFamily="18" charset="2"/>
              </a:rPr>
              <a:t>)</a:t>
            </a:r>
          </a:p>
        </p:txBody>
      </p:sp>
      <p:sp>
        <p:nvSpPr>
          <p:cNvPr id="16421" name="Freeform 37"/>
          <p:cNvSpPr>
            <a:spLocks/>
          </p:cNvSpPr>
          <p:nvPr/>
        </p:nvSpPr>
        <p:spPr bwMode="auto">
          <a:xfrm>
            <a:off x="4267200" y="3409950"/>
            <a:ext cx="16002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16422" name="Freeform 38"/>
          <p:cNvSpPr>
            <a:spLocks/>
          </p:cNvSpPr>
          <p:nvPr/>
        </p:nvSpPr>
        <p:spPr bwMode="auto">
          <a:xfrm>
            <a:off x="5943600" y="3409950"/>
            <a:ext cx="13716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16423" name="Text Box 39"/>
          <p:cNvSpPr txBox="1">
            <a:spLocks noChangeArrowheads="1"/>
          </p:cNvSpPr>
          <p:nvPr/>
        </p:nvSpPr>
        <p:spPr bwMode="auto">
          <a:xfrm>
            <a:off x="5751514" y="3110924"/>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6424" name="Line 40"/>
          <p:cNvSpPr>
            <a:spLocks noChangeShapeType="1"/>
          </p:cNvSpPr>
          <p:nvPr/>
        </p:nvSpPr>
        <p:spPr bwMode="auto">
          <a:xfrm>
            <a:off x="5980113" y="3033713"/>
            <a:ext cx="0" cy="285750"/>
          </a:xfrm>
          <a:prstGeom prst="line">
            <a:avLst/>
          </a:prstGeom>
          <a:noFill/>
          <a:ln w="9525">
            <a:solidFill>
              <a:schemeClr val="tx1"/>
            </a:solidFill>
            <a:round/>
            <a:headEnd/>
            <a:tailEnd type="triangle" w="med" len="med"/>
          </a:ln>
          <a:effectLst/>
        </p:spPr>
        <p:txBody>
          <a:bodyPr/>
          <a:lstStyle/>
          <a:p>
            <a:endParaRPr lang="en-US"/>
          </a:p>
        </p:txBody>
      </p:sp>
      <p:sp>
        <p:nvSpPr>
          <p:cNvPr id="16425" name="Line 41"/>
          <p:cNvSpPr>
            <a:spLocks noChangeShapeType="1"/>
          </p:cNvSpPr>
          <p:nvPr/>
        </p:nvSpPr>
        <p:spPr bwMode="auto">
          <a:xfrm>
            <a:off x="5980113" y="3524250"/>
            <a:ext cx="0" cy="285750"/>
          </a:xfrm>
          <a:prstGeom prst="line">
            <a:avLst/>
          </a:prstGeom>
          <a:noFill/>
          <a:ln w="9525">
            <a:solidFill>
              <a:schemeClr val="tx1"/>
            </a:solidFill>
            <a:round/>
            <a:headEnd/>
            <a:tailEnd type="triangle" w="med" len="med"/>
          </a:ln>
          <a:effectLst/>
        </p:spPr>
        <p:txBody>
          <a:bodyPr/>
          <a:lstStyle/>
          <a:p>
            <a:endParaRPr lang="en-US"/>
          </a:p>
        </p:txBody>
      </p:sp>
      <p:sp>
        <p:nvSpPr>
          <p:cNvPr id="16426" name="Line 42"/>
          <p:cNvSpPr>
            <a:spLocks noChangeShapeType="1"/>
          </p:cNvSpPr>
          <p:nvPr/>
        </p:nvSpPr>
        <p:spPr bwMode="auto">
          <a:xfrm>
            <a:off x="5943600" y="44386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16427" name="Line 43"/>
          <p:cNvSpPr>
            <a:spLocks noChangeShapeType="1"/>
          </p:cNvSpPr>
          <p:nvPr/>
        </p:nvSpPr>
        <p:spPr bwMode="auto">
          <a:xfrm>
            <a:off x="7466015" y="4438650"/>
            <a:ext cx="1587" cy="457200"/>
          </a:xfrm>
          <a:prstGeom prst="line">
            <a:avLst/>
          </a:prstGeom>
          <a:noFill/>
          <a:ln w="9525">
            <a:solidFill>
              <a:schemeClr val="tx1"/>
            </a:solidFill>
            <a:round/>
            <a:headEnd/>
            <a:tailEnd type="triangle" w="med" len="med"/>
          </a:ln>
          <a:effectLst/>
        </p:spPr>
        <p:txBody>
          <a:bodyPr/>
          <a:lstStyle/>
          <a:p>
            <a:endParaRPr lang="en-US"/>
          </a:p>
        </p:txBody>
      </p:sp>
      <p:sp>
        <p:nvSpPr>
          <p:cNvPr id="16428" name="Rectangle 44"/>
          <p:cNvSpPr>
            <a:spLocks noChangeArrowheads="1"/>
          </p:cNvSpPr>
          <p:nvPr/>
        </p:nvSpPr>
        <p:spPr bwMode="auto">
          <a:xfrm>
            <a:off x="1828800" y="4895850"/>
            <a:ext cx="1524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c[0]</a:t>
            </a:r>
          </a:p>
        </p:txBody>
      </p:sp>
      <p:sp>
        <p:nvSpPr>
          <p:cNvPr id="16429" name="Rectangle 45"/>
          <p:cNvSpPr>
            <a:spLocks noChangeArrowheads="1"/>
          </p:cNvSpPr>
          <p:nvPr/>
        </p:nvSpPr>
        <p:spPr bwMode="auto">
          <a:xfrm>
            <a:off x="3352800" y="4895850"/>
            <a:ext cx="16764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c[1]</a:t>
            </a:r>
          </a:p>
        </p:txBody>
      </p:sp>
      <p:sp>
        <p:nvSpPr>
          <p:cNvPr id="16430" name="Rectangle 46"/>
          <p:cNvSpPr>
            <a:spLocks noChangeArrowheads="1"/>
          </p:cNvSpPr>
          <p:nvPr/>
        </p:nvSpPr>
        <p:spPr bwMode="auto">
          <a:xfrm>
            <a:off x="5029200" y="4895850"/>
            <a:ext cx="1600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c[2]</a:t>
            </a:r>
          </a:p>
        </p:txBody>
      </p:sp>
      <p:sp>
        <p:nvSpPr>
          <p:cNvPr id="16431" name="Rectangle 47"/>
          <p:cNvSpPr>
            <a:spLocks noChangeArrowheads="1"/>
          </p:cNvSpPr>
          <p:nvPr/>
        </p:nvSpPr>
        <p:spPr bwMode="auto">
          <a:xfrm>
            <a:off x="6629400" y="4895850"/>
            <a:ext cx="1524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c[3]</a:t>
            </a:r>
          </a:p>
        </p:txBody>
      </p:sp>
      <p:sp>
        <p:nvSpPr>
          <p:cNvPr id="16432" name="Rectangle 48"/>
          <p:cNvSpPr>
            <a:spLocks noChangeArrowheads="1"/>
          </p:cNvSpPr>
          <p:nvPr/>
        </p:nvSpPr>
        <p:spPr bwMode="auto">
          <a:xfrm>
            <a:off x="685800" y="4895850"/>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6433" name="AutoShape 49"/>
          <p:cNvSpPr>
            <a:spLocks/>
          </p:cNvSpPr>
          <p:nvPr/>
        </p:nvSpPr>
        <p:spPr bwMode="auto">
          <a:xfrm rot="16200000" flipV="1">
            <a:off x="4305300" y="1562100"/>
            <a:ext cx="228600" cy="7467600"/>
          </a:xfrm>
          <a:prstGeom prst="leftBrace">
            <a:avLst>
              <a:gd name="adj1" fmla="val 204167"/>
              <a:gd name="adj2" fmla="val 50000"/>
            </a:avLst>
          </a:prstGeom>
          <a:noFill/>
          <a:ln w="9525">
            <a:solidFill>
              <a:schemeClr val="tx1"/>
            </a:solidFill>
            <a:round/>
            <a:headEnd/>
            <a:tailEnd/>
          </a:ln>
          <a:effectLst/>
        </p:spPr>
        <p:txBody>
          <a:bodyPr wrap="none" anchor="ctr"/>
          <a:lstStyle/>
          <a:p>
            <a:endParaRPr lang="en-US"/>
          </a:p>
        </p:txBody>
      </p:sp>
      <p:sp>
        <p:nvSpPr>
          <p:cNvPr id="16434" name="Text Box 50"/>
          <p:cNvSpPr txBox="1">
            <a:spLocks noChangeArrowheads="1"/>
          </p:cNvSpPr>
          <p:nvPr/>
        </p:nvSpPr>
        <p:spPr bwMode="auto">
          <a:xfrm>
            <a:off x="3778250" y="5321006"/>
            <a:ext cx="1146468" cy="369332"/>
          </a:xfrm>
          <a:prstGeom prst="rect">
            <a:avLst/>
          </a:prstGeom>
          <a:noFill/>
          <a:ln w="9525">
            <a:noFill/>
            <a:miter lim="800000"/>
            <a:headEnd/>
            <a:tailEnd/>
          </a:ln>
          <a:effectLst/>
        </p:spPr>
        <p:txBody>
          <a:bodyPr wrap="none">
            <a:spAutoFit/>
          </a:bodyPr>
          <a:lstStyle/>
          <a:p>
            <a:r>
              <a:rPr lang="en-US" dirty="0" err="1"/>
              <a:t>ciphertext</a:t>
            </a:r>
            <a:endParaRPr lang="en-US" dirty="0"/>
          </a:p>
        </p:txBody>
      </p:sp>
    </p:spTree>
    <p:extLst>
      <p:ext uri="{BB962C8B-B14F-4D97-AF65-F5344CB8AC3E}">
        <p14:creationId xmlns:p14="http://schemas.microsoft.com/office/powerpoint/2010/main" val="315005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Mạch</a:t>
            </a:r>
            <a:r>
              <a:rPr lang="en-US" dirty="0"/>
              <a:t> </a:t>
            </a:r>
            <a:r>
              <a:rPr lang="en-US" dirty="0" err="1"/>
              <a:t>giải</a:t>
            </a:r>
            <a:r>
              <a:rPr lang="en-US" dirty="0"/>
              <a:t> </a:t>
            </a:r>
            <a:r>
              <a:rPr lang="en-US" dirty="0" err="1"/>
              <a:t>mã</a:t>
            </a:r>
            <a:r>
              <a:rPr lang="en-US" dirty="0"/>
              <a:t> (Decryption circuit)</a:t>
            </a:r>
          </a:p>
        </p:txBody>
      </p:sp>
      <p:sp>
        <p:nvSpPr>
          <p:cNvPr id="12" name="Content Placeholder 11">
            <a:extLst>
              <a:ext uri="{FF2B5EF4-FFF2-40B4-BE49-F238E27FC236}">
                <a16:creationId xmlns:a16="http://schemas.microsoft.com/office/drawing/2014/main" id="{2F41F285-BD28-E511-959C-20AB5EF067EA}"/>
              </a:ext>
            </a:extLst>
          </p:cNvPr>
          <p:cNvSpPr>
            <a:spLocks noGrp="1"/>
          </p:cNvSpPr>
          <p:nvPr>
            <p:ph sz="quarter" idx="13"/>
          </p:nvPr>
        </p:nvSpPr>
        <p:spPr/>
        <p:txBody>
          <a:bodyPr/>
          <a:lstStyle/>
          <a:p>
            <a:endParaRPr/>
          </a:p>
        </p:txBody>
      </p:sp>
      <p:grpSp>
        <p:nvGrpSpPr>
          <p:cNvPr id="40" name="Group 39"/>
          <p:cNvGrpSpPr/>
          <p:nvPr/>
        </p:nvGrpSpPr>
        <p:grpSpPr>
          <a:xfrm>
            <a:off x="304800" y="2971800"/>
            <a:ext cx="7924800" cy="2514600"/>
            <a:chOff x="304800" y="2114550"/>
            <a:chExt cx="7924800" cy="2514600"/>
          </a:xfrm>
        </p:grpSpPr>
        <p:sp>
          <p:nvSpPr>
            <p:cNvPr id="4" name="Rectangle 51"/>
            <p:cNvSpPr>
              <a:spLocks noChangeArrowheads="1"/>
            </p:cNvSpPr>
            <p:nvPr/>
          </p:nvSpPr>
          <p:spPr bwMode="auto">
            <a:xfrm flipV="1">
              <a:off x="304800" y="2114550"/>
              <a:ext cx="7924800" cy="400050"/>
            </a:xfrm>
            <a:prstGeom prst="rect">
              <a:avLst/>
            </a:prstGeom>
            <a:solidFill>
              <a:schemeClr val="folHlink"/>
            </a:solidFill>
            <a:ln w="9525">
              <a:noFill/>
              <a:miter lim="800000"/>
              <a:headEnd/>
              <a:tailEnd/>
            </a:ln>
            <a:effectLst/>
          </p:spPr>
          <p:txBody>
            <a:bodyPr wrap="none" anchor="ctr"/>
            <a:lstStyle/>
            <a:p>
              <a:endParaRPr lang="en-US"/>
            </a:p>
          </p:txBody>
        </p:sp>
        <p:sp>
          <p:nvSpPr>
            <p:cNvPr id="5" name="Rectangle 5"/>
            <p:cNvSpPr>
              <a:spLocks noChangeArrowheads="1"/>
            </p:cNvSpPr>
            <p:nvPr/>
          </p:nvSpPr>
          <p:spPr bwMode="auto">
            <a:xfrm>
              <a:off x="1981200" y="291465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dirty="0"/>
                <a:t>D(k,</a:t>
              </a:r>
              <a:r>
                <a:rPr lang="en-US" sz="2400" dirty="0">
                  <a:sym typeface="Symbol" pitchFamily="18" charset="2"/>
                </a:rPr>
                <a:t>)</a:t>
              </a:r>
            </a:p>
          </p:txBody>
        </p:sp>
        <p:sp>
          <p:nvSpPr>
            <p:cNvPr id="6" name="Rectangle 6"/>
            <p:cNvSpPr>
              <a:spLocks noChangeArrowheads="1"/>
            </p:cNvSpPr>
            <p:nvPr/>
          </p:nvSpPr>
          <p:spPr bwMode="auto">
            <a:xfrm>
              <a:off x="3657600" y="291465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dirty="0"/>
                <a:t>D(k,</a:t>
              </a:r>
              <a:r>
                <a:rPr lang="en-US" sz="2400" dirty="0">
                  <a:sym typeface="Symbol" pitchFamily="18" charset="2"/>
                </a:rPr>
                <a:t>)</a:t>
              </a:r>
            </a:p>
          </p:txBody>
        </p:sp>
        <p:sp>
          <p:nvSpPr>
            <p:cNvPr id="7" name="Rectangle 8"/>
            <p:cNvSpPr>
              <a:spLocks noChangeArrowheads="1"/>
            </p:cNvSpPr>
            <p:nvPr/>
          </p:nvSpPr>
          <p:spPr bwMode="auto">
            <a:xfrm>
              <a:off x="6858000" y="291465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dirty="0"/>
                <a:t>D(k,</a:t>
              </a:r>
              <a:r>
                <a:rPr lang="en-US" sz="2400" dirty="0">
                  <a:sym typeface="Symbol" pitchFamily="18" charset="2"/>
                </a:rPr>
                <a:t>)</a:t>
              </a:r>
            </a:p>
          </p:txBody>
        </p:sp>
        <p:sp>
          <p:nvSpPr>
            <p:cNvPr id="8" name="Rectangle 10"/>
            <p:cNvSpPr>
              <a:spLocks noChangeArrowheads="1"/>
            </p:cNvSpPr>
            <p:nvPr/>
          </p:nvSpPr>
          <p:spPr bwMode="auto">
            <a:xfrm>
              <a:off x="1676400" y="4343400"/>
              <a:ext cx="15240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m[0]</a:t>
              </a:r>
            </a:p>
          </p:txBody>
        </p:sp>
        <p:sp>
          <p:nvSpPr>
            <p:cNvPr id="9" name="Rectangle 11"/>
            <p:cNvSpPr>
              <a:spLocks noChangeArrowheads="1"/>
            </p:cNvSpPr>
            <p:nvPr/>
          </p:nvSpPr>
          <p:spPr bwMode="auto">
            <a:xfrm>
              <a:off x="3200400" y="4343400"/>
              <a:ext cx="16764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m[1]</a:t>
              </a:r>
            </a:p>
          </p:txBody>
        </p:sp>
        <p:sp>
          <p:nvSpPr>
            <p:cNvPr id="10" name="Rectangle 12"/>
            <p:cNvSpPr>
              <a:spLocks noChangeArrowheads="1"/>
            </p:cNvSpPr>
            <p:nvPr/>
          </p:nvSpPr>
          <p:spPr bwMode="auto">
            <a:xfrm>
              <a:off x="4876800" y="4343400"/>
              <a:ext cx="16002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m[2]</a:t>
              </a:r>
            </a:p>
          </p:txBody>
        </p:sp>
        <p:sp>
          <p:nvSpPr>
            <p:cNvPr id="11" name="Rectangle 13"/>
            <p:cNvSpPr>
              <a:spLocks noChangeArrowheads="1"/>
            </p:cNvSpPr>
            <p:nvPr/>
          </p:nvSpPr>
          <p:spPr bwMode="auto">
            <a:xfrm>
              <a:off x="6477000" y="4343400"/>
              <a:ext cx="15240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m[3]</a:t>
              </a:r>
            </a:p>
          </p:txBody>
        </p:sp>
        <p:sp>
          <p:nvSpPr>
            <p:cNvPr id="13" name="Text Box 15"/>
            <p:cNvSpPr txBox="1">
              <a:spLocks noChangeArrowheads="1"/>
            </p:cNvSpPr>
            <p:nvPr/>
          </p:nvSpPr>
          <p:spPr bwMode="auto">
            <a:xfrm flipV="1">
              <a:off x="2170114" y="3657600"/>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4" name="Text Box 16"/>
            <p:cNvSpPr txBox="1">
              <a:spLocks noChangeArrowheads="1"/>
            </p:cNvSpPr>
            <p:nvPr/>
          </p:nvSpPr>
          <p:spPr bwMode="auto">
            <a:xfrm flipV="1">
              <a:off x="7086600" y="3657600"/>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5" name="Text Box 17"/>
            <p:cNvSpPr txBox="1">
              <a:spLocks noChangeArrowheads="1"/>
            </p:cNvSpPr>
            <p:nvPr/>
          </p:nvSpPr>
          <p:spPr bwMode="auto">
            <a:xfrm flipV="1">
              <a:off x="3886200" y="3657600"/>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16" name="Line 19"/>
            <p:cNvSpPr>
              <a:spLocks noChangeShapeType="1"/>
            </p:cNvSpPr>
            <p:nvPr/>
          </p:nvSpPr>
          <p:spPr bwMode="auto">
            <a:xfrm>
              <a:off x="2406650" y="4057650"/>
              <a:ext cx="0" cy="285750"/>
            </a:xfrm>
            <a:prstGeom prst="line">
              <a:avLst/>
            </a:prstGeom>
            <a:noFill/>
            <a:ln w="9525">
              <a:solidFill>
                <a:schemeClr val="tx1"/>
              </a:solidFill>
              <a:round/>
              <a:headEnd/>
              <a:tailEnd type="triangle" w="med" len="med"/>
            </a:ln>
            <a:effectLst/>
          </p:spPr>
          <p:txBody>
            <a:bodyPr/>
            <a:lstStyle/>
            <a:p>
              <a:endParaRPr lang="en-US"/>
            </a:p>
          </p:txBody>
        </p:sp>
        <p:sp>
          <p:nvSpPr>
            <p:cNvPr id="17" name="Line 20"/>
            <p:cNvSpPr>
              <a:spLocks noChangeShapeType="1"/>
            </p:cNvSpPr>
            <p:nvPr/>
          </p:nvSpPr>
          <p:spPr bwMode="auto">
            <a:xfrm>
              <a:off x="4114800" y="4033837"/>
              <a:ext cx="0" cy="285750"/>
            </a:xfrm>
            <a:prstGeom prst="line">
              <a:avLst/>
            </a:prstGeom>
            <a:noFill/>
            <a:ln w="9525">
              <a:solidFill>
                <a:schemeClr val="tx1"/>
              </a:solidFill>
              <a:round/>
              <a:headEnd/>
              <a:tailEnd type="triangle" w="med" len="med"/>
            </a:ln>
            <a:effectLst/>
          </p:spPr>
          <p:txBody>
            <a:bodyPr/>
            <a:lstStyle/>
            <a:p>
              <a:endParaRPr lang="en-US"/>
            </a:p>
          </p:txBody>
        </p:sp>
        <p:sp>
          <p:nvSpPr>
            <p:cNvPr id="18" name="Line 21"/>
            <p:cNvSpPr>
              <a:spLocks noChangeShapeType="1"/>
            </p:cNvSpPr>
            <p:nvPr/>
          </p:nvSpPr>
          <p:spPr bwMode="auto">
            <a:xfrm>
              <a:off x="7315200" y="4057650"/>
              <a:ext cx="0" cy="285750"/>
            </a:xfrm>
            <a:prstGeom prst="line">
              <a:avLst/>
            </a:prstGeom>
            <a:noFill/>
            <a:ln w="9525">
              <a:solidFill>
                <a:schemeClr val="tx1"/>
              </a:solidFill>
              <a:round/>
              <a:headEnd/>
              <a:tailEnd type="triangle" w="med" len="med"/>
            </a:ln>
            <a:effectLst/>
          </p:spPr>
          <p:txBody>
            <a:bodyPr/>
            <a:lstStyle/>
            <a:p>
              <a:endParaRPr lang="en-US"/>
            </a:p>
          </p:txBody>
        </p:sp>
        <p:sp>
          <p:nvSpPr>
            <p:cNvPr id="19" name="Line 22"/>
            <p:cNvSpPr>
              <a:spLocks noChangeShapeType="1"/>
            </p:cNvSpPr>
            <p:nvPr/>
          </p:nvSpPr>
          <p:spPr bwMode="auto">
            <a:xfrm>
              <a:off x="4114800" y="3543300"/>
              <a:ext cx="0" cy="285750"/>
            </a:xfrm>
            <a:prstGeom prst="line">
              <a:avLst/>
            </a:prstGeom>
            <a:noFill/>
            <a:ln w="9525">
              <a:solidFill>
                <a:schemeClr val="tx1"/>
              </a:solidFill>
              <a:round/>
              <a:headEnd/>
              <a:tailEnd type="triangle" w="med" len="med"/>
            </a:ln>
            <a:effectLst/>
          </p:spPr>
          <p:txBody>
            <a:bodyPr/>
            <a:lstStyle/>
            <a:p>
              <a:endParaRPr lang="en-US"/>
            </a:p>
          </p:txBody>
        </p:sp>
        <p:sp>
          <p:nvSpPr>
            <p:cNvPr id="20" name="Line 23"/>
            <p:cNvSpPr>
              <a:spLocks noChangeShapeType="1"/>
            </p:cNvSpPr>
            <p:nvPr/>
          </p:nvSpPr>
          <p:spPr bwMode="auto">
            <a:xfrm>
              <a:off x="7315200" y="3543300"/>
              <a:ext cx="0" cy="285750"/>
            </a:xfrm>
            <a:prstGeom prst="line">
              <a:avLst/>
            </a:prstGeom>
            <a:noFill/>
            <a:ln w="9525">
              <a:solidFill>
                <a:schemeClr val="tx1"/>
              </a:solidFill>
              <a:round/>
              <a:headEnd/>
              <a:tailEnd type="triangle" w="med" len="med"/>
            </a:ln>
            <a:effectLst/>
          </p:spPr>
          <p:txBody>
            <a:bodyPr/>
            <a:lstStyle/>
            <a:p>
              <a:endParaRPr lang="en-US"/>
            </a:p>
          </p:txBody>
        </p:sp>
        <p:sp>
          <p:nvSpPr>
            <p:cNvPr id="21" name="Line 24"/>
            <p:cNvSpPr>
              <a:spLocks noChangeShapeType="1"/>
            </p:cNvSpPr>
            <p:nvPr/>
          </p:nvSpPr>
          <p:spPr bwMode="auto">
            <a:xfrm>
              <a:off x="2362200" y="3543300"/>
              <a:ext cx="0" cy="285750"/>
            </a:xfrm>
            <a:prstGeom prst="line">
              <a:avLst/>
            </a:prstGeom>
            <a:noFill/>
            <a:ln w="9525">
              <a:solidFill>
                <a:schemeClr val="tx1"/>
              </a:solidFill>
              <a:round/>
              <a:headEnd/>
              <a:tailEnd type="triangle" w="med" len="med"/>
            </a:ln>
            <a:effectLst/>
          </p:spPr>
          <p:txBody>
            <a:bodyPr/>
            <a:lstStyle/>
            <a:p>
              <a:endParaRPr lang="en-US"/>
            </a:p>
          </p:txBody>
        </p:sp>
        <p:sp>
          <p:nvSpPr>
            <p:cNvPr id="22" name="Freeform 26"/>
            <p:cNvSpPr>
              <a:spLocks/>
            </p:cNvSpPr>
            <p:nvPr/>
          </p:nvSpPr>
          <p:spPr bwMode="auto">
            <a:xfrm>
              <a:off x="914400" y="2438400"/>
              <a:ext cx="1371600" cy="1466850"/>
            </a:xfrm>
            <a:custGeom>
              <a:avLst/>
              <a:gdLst/>
              <a:ahLst/>
              <a:cxnLst>
                <a:cxn ang="0">
                  <a:pos x="0" y="0"/>
                </a:cxn>
                <a:cxn ang="0">
                  <a:pos x="0" y="336"/>
                </a:cxn>
                <a:cxn ang="0">
                  <a:pos x="864" y="336"/>
                </a:cxn>
              </a:cxnLst>
              <a:rect l="0" t="0" r="r" b="b"/>
              <a:pathLst>
                <a:path w="864" h="336">
                  <a:moveTo>
                    <a:pt x="0" y="0"/>
                  </a:moveTo>
                  <a:lnTo>
                    <a:pt x="0" y="336"/>
                  </a:lnTo>
                  <a:lnTo>
                    <a:pt x="864" y="336"/>
                  </a:lnTo>
                </a:path>
              </a:pathLst>
            </a:custGeom>
            <a:noFill/>
            <a:ln w="12700" cmpd="sng">
              <a:solidFill>
                <a:schemeClr val="tx1"/>
              </a:solidFill>
              <a:round/>
              <a:headEnd type="none" w="med" len="med"/>
              <a:tailEnd type="triangle" w="med" len="med"/>
            </a:ln>
            <a:effectLst/>
          </p:spPr>
          <p:txBody>
            <a:bodyPr/>
            <a:lstStyle/>
            <a:p>
              <a:endParaRPr lang="en-US"/>
            </a:p>
          </p:txBody>
        </p:sp>
        <p:sp>
          <p:nvSpPr>
            <p:cNvPr id="23" name="Line 27"/>
            <p:cNvSpPr>
              <a:spLocks noChangeShapeType="1"/>
            </p:cNvSpPr>
            <p:nvPr/>
          </p:nvSpPr>
          <p:spPr bwMode="auto">
            <a:xfrm>
              <a:off x="2362200" y="24574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24" name="Freeform 28"/>
            <p:cNvSpPr>
              <a:spLocks/>
            </p:cNvSpPr>
            <p:nvPr/>
          </p:nvSpPr>
          <p:spPr bwMode="auto">
            <a:xfrm flipV="1">
              <a:off x="2362200" y="2686050"/>
              <a:ext cx="16002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25" name="Line 29"/>
            <p:cNvSpPr>
              <a:spLocks noChangeShapeType="1"/>
            </p:cNvSpPr>
            <p:nvPr/>
          </p:nvSpPr>
          <p:spPr bwMode="auto">
            <a:xfrm>
              <a:off x="4114800" y="24574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26" name="Rectangle 36"/>
            <p:cNvSpPr>
              <a:spLocks noChangeArrowheads="1"/>
            </p:cNvSpPr>
            <p:nvPr/>
          </p:nvSpPr>
          <p:spPr bwMode="auto">
            <a:xfrm>
              <a:off x="5334000" y="2914650"/>
              <a:ext cx="914400" cy="628650"/>
            </a:xfrm>
            <a:prstGeom prst="rect">
              <a:avLst/>
            </a:prstGeom>
            <a:solidFill>
              <a:schemeClr val="accent1"/>
            </a:solidFill>
            <a:ln w="9525">
              <a:solidFill>
                <a:schemeClr val="tx1"/>
              </a:solidFill>
              <a:miter lim="800000"/>
              <a:headEnd/>
              <a:tailEnd/>
            </a:ln>
            <a:effectLst/>
          </p:spPr>
          <p:txBody>
            <a:bodyPr wrap="none" anchor="ctr"/>
            <a:lstStyle/>
            <a:p>
              <a:pPr algn="ctr"/>
              <a:r>
                <a:rPr lang="en-US" sz="2400" dirty="0"/>
                <a:t>D(k,</a:t>
              </a:r>
              <a:r>
                <a:rPr lang="en-US" sz="2400" dirty="0">
                  <a:sym typeface="Symbol" pitchFamily="18" charset="2"/>
                </a:rPr>
                <a:t>)</a:t>
              </a:r>
            </a:p>
          </p:txBody>
        </p:sp>
        <p:sp>
          <p:nvSpPr>
            <p:cNvPr id="27" name="Freeform 37"/>
            <p:cNvSpPr>
              <a:spLocks/>
            </p:cNvSpPr>
            <p:nvPr/>
          </p:nvSpPr>
          <p:spPr bwMode="auto">
            <a:xfrm flipV="1">
              <a:off x="4114800" y="2686050"/>
              <a:ext cx="16002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28" name="Freeform 38"/>
            <p:cNvSpPr>
              <a:spLocks/>
            </p:cNvSpPr>
            <p:nvPr/>
          </p:nvSpPr>
          <p:spPr bwMode="auto">
            <a:xfrm flipV="1">
              <a:off x="5791200" y="2686050"/>
              <a:ext cx="1371600" cy="1257300"/>
            </a:xfrm>
            <a:custGeom>
              <a:avLst/>
              <a:gdLst/>
              <a:ahLst/>
              <a:cxnLst>
                <a:cxn ang="0">
                  <a:pos x="0" y="1056"/>
                </a:cxn>
                <a:cxn ang="0">
                  <a:pos x="576" y="1056"/>
                </a:cxn>
                <a:cxn ang="0">
                  <a:pos x="576" y="0"/>
                </a:cxn>
                <a:cxn ang="0">
                  <a:pos x="1008" y="0"/>
                </a:cxn>
              </a:cxnLst>
              <a:rect l="0" t="0" r="r" b="b"/>
              <a:pathLst>
                <a:path w="1008" h="1056">
                  <a:moveTo>
                    <a:pt x="0" y="1056"/>
                  </a:moveTo>
                  <a:lnTo>
                    <a:pt x="576" y="1056"/>
                  </a:lnTo>
                  <a:lnTo>
                    <a:pt x="576" y="0"/>
                  </a:lnTo>
                  <a:lnTo>
                    <a:pt x="1008" y="0"/>
                  </a:lnTo>
                </a:path>
              </a:pathLst>
            </a:custGeom>
            <a:noFill/>
            <a:ln w="9525">
              <a:solidFill>
                <a:schemeClr val="tx1"/>
              </a:solidFill>
              <a:round/>
              <a:headEnd type="none" w="med" len="med"/>
              <a:tailEnd type="triangle" w="med" len="med"/>
            </a:ln>
            <a:effectLst/>
          </p:spPr>
          <p:txBody>
            <a:bodyPr/>
            <a:lstStyle/>
            <a:p>
              <a:endParaRPr lang="en-US"/>
            </a:p>
          </p:txBody>
        </p:sp>
        <p:sp>
          <p:nvSpPr>
            <p:cNvPr id="29" name="Text Box 39"/>
            <p:cNvSpPr txBox="1">
              <a:spLocks noChangeArrowheads="1"/>
            </p:cNvSpPr>
            <p:nvPr/>
          </p:nvSpPr>
          <p:spPr bwMode="auto">
            <a:xfrm flipV="1">
              <a:off x="5599114" y="3657600"/>
              <a:ext cx="499856" cy="584776"/>
            </a:xfrm>
            <a:prstGeom prst="rect">
              <a:avLst/>
            </a:prstGeom>
            <a:noFill/>
            <a:ln w="9525">
              <a:noFill/>
              <a:miter lim="800000"/>
              <a:headEnd/>
              <a:tailEnd/>
            </a:ln>
            <a:effectLst/>
          </p:spPr>
          <p:txBody>
            <a:bodyPr wrap="none">
              <a:spAutoFit/>
            </a:bodyPr>
            <a:lstStyle/>
            <a:p>
              <a:r>
                <a:rPr lang="en-US" sz="3200" dirty="0">
                  <a:sym typeface="Symbol" pitchFamily="18" charset="2"/>
                </a:rPr>
                <a:t></a:t>
              </a:r>
            </a:p>
          </p:txBody>
        </p:sp>
        <p:sp>
          <p:nvSpPr>
            <p:cNvPr id="30" name="Line 40"/>
            <p:cNvSpPr>
              <a:spLocks noChangeShapeType="1"/>
            </p:cNvSpPr>
            <p:nvPr/>
          </p:nvSpPr>
          <p:spPr bwMode="auto">
            <a:xfrm>
              <a:off x="5827713" y="4033837"/>
              <a:ext cx="0" cy="285750"/>
            </a:xfrm>
            <a:prstGeom prst="line">
              <a:avLst/>
            </a:prstGeom>
            <a:noFill/>
            <a:ln w="9525">
              <a:solidFill>
                <a:schemeClr val="tx1"/>
              </a:solidFill>
              <a:round/>
              <a:headEnd/>
              <a:tailEnd type="triangle" w="med" len="med"/>
            </a:ln>
            <a:effectLst/>
          </p:spPr>
          <p:txBody>
            <a:bodyPr/>
            <a:lstStyle/>
            <a:p>
              <a:endParaRPr lang="en-US"/>
            </a:p>
          </p:txBody>
        </p:sp>
        <p:sp>
          <p:nvSpPr>
            <p:cNvPr id="31" name="Line 41"/>
            <p:cNvSpPr>
              <a:spLocks noChangeShapeType="1"/>
            </p:cNvSpPr>
            <p:nvPr/>
          </p:nvSpPr>
          <p:spPr bwMode="auto">
            <a:xfrm>
              <a:off x="5827713" y="3543300"/>
              <a:ext cx="0" cy="285750"/>
            </a:xfrm>
            <a:prstGeom prst="line">
              <a:avLst/>
            </a:prstGeom>
            <a:noFill/>
            <a:ln w="9525">
              <a:solidFill>
                <a:schemeClr val="tx1"/>
              </a:solidFill>
              <a:round/>
              <a:headEnd/>
              <a:tailEnd type="triangle" w="med" len="med"/>
            </a:ln>
            <a:effectLst/>
          </p:spPr>
          <p:txBody>
            <a:bodyPr/>
            <a:lstStyle/>
            <a:p>
              <a:endParaRPr lang="en-US"/>
            </a:p>
          </p:txBody>
        </p:sp>
        <p:sp>
          <p:nvSpPr>
            <p:cNvPr id="32" name="Line 42"/>
            <p:cNvSpPr>
              <a:spLocks noChangeShapeType="1"/>
            </p:cNvSpPr>
            <p:nvPr/>
          </p:nvSpPr>
          <p:spPr bwMode="auto">
            <a:xfrm>
              <a:off x="5791200" y="2457450"/>
              <a:ext cx="1588" cy="457200"/>
            </a:xfrm>
            <a:prstGeom prst="line">
              <a:avLst/>
            </a:prstGeom>
            <a:noFill/>
            <a:ln w="9525">
              <a:solidFill>
                <a:schemeClr val="tx1"/>
              </a:solidFill>
              <a:round/>
              <a:headEnd/>
              <a:tailEnd type="triangle" w="med" len="med"/>
            </a:ln>
            <a:effectLst/>
          </p:spPr>
          <p:txBody>
            <a:bodyPr/>
            <a:lstStyle/>
            <a:p>
              <a:endParaRPr lang="en-US"/>
            </a:p>
          </p:txBody>
        </p:sp>
        <p:sp>
          <p:nvSpPr>
            <p:cNvPr id="33" name="Line 43"/>
            <p:cNvSpPr>
              <a:spLocks noChangeShapeType="1"/>
            </p:cNvSpPr>
            <p:nvPr/>
          </p:nvSpPr>
          <p:spPr bwMode="auto">
            <a:xfrm>
              <a:off x="7313614" y="2457450"/>
              <a:ext cx="1587" cy="457200"/>
            </a:xfrm>
            <a:prstGeom prst="line">
              <a:avLst/>
            </a:prstGeom>
            <a:noFill/>
            <a:ln w="9525">
              <a:solidFill>
                <a:schemeClr val="tx1"/>
              </a:solidFill>
              <a:round/>
              <a:headEnd/>
              <a:tailEnd type="triangle" w="med" len="med"/>
            </a:ln>
            <a:effectLst/>
          </p:spPr>
          <p:txBody>
            <a:bodyPr/>
            <a:lstStyle/>
            <a:p>
              <a:endParaRPr lang="en-US"/>
            </a:p>
          </p:txBody>
        </p:sp>
        <p:sp>
          <p:nvSpPr>
            <p:cNvPr id="34" name="Rectangle 44"/>
            <p:cNvSpPr>
              <a:spLocks noChangeArrowheads="1"/>
            </p:cNvSpPr>
            <p:nvPr/>
          </p:nvSpPr>
          <p:spPr bwMode="auto">
            <a:xfrm>
              <a:off x="1676400" y="2171700"/>
              <a:ext cx="1524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c[0]</a:t>
              </a:r>
            </a:p>
          </p:txBody>
        </p:sp>
        <p:sp>
          <p:nvSpPr>
            <p:cNvPr id="35" name="Rectangle 45"/>
            <p:cNvSpPr>
              <a:spLocks noChangeArrowheads="1"/>
            </p:cNvSpPr>
            <p:nvPr/>
          </p:nvSpPr>
          <p:spPr bwMode="auto">
            <a:xfrm>
              <a:off x="3200400" y="2171700"/>
              <a:ext cx="16764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c[1]</a:t>
              </a:r>
            </a:p>
          </p:txBody>
        </p:sp>
        <p:sp>
          <p:nvSpPr>
            <p:cNvPr id="36" name="Rectangle 46"/>
            <p:cNvSpPr>
              <a:spLocks noChangeArrowheads="1"/>
            </p:cNvSpPr>
            <p:nvPr/>
          </p:nvSpPr>
          <p:spPr bwMode="auto">
            <a:xfrm>
              <a:off x="4876800" y="2171700"/>
              <a:ext cx="1600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c[2]</a:t>
              </a:r>
            </a:p>
          </p:txBody>
        </p:sp>
        <p:sp>
          <p:nvSpPr>
            <p:cNvPr id="37" name="Rectangle 47"/>
            <p:cNvSpPr>
              <a:spLocks noChangeArrowheads="1"/>
            </p:cNvSpPr>
            <p:nvPr/>
          </p:nvSpPr>
          <p:spPr bwMode="auto">
            <a:xfrm>
              <a:off x="6477000" y="2171700"/>
              <a:ext cx="1524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c[3]</a:t>
              </a:r>
            </a:p>
          </p:txBody>
        </p:sp>
        <p:sp>
          <p:nvSpPr>
            <p:cNvPr id="38" name="Rectangle 48"/>
            <p:cNvSpPr>
              <a:spLocks noChangeArrowheads="1"/>
            </p:cNvSpPr>
            <p:nvPr/>
          </p:nvSpPr>
          <p:spPr bwMode="auto">
            <a:xfrm>
              <a:off x="533400" y="2171700"/>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IV</a:t>
              </a:r>
            </a:p>
          </p:txBody>
        </p:sp>
      </p:grpSp>
      <p:sp>
        <p:nvSpPr>
          <p:cNvPr id="3" name="TextBox 2"/>
          <p:cNvSpPr txBox="1"/>
          <p:nvPr/>
        </p:nvSpPr>
        <p:spPr>
          <a:xfrm>
            <a:off x="228601" y="1905000"/>
            <a:ext cx="8379217" cy="584776"/>
          </a:xfrm>
          <a:prstGeom prst="rect">
            <a:avLst/>
          </a:prstGeom>
          <a:noFill/>
        </p:spPr>
        <p:txBody>
          <a:bodyPr wrap="none" rtlCol="0">
            <a:spAutoFit/>
          </a:bodyPr>
          <a:lstStyle/>
          <a:p>
            <a:r>
              <a:rPr lang="en-US" sz="2400" dirty="0"/>
              <a:t>In symbols:    c[0] = E</a:t>
            </a:r>
            <a:r>
              <a:rPr lang="en-US" sz="3200" dirty="0"/>
              <a:t>(</a:t>
            </a:r>
            <a:r>
              <a:rPr lang="en-US" sz="2400" dirty="0"/>
              <a:t>k, </a:t>
            </a:r>
            <a:r>
              <a:rPr lang="en-US" sz="2400" dirty="0" err="1"/>
              <a:t>IV⨁m</a:t>
            </a:r>
            <a:r>
              <a:rPr lang="en-US" sz="2400" dirty="0"/>
              <a:t>[0] </a:t>
            </a:r>
            <a:r>
              <a:rPr lang="en-US" sz="3200" dirty="0"/>
              <a:t>)</a:t>
            </a:r>
            <a:r>
              <a:rPr lang="en-US" sz="2800" dirty="0"/>
              <a:t> </a:t>
            </a:r>
            <a:r>
              <a:rPr lang="en-US" sz="2400" dirty="0"/>
              <a:t>    ⇒       m[0] = D</a:t>
            </a:r>
            <a:r>
              <a:rPr lang="en-US" sz="3200" dirty="0"/>
              <a:t>(</a:t>
            </a:r>
            <a:r>
              <a:rPr lang="en-US" sz="2400" dirty="0"/>
              <a:t>k, c[0]</a:t>
            </a:r>
            <a:r>
              <a:rPr lang="en-US" sz="3200" dirty="0"/>
              <a:t>)</a:t>
            </a:r>
            <a:r>
              <a:rPr lang="en-US" sz="2400" dirty="0"/>
              <a:t> ⨁ IV</a:t>
            </a:r>
          </a:p>
        </p:txBody>
      </p:sp>
      <p:sp>
        <p:nvSpPr>
          <p:cNvPr id="41" name="Rectangle 40"/>
          <p:cNvSpPr/>
          <p:nvPr/>
        </p:nvSpPr>
        <p:spPr>
          <a:xfrm>
            <a:off x="6553200" y="1905000"/>
            <a:ext cx="2057400" cy="685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164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Warning:   an attack on CBC with rand. IV</a:t>
            </a:r>
          </a:p>
        </p:txBody>
      </p:sp>
      <p:sp>
        <p:nvSpPr>
          <p:cNvPr id="3" name="Content Placeholder 2"/>
          <p:cNvSpPr>
            <a:spLocks noGrp="1"/>
          </p:cNvSpPr>
          <p:nvPr>
            <p:ph sz="quarter" idx="13"/>
          </p:nvPr>
        </p:nvSpPr>
        <p:spPr/>
        <p:txBody>
          <a:bodyPr>
            <a:normAutofit/>
          </a:bodyPr>
          <a:lstStyle/>
          <a:p>
            <a:pPr marL="0" indent="0">
              <a:buNone/>
            </a:pPr>
            <a:r>
              <a:rPr lang="en-US" dirty="0"/>
              <a:t>CBC where attacker can </a:t>
            </a:r>
            <a:r>
              <a:rPr lang="en-US" u="sng" dirty="0"/>
              <a:t>predict</a:t>
            </a:r>
            <a:r>
              <a:rPr lang="en-US" dirty="0"/>
              <a:t> the IV is not CPA-secure !! (</a:t>
            </a:r>
            <a:r>
              <a:rPr lang="en-US" dirty="0" err="1"/>
              <a:t>khi</a:t>
            </a:r>
            <a:r>
              <a:rPr lang="en-US" dirty="0"/>
              <a:t> </a:t>
            </a:r>
            <a:r>
              <a:rPr lang="en-US" dirty="0" err="1"/>
              <a:t>kẻ</a:t>
            </a:r>
            <a:r>
              <a:rPr lang="en-US" dirty="0"/>
              <a:t> </a:t>
            </a:r>
            <a:r>
              <a:rPr lang="en-US" dirty="0" err="1"/>
              <a:t>tấn</a:t>
            </a:r>
            <a:r>
              <a:rPr lang="en-US" dirty="0"/>
              <a:t> </a:t>
            </a:r>
            <a:r>
              <a:rPr lang="en-US" dirty="0" err="1"/>
              <a:t>công</a:t>
            </a:r>
            <a:r>
              <a:rPr lang="en-US" dirty="0"/>
              <a:t> </a:t>
            </a:r>
            <a:r>
              <a:rPr lang="en-US" dirty="0" err="1"/>
              <a:t>có</a:t>
            </a:r>
            <a:r>
              <a:rPr lang="en-US" dirty="0"/>
              <a:t> </a:t>
            </a:r>
            <a:r>
              <a:rPr lang="en-US" dirty="0" err="1"/>
              <a:t>thể</a:t>
            </a:r>
            <a:r>
              <a:rPr lang="en-US" dirty="0"/>
              <a:t> </a:t>
            </a:r>
            <a:r>
              <a:rPr lang="en-US" dirty="0" err="1"/>
              <a:t>dự</a:t>
            </a:r>
            <a:r>
              <a:rPr lang="en-US" dirty="0"/>
              <a:t> </a:t>
            </a:r>
            <a:r>
              <a:rPr lang="en-US" dirty="0" err="1"/>
              <a:t>đoán</a:t>
            </a:r>
            <a:r>
              <a:rPr lang="en-US" dirty="0"/>
              <a:t> </a:t>
            </a:r>
            <a:r>
              <a:rPr lang="en-US" dirty="0" err="1"/>
              <a:t>được</a:t>
            </a:r>
            <a:r>
              <a:rPr lang="en-US" dirty="0"/>
              <a:t> IV)</a:t>
            </a:r>
          </a:p>
          <a:p>
            <a:pPr marL="0" indent="0">
              <a:buNone/>
            </a:pPr>
            <a:r>
              <a:rPr lang="en-US" dirty="0"/>
              <a:t>Suppose  given  c ⟵ E</a:t>
            </a:r>
            <a:r>
              <a:rPr lang="en-US" baseline="-25000" dirty="0"/>
              <a:t>CBC</a:t>
            </a:r>
            <a:r>
              <a:rPr lang="en-US" dirty="0"/>
              <a:t>(</a:t>
            </a:r>
            <a:r>
              <a:rPr lang="en-US" dirty="0" err="1"/>
              <a:t>k,m</a:t>
            </a:r>
            <a:r>
              <a:rPr lang="en-US" dirty="0"/>
              <a:t>)   can predict IV for next message</a:t>
            </a:r>
          </a:p>
        </p:txBody>
      </p:sp>
      <p:sp>
        <p:nvSpPr>
          <p:cNvPr id="4" name="Rectangle 3"/>
          <p:cNvSpPr>
            <a:spLocks noChangeArrowheads="1"/>
          </p:cNvSpPr>
          <p:nvPr/>
        </p:nvSpPr>
        <p:spPr bwMode="auto">
          <a:xfrm>
            <a:off x="838200" y="3512918"/>
            <a:ext cx="1295400" cy="1592482"/>
          </a:xfrm>
          <a:prstGeom prst="rect">
            <a:avLst/>
          </a:prstGeom>
          <a:solidFill>
            <a:schemeClr val="accent1"/>
          </a:solidFill>
          <a:ln w="9525">
            <a:solidFill>
              <a:schemeClr val="tx1"/>
            </a:solidFill>
            <a:miter lim="800000"/>
            <a:headEnd/>
            <a:tailEnd/>
          </a:ln>
          <a:effectLst/>
        </p:spPr>
        <p:txBody>
          <a:bodyPr wrap="none"/>
          <a:lstStyle/>
          <a:p>
            <a:pPr algn="ctr"/>
            <a:r>
              <a:rPr lang="en-US"/>
              <a:t>Chal.</a:t>
            </a:r>
          </a:p>
        </p:txBody>
      </p:sp>
      <p:sp>
        <p:nvSpPr>
          <p:cNvPr id="5" name="Rectangle 4"/>
          <p:cNvSpPr>
            <a:spLocks noChangeArrowheads="1"/>
          </p:cNvSpPr>
          <p:nvPr/>
        </p:nvSpPr>
        <p:spPr bwMode="auto">
          <a:xfrm>
            <a:off x="6019800" y="3512918"/>
            <a:ext cx="1295400" cy="1592482"/>
          </a:xfrm>
          <a:prstGeom prst="rect">
            <a:avLst/>
          </a:prstGeom>
          <a:solidFill>
            <a:schemeClr val="accent1"/>
          </a:solidFill>
          <a:ln w="9525">
            <a:solidFill>
              <a:schemeClr val="tx1"/>
            </a:solidFill>
            <a:miter lim="800000"/>
            <a:headEnd/>
            <a:tailEnd/>
          </a:ln>
          <a:effectLst/>
        </p:spPr>
        <p:txBody>
          <a:bodyPr wrap="none"/>
          <a:lstStyle/>
          <a:p>
            <a:pPr algn="ctr"/>
            <a:r>
              <a:rPr lang="en-US" dirty="0"/>
              <a:t>Adv.</a:t>
            </a:r>
          </a:p>
        </p:txBody>
      </p:sp>
      <p:sp>
        <p:nvSpPr>
          <p:cNvPr id="6" name="Text Box 8"/>
          <p:cNvSpPr txBox="1">
            <a:spLocks noChangeArrowheads="1"/>
          </p:cNvSpPr>
          <p:nvPr/>
        </p:nvSpPr>
        <p:spPr bwMode="auto">
          <a:xfrm>
            <a:off x="1143001" y="3897868"/>
            <a:ext cx="637314" cy="369332"/>
          </a:xfrm>
          <a:prstGeom prst="rect">
            <a:avLst/>
          </a:prstGeom>
          <a:noFill/>
          <a:ln w="9525">
            <a:noFill/>
            <a:miter lim="800000"/>
            <a:headEnd/>
            <a:tailEnd/>
          </a:ln>
          <a:effectLst/>
        </p:spPr>
        <p:txBody>
          <a:bodyPr wrap="none">
            <a:spAutoFit/>
          </a:bodyPr>
          <a:lstStyle/>
          <a:p>
            <a:r>
              <a:rPr lang="en-US"/>
              <a:t>k</a:t>
            </a:r>
            <a:r>
              <a:rPr lang="en-US">
                <a:sym typeface="Symbol" pitchFamily="18" charset="2"/>
              </a:rPr>
              <a:t>K</a:t>
            </a:r>
            <a:endParaRPr lang="en-US" b="1">
              <a:cs typeface="Arial" charset="0"/>
              <a:sym typeface="Symbol" pitchFamily="18" charset="2"/>
            </a:endParaRPr>
          </a:p>
        </p:txBody>
      </p:sp>
      <p:sp>
        <p:nvSpPr>
          <p:cNvPr id="7" name="Line 9"/>
          <p:cNvSpPr>
            <a:spLocks noChangeShapeType="1"/>
          </p:cNvSpPr>
          <p:nvPr/>
        </p:nvSpPr>
        <p:spPr bwMode="auto">
          <a:xfrm flipH="1">
            <a:off x="2209800" y="4472562"/>
            <a:ext cx="3810000" cy="0"/>
          </a:xfrm>
          <a:prstGeom prst="line">
            <a:avLst/>
          </a:prstGeom>
          <a:noFill/>
          <a:ln w="9525">
            <a:solidFill>
              <a:schemeClr val="tx1"/>
            </a:solidFill>
            <a:round/>
            <a:headEnd/>
            <a:tailEnd type="triangle" w="med" len="med"/>
          </a:ln>
          <a:effectLst/>
        </p:spPr>
        <p:txBody>
          <a:bodyPr/>
          <a:lstStyle/>
          <a:p>
            <a:endParaRPr lang="en-US"/>
          </a:p>
        </p:txBody>
      </p:sp>
      <p:sp>
        <p:nvSpPr>
          <p:cNvPr id="8" name="Text Box 10"/>
          <p:cNvSpPr txBox="1">
            <a:spLocks noChangeArrowheads="1"/>
          </p:cNvSpPr>
          <p:nvPr/>
        </p:nvSpPr>
        <p:spPr bwMode="auto">
          <a:xfrm>
            <a:off x="3121971" y="4145537"/>
            <a:ext cx="2507517" cy="400110"/>
          </a:xfrm>
          <a:prstGeom prst="rect">
            <a:avLst/>
          </a:prstGeom>
          <a:noFill/>
          <a:ln w="9525">
            <a:noFill/>
            <a:miter lim="800000"/>
            <a:headEnd/>
            <a:tailEnd/>
          </a:ln>
          <a:effectLst/>
        </p:spPr>
        <p:txBody>
          <a:bodyPr wrap="none">
            <a:spAutoFit/>
          </a:bodyPr>
          <a:lstStyle/>
          <a:p>
            <a:r>
              <a:rPr lang="en-US" sz="2000" dirty="0"/>
              <a:t>m</a:t>
            </a:r>
            <a:r>
              <a:rPr lang="en-US" sz="2000" baseline="-25000" dirty="0"/>
              <a:t>0</a:t>
            </a:r>
            <a:r>
              <a:rPr lang="en-US" sz="2000" dirty="0"/>
              <a:t>=IV</a:t>
            </a:r>
            <a:r>
              <a:rPr lang="en-US" sz="2000" dirty="0">
                <a:sym typeface="Symbol"/>
              </a:rPr>
              <a:t>⨁IV</a:t>
            </a:r>
            <a:r>
              <a:rPr lang="en-US" sz="2000" baseline="-25000" dirty="0">
                <a:sym typeface="Symbol"/>
              </a:rPr>
              <a:t>1</a:t>
            </a:r>
            <a:r>
              <a:rPr lang="en-US" sz="2000" dirty="0"/>
              <a:t> ,   m</a:t>
            </a:r>
            <a:r>
              <a:rPr lang="en-US" sz="2000" baseline="-25000" dirty="0"/>
              <a:t>1</a:t>
            </a:r>
            <a:r>
              <a:rPr lang="en-US" sz="2000" dirty="0">
                <a:sym typeface="Symbol" pitchFamily="18" charset="2"/>
              </a:rPr>
              <a:t> ≠ </a:t>
            </a:r>
            <a:r>
              <a:rPr lang="en-US" sz="2000" dirty="0"/>
              <a:t>m</a:t>
            </a:r>
            <a:r>
              <a:rPr lang="en-US" sz="2000" baseline="-25000" dirty="0"/>
              <a:t>0</a:t>
            </a:r>
            <a:endParaRPr lang="en-US" sz="2000" dirty="0">
              <a:sym typeface="Symbol" pitchFamily="18" charset="2"/>
            </a:endParaRPr>
          </a:p>
        </p:txBody>
      </p:sp>
      <p:grpSp>
        <p:nvGrpSpPr>
          <p:cNvPr id="25" name="Group 24"/>
          <p:cNvGrpSpPr/>
          <p:nvPr/>
        </p:nvGrpSpPr>
        <p:grpSpPr>
          <a:xfrm>
            <a:off x="2209800" y="4502943"/>
            <a:ext cx="3733800" cy="461665"/>
            <a:chOff x="2209800" y="3645692"/>
            <a:chExt cx="3733800" cy="461665"/>
          </a:xfrm>
        </p:grpSpPr>
        <p:sp>
          <p:nvSpPr>
            <p:cNvPr id="10" name="Line 12"/>
            <p:cNvSpPr>
              <a:spLocks noChangeShapeType="1"/>
            </p:cNvSpPr>
            <p:nvPr/>
          </p:nvSpPr>
          <p:spPr bwMode="auto">
            <a:xfrm>
              <a:off x="2209800" y="4077890"/>
              <a:ext cx="3733800" cy="0"/>
            </a:xfrm>
            <a:prstGeom prst="line">
              <a:avLst/>
            </a:prstGeom>
            <a:noFill/>
            <a:ln w="9525">
              <a:solidFill>
                <a:schemeClr val="tx1"/>
              </a:solidFill>
              <a:round/>
              <a:headEnd/>
              <a:tailEnd type="triangle" w="med" len="med"/>
            </a:ln>
            <a:effectLst/>
          </p:spPr>
          <p:txBody>
            <a:bodyPr/>
            <a:lstStyle/>
            <a:p>
              <a:endParaRPr lang="en-US"/>
            </a:p>
          </p:txBody>
        </p:sp>
        <p:sp>
          <p:nvSpPr>
            <p:cNvPr id="11" name="Text Box 13"/>
            <p:cNvSpPr txBox="1">
              <a:spLocks noChangeArrowheads="1"/>
            </p:cNvSpPr>
            <p:nvPr/>
          </p:nvSpPr>
          <p:spPr bwMode="auto">
            <a:xfrm>
              <a:off x="2971800" y="3645692"/>
              <a:ext cx="2686202" cy="461665"/>
            </a:xfrm>
            <a:prstGeom prst="rect">
              <a:avLst/>
            </a:prstGeom>
            <a:noFill/>
            <a:ln w="9525">
              <a:noFill/>
              <a:miter lim="800000"/>
              <a:headEnd/>
              <a:tailEnd/>
            </a:ln>
            <a:effectLst/>
          </p:spPr>
          <p:txBody>
            <a:bodyPr wrap="none">
              <a:spAutoFit/>
            </a:bodyPr>
            <a:lstStyle/>
            <a:p>
              <a:r>
                <a:rPr lang="en-US" sz="2000" dirty="0"/>
                <a:t>c </a:t>
              </a:r>
              <a:r>
                <a:rPr lang="en-US" sz="2000" dirty="0">
                  <a:sym typeface="Symbol" pitchFamily="18" charset="2"/>
                </a:rPr>
                <a:t> </a:t>
              </a:r>
              <a:r>
                <a:rPr lang="en-US" sz="2400" dirty="0">
                  <a:sym typeface="Symbol"/>
                </a:rPr>
                <a:t>[</a:t>
              </a:r>
              <a:r>
                <a:rPr lang="en-US" sz="2000" dirty="0">
                  <a:sym typeface="Symbol"/>
                </a:rPr>
                <a:t> </a:t>
              </a:r>
              <a:r>
                <a:rPr lang="en-US" sz="2000" b="1" dirty="0">
                  <a:solidFill>
                    <a:srgbClr val="FF0000"/>
                  </a:solidFill>
                  <a:sym typeface="Symbol"/>
                </a:rPr>
                <a:t>IV,  E(k, IV</a:t>
              </a:r>
              <a:r>
                <a:rPr lang="en-US" sz="2000" b="1" baseline="-25000" dirty="0">
                  <a:solidFill>
                    <a:srgbClr val="FF0000"/>
                  </a:solidFill>
                  <a:sym typeface="Symbol"/>
                </a:rPr>
                <a:t>1</a:t>
              </a:r>
              <a:r>
                <a:rPr lang="en-US" sz="2000" b="1" dirty="0">
                  <a:solidFill>
                    <a:srgbClr val="FF0000"/>
                  </a:solidFill>
                  <a:sym typeface="Symbol"/>
                </a:rPr>
                <a:t>) </a:t>
              </a:r>
              <a:r>
                <a:rPr lang="en-US" sz="2400" dirty="0">
                  <a:sym typeface="Symbol"/>
                </a:rPr>
                <a:t>]   or</a:t>
              </a:r>
              <a:endParaRPr lang="en-US" sz="2000" dirty="0"/>
            </a:p>
          </p:txBody>
        </p:sp>
      </p:grpSp>
      <p:grpSp>
        <p:nvGrpSpPr>
          <p:cNvPr id="12" name="Group 11"/>
          <p:cNvGrpSpPr>
            <a:grpSpLocks/>
          </p:cNvGrpSpPr>
          <p:nvPr/>
        </p:nvGrpSpPr>
        <p:grpSpPr bwMode="auto">
          <a:xfrm>
            <a:off x="2209800" y="3276600"/>
            <a:ext cx="3810000" cy="400049"/>
            <a:chOff x="1776" y="2014"/>
            <a:chExt cx="2400" cy="336"/>
          </a:xfrm>
        </p:grpSpPr>
        <p:sp>
          <p:nvSpPr>
            <p:cNvPr id="13" name="Line 18"/>
            <p:cNvSpPr>
              <a:spLocks noChangeShapeType="1"/>
            </p:cNvSpPr>
            <p:nvPr/>
          </p:nvSpPr>
          <p:spPr bwMode="auto">
            <a:xfrm flipH="1">
              <a:off x="1776" y="2304"/>
              <a:ext cx="2400" cy="0"/>
            </a:xfrm>
            <a:prstGeom prst="line">
              <a:avLst/>
            </a:prstGeom>
            <a:noFill/>
            <a:ln w="9525">
              <a:solidFill>
                <a:schemeClr val="tx1"/>
              </a:solidFill>
              <a:round/>
              <a:headEnd/>
              <a:tailEnd type="triangle" w="med" len="med"/>
            </a:ln>
            <a:effectLst/>
          </p:spPr>
          <p:txBody>
            <a:bodyPr/>
            <a:lstStyle/>
            <a:p>
              <a:endParaRPr lang="en-US" sz="2000"/>
            </a:p>
          </p:txBody>
        </p:sp>
        <p:sp>
          <p:nvSpPr>
            <p:cNvPr id="14" name="Text Box 19"/>
            <p:cNvSpPr txBox="1">
              <a:spLocks noChangeArrowheads="1"/>
            </p:cNvSpPr>
            <p:nvPr/>
          </p:nvSpPr>
          <p:spPr bwMode="auto">
            <a:xfrm>
              <a:off x="2688" y="2014"/>
              <a:ext cx="470" cy="336"/>
            </a:xfrm>
            <a:prstGeom prst="rect">
              <a:avLst/>
            </a:prstGeom>
            <a:noFill/>
            <a:ln w="9525">
              <a:noFill/>
              <a:miter lim="800000"/>
              <a:headEnd/>
              <a:tailEnd/>
            </a:ln>
            <a:effectLst/>
          </p:spPr>
          <p:txBody>
            <a:bodyPr wrap="none">
              <a:spAutoFit/>
            </a:bodyPr>
            <a:lstStyle/>
            <a:p>
              <a:r>
                <a:rPr lang="en-US" sz="2000" b="1" dirty="0"/>
                <a:t>0</a:t>
              </a:r>
              <a:r>
                <a:rPr lang="en-US" sz="2000" dirty="0"/>
                <a:t> </a:t>
              </a:r>
              <a:r>
                <a:rPr lang="en-US" sz="2000" dirty="0">
                  <a:sym typeface="Symbol" pitchFamily="18" charset="2"/>
                </a:rPr>
                <a:t> X</a:t>
              </a:r>
            </a:p>
          </p:txBody>
        </p:sp>
      </p:grpSp>
      <p:grpSp>
        <p:nvGrpSpPr>
          <p:cNvPr id="15" name="Group 14"/>
          <p:cNvGrpSpPr>
            <a:grpSpLocks/>
          </p:cNvGrpSpPr>
          <p:nvPr/>
        </p:nvGrpSpPr>
        <p:grpSpPr bwMode="auto">
          <a:xfrm>
            <a:off x="2133600" y="3555212"/>
            <a:ext cx="3733800" cy="461963"/>
            <a:chOff x="1776" y="2352"/>
            <a:chExt cx="2352" cy="388"/>
          </a:xfrm>
        </p:grpSpPr>
        <p:sp>
          <p:nvSpPr>
            <p:cNvPr id="16" name="Line 21"/>
            <p:cNvSpPr>
              <a:spLocks noChangeShapeType="1"/>
            </p:cNvSpPr>
            <p:nvPr/>
          </p:nvSpPr>
          <p:spPr bwMode="auto">
            <a:xfrm>
              <a:off x="1776" y="2728"/>
              <a:ext cx="2352" cy="0"/>
            </a:xfrm>
            <a:prstGeom prst="line">
              <a:avLst/>
            </a:prstGeom>
            <a:noFill/>
            <a:ln w="9525">
              <a:solidFill>
                <a:schemeClr val="tx1"/>
              </a:solidFill>
              <a:round/>
              <a:headEnd/>
              <a:tailEnd type="triangle" w="med" len="med"/>
            </a:ln>
            <a:effectLst/>
          </p:spPr>
          <p:txBody>
            <a:bodyPr/>
            <a:lstStyle/>
            <a:p>
              <a:endParaRPr lang="en-US" sz="2000"/>
            </a:p>
          </p:txBody>
        </p:sp>
        <p:sp>
          <p:nvSpPr>
            <p:cNvPr id="17" name="Text Box 22"/>
            <p:cNvSpPr txBox="1">
              <a:spLocks noChangeArrowheads="1"/>
            </p:cNvSpPr>
            <p:nvPr/>
          </p:nvSpPr>
          <p:spPr bwMode="auto">
            <a:xfrm>
              <a:off x="2323" y="2352"/>
              <a:ext cx="1782" cy="388"/>
            </a:xfrm>
            <a:prstGeom prst="rect">
              <a:avLst/>
            </a:prstGeom>
            <a:noFill/>
            <a:ln w="9525">
              <a:noFill/>
              <a:miter lim="800000"/>
              <a:headEnd/>
              <a:tailEnd/>
            </a:ln>
            <a:effectLst/>
          </p:spPr>
          <p:txBody>
            <a:bodyPr wrap="none">
              <a:spAutoFit/>
            </a:bodyPr>
            <a:lstStyle/>
            <a:p>
              <a:r>
                <a:rPr lang="en-US" sz="2000" dirty="0"/>
                <a:t>c</a:t>
              </a:r>
              <a:r>
                <a:rPr lang="en-US" sz="2000" baseline="-25000" dirty="0"/>
                <a:t>1</a:t>
              </a:r>
              <a:r>
                <a:rPr lang="en-US" sz="2000" dirty="0"/>
                <a:t> </a:t>
              </a:r>
              <a:r>
                <a:rPr lang="en-US" sz="2000" dirty="0">
                  <a:sym typeface="Symbol"/>
                </a:rPr>
                <a:t> </a:t>
              </a:r>
              <a:r>
                <a:rPr lang="en-US" sz="2400" dirty="0">
                  <a:sym typeface="Symbol"/>
                </a:rPr>
                <a:t>[</a:t>
              </a:r>
              <a:r>
                <a:rPr lang="en-US" sz="2000" dirty="0">
                  <a:sym typeface="Symbol"/>
                </a:rPr>
                <a:t> </a:t>
              </a:r>
              <a:r>
                <a:rPr lang="en-US" sz="2000" b="1" dirty="0">
                  <a:solidFill>
                    <a:srgbClr val="FF0000"/>
                  </a:solidFill>
                  <a:sym typeface="Symbol"/>
                </a:rPr>
                <a:t>IV</a:t>
              </a:r>
              <a:r>
                <a:rPr lang="en-US" sz="2000" b="1" baseline="-25000" dirty="0">
                  <a:solidFill>
                    <a:srgbClr val="FF0000"/>
                  </a:solidFill>
                  <a:sym typeface="Symbol"/>
                </a:rPr>
                <a:t>1</a:t>
              </a:r>
              <a:r>
                <a:rPr lang="en-US" sz="2000" b="1" dirty="0">
                  <a:solidFill>
                    <a:srgbClr val="FF0000"/>
                  </a:solidFill>
                  <a:sym typeface="Symbol"/>
                </a:rPr>
                <a:t>,  E(k, 0⨁IV</a:t>
              </a:r>
              <a:r>
                <a:rPr lang="en-US" sz="2000" b="1" baseline="-25000" dirty="0">
                  <a:solidFill>
                    <a:srgbClr val="FF0000"/>
                  </a:solidFill>
                  <a:sym typeface="Symbol"/>
                </a:rPr>
                <a:t>1</a:t>
              </a:r>
              <a:r>
                <a:rPr lang="en-US" sz="2000" b="1" dirty="0">
                  <a:solidFill>
                    <a:srgbClr val="FF0000"/>
                  </a:solidFill>
                  <a:sym typeface="Symbol"/>
                </a:rPr>
                <a:t>)</a:t>
              </a:r>
              <a:r>
                <a:rPr lang="en-US" sz="2000" dirty="0">
                  <a:sym typeface="Symbol"/>
                </a:rPr>
                <a:t> </a:t>
              </a:r>
              <a:r>
                <a:rPr lang="en-US" sz="2400" dirty="0">
                  <a:sym typeface="Symbol"/>
                </a:rPr>
                <a:t>]</a:t>
              </a:r>
              <a:endParaRPr lang="en-US" sz="2000" dirty="0"/>
            </a:p>
          </p:txBody>
        </p:sp>
      </p:grpSp>
      <p:sp>
        <p:nvSpPr>
          <p:cNvPr id="18" name="TextBox 17"/>
          <p:cNvSpPr txBox="1"/>
          <p:nvPr/>
        </p:nvSpPr>
        <p:spPr>
          <a:xfrm>
            <a:off x="5990512" y="4459070"/>
            <a:ext cx="1369936" cy="646331"/>
          </a:xfrm>
          <a:prstGeom prst="rect">
            <a:avLst/>
          </a:prstGeom>
          <a:noFill/>
        </p:spPr>
        <p:txBody>
          <a:bodyPr wrap="none" rtlCol="0">
            <a:spAutoFit/>
          </a:bodyPr>
          <a:lstStyle/>
          <a:p>
            <a:pPr algn="ctr"/>
            <a:r>
              <a:rPr lang="en-US" dirty="0"/>
              <a:t>output 0</a:t>
            </a:r>
          </a:p>
          <a:p>
            <a:pPr algn="ctr"/>
            <a:r>
              <a:rPr lang="en-US" dirty="0"/>
              <a:t>if c[1] = c</a:t>
            </a:r>
            <a:r>
              <a:rPr lang="en-US" baseline="-25000" dirty="0"/>
              <a:t>1</a:t>
            </a:r>
            <a:r>
              <a:rPr lang="en-US" dirty="0"/>
              <a:t>[1]</a:t>
            </a:r>
          </a:p>
        </p:txBody>
      </p:sp>
      <p:cxnSp>
        <p:nvCxnSpPr>
          <p:cNvPr id="19" name="Straight Arrow Connector 18"/>
          <p:cNvCxnSpPr/>
          <p:nvPr/>
        </p:nvCxnSpPr>
        <p:spPr bwMode="auto">
          <a:xfrm>
            <a:off x="7315200" y="4799410"/>
            <a:ext cx="990600" cy="119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0" name="TextBox 19"/>
          <p:cNvSpPr txBox="1"/>
          <p:nvPr/>
        </p:nvSpPr>
        <p:spPr>
          <a:xfrm>
            <a:off x="6058651" y="3886200"/>
            <a:ext cx="1197764" cy="400110"/>
          </a:xfrm>
          <a:prstGeom prst="rect">
            <a:avLst/>
          </a:prstGeom>
          <a:noFill/>
        </p:spPr>
        <p:txBody>
          <a:bodyPr wrap="none" rtlCol="0">
            <a:spAutoFit/>
          </a:bodyPr>
          <a:lstStyle/>
          <a:p>
            <a:r>
              <a:rPr lang="en-US" sz="2000" dirty="0">
                <a:solidFill>
                  <a:schemeClr val="bg1"/>
                </a:solidFill>
              </a:rPr>
              <a:t>predict IV</a:t>
            </a:r>
          </a:p>
        </p:txBody>
      </p:sp>
      <p:sp>
        <p:nvSpPr>
          <p:cNvPr id="21" name="TextBox 20"/>
          <p:cNvSpPr txBox="1"/>
          <p:nvPr/>
        </p:nvSpPr>
        <p:spPr>
          <a:xfrm>
            <a:off x="76201" y="5486401"/>
            <a:ext cx="8439931" cy="461665"/>
          </a:xfrm>
          <a:prstGeom prst="rect">
            <a:avLst/>
          </a:prstGeom>
          <a:noFill/>
        </p:spPr>
        <p:txBody>
          <a:bodyPr wrap="none" rtlCol="0">
            <a:spAutoFit/>
          </a:bodyPr>
          <a:lstStyle/>
          <a:p>
            <a:r>
              <a:rPr lang="en-US" sz="2400" dirty="0"/>
              <a:t>Bug in SSL/</a:t>
            </a:r>
            <a:r>
              <a:rPr lang="en-US" sz="2400"/>
              <a:t>TLS 1.0:  </a:t>
            </a:r>
            <a:r>
              <a:rPr lang="en-US" sz="2400" dirty="0"/>
              <a:t>IV for record #</a:t>
            </a:r>
            <a:r>
              <a:rPr lang="en-US" sz="2400" dirty="0" err="1"/>
              <a:t>i</a:t>
            </a:r>
            <a:r>
              <a:rPr lang="en-US" sz="2400" dirty="0"/>
              <a:t> is last CT block of record #(i-1)</a:t>
            </a:r>
          </a:p>
        </p:txBody>
      </p:sp>
      <p:sp>
        <p:nvSpPr>
          <p:cNvPr id="22" name="Text Box 13"/>
          <p:cNvSpPr txBox="1">
            <a:spLocks noChangeArrowheads="1"/>
          </p:cNvSpPr>
          <p:nvPr/>
        </p:nvSpPr>
        <p:spPr bwMode="auto">
          <a:xfrm>
            <a:off x="2971800" y="4899212"/>
            <a:ext cx="2647054" cy="461665"/>
          </a:xfrm>
          <a:prstGeom prst="rect">
            <a:avLst/>
          </a:prstGeom>
          <a:noFill/>
          <a:ln w="9525">
            <a:noFill/>
            <a:miter lim="800000"/>
            <a:headEnd/>
            <a:tailEnd/>
          </a:ln>
          <a:effectLst/>
        </p:spPr>
        <p:txBody>
          <a:bodyPr wrap="none">
            <a:spAutoFit/>
          </a:bodyPr>
          <a:lstStyle/>
          <a:p>
            <a:r>
              <a:rPr lang="en-US" sz="2000" dirty="0"/>
              <a:t>c </a:t>
            </a:r>
            <a:r>
              <a:rPr lang="en-US" sz="2000" dirty="0">
                <a:sym typeface="Symbol" pitchFamily="18" charset="2"/>
              </a:rPr>
              <a:t> </a:t>
            </a:r>
            <a:r>
              <a:rPr lang="en-US" sz="2400" dirty="0">
                <a:sym typeface="Symbol"/>
              </a:rPr>
              <a:t>[</a:t>
            </a:r>
            <a:r>
              <a:rPr lang="en-US" sz="2000" dirty="0">
                <a:sym typeface="Symbol"/>
              </a:rPr>
              <a:t> </a:t>
            </a:r>
            <a:r>
              <a:rPr lang="en-US" sz="2000" b="1" dirty="0">
                <a:solidFill>
                  <a:srgbClr val="FF0000"/>
                </a:solidFill>
                <a:sym typeface="Symbol"/>
              </a:rPr>
              <a:t>IV,  E(k, </a:t>
            </a:r>
            <a:r>
              <a:rPr lang="en-US" sz="2000" b="1" dirty="0">
                <a:solidFill>
                  <a:srgbClr val="FF0000"/>
                </a:solidFill>
              </a:rPr>
              <a:t>m</a:t>
            </a:r>
            <a:r>
              <a:rPr lang="en-US" sz="2000" b="1" baseline="-25000" dirty="0">
                <a:solidFill>
                  <a:srgbClr val="FF0000"/>
                </a:solidFill>
              </a:rPr>
              <a:t>1</a:t>
            </a:r>
            <a:r>
              <a:rPr lang="en-US" sz="2000" b="1" dirty="0">
                <a:solidFill>
                  <a:srgbClr val="FF0000"/>
                </a:solidFill>
                <a:sym typeface="Symbol"/>
              </a:rPr>
              <a:t>⨁IV) </a:t>
            </a:r>
            <a:r>
              <a:rPr lang="en-US" sz="2400" dirty="0">
                <a:sym typeface="Symbol"/>
              </a:rPr>
              <a:t>]</a:t>
            </a:r>
            <a:endParaRPr lang="en-US" sz="2000" dirty="0"/>
          </a:p>
        </p:txBody>
      </p:sp>
      <p:sp>
        <p:nvSpPr>
          <p:cNvPr id="24" name="Rectangle 23"/>
          <p:cNvSpPr/>
          <p:nvPr/>
        </p:nvSpPr>
        <p:spPr>
          <a:xfrm>
            <a:off x="4495800" y="4572000"/>
            <a:ext cx="1371600" cy="381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17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left)">
                                      <p:cBhvr>
                                        <p:cTn id="8" dur="500"/>
                                        <p:tgtEl>
                                          <p:spTgt spid="12"/>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p:tgtEl>
                                          <p:spTgt spid="15"/>
                                        </p:tgtEl>
                                        <p:attrNameLst>
                                          <p:attrName>ppt_x</p:attrName>
                                        </p:attrNameLst>
                                      </p:cBhvr>
                                      <p:tavLst>
                                        <p:tav tm="0">
                                          <p:val>
                                            <p:strVal val="#ppt_x-#ppt_w*1.125000"/>
                                          </p:val>
                                        </p:tav>
                                        <p:tav tm="100000">
                                          <p:val>
                                            <p:strVal val="#ppt_x"/>
                                          </p:val>
                                        </p:tav>
                                      </p:tavLst>
                                    </p:anim>
                                    <p:animEffect transition="in" filter="wipe(righ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p:tgtEl>
                                          <p:spTgt spid="25"/>
                                        </p:tgtEl>
                                        <p:attrNameLst>
                                          <p:attrName>ppt_x</p:attrName>
                                        </p:attrNameLst>
                                      </p:cBhvr>
                                      <p:tavLst>
                                        <p:tav tm="0">
                                          <p:val>
                                            <p:strVal val="#ppt_x-#ppt_w*1.125000"/>
                                          </p:val>
                                        </p:tav>
                                        <p:tav tm="100000">
                                          <p:val>
                                            <p:strVal val="#ppt_x"/>
                                          </p:val>
                                        </p:tav>
                                      </p:tavLst>
                                    </p:anim>
                                    <p:animEffect transition="in" filter="wipe(right)">
                                      <p:cBhvr>
                                        <p:cTn id="29" dur="500"/>
                                        <p:tgtEl>
                                          <p:spTgt spid="25"/>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24"/>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8" grpId="0"/>
      <p:bldP spid="20" grpId="0"/>
      <p:bldP spid="21" grpId="0"/>
      <p:bldP spid="22" grpId="0"/>
      <p:bldP spid="24" grpId="0" animBg="1"/>
      <p:bldP spid="24"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z="3200" dirty="0" err="1"/>
              <a:t>Cấu</a:t>
            </a:r>
            <a:r>
              <a:rPr lang="en-US" sz="3200" dirty="0"/>
              <a:t> </a:t>
            </a:r>
            <a:r>
              <a:rPr lang="en-US" sz="3200" dirty="0" err="1"/>
              <a:t>trúc</a:t>
            </a:r>
            <a:r>
              <a:rPr lang="en-US" sz="3200" dirty="0"/>
              <a:t> 1’:   nonce-based CBC</a:t>
            </a:r>
          </a:p>
        </p:txBody>
      </p:sp>
      <p:sp>
        <p:nvSpPr>
          <p:cNvPr id="16387" name="Rectangle 3"/>
          <p:cNvSpPr>
            <a:spLocks noGrp="1" noChangeArrowheads="1"/>
          </p:cNvSpPr>
          <p:nvPr>
            <p:ph sz="quarter" idx="13"/>
          </p:nvPr>
        </p:nvSpPr>
        <p:spPr/>
        <p:txBody>
          <a:bodyPr/>
          <a:lstStyle/>
          <a:p>
            <a:r>
              <a:rPr lang="en-US" dirty="0"/>
              <a:t>Cipher block chaining with </a:t>
            </a:r>
            <a:r>
              <a:rPr lang="en-US" u="sng" dirty="0"/>
              <a:t>unique</a:t>
            </a:r>
            <a:r>
              <a:rPr lang="en-US" dirty="0"/>
              <a:t> nonce:   key = (k,k</a:t>
            </a:r>
            <a:r>
              <a:rPr lang="en-US" baseline="-25000" dirty="0"/>
              <a:t>1</a:t>
            </a:r>
            <a:r>
              <a:rPr lang="en-US" dirty="0"/>
              <a:t>)</a:t>
            </a:r>
          </a:p>
        </p:txBody>
      </p:sp>
      <p:sp>
        <p:nvSpPr>
          <p:cNvPr id="42" name="Rectangle 40"/>
          <p:cNvSpPr>
            <a:spLocks noChangeArrowheads="1"/>
          </p:cNvSpPr>
          <p:nvPr/>
        </p:nvSpPr>
        <p:spPr bwMode="auto">
          <a:xfrm>
            <a:off x="533400" y="4843463"/>
            <a:ext cx="8153400" cy="538163"/>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43" name="Rectangle 4"/>
          <p:cNvSpPr>
            <a:spLocks noChangeArrowheads="1"/>
          </p:cNvSpPr>
          <p:nvPr/>
        </p:nvSpPr>
        <p:spPr bwMode="auto">
          <a:xfrm>
            <a:off x="2362200" y="3883819"/>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44" name="Rectangle 5"/>
          <p:cNvSpPr>
            <a:spLocks noChangeArrowheads="1"/>
          </p:cNvSpPr>
          <p:nvPr/>
        </p:nvSpPr>
        <p:spPr bwMode="auto">
          <a:xfrm>
            <a:off x="4038600" y="3883819"/>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45" name="Rectangle 6"/>
          <p:cNvSpPr>
            <a:spLocks noChangeArrowheads="1"/>
          </p:cNvSpPr>
          <p:nvPr/>
        </p:nvSpPr>
        <p:spPr bwMode="auto">
          <a:xfrm>
            <a:off x="7239000" y="3883819"/>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46" name="Rectangle 7"/>
          <p:cNvSpPr>
            <a:spLocks noChangeArrowheads="1"/>
          </p:cNvSpPr>
          <p:nvPr/>
        </p:nvSpPr>
        <p:spPr bwMode="auto">
          <a:xfrm>
            <a:off x="2057400" y="2797969"/>
            <a:ext cx="1524000" cy="285750"/>
          </a:xfrm>
          <a:prstGeom prst="rect">
            <a:avLst/>
          </a:prstGeom>
          <a:solidFill>
            <a:srgbClr val="FAC090"/>
          </a:solidFill>
          <a:ln w="9525">
            <a:solidFill>
              <a:schemeClr val="tx1"/>
            </a:solidFill>
            <a:miter lim="800000"/>
            <a:headEnd/>
            <a:tailEnd/>
          </a:ln>
        </p:spPr>
        <p:txBody>
          <a:bodyPr wrap="none" anchor="ctr"/>
          <a:lstStyle/>
          <a:p>
            <a:pPr algn="ctr"/>
            <a:r>
              <a:rPr lang="en-US">
                <a:latin typeface="Arial" charset="0"/>
              </a:rPr>
              <a:t>m[0]</a:t>
            </a:r>
          </a:p>
        </p:txBody>
      </p:sp>
      <p:sp>
        <p:nvSpPr>
          <p:cNvPr id="47" name="Rectangle 8"/>
          <p:cNvSpPr>
            <a:spLocks noChangeArrowheads="1"/>
          </p:cNvSpPr>
          <p:nvPr/>
        </p:nvSpPr>
        <p:spPr bwMode="auto">
          <a:xfrm>
            <a:off x="3581400" y="2797969"/>
            <a:ext cx="1676400" cy="285750"/>
          </a:xfrm>
          <a:prstGeom prst="rect">
            <a:avLst/>
          </a:prstGeom>
          <a:solidFill>
            <a:srgbClr val="FAC090"/>
          </a:solidFill>
          <a:ln w="9525">
            <a:solidFill>
              <a:schemeClr val="tx1"/>
            </a:solidFill>
            <a:miter lim="800000"/>
            <a:headEnd/>
            <a:tailEnd/>
          </a:ln>
        </p:spPr>
        <p:txBody>
          <a:bodyPr wrap="none" anchor="ctr"/>
          <a:lstStyle/>
          <a:p>
            <a:pPr algn="ctr"/>
            <a:r>
              <a:rPr lang="en-US">
                <a:latin typeface="Arial" charset="0"/>
              </a:rPr>
              <a:t>m[1]</a:t>
            </a:r>
          </a:p>
        </p:txBody>
      </p:sp>
      <p:sp>
        <p:nvSpPr>
          <p:cNvPr id="48" name="Rectangle 9"/>
          <p:cNvSpPr>
            <a:spLocks noChangeArrowheads="1"/>
          </p:cNvSpPr>
          <p:nvPr/>
        </p:nvSpPr>
        <p:spPr bwMode="auto">
          <a:xfrm>
            <a:off x="5257800" y="2797969"/>
            <a:ext cx="1600200" cy="28575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m[2]</a:t>
            </a:r>
          </a:p>
        </p:txBody>
      </p:sp>
      <p:sp>
        <p:nvSpPr>
          <p:cNvPr id="49" name="Rectangle 10"/>
          <p:cNvSpPr>
            <a:spLocks noChangeArrowheads="1"/>
          </p:cNvSpPr>
          <p:nvPr/>
        </p:nvSpPr>
        <p:spPr bwMode="auto">
          <a:xfrm>
            <a:off x="6858000" y="2797969"/>
            <a:ext cx="1524000" cy="28575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m[3]</a:t>
            </a:r>
          </a:p>
        </p:txBody>
      </p:sp>
      <p:sp>
        <p:nvSpPr>
          <p:cNvPr id="50" name="Text Box 12"/>
          <p:cNvSpPr txBox="1">
            <a:spLocks noChangeArrowheads="1"/>
          </p:cNvSpPr>
          <p:nvPr/>
        </p:nvSpPr>
        <p:spPr bwMode="auto">
          <a:xfrm>
            <a:off x="2551114" y="3149024"/>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51" name="Text Box 13"/>
          <p:cNvSpPr txBox="1">
            <a:spLocks noChangeArrowheads="1"/>
          </p:cNvSpPr>
          <p:nvPr/>
        </p:nvSpPr>
        <p:spPr bwMode="auto">
          <a:xfrm>
            <a:off x="7467600" y="3149024"/>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52" name="Text Box 14"/>
          <p:cNvSpPr txBox="1">
            <a:spLocks noChangeArrowheads="1"/>
          </p:cNvSpPr>
          <p:nvPr/>
        </p:nvSpPr>
        <p:spPr bwMode="auto">
          <a:xfrm>
            <a:off x="4267200" y="3149024"/>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53" name="Line 15"/>
          <p:cNvSpPr>
            <a:spLocks noChangeShapeType="1"/>
          </p:cNvSpPr>
          <p:nvPr/>
        </p:nvSpPr>
        <p:spPr bwMode="auto">
          <a:xfrm>
            <a:off x="2787650" y="3083719"/>
            <a:ext cx="0" cy="285750"/>
          </a:xfrm>
          <a:prstGeom prst="line">
            <a:avLst/>
          </a:prstGeom>
          <a:noFill/>
          <a:ln w="9525">
            <a:solidFill>
              <a:schemeClr val="tx1"/>
            </a:solidFill>
            <a:round/>
            <a:headEnd/>
            <a:tailEnd type="triangle" w="med" len="med"/>
          </a:ln>
        </p:spPr>
        <p:txBody>
          <a:bodyPr/>
          <a:lstStyle/>
          <a:p>
            <a:endParaRPr lang="en-US"/>
          </a:p>
        </p:txBody>
      </p:sp>
      <p:sp>
        <p:nvSpPr>
          <p:cNvPr id="54" name="Line 16"/>
          <p:cNvSpPr>
            <a:spLocks noChangeShapeType="1"/>
          </p:cNvSpPr>
          <p:nvPr/>
        </p:nvSpPr>
        <p:spPr bwMode="auto">
          <a:xfrm>
            <a:off x="4495800" y="3107531"/>
            <a:ext cx="0" cy="285750"/>
          </a:xfrm>
          <a:prstGeom prst="line">
            <a:avLst/>
          </a:prstGeom>
          <a:noFill/>
          <a:ln w="9525">
            <a:solidFill>
              <a:schemeClr val="tx1"/>
            </a:solidFill>
            <a:round/>
            <a:headEnd/>
            <a:tailEnd type="triangle" w="med" len="med"/>
          </a:ln>
        </p:spPr>
        <p:txBody>
          <a:bodyPr/>
          <a:lstStyle/>
          <a:p>
            <a:endParaRPr lang="en-US"/>
          </a:p>
        </p:txBody>
      </p:sp>
      <p:sp>
        <p:nvSpPr>
          <p:cNvPr id="55" name="Line 17"/>
          <p:cNvSpPr>
            <a:spLocks noChangeShapeType="1"/>
          </p:cNvSpPr>
          <p:nvPr/>
        </p:nvSpPr>
        <p:spPr bwMode="auto">
          <a:xfrm>
            <a:off x="7696200" y="3083719"/>
            <a:ext cx="0" cy="285750"/>
          </a:xfrm>
          <a:prstGeom prst="line">
            <a:avLst/>
          </a:prstGeom>
          <a:noFill/>
          <a:ln w="9525">
            <a:solidFill>
              <a:schemeClr val="tx1"/>
            </a:solidFill>
            <a:round/>
            <a:headEnd/>
            <a:tailEnd type="triangle" w="med" len="med"/>
          </a:ln>
        </p:spPr>
        <p:txBody>
          <a:bodyPr/>
          <a:lstStyle/>
          <a:p>
            <a:endParaRPr lang="en-US"/>
          </a:p>
        </p:txBody>
      </p:sp>
      <p:sp>
        <p:nvSpPr>
          <p:cNvPr id="56" name="Line 18"/>
          <p:cNvSpPr>
            <a:spLocks noChangeShapeType="1"/>
          </p:cNvSpPr>
          <p:nvPr/>
        </p:nvSpPr>
        <p:spPr bwMode="auto">
          <a:xfrm>
            <a:off x="4495800" y="3598069"/>
            <a:ext cx="0" cy="285750"/>
          </a:xfrm>
          <a:prstGeom prst="line">
            <a:avLst/>
          </a:prstGeom>
          <a:noFill/>
          <a:ln w="9525">
            <a:solidFill>
              <a:schemeClr val="tx1"/>
            </a:solidFill>
            <a:round/>
            <a:headEnd/>
            <a:tailEnd type="triangle" w="med" len="med"/>
          </a:ln>
        </p:spPr>
        <p:txBody>
          <a:bodyPr/>
          <a:lstStyle/>
          <a:p>
            <a:endParaRPr lang="en-US"/>
          </a:p>
        </p:txBody>
      </p:sp>
      <p:sp>
        <p:nvSpPr>
          <p:cNvPr id="57" name="Line 19"/>
          <p:cNvSpPr>
            <a:spLocks noChangeShapeType="1"/>
          </p:cNvSpPr>
          <p:nvPr/>
        </p:nvSpPr>
        <p:spPr bwMode="auto">
          <a:xfrm>
            <a:off x="7696200" y="3598069"/>
            <a:ext cx="0" cy="285750"/>
          </a:xfrm>
          <a:prstGeom prst="line">
            <a:avLst/>
          </a:prstGeom>
          <a:noFill/>
          <a:ln w="9525">
            <a:solidFill>
              <a:schemeClr val="tx1"/>
            </a:solidFill>
            <a:round/>
            <a:headEnd/>
            <a:tailEnd type="triangle" w="med" len="med"/>
          </a:ln>
        </p:spPr>
        <p:txBody>
          <a:bodyPr/>
          <a:lstStyle/>
          <a:p>
            <a:endParaRPr lang="en-US"/>
          </a:p>
        </p:txBody>
      </p:sp>
      <p:sp>
        <p:nvSpPr>
          <p:cNvPr id="58" name="Line 20"/>
          <p:cNvSpPr>
            <a:spLocks noChangeShapeType="1"/>
          </p:cNvSpPr>
          <p:nvPr/>
        </p:nvSpPr>
        <p:spPr bwMode="auto">
          <a:xfrm>
            <a:off x="2743200" y="3598069"/>
            <a:ext cx="0" cy="285750"/>
          </a:xfrm>
          <a:prstGeom prst="line">
            <a:avLst/>
          </a:prstGeom>
          <a:noFill/>
          <a:ln w="9525">
            <a:solidFill>
              <a:schemeClr val="tx1"/>
            </a:solidFill>
            <a:round/>
            <a:headEnd/>
            <a:tailEnd type="triangle" w="med" len="med"/>
          </a:ln>
        </p:spPr>
        <p:txBody>
          <a:bodyPr/>
          <a:lstStyle/>
          <a:p>
            <a:endParaRPr lang="en-US"/>
          </a:p>
        </p:txBody>
      </p:sp>
      <p:sp>
        <p:nvSpPr>
          <p:cNvPr id="59" name="Line 22"/>
          <p:cNvSpPr>
            <a:spLocks noChangeShapeType="1"/>
          </p:cNvSpPr>
          <p:nvPr/>
        </p:nvSpPr>
        <p:spPr bwMode="auto">
          <a:xfrm>
            <a:off x="2743200" y="4512469"/>
            <a:ext cx="1588" cy="457200"/>
          </a:xfrm>
          <a:prstGeom prst="line">
            <a:avLst/>
          </a:prstGeom>
          <a:noFill/>
          <a:ln w="9525">
            <a:solidFill>
              <a:schemeClr val="tx1"/>
            </a:solidFill>
            <a:round/>
            <a:headEnd/>
            <a:tailEnd type="triangle" w="med" len="med"/>
          </a:ln>
        </p:spPr>
        <p:txBody>
          <a:bodyPr/>
          <a:lstStyle/>
          <a:p>
            <a:endParaRPr lang="en-US"/>
          </a:p>
        </p:txBody>
      </p:sp>
      <p:sp>
        <p:nvSpPr>
          <p:cNvPr id="60" name="Freeform 23"/>
          <p:cNvSpPr>
            <a:spLocks/>
          </p:cNvSpPr>
          <p:nvPr/>
        </p:nvSpPr>
        <p:spPr bwMode="auto">
          <a:xfrm>
            <a:off x="2743200" y="3483769"/>
            <a:ext cx="16002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61" name="Line 24"/>
          <p:cNvSpPr>
            <a:spLocks noChangeShapeType="1"/>
          </p:cNvSpPr>
          <p:nvPr/>
        </p:nvSpPr>
        <p:spPr bwMode="auto">
          <a:xfrm>
            <a:off x="4495800" y="4512469"/>
            <a:ext cx="1588" cy="457200"/>
          </a:xfrm>
          <a:prstGeom prst="line">
            <a:avLst/>
          </a:prstGeom>
          <a:noFill/>
          <a:ln w="9525">
            <a:solidFill>
              <a:schemeClr val="tx1"/>
            </a:solidFill>
            <a:round/>
            <a:headEnd/>
            <a:tailEnd type="triangle" w="med" len="med"/>
          </a:ln>
        </p:spPr>
        <p:txBody>
          <a:bodyPr/>
          <a:lstStyle/>
          <a:p>
            <a:endParaRPr lang="en-US"/>
          </a:p>
        </p:txBody>
      </p:sp>
      <p:sp>
        <p:nvSpPr>
          <p:cNvPr id="62" name="Rectangle 25"/>
          <p:cNvSpPr>
            <a:spLocks noChangeArrowheads="1"/>
          </p:cNvSpPr>
          <p:nvPr/>
        </p:nvSpPr>
        <p:spPr bwMode="auto">
          <a:xfrm>
            <a:off x="5715000" y="3883819"/>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63" name="Freeform 26"/>
          <p:cNvSpPr>
            <a:spLocks/>
          </p:cNvSpPr>
          <p:nvPr/>
        </p:nvSpPr>
        <p:spPr bwMode="auto">
          <a:xfrm>
            <a:off x="4495800" y="3483769"/>
            <a:ext cx="16002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64" name="Freeform 27"/>
          <p:cNvSpPr>
            <a:spLocks/>
          </p:cNvSpPr>
          <p:nvPr/>
        </p:nvSpPr>
        <p:spPr bwMode="auto">
          <a:xfrm>
            <a:off x="6172200" y="3483769"/>
            <a:ext cx="13716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65" name="Text Box 28"/>
          <p:cNvSpPr txBox="1">
            <a:spLocks noChangeArrowheads="1"/>
          </p:cNvSpPr>
          <p:nvPr/>
        </p:nvSpPr>
        <p:spPr bwMode="auto">
          <a:xfrm>
            <a:off x="5980114" y="3149024"/>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66" name="Line 29"/>
          <p:cNvSpPr>
            <a:spLocks noChangeShapeType="1"/>
          </p:cNvSpPr>
          <p:nvPr/>
        </p:nvSpPr>
        <p:spPr bwMode="auto">
          <a:xfrm>
            <a:off x="6208713" y="3107531"/>
            <a:ext cx="0" cy="285750"/>
          </a:xfrm>
          <a:prstGeom prst="line">
            <a:avLst/>
          </a:prstGeom>
          <a:noFill/>
          <a:ln w="9525">
            <a:solidFill>
              <a:schemeClr val="tx1"/>
            </a:solidFill>
            <a:round/>
            <a:headEnd/>
            <a:tailEnd type="triangle" w="med" len="med"/>
          </a:ln>
        </p:spPr>
        <p:txBody>
          <a:bodyPr/>
          <a:lstStyle/>
          <a:p>
            <a:endParaRPr lang="en-US"/>
          </a:p>
        </p:txBody>
      </p:sp>
      <p:sp>
        <p:nvSpPr>
          <p:cNvPr id="67" name="Line 30"/>
          <p:cNvSpPr>
            <a:spLocks noChangeShapeType="1"/>
          </p:cNvSpPr>
          <p:nvPr/>
        </p:nvSpPr>
        <p:spPr bwMode="auto">
          <a:xfrm>
            <a:off x="6208713" y="3598069"/>
            <a:ext cx="0" cy="285750"/>
          </a:xfrm>
          <a:prstGeom prst="line">
            <a:avLst/>
          </a:prstGeom>
          <a:noFill/>
          <a:ln w="9525">
            <a:solidFill>
              <a:schemeClr val="tx1"/>
            </a:solidFill>
            <a:round/>
            <a:headEnd/>
            <a:tailEnd type="triangle" w="med" len="med"/>
          </a:ln>
        </p:spPr>
        <p:txBody>
          <a:bodyPr/>
          <a:lstStyle/>
          <a:p>
            <a:endParaRPr lang="en-US"/>
          </a:p>
        </p:txBody>
      </p:sp>
      <p:sp>
        <p:nvSpPr>
          <p:cNvPr id="68" name="Line 31"/>
          <p:cNvSpPr>
            <a:spLocks noChangeShapeType="1"/>
          </p:cNvSpPr>
          <p:nvPr/>
        </p:nvSpPr>
        <p:spPr bwMode="auto">
          <a:xfrm>
            <a:off x="6172200" y="4512469"/>
            <a:ext cx="1588" cy="457200"/>
          </a:xfrm>
          <a:prstGeom prst="line">
            <a:avLst/>
          </a:prstGeom>
          <a:noFill/>
          <a:ln w="9525">
            <a:solidFill>
              <a:schemeClr val="tx1"/>
            </a:solidFill>
            <a:round/>
            <a:headEnd/>
            <a:tailEnd type="triangle" w="med" len="med"/>
          </a:ln>
        </p:spPr>
        <p:txBody>
          <a:bodyPr/>
          <a:lstStyle/>
          <a:p>
            <a:endParaRPr lang="en-US"/>
          </a:p>
        </p:txBody>
      </p:sp>
      <p:sp>
        <p:nvSpPr>
          <p:cNvPr id="69" name="Line 32"/>
          <p:cNvSpPr>
            <a:spLocks noChangeShapeType="1"/>
          </p:cNvSpPr>
          <p:nvPr/>
        </p:nvSpPr>
        <p:spPr bwMode="auto">
          <a:xfrm>
            <a:off x="7694615" y="4512469"/>
            <a:ext cx="1587" cy="457200"/>
          </a:xfrm>
          <a:prstGeom prst="line">
            <a:avLst/>
          </a:prstGeom>
          <a:noFill/>
          <a:ln w="9525">
            <a:solidFill>
              <a:schemeClr val="tx1"/>
            </a:solidFill>
            <a:round/>
            <a:headEnd/>
            <a:tailEnd type="triangle" w="med" len="med"/>
          </a:ln>
        </p:spPr>
        <p:txBody>
          <a:bodyPr/>
          <a:lstStyle/>
          <a:p>
            <a:endParaRPr lang="en-US"/>
          </a:p>
        </p:txBody>
      </p:sp>
      <p:sp>
        <p:nvSpPr>
          <p:cNvPr id="70" name="Rectangle 33"/>
          <p:cNvSpPr>
            <a:spLocks noChangeArrowheads="1"/>
          </p:cNvSpPr>
          <p:nvPr/>
        </p:nvSpPr>
        <p:spPr bwMode="auto">
          <a:xfrm>
            <a:off x="2057400" y="4969669"/>
            <a:ext cx="1524000" cy="2857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c[0]</a:t>
            </a:r>
          </a:p>
        </p:txBody>
      </p:sp>
      <p:sp>
        <p:nvSpPr>
          <p:cNvPr id="71" name="Rectangle 34"/>
          <p:cNvSpPr>
            <a:spLocks noChangeArrowheads="1"/>
          </p:cNvSpPr>
          <p:nvPr/>
        </p:nvSpPr>
        <p:spPr bwMode="auto">
          <a:xfrm>
            <a:off x="3581400" y="4969669"/>
            <a:ext cx="1676400" cy="2857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c[1]</a:t>
            </a:r>
          </a:p>
        </p:txBody>
      </p:sp>
      <p:sp>
        <p:nvSpPr>
          <p:cNvPr id="72" name="Rectangle 35"/>
          <p:cNvSpPr>
            <a:spLocks noChangeArrowheads="1"/>
          </p:cNvSpPr>
          <p:nvPr/>
        </p:nvSpPr>
        <p:spPr bwMode="auto">
          <a:xfrm>
            <a:off x="5257800" y="4969669"/>
            <a:ext cx="16002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c[2]</a:t>
            </a:r>
          </a:p>
        </p:txBody>
      </p:sp>
      <p:sp>
        <p:nvSpPr>
          <p:cNvPr id="73" name="Rectangle 36"/>
          <p:cNvSpPr>
            <a:spLocks noChangeArrowheads="1"/>
          </p:cNvSpPr>
          <p:nvPr/>
        </p:nvSpPr>
        <p:spPr bwMode="auto">
          <a:xfrm>
            <a:off x="6858000" y="4969669"/>
            <a:ext cx="15240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c[3]</a:t>
            </a:r>
          </a:p>
        </p:txBody>
      </p:sp>
      <p:sp>
        <p:nvSpPr>
          <p:cNvPr id="74" name="Rectangle 37"/>
          <p:cNvSpPr>
            <a:spLocks noChangeArrowheads="1"/>
          </p:cNvSpPr>
          <p:nvPr/>
        </p:nvSpPr>
        <p:spPr bwMode="auto">
          <a:xfrm>
            <a:off x="914400" y="4969669"/>
            <a:ext cx="8382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nonce</a:t>
            </a:r>
          </a:p>
        </p:txBody>
      </p:sp>
      <p:sp>
        <p:nvSpPr>
          <p:cNvPr id="75" name="Text Box 39"/>
          <p:cNvSpPr txBox="1">
            <a:spLocks noChangeArrowheads="1"/>
          </p:cNvSpPr>
          <p:nvPr/>
        </p:nvSpPr>
        <p:spPr bwMode="auto">
          <a:xfrm>
            <a:off x="6951662" y="5372100"/>
            <a:ext cx="1185428" cy="369332"/>
          </a:xfrm>
          <a:prstGeom prst="rect">
            <a:avLst/>
          </a:prstGeom>
          <a:noFill/>
          <a:ln w="9525">
            <a:noFill/>
            <a:miter lim="800000"/>
            <a:headEnd/>
            <a:tailEnd/>
          </a:ln>
        </p:spPr>
        <p:txBody>
          <a:bodyPr wrap="none">
            <a:spAutoFit/>
          </a:bodyPr>
          <a:lstStyle/>
          <a:p>
            <a:r>
              <a:rPr lang="en-US" dirty="0" err="1">
                <a:latin typeface="Arial" charset="0"/>
              </a:rPr>
              <a:t>ciphertext</a:t>
            </a:r>
            <a:endParaRPr lang="en-US" dirty="0">
              <a:latin typeface="Arial" charset="0"/>
            </a:endParaRPr>
          </a:p>
        </p:txBody>
      </p:sp>
      <p:sp>
        <p:nvSpPr>
          <p:cNvPr id="77" name="Rectangle 11"/>
          <p:cNvSpPr>
            <a:spLocks noChangeArrowheads="1"/>
          </p:cNvSpPr>
          <p:nvPr/>
        </p:nvSpPr>
        <p:spPr bwMode="auto">
          <a:xfrm>
            <a:off x="914712" y="2797969"/>
            <a:ext cx="838044"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nonce</a:t>
            </a:r>
          </a:p>
        </p:txBody>
      </p:sp>
      <p:cxnSp>
        <p:nvCxnSpPr>
          <p:cNvPr id="81" name="Straight Connector 47"/>
          <p:cNvCxnSpPr>
            <a:cxnSpLocks noChangeShapeType="1"/>
          </p:cNvCxnSpPr>
          <p:nvPr/>
        </p:nvCxnSpPr>
        <p:spPr bwMode="auto">
          <a:xfrm rot="5400000">
            <a:off x="1180985" y="4625935"/>
            <a:ext cx="232172" cy="2858"/>
          </a:xfrm>
          <a:prstGeom prst="line">
            <a:avLst/>
          </a:prstGeom>
          <a:noFill/>
          <a:ln w="9525" algn="ctr">
            <a:solidFill>
              <a:schemeClr val="tx1"/>
            </a:solidFill>
            <a:round/>
            <a:headEnd/>
            <a:tailEnd/>
          </a:ln>
        </p:spPr>
      </p:cxnSp>
      <p:grpSp>
        <p:nvGrpSpPr>
          <p:cNvPr id="84" name="Group 83"/>
          <p:cNvGrpSpPr/>
          <p:nvPr/>
        </p:nvGrpSpPr>
        <p:grpSpPr>
          <a:xfrm>
            <a:off x="884238" y="3083720"/>
            <a:ext cx="1706562" cy="1659731"/>
            <a:chOff x="884238" y="2968624"/>
            <a:chExt cx="1706562" cy="2212975"/>
          </a:xfrm>
        </p:grpSpPr>
        <p:sp>
          <p:nvSpPr>
            <p:cNvPr id="78" name="Rectangle 4"/>
            <p:cNvSpPr>
              <a:spLocks noChangeArrowheads="1"/>
            </p:cNvSpPr>
            <p:nvPr/>
          </p:nvSpPr>
          <p:spPr bwMode="auto">
            <a:xfrm>
              <a:off x="884238" y="4038599"/>
              <a:ext cx="914230" cy="83820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E(k</a:t>
              </a:r>
              <a:r>
                <a:rPr lang="en-US" baseline="-25000" dirty="0">
                  <a:latin typeface="Arial" charset="0"/>
                </a:rPr>
                <a:t>1</a:t>
              </a:r>
              <a:r>
                <a:rPr lang="en-US" dirty="0">
                  <a:latin typeface="Arial" charset="0"/>
                </a:rPr>
                <a:t>,</a:t>
              </a:r>
              <a:r>
                <a:rPr lang="en-US" dirty="0">
                  <a:latin typeface="Arial" charset="0"/>
                  <a:sym typeface="Symbol" pitchFamily="18" charset="2"/>
                </a:rPr>
                <a:t>)</a:t>
              </a:r>
            </a:p>
          </p:txBody>
        </p:sp>
        <p:sp>
          <p:nvSpPr>
            <p:cNvPr id="79" name="Freeform 23"/>
            <p:cNvSpPr>
              <a:spLocks/>
            </p:cNvSpPr>
            <p:nvPr/>
          </p:nvSpPr>
          <p:spPr bwMode="auto">
            <a:xfrm>
              <a:off x="1295641" y="3505200"/>
              <a:ext cx="1295159" cy="1676399"/>
            </a:xfrm>
            <a:custGeom>
              <a:avLst/>
              <a:gdLst>
                <a:gd name="T0" fmla="*/ 0 w 912"/>
                <a:gd name="T1" fmla="*/ 2147483647 h 1056"/>
                <a:gd name="T2" fmla="*/ 2147483647 w 912"/>
                <a:gd name="T3" fmla="*/ 2147483647 h 1056"/>
                <a:gd name="T4" fmla="*/ 2147483647 w 912"/>
                <a:gd name="T5" fmla="*/ 0 h 1056"/>
                <a:gd name="T6" fmla="*/ 2147483647 w 912"/>
                <a:gd name="T7" fmla="*/ 0 h 1056"/>
                <a:gd name="T8" fmla="*/ 0 60000 65536"/>
                <a:gd name="T9" fmla="*/ 0 60000 65536"/>
                <a:gd name="T10" fmla="*/ 0 60000 65536"/>
                <a:gd name="T11" fmla="*/ 0 60000 65536"/>
                <a:gd name="T12" fmla="*/ 0 w 912"/>
                <a:gd name="T13" fmla="*/ 0 h 1056"/>
                <a:gd name="T14" fmla="*/ 912 w 912"/>
                <a:gd name="T15" fmla="*/ 1056 h 1056"/>
              </a:gdLst>
              <a:ahLst/>
              <a:cxnLst>
                <a:cxn ang="T8">
                  <a:pos x="T0" y="T1"/>
                </a:cxn>
                <a:cxn ang="T9">
                  <a:pos x="T2" y="T3"/>
                </a:cxn>
                <a:cxn ang="T10">
                  <a:pos x="T4" y="T5"/>
                </a:cxn>
                <a:cxn ang="T11">
                  <a:pos x="T6" y="T7"/>
                </a:cxn>
              </a:cxnLst>
              <a:rect l="T12" t="T13" r="T14" b="T15"/>
              <a:pathLst>
                <a:path w="912" h="1056">
                  <a:moveTo>
                    <a:pt x="0" y="1056"/>
                  </a:moveTo>
                  <a:lnTo>
                    <a:pt x="480" y="1056"/>
                  </a:lnTo>
                  <a:lnTo>
                    <a:pt x="480" y="0"/>
                  </a:lnTo>
                  <a:lnTo>
                    <a:pt x="912" y="0"/>
                  </a:lnTo>
                </a:path>
              </a:pathLst>
            </a:custGeom>
            <a:noFill/>
            <a:ln w="9525">
              <a:solidFill>
                <a:schemeClr val="tx1"/>
              </a:solidFill>
              <a:round/>
              <a:headEnd/>
              <a:tailEnd type="triangle" w="med" len="med"/>
            </a:ln>
          </p:spPr>
          <p:txBody>
            <a:bodyPr/>
            <a:lstStyle/>
            <a:p>
              <a:endParaRPr lang="en-US"/>
            </a:p>
          </p:txBody>
        </p:sp>
        <p:cxnSp>
          <p:nvCxnSpPr>
            <p:cNvPr id="80" name="Straight Arrow Connector 45"/>
            <p:cNvCxnSpPr>
              <a:cxnSpLocks noChangeShapeType="1"/>
              <a:stCxn id="77" idx="2"/>
              <a:endCxn id="78" idx="0"/>
            </p:cNvCxnSpPr>
            <p:nvPr/>
          </p:nvCxnSpPr>
          <p:spPr bwMode="auto">
            <a:xfrm rot="16200000" flipH="1">
              <a:off x="802557" y="3499802"/>
              <a:ext cx="1069975" cy="7619"/>
            </a:xfrm>
            <a:prstGeom prst="straightConnector1">
              <a:avLst/>
            </a:prstGeom>
            <a:noFill/>
            <a:ln w="9525" algn="ctr">
              <a:solidFill>
                <a:schemeClr val="tx1"/>
              </a:solidFill>
              <a:round/>
              <a:headEnd/>
              <a:tailEnd type="arrow" w="med" len="med"/>
            </a:ln>
          </p:spPr>
        </p:cxnSp>
        <p:sp>
          <p:nvSpPr>
            <p:cNvPr id="82" name="TextBox 81"/>
            <p:cNvSpPr txBox="1"/>
            <p:nvPr/>
          </p:nvSpPr>
          <p:spPr bwMode="auto">
            <a:xfrm>
              <a:off x="2011363" y="3022599"/>
              <a:ext cx="377026" cy="492443"/>
            </a:xfrm>
            <a:prstGeom prst="rect">
              <a:avLst/>
            </a:prstGeom>
            <a:noFill/>
          </p:spPr>
          <p:txBody>
            <a:bodyPr wrap="none">
              <a:spAutoFit/>
            </a:bodyPr>
            <a:lstStyle/>
            <a:p>
              <a:pPr>
                <a:defRPr/>
              </a:pPr>
              <a:r>
                <a:rPr lang="en-US" dirty="0"/>
                <a:t>IV</a:t>
              </a:r>
              <a:endParaRPr lang="en-US" sz="2390" b="1" dirty="0"/>
            </a:p>
          </p:txBody>
        </p:sp>
      </p:grpSp>
      <p:sp>
        <p:nvSpPr>
          <p:cNvPr id="83" name="TextBox 82"/>
          <p:cNvSpPr txBox="1"/>
          <p:nvPr/>
        </p:nvSpPr>
        <p:spPr>
          <a:xfrm>
            <a:off x="1905000" y="2114550"/>
            <a:ext cx="6890728" cy="400110"/>
          </a:xfrm>
          <a:prstGeom prst="rect">
            <a:avLst/>
          </a:prstGeom>
          <a:noFill/>
        </p:spPr>
        <p:txBody>
          <a:bodyPr wrap="none" rtlCol="0">
            <a:spAutoFit/>
          </a:bodyPr>
          <a:lstStyle/>
          <a:p>
            <a:r>
              <a:rPr lang="en-US" sz="2000" dirty="0"/>
              <a:t>unique nonce means:   (key, n)  pair is used for only one message</a:t>
            </a:r>
          </a:p>
        </p:txBody>
      </p:sp>
      <p:grpSp>
        <p:nvGrpSpPr>
          <p:cNvPr id="87" name="Group 86"/>
          <p:cNvGrpSpPr/>
          <p:nvPr/>
        </p:nvGrpSpPr>
        <p:grpSpPr>
          <a:xfrm>
            <a:off x="1295402" y="5269229"/>
            <a:ext cx="4553937" cy="774398"/>
            <a:chOff x="1295400" y="5882640"/>
            <a:chExt cx="4553937" cy="1032531"/>
          </a:xfrm>
        </p:grpSpPr>
        <p:sp>
          <p:nvSpPr>
            <p:cNvPr id="85" name="TextBox 84"/>
            <p:cNvSpPr txBox="1"/>
            <p:nvPr/>
          </p:nvSpPr>
          <p:spPr>
            <a:xfrm>
              <a:off x="1676400" y="6381691"/>
              <a:ext cx="4172937" cy="533480"/>
            </a:xfrm>
            <a:prstGeom prst="rect">
              <a:avLst/>
            </a:prstGeom>
            <a:noFill/>
            <a:ln>
              <a:solidFill>
                <a:srgbClr val="92D050"/>
              </a:solidFill>
            </a:ln>
          </p:spPr>
          <p:txBody>
            <a:bodyPr wrap="none" rtlCol="0">
              <a:spAutoFit/>
            </a:bodyPr>
            <a:lstStyle/>
            <a:p>
              <a:r>
                <a:rPr lang="en-US" sz="2000" dirty="0"/>
                <a:t>included only if unknown to </a:t>
              </a:r>
              <a:r>
                <a:rPr lang="en-US" sz="2000" dirty="0" err="1"/>
                <a:t>decryptor</a:t>
              </a:r>
              <a:endParaRPr lang="en-US" sz="2000" dirty="0"/>
            </a:p>
          </p:txBody>
        </p:sp>
        <p:sp>
          <p:nvSpPr>
            <p:cNvPr id="86" name="Freeform 85"/>
            <p:cNvSpPr/>
            <p:nvPr/>
          </p:nvSpPr>
          <p:spPr bwMode="auto">
            <a:xfrm>
              <a:off x="1295400" y="5882640"/>
              <a:ext cx="396240" cy="716280"/>
            </a:xfrm>
            <a:custGeom>
              <a:avLst/>
              <a:gdLst>
                <a:gd name="connsiteX0" fmla="*/ 396240 w 396240"/>
                <a:gd name="connsiteY0" fmla="*/ 716280 h 716280"/>
                <a:gd name="connsiteX1" fmla="*/ 137160 w 396240"/>
                <a:gd name="connsiteY1" fmla="*/ 563880 h 716280"/>
                <a:gd name="connsiteX2" fmla="*/ 0 w 396240"/>
                <a:gd name="connsiteY2" fmla="*/ 0 h 716280"/>
              </a:gdLst>
              <a:ahLst/>
              <a:cxnLst>
                <a:cxn ang="0">
                  <a:pos x="connsiteX0" y="connsiteY0"/>
                </a:cxn>
                <a:cxn ang="0">
                  <a:pos x="connsiteX1" y="connsiteY1"/>
                </a:cxn>
                <a:cxn ang="0">
                  <a:pos x="connsiteX2" y="connsiteY2"/>
                </a:cxn>
              </a:cxnLst>
              <a:rect l="l" t="t" r="r" b="b"/>
              <a:pathLst>
                <a:path w="396240" h="716280">
                  <a:moveTo>
                    <a:pt x="396240" y="716280"/>
                  </a:moveTo>
                  <a:cubicBezTo>
                    <a:pt x="299720" y="699770"/>
                    <a:pt x="203200" y="683260"/>
                    <a:pt x="137160" y="563880"/>
                  </a:cubicBezTo>
                  <a:cubicBezTo>
                    <a:pt x="71120" y="444500"/>
                    <a:pt x="35560" y="222250"/>
                    <a:pt x="0" y="0"/>
                  </a:cubicBezTo>
                </a:path>
              </a:pathLst>
            </a:custGeom>
            <a:no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a:latin typeface="Arial" charset="0"/>
              </a:endParaRPr>
            </a:p>
          </p:txBody>
        </p:sp>
      </p:grpSp>
    </p:spTree>
    <p:extLst>
      <p:ext uri="{BB962C8B-B14F-4D97-AF65-F5344CB8AC3E}">
        <p14:creationId xmlns:p14="http://schemas.microsoft.com/office/powerpoint/2010/main" val="144314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8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Crypto API    (</a:t>
            </a:r>
            <a:r>
              <a:rPr lang="en-US" dirty="0" err="1"/>
              <a:t>OpenSSL</a:t>
            </a:r>
            <a:r>
              <a:rPr lang="en-US" dirty="0"/>
              <a:t>)</a:t>
            </a:r>
          </a:p>
        </p:txBody>
      </p:sp>
      <p:sp>
        <p:nvSpPr>
          <p:cNvPr id="3" name="Content Placeholder 2"/>
          <p:cNvSpPr>
            <a:spLocks noGrp="1"/>
          </p:cNvSpPr>
          <p:nvPr>
            <p:ph sz="quarter" idx="13"/>
          </p:nvPr>
        </p:nvSpPr>
        <p:spPr/>
        <p:txBody>
          <a:bodyPr/>
          <a:lstStyle/>
          <a:p>
            <a:pPr marL="0" indent="0">
              <a:buNone/>
            </a:pPr>
            <a:r>
              <a:rPr lang="en-US" dirty="0"/>
              <a:t>void </a:t>
            </a:r>
            <a:r>
              <a:rPr lang="en-US" dirty="0" err="1"/>
              <a:t>AES_cbc_encrypt</a:t>
            </a:r>
            <a:r>
              <a:rPr lang="en-US" dirty="0"/>
              <a:t>(</a:t>
            </a:r>
          </a:p>
          <a:p>
            <a:pPr marL="0" indent="0">
              <a:buNone/>
            </a:pPr>
            <a:r>
              <a:rPr lang="en-US" dirty="0"/>
              <a:t>	</a:t>
            </a:r>
            <a:r>
              <a:rPr lang="en-US" dirty="0" err="1"/>
              <a:t>const</a:t>
            </a:r>
            <a:r>
              <a:rPr lang="en-US" dirty="0"/>
              <a:t> unsigned char *in, </a:t>
            </a:r>
          </a:p>
          <a:p>
            <a:pPr marL="0" indent="0">
              <a:buNone/>
            </a:pPr>
            <a:r>
              <a:rPr lang="en-US" dirty="0"/>
              <a:t>	unsigned char *out,</a:t>
            </a:r>
          </a:p>
          <a:p>
            <a:pPr marL="0" indent="0">
              <a:buNone/>
            </a:pPr>
            <a:r>
              <a:rPr lang="en-US" dirty="0"/>
              <a:t>	</a:t>
            </a:r>
            <a:r>
              <a:rPr lang="en-US" dirty="0" err="1"/>
              <a:t>size_t</a:t>
            </a:r>
            <a:r>
              <a:rPr lang="en-US" dirty="0"/>
              <a:t> length,</a:t>
            </a:r>
          </a:p>
          <a:p>
            <a:pPr marL="0" indent="0">
              <a:buNone/>
            </a:pPr>
            <a:r>
              <a:rPr lang="en-US" dirty="0"/>
              <a:t>	</a:t>
            </a:r>
            <a:r>
              <a:rPr lang="en-US" dirty="0" err="1"/>
              <a:t>const</a:t>
            </a:r>
            <a:r>
              <a:rPr lang="en-US" dirty="0"/>
              <a:t> AES_KEY *key,</a:t>
            </a:r>
          </a:p>
          <a:p>
            <a:pPr marL="0" indent="0">
              <a:buNone/>
            </a:pPr>
            <a:r>
              <a:rPr lang="en-US" dirty="0"/>
              <a:t>	</a:t>
            </a:r>
            <a:r>
              <a:rPr lang="en-US" b="1" dirty="0">
                <a:solidFill>
                  <a:srgbClr val="FF0000"/>
                </a:solidFill>
              </a:rPr>
              <a:t>unsigned char *</a:t>
            </a:r>
            <a:r>
              <a:rPr lang="en-US" b="1" dirty="0" err="1">
                <a:solidFill>
                  <a:srgbClr val="FF0000"/>
                </a:solidFill>
              </a:rPr>
              <a:t>ivec</a:t>
            </a:r>
            <a:r>
              <a:rPr lang="en-US" b="1" dirty="0">
                <a:solidFill>
                  <a:srgbClr val="FF0000"/>
                </a:solidFill>
              </a:rPr>
              <a:t>,		⟵   user supplies IV</a:t>
            </a:r>
          </a:p>
          <a:p>
            <a:pPr marL="0" indent="0">
              <a:buNone/>
            </a:pPr>
            <a:r>
              <a:rPr lang="en-US" dirty="0"/>
              <a:t>	AES_ENCRYPT or AES_DECRYPT);</a:t>
            </a:r>
          </a:p>
        </p:txBody>
      </p:sp>
      <p:sp>
        <p:nvSpPr>
          <p:cNvPr id="4" name="TextBox 3"/>
          <p:cNvSpPr txBox="1"/>
          <p:nvPr/>
        </p:nvSpPr>
        <p:spPr>
          <a:xfrm>
            <a:off x="533401" y="5405736"/>
            <a:ext cx="7285167" cy="461665"/>
          </a:xfrm>
          <a:prstGeom prst="rect">
            <a:avLst/>
          </a:prstGeom>
          <a:noFill/>
        </p:spPr>
        <p:txBody>
          <a:bodyPr wrap="none" rtlCol="0">
            <a:spAutoFit/>
          </a:bodyPr>
          <a:lstStyle/>
          <a:p>
            <a:r>
              <a:rPr lang="en-US" sz="2400" dirty="0"/>
              <a:t>When nonce is non random need to encrypt it before use</a:t>
            </a:r>
          </a:p>
        </p:txBody>
      </p:sp>
      <p:sp>
        <p:nvSpPr>
          <p:cNvPr id="6" name="TextBox 5">
            <a:extLst>
              <a:ext uri="{FF2B5EF4-FFF2-40B4-BE49-F238E27FC236}">
                <a16:creationId xmlns:a16="http://schemas.microsoft.com/office/drawing/2014/main" id="{06BEB36C-52A7-E442-BDF1-A0B8C81E7DC0}"/>
              </a:ext>
            </a:extLst>
          </p:cNvPr>
          <p:cNvSpPr txBox="1"/>
          <p:nvPr/>
        </p:nvSpPr>
        <p:spPr>
          <a:xfrm>
            <a:off x="7613817" y="2133600"/>
            <a:ext cx="1225383" cy="923330"/>
          </a:xfrm>
          <a:prstGeom prst="rect">
            <a:avLst/>
          </a:prstGeom>
          <a:noFill/>
          <a:ln>
            <a:solidFill>
              <a:schemeClr val="accent1"/>
            </a:solidFill>
          </a:ln>
        </p:spPr>
        <p:txBody>
          <a:bodyPr wrap="square" rtlCol="0">
            <a:spAutoFit/>
          </a:bodyPr>
          <a:lstStyle/>
          <a:p>
            <a:r>
              <a:rPr lang="en-US" dirty="0"/>
              <a:t>O</a:t>
            </a:r>
            <a:r>
              <a:rPr lang="en-VN" dirty="0"/>
              <a:t>therwise, no CPA security </a:t>
            </a:r>
            <a:endParaRPr dirty="0"/>
          </a:p>
        </p:txBody>
      </p:sp>
      <p:cxnSp>
        <p:nvCxnSpPr>
          <p:cNvPr id="8" name="Elbow Connector 7">
            <a:extLst>
              <a:ext uri="{FF2B5EF4-FFF2-40B4-BE49-F238E27FC236}">
                <a16:creationId xmlns:a16="http://schemas.microsoft.com/office/drawing/2014/main" id="{E80DBDF0-5DDD-CB4B-AE04-F38D7C85DDF7}"/>
              </a:ext>
            </a:extLst>
          </p:cNvPr>
          <p:cNvCxnSpPr>
            <a:cxnSpLocks/>
            <a:stCxn id="6" idx="2"/>
            <a:endCxn id="4" idx="3"/>
          </p:cNvCxnSpPr>
          <p:nvPr/>
        </p:nvCxnSpPr>
        <p:spPr>
          <a:xfrm rot="5400000">
            <a:off x="6732719" y="4142780"/>
            <a:ext cx="2579638" cy="4079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166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CBC technicality:  padding</a:t>
            </a:r>
          </a:p>
        </p:txBody>
      </p:sp>
      <p:sp>
        <p:nvSpPr>
          <p:cNvPr id="3" name="Content Placeholder 2">
            <a:extLst>
              <a:ext uri="{FF2B5EF4-FFF2-40B4-BE49-F238E27FC236}">
                <a16:creationId xmlns:a16="http://schemas.microsoft.com/office/drawing/2014/main" id="{4FD707C5-0C88-4DAA-D22B-7E923BF26CC9}"/>
              </a:ext>
            </a:extLst>
          </p:cNvPr>
          <p:cNvSpPr>
            <a:spLocks noGrp="1"/>
          </p:cNvSpPr>
          <p:nvPr>
            <p:ph sz="quarter" idx="13"/>
          </p:nvPr>
        </p:nvSpPr>
        <p:spPr/>
        <p:txBody>
          <a:bodyPr/>
          <a:lstStyle/>
          <a:p>
            <a:endParaRPr/>
          </a:p>
        </p:txBody>
      </p:sp>
      <p:sp>
        <p:nvSpPr>
          <p:cNvPr id="4" name="Rectangle 40"/>
          <p:cNvSpPr>
            <a:spLocks noChangeArrowheads="1"/>
          </p:cNvSpPr>
          <p:nvPr/>
        </p:nvSpPr>
        <p:spPr bwMode="auto">
          <a:xfrm>
            <a:off x="304800" y="4102894"/>
            <a:ext cx="8153400" cy="538163"/>
          </a:xfrm>
          <a:prstGeom prst="rect">
            <a:avLst/>
          </a:prstGeom>
          <a:solidFill>
            <a:schemeClr val="folHlink"/>
          </a:solidFill>
          <a:ln w="9525">
            <a:solidFill>
              <a:schemeClr val="tx1"/>
            </a:solidFill>
            <a:miter lim="800000"/>
            <a:headEnd/>
            <a:tailEnd/>
          </a:ln>
        </p:spPr>
        <p:txBody>
          <a:bodyPr wrap="none" anchor="ctr"/>
          <a:lstStyle/>
          <a:p>
            <a:endParaRPr lang="en-US"/>
          </a:p>
        </p:txBody>
      </p:sp>
      <p:sp>
        <p:nvSpPr>
          <p:cNvPr id="5" name="Rectangle 4"/>
          <p:cNvSpPr>
            <a:spLocks noChangeArrowheads="1"/>
          </p:cNvSpPr>
          <p:nvPr/>
        </p:nvSpPr>
        <p:spPr bwMode="auto">
          <a:xfrm>
            <a:off x="2133600" y="3143250"/>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6" name="Rectangle 5"/>
          <p:cNvSpPr>
            <a:spLocks noChangeArrowheads="1"/>
          </p:cNvSpPr>
          <p:nvPr/>
        </p:nvSpPr>
        <p:spPr bwMode="auto">
          <a:xfrm>
            <a:off x="3810000" y="3143250"/>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7" name="Rectangle 6"/>
          <p:cNvSpPr>
            <a:spLocks noChangeArrowheads="1"/>
          </p:cNvSpPr>
          <p:nvPr/>
        </p:nvSpPr>
        <p:spPr bwMode="auto">
          <a:xfrm>
            <a:off x="7010400" y="3143250"/>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8" name="Rectangle 7"/>
          <p:cNvSpPr>
            <a:spLocks noChangeArrowheads="1"/>
          </p:cNvSpPr>
          <p:nvPr/>
        </p:nvSpPr>
        <p:spPr bwMode="auto">
          <a:xfrm>
            <a:off x="1828800" y="2057400"/>
            <a:ext cx="1524000" cy="285750"/>
          </a:xfrm>
          <a:prstGeom prst="rect">
            <a:avLst/>
          </a:prstGeom>
          <a:solidFill>
            <a:srgbClr val="FAC090"/>
          </a:solidFill>
          <a:ln w="9525">
            <a:solidFill>
              <a:schemeClr val="tx1"/>
            </a:solidFill>
            <a:miter lim="800000"/>
            <a:headEnd/>
            <a:tailEnd/>
          </a:ln>
        </p:spPr>
        <p:txBody>
          <a:bodyPr wrap="none" anchor="ctr"/>
          <a:lstStyle/>
          <a:p>
            <a:pPr algn="ctr"/>
            <a:r>
              <a:rPr lang="en-US">
                <a:latin typeface="Arial" charset="0"/>
              </a:rPr>
              <a:t>m[0]</a:t>
            </a:r>
          </a:p>
        </p:txBody>
      </p:sp>
      <p:sp>
        <p:nvSpPr>
          <p:cNvPr id="9" name="Rectangle 8"/>
          <p:cNvSpPr>
            <a:spLocks noChangeArrowheads="1"/>
          </p:cNvSpPr>
          <p:nvPr/>
        </p:nvSpPr>
        <p:spPr bwMode="auto">
          <a:xfrm>
            <a:off x="3352800" y="2057400"/>
            <a:ext cx="1676400" cy="285750"/>
          </a:xfrm>
          <a:prstGeom prst="rect">
            <a:avLst/>
          </a:prstGeom>
          <a:solidFill>
            <a:srgbClr val="FAC090"/>
          </a:solidFill>
          <a:ln w="9525">
            <a:solidFill>
              <a:schemeClr val="tx1"/>
            </a:solidFill>
            <a:miter lim="800000"/>
            <a:headEnd/>
            <a:tailEnd/>
          </a:ln>
        </p:spPr>
        <p:txBody>
          <a:bodyPr wrap="none" anchor="ctr"/>
          <a:lstStyle/>
          <a:p>
            <a:pPr algn="ctr"/>
            <a:r>
              <a:rPr lang="en-US">
                <a:latin typeface="Arial" charset="0"/>
              </a:rPr>
              <a:t>m[1]</a:t>
            </a:r>
          </a:p>
        </p:txBody>
      </p:sp>
      <p:sp>
        <p:nvSpPr>
          <p:cNvPr id="10" name="Rectangle 9"/>
          <p:cNvSpPr>
            <a:spLocks noChangeArrowheads="1"/>
          </p:cNvSpPr>
          <p:nvPr/>
        </p:nvSpPr>
        <p:spPr bwMode="auto">
          <a:xfrm>
            <a:off x="5029200" y="2057400"/>
            <a:ext cx="1600200" cy="28575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m[2]</a:t>
            </a:r>
          </a:p>
        </p:txBody>
      </p:sp>
      <p:sp>
        <p:nvSpPr>
          <p:cNvPr id="11" name="Rectangle 10"/>
          <p:cNvSpPr>
            <a:spLocks noChangeArrowheads="1"/>
          </p:cNvSpPr>
          <p:nvPr/>
        </p:nvSpPr>
        <p:spPr bwMode="auto">
          <a:xfrm>
            <a:off x="6629400" y="2057400"/>
            <a:ext cx="1524000" cy="28575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m[3]  </a:t>
            </a:r>
            <a:r>
              <a:rPr lang="en-US" dirty="0" err="1">
                <a:latin typeface="Arial" charset="0"/>
              </a:rPr>
              <a:t>ll</a:t>
            </a:r>
            <a:r>
              <a:rPr lang="en-US" dirty="0">
                <a:latin typeface="Arial" charset="0"/>
              </a:rPr>
              <a:t>  </a:t>
            </a:r>
            <a:r>
              <a:rPr lang="en-US" sz="2000" b="1" dirty="0">
                <a:solidFill>
                  <a:srgbClr val="FF0000"/>
                </a:solidFill>
                <a:latin typeface="Arial" charset="0"/>
              </a:rPr>
              <a:t>pad</a:t>
            </a:r>
            <a:endParaRPr lang="en-US" b="1" dirty="0">
              <a:solidFill>
                <a:srgbClr val="FF0000"/>
              </a:solidFill>
              <a:latin typeface="Arial" charset="0"/>
            </a:endParaRPr>
          </a:p>
        </p:txBody>
      </p:sp>
      <p:sp>
        <p:nvSpPr>
          <p:cNvPr id="12" name="Text Box 12"/>
          <p:cNvSpPr txBox="1">
            <a:spLocks noChangeArrowheads="1"/>
          </p:cNvSpPr>
          <p:nvPr/>
        </p:nvSpPr>
        <p:spPr bwMode="auto">
          <a:xfrm>
            <a:off x="2322514" y="2408455"/>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13" name="Text Box 13"/>
          <p:cNvSpPr txBox="1">
            <a:spLocks noChangeArrowheads="1"/>
          </p:cNvSpPr>
          <p:nvPr/>
        </p:nvSpPr>
        <p:spPr bwMode="auto">
          <a:xfrm>
            <a:off x="7239000" y="2408455"/>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14" name="Text Box 14"/>
          <p:cNvSpPr txBox="1">
            <a:spLocks noChangeArrowheads="1"/>
          </p:cNvSpPr>
          <p:nvPr/>
        </p:nvSpPr>
        <p:spPr bwMode="auto">
          <a:xfrm>
            <a:off x="4038600" y="2408455"/>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15" name="Line 15"/>
          <p:cNvSpPr>
            <a:spLocks noChangeShapeType="1"/>
          </p:cNvSpPr>
          <p:nvPr/>
        </p:nvSpPr>
        <p:spPr bwMode="auto">
          <a:xfrm>
            <a:off x="2559050" y="2343150"/>
            <a:ext cx="0" cy="285750"/>
          </a:xfrm>
          <a:prstGeom prst="line">
            <a:avLst/>
          </a:prstGeom>
          <a:noFill/>
          <a:ln w="9525">
            <a:solidFill>
              <a:schemeClr val="tx1"/>
            </a:solidFill>
            <a:round/>
            <a:headEnd/>
            <a:tailEnd type="triangle" w="med" len="med"/>
          </a:ln>
        </p:spPr>
        <p:txBody>
          <a:bodyPr/>
          <a:lstStyle/>
          <a:p>
            <a:endParaRPr lang="en-US"/>
          </a:p>
        </p:txBody>
      </p:sp>
      <p:sp>
        <p:nvSpPr>
          <p:cNvPr id="16" name="Line 16"/>
          <p:cNvSpPr>
            <a:spLocks noChangeShapeType="1"/>
          </p:cNvSpPr>
          <p:nvPr/>
        </p:nvSpPr>
        <p:spPr bwMode="auto">
          <a:xfrm>
            <a:off x="4267200" y="2366962"/>
            <a:ext cx="0" cy="285750"/>
          </a:xfrm>
          <a:prstGeom prst="line">
            <a:avLst/>
          </a:prstGeom>
          <a:noFill/>
          <a:ln w="9525">
            <a:solidFill>
              <a:schemeClr val="tx1"/>
            </a:solidFill>
            <a:round/>
            <a:headEnd/>
            <a:tailEnd type="triangle" w="med" len="med"/>
          </a:ln>
        </p:spPr>
        <p:txBody>
          <a:bodyPr/>
          <a:lstStyle/>
          <a:p>
            <a:endParaRPr lang="en-US"/>
          </a:p>
        </p:txBody>
      </p:sp>
      <p:sp>
        <p:nvSpPr>
          <p:cNvPr id="17" name="Line 17"/>
          <p:cNvSpPr>
            <a:spLocks noChangeShapeType="1"/>
          </p:cNvSpPr>
          <p:nvPr/>
        </p:nvSpPr>
        <p:spPr bwMode="auto">
          <a:xfrm>
            <a:off x="7467600" y="2343150"/>
            <a:ext cx="0" cy="285750"/>
          </a:xfrm>
          <a:prstGeom prst="line">
            <a:avLst/>
          </a:prstGeom>
          <a:noFill/>
          <a:ln w="9525">
            <a:solidFill>
              <a:schemeClr val="tx1"/>
            </a:solidFill>
            <a:round/>
            <a:headEnd/>
            <a:tailEnd type="triangle" w="med" len="med"/>
          </a:ln>
        </p:spPr>
        <p:txBody>
          <a:bodyPr/>
          <a:lstStyle/>
          <a:p>
            <a:endParaRPr lang="en-US"/>
          </a:p>
        </p:txBody>
      </p:sp>
      <p:sp>
        <p:nvSpPr>
          <p:cNvPr id="18" name="Line 18"/>
          <p:cNvSpPr>
            <a:spLocks noChangeShapeType="1"/>
          </p:cNvSpPr>
          <p:nvPr/>
        </p:nvSpPr>
        <p:spPr bwMode="auto">
          <a:xfrm>
            <a:off x="4267200" y="2857500"/>
            <a:ext cx="0" cy="285750"/>
          </a:xfrm>
          <a:prstGeom prst="line">
            <a:avLst/>
          </a:prstGeom>
          <a:noFill/>
          <a:ln w="9525">
            <a:solidFill>
              <a:schemeClr val="tx1"/>
            </a:solidFill>
            <a:round/>
            <a:headEnd/>
            <a:tailEnd type="triangle" w="med" len="med"/>
          </a:ln>
        </p:spPr>
        <p:txBody>
          <a:bodyPr/>
          <a:lstStyle/>
          <a:p>
            <a:endParaRPr lang="en-US"/>
          </a:p>
        </p:txBody>
      </p:sp>
      <p:sp>
        <p:nvSpPr>
          <p:cNvPr id="19" name="Line 19"/>
          <p:cNvSpPr>
            <a:spLocks noChangeShapeType="1"/>
          </p:cNvSpPr>
          <p:nvPr/>
        </p:nvSpPr>
        <p:spPr bwMode="auto">
          <a:xfrm>
            <a:off x="7467600" y="2857500"/>
            <a:ext cx="0" cy="285750"/>
          </a:xfrm>
          <a:prstGeom prst="line">
            <a:avLst/>
          </a:prstGeom>
          <a:noFill/>
          <a:ln w="9525">
            <a:solidFill>
              <a:schemeClr val="tx1"/>
            </a:solidFill>
            <a:round/>
            <a:headEnd/>
            <a:tailEnd type="triangle" w="med" len="med"/>
          </a:ln>
        </p:spPr>
        <p:txBody>
          <a:bodyPr/>
          <a:lstStyle/>
          <a:p>
            <a:endParaRPr lang="en-US"/>
          </a:p>
        </p:txBody>
      </p:sp>
      <p:sp>
        <p:nvSpPr>
          <p:cNvPr id="20" name="Line 20"/>
          <p:cNvSpPr>
            <a:spLocks noChangeShapeType="1"/>
          </p:cNvSpPr>
          <p:nvPr/>
        </p:nvSpPr>
        <p:spPr bwMode="auto">
          <a:xfrm>
            <a:off x="2514600" y="2857500"/>
            <a:ext cx="0" cy="285750"/>
          </a:xfrm>
          <a:prstGeom prst="line">
            <a:avLst/>
          </a:prstGeom>
          <a:noFill/>
          <a:ln w="9525">
            <a:solidFill>
              <a:schemeClr val="tx1"/>
            </a:solidFill>
            <a:round/>
            <a:headEnd/>
            <a:tailEnd type="triangle" w="med" len="med"/>
          </a:ln>
        </p:spPr>
        <p:txBody>
          <a:bodyPr/>
          <a:lstStyle/>
          <a:p>
            <a:endParaRPr lang="en-US"/>
          </a:p>
        </p:txBody>
      </p:sp>
      <p:sp>
        <p:nvSpPr>
          <p:cNvPr id="21" name="Line 22"/>
          <p:cNvSpPr>
            <a:spLocks noChangeShapeType="1"/>
          </p:cNvSpPr>
          <p:nvPr/>
        </p:nvSpPr>
        <p:spPr bwMode="auto">
          <a:xfrm>
            <a:off x="2514600" y="3771900"/>
            <a:ext cx="1588" cy="457200"/>
          </a:xfrm>
          <a:prstGeom prst="line">
            <a:avLst/>
          </a:prstGeom>
          <a:noFill/>
          <a:ln w="9525">
            <a:solidFill>
              <a:schemeClr val="tx1"/>
            </a:solidFill>
            <a:round/>
            <a:headEnd/>
            <a:tailEnd type="triangle" w="med" len="med"/>
          </a:ln>
        </p:spPr>
        <p:txBody>
          <a:bodyPr/>
          <a:lstStyle/>
          <a:p>
            <a:endParaRPr lang="en-US"/>
          </a:p>
        </p:txBody>
      </p:sp>
      <p:sp>
        <p:nvSpPr>
          <p:cNvPr id="22" name="Freeform 23"/>
          <p:cNvSpPr>
            <a:spLocks/>
          </p:cNvSpPr>
          <p:nvPr/>
        </p:nvSpPr>
        <p:spPr bwMode="auto">
          <a:xfrm>
            <a:off x="2514600" y="2743200"/>
            <a:ext cx="16002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23" name="Line 24"/>
          <p:cNvSpPr>
            <a:spLocks noChangeShapeType="1"/>
          </p:cNvSpPr>
          <p:nvPr/>
        </p:nvSpPr>
        <p:spPr bwMode="auto">
          <a:xfrm>
            <a:off x="4267200" y="3771900"/>
            <a:ext cx="1588" cy="457200"/>
          </a:xfrm>
          <a:prstGeom prst="line">
            <a:avLst/>
          </a:prstGeom>
          <a:noFill/>
          <a:ln w="9525">
            <a:solidFill>
              <a:schemeClr val="tx1"/>
            </a:solidFill>
            <a:round/>
            <a:headEnd/>
            <a:tailEnd type="triangle" w="med" len="med"/>
          </a:ln>
        </p:spPr>
        <p:txBody>
          <a:bodyPr/>
          <a:lstStyle/>
          <a:p>
            <a:endParaRPr lang="en-US"/>
          </a:p>
        </p:txBody>
      </p:sp>
      <p:sp>
        <p:nvSpPr>
          <p:cNvPr id="24" name="Rectangle 25"/>
          <p:cNvSpPr>
            <a:spLocks noChangeArrowheads="1"/>
          </p:cNvSpPr>
          <p:nvPr/>
        </p:nvSpPr>
        <p:spPr bwMode="auto">
          <a:xfrm>
            <a:off x="5486400" y="3143250"/>
            <a:ext cx="914400" cy="6286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E(k,</a:t>
            </a:r>
            <a:r>
              <a:rPr lang="en-US">
                <a:latin typeface="Arial" charset="0"/>
                <a:sym typeface="Symbol" pitchFamily="18" charset="2"/>
              </a:rPr>
              <a:t>)</a:t>
            </a:r>
          </a:p>
        </p:txBody>
      </p:sp>
      <p:sp>
        <p:nvSpPr>
          <p:cNvPr id="25" name="Freeform 26"/>
          <p:cNvSpPr>
            <a:spLocks/>
          </p:cNvSpPr>
          <p:nvPr/>
        </p:nvSpPr>
        <p:spPr bwMode="auto">
          <a:xfrm>
            <a:off x="4267200" y="2743200"/>
            <a:ext cx="16002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26" name="Freeform 27"/>
          <p:cNvSpPr>
            <a:spLocks/>
          </p:cNvSpPr>
          <p:nvPr/>
        </p:nvSpPr>
        <p:spPr bwMode="auto">
          <a:xfrm>
            <a:off x="5943600" y="2743200"/>
            <a:ext cx="1371600" cy="1257300"/>
          </a:xfrm>
          <a:custGeom>
            <a:avLst/>
            <a:gdLst>
              <a:gd name="T0" fmla="*/ 0 w 1008"/>
              <a:gd name="T1" fmla="*/ 2147483647 h 1056"/>
              <a:gd name="T2" fmla="*/ 2147483647 w 1008"/>
              <a:gd name="T3" fmla="*/ 2147483647 h 1056"/>
              <a:gd name="T4" fmla="*/ 2147483647 w 1008"/>
              <a:gd name="T5" fmla="*/ 0 h 1056"/>
              <a:gd name="T6" fmla="*/ 2147483647 w 1008"/>
              <a:gd name="T7" fmla="*/ 0 h 1056"/>
              <a:gd name="T8" fmla="*/ 0 60000 65536"/>
              <a:gd name="T9" fmla="*/ 0 60000 65536"/>
              <a:gd name="T10" fmla="*/ 0 60000 65536"/>
              <a:gd name="T11" fmla="*/ 0 60000 65536"/>
              <a:gd name="T12" fmla="*/ 0 w 1008"/>
              <a:gd name="T13" fmla="*/ 0 h 1056"/>
              <a:gd name="T14" fmla="*/ 1008 w 1008"/>
              <a:gd name="T15" fmla="*/ 1056 h 1056"/>
            </a:gdLst>
            <a:ahLst/>
            <a:cxnLst>
              <a:cxn ang="T8">
                <a:pos x="T0" y="T1"/>
              </a:cxn>
              <a:cxn ang="T9">
                <a:pos x="T2" y="T3"/>
              </a:cxn>
              <a:cxn ang="T10">
                <a:pos x="T4" y="T5"/>
              </a:cxn>
              <a:cxn ang="T11">
                <a:pos x="T6" y="T7"/>
              </a:cxn>
            </a:cxnLst>
            <a:rect l="T12" t="T13" r="T14" b="T15"/>
            <a:pathLst>
              <a:path w="1008" h="1056">
                <a:moveTo>
                  <a:pt x="0" y="1056"/>
                </a:moveTo>
                <a:lnTo>
                  <a:pt x="576" y="1056"/>
                </a:lnTo>
                <a:lnTo>
                  <a:pt x="576" y="0"/>
                </a:lnTo>
                <a:lnTo>
                  <a:pt x="1008" y="0"/>
                </a:lnTo>
              </a:path>
            </a:pathLst>
          </a:custGeom>
          <a:noFill/>
          <a:ln w="9525">
            <a:solidFill>
              <a:schemeClr val="tx1"/>
            </a:solidFill>
            <a:round/>
            <a:headEnd/>
            <a:tailEnd type="triangle" w="med" len="med"/>
          </a:ln>
        </p:spPr>
        <p:txBody>
          <a:bodyPr/>
          <a:lstStyle/>
          <a:p>
            <a:endParaRPr lang="en-US"/>
          </a:p>
        </p:txBody>
      </p:sp>
      <p:sp>
        <p:nvSpPr>
          <p:cNvPr id="27" name="Text Box 28"/>
          <p:cNvSpPr txBox="1">
            <a:spLocks noChangeArrowheads="1"/>
          </p:cNvSpPr>
          <p:nvPr/>
        </p:nvSpPr>
        <p:spPr bwMode="auto">
          <a:xfrm>
            <a:off x="5751514" y="2408455"/>
            <a:ext cx="499856" cy="584776"/>
          </a:xfrm>
          <a:prstGeom prst="rect">
            <a:avLst/>
          </a:prstGeom>
          <a:noFill/>
          <a:ln w="9525">
            <a:noFill/>
            <a:miter lim="800000"/>
            <a:headEnd/>
            <a:tailEnd/>
          </a:ln>
        </p:spPr>
        <p:txBody>
          <a:bodyPr wrap="none">
            <a:spAutoFit/>
          </a:bodyPr>
          <a:lstStyle/>
          <a:p>
            <a:r>
              <a:rPr lang="en-US" sz="3200" dirty="0">
                <a:latin typeface="Arial" charset="0"/>
                <a:sym typeface="Symbol" pitchFamily="18" charset="2"/>
              </a:rPr>
              <a:t></a:t>
            </a:r>
          </a:p>
        </p:txBody>
      </p:sp>
      <p:sp>
        <p:nvSpPr>
          <p:cNvPr id="28" name="Line 29"/>
          <p:cNvSpPr>
            <a:spLocks noChangeShapeType="1"/>
          </p:cNvSpPr>
          <p:nvPr/>
        </p:nvSpPr>
        <p:spPr bwMode="auto">
          <a:xfrm>
            <a:off x="5980113" y="2366962"/>
            <a:ext cx="0" cy="285750"/>
          </a:xfrm>
          <a:prstGeom prst="line">
            <a:avLst/>
          </a:prstGeom>
          <a:noFill/>
          <a:ln w="9525">
            <a:solidFill>
              <a:schemeClr val="tx1"/>
            </a:solidFill>
            <a:round/>
            <a:headEnd/>
            <a:tailEnd type="triangle" w="med" len="med"/>
          </a:ln>
        </p:spPr>
        <p:txBody>
          <a:bodyPr/>
          <a:lstStyle/>
          <a:p>
            <a:endParaRPr lang="en-US"/>
          </a:p>
        </p:txBody>
      </p:sp>
      <p:sp>
        <p:nvSpPr>
          <p:cNvPr id="29" name="Line 30"/>
          <p:cNvSpPr>
            <a:spLocks noChangeShapeType="1"/>
          </p:cNvSpPr>
          <p:nvPr/>
        </p:nvSpPr>
        <p:spPr bwMode="auto">
          <a:xfrm>
            <a:off x="5980113" y="2857500"/>
            <a:ext cx="0" cy="285750"/>
          </a:xfrm>
          <a:prstGeom prst="line">
            <a:avLst/>
          </a:prstGeom>
          <a:noFill/>
          <a:ln w="9525">
            <a:solidFill>
              <a:schemeClr val="tx1"/>
            </a:solidFill>
            <a:round/>
            <a:headEnd/>
            <a:tailEnd type="triangle" w="med" len="med"/>
          </a:ln>
        </p:spPr>
        <p:txBody>
          <a:bodyPr/>
          <a:lstStyle/>
          <a:p>
            <a:endParaRPr lang="en-US"/>
          </a:p>
        </p:txBody>
      </p:sp>
      <p:sp>
        <p:nvSpPr>
          <p:cNvPr id="30" name="Line 31"/>
          <p:cNvSpPr>
            <a:spLocks noChangeShapeType="1"/>
          </p:cNvSpPr>
          <p:nvPr/>
        </p:nvSpPr>
        <p:spPr bwMode="auto">
          <a:xfrm>
            <a:off x="5943600" y="3771900"/>
            <a:ext cx="1588" cy="457200"/>
          </a:xfrm>
          <a:prstGeom prst="line">
            <a:avLst/>
          </a:prstGeom>
          <a:noFill/>
          <a:ln w="9525">
            <a:solidFill>
              <a:schemeClr val="tx1"/>
            </a:solidFill>
            <a:round/>
            <a:headEnd/>
            <a:tailEnd type="triangle" w="med" len="med"/>
          </a:ln>
        </p:spPr>
        <p:txBody>
          <a:bodyPr/>
          <a:lstStyle/>
          <a:p>
            <a:endParaRPr lang="en-US"/>
          </a:p>
        </p:txBody>
      </p:sp>
      <p:sp>
        <p:nvSpPr>
          <p:cNvPr id="31" name="Line 32"/>
          <p:cNvSpPr>
            <a:spLocks noChangeShapeType="1"/>
          </p:cNvSpPr>
          <p:nvPr/>
        </p:nvSpPr>
        <p:spPr bwMode="auto">
          <a:xfrm>
            <a:off x="7466015" y="3771900"/>
            <a:ext cx="1587" cy="457200"/>
          </a:xfrm>
          <a:prstGeom prst="line">
            <a:avLst/>
          </a:prstGeom>
          <a:noFill/>
          <a:ln w="9525">
            <a:solidFill>
              <a:schemeClr val="tx1"/>
            </a:solidFill>
            <a:round/>
            <a:headEnd/>
            <a:tailEnd type="triangle" w="med" len="med"/>
          </a:ln>
        </p:spPr>
        <p:txBody>
          <a:bodyPr/>
          <a:lstStyle/>
          <a:p>
            <a:endParaRPr lang="en-US"/>
          </a:p>
        </p:txBody>
      </p:sp>
      <p:sp>
        <p:nvSpPr>
          <p:cNvPr id="32" name="Rectangle 33"/>
          <p:cNvSpPr>
            <a:spLocks noChangeArrowheads="1"/>
          </p:cNvSpPr>
          <p:nvPr/>
        </p:nvSpPr>
        <p:spPr bwMode="auto">
          <a:xfrm>
            <a:off x="1828800" y="4229100"/>
            <a:ext cx="1524000" cy="2857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c[0]</a:t>
            </a:r>
          </a:p>
        </p:txBody>
      </p:sp>
      <p:sp>
        <p:nvSpPr>
          <p:cNvPr id="33" name="Rectangle 34"/>
          <p:cNvSpPr>
            <a:spLocks noChangeArrowheads="1"/>
          </p:cNvSpPr>
          <p:nvPr/>
        </p:nvSpPr>
        <p:spPr bwMode="auto">
          <a:xfrm>
            <a:off x="3352800" y="4229100"/>
            <a:ext cx="1676400" cy="2857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c[1]</a:t>
            </a:r>
          </a:p>
        </p:txBody>
      </p:sp>
      <p:sp>
        <p:nvSpPr>
          <p:cNvPr id="34" name="Rectangle 35"/>
          <p:cNvSpPr>
            <a:spLocks noChangeArrowheads="1"/>
          </p:cNvSpPr>
          <p:nvPr/>
        </p:nvSpPr>
        <p:spPr bwMode="auto">
          <a:xfrm>
            <a:off x="5029200" y="4229100"/>
            <a:ext cx="16002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c[2]</a:t>
            </a:r>
          </a:p>
        </p:txBody>
      </p:sp>
      <p:sp>
        <p:nvSpPr>
          <p:cNvPr id="35" name="Rectangle 36"/>
          <p:cNvSpPr>
            <a:spLocks noChangeArrowheads="1"/>
          </p:cNvSpPr>
          <p:nvPr/>
        </p:nvSpPr>
        <p:spPr bwMode="auto">
          <a:xfrm>
            <a:off x="6629400" y="4229100"/>
            <a:ext cx="15240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c[3]</a:t>
            </a:r>
          </a:p>
        </p:txBody>
      </p:sp>
      <p:sp>
        <p:nvSpPr>
          <p:cNvPr id="36" name="Rectangle 37"/>
          <p:cNvSpPr>
            <a:spLocks noChangeArrowheads="1"/>
          </p:cNvSpPr>
          <p:nvPr/>
        </p:nvSpPr>
        <p:spPr bwMode="auto">
          <a:xfrm>
            <a:off x="685800" y="4229100"/>
            <a:ext cx="838200" cy="28575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IV</a:t>
            </a:r>
          </a:p>
        </p:txBody>
      </p:sp>
      <p:sp>
        <p:nvSpPr>
          <p:cNvPr id="37" name="Rectangle 11"/>
          <p:cNvSpPr>
            <a:spLocks noChangeArrowheads="1"/>
          </p:cNvSpPr>
          <p:nvPr/>
        </p:nvSpPr>
        <p:spPr bwMode="auto">
          <a:xfrm>
            <a:off x="686112" y="2057400"/>
            <a:ext cx="838044" cy="285750"/>
          </a:xfrm>
          <a:prstGeom prst="rect">
            <a:avLst/>
          </a:prstGeom>
          <a:solidFill>
            <a:schemeClr val="accent1"/>
          </a:solidFill>
          <a:ln w="9525">
            <a:solidFill>
              <a:schemeClr val="tx1"/>
            </a:solidFill>
            <a:miter lim="800000"/>
            <a:headEnd/>
            <a:tailEnd/>
          </a:ln>
        </p:spPr>
        <p:txBody>
          <a:bodyPr wrap="none" anchor="ctr"/>
          <a:lstStyle/>
          <a:p>
            <a:pPr algn="ctr"/>
            <a:r>
              <a:rPr lang="en-US">
                <a:latin typeface="Arial" charset="0"/>
              </a:rPr>
              <a:t>IV</a:t>
            </a:r>
          </a:p>
        </p:txBody>
      </p:sp>
      <p:cxnSp>
        <p:nvCxnSpPr>
          <p:cNvPr id="38" name="Straight Connector 47"/>
          <p:cNvCxnSpPr>
            <a:cxnSpLocks noChangeShapeType="1"/>
          </p:cNvCxnSpPr>
          <p:nvPr/>
        </p:nvCxnSpPr>
        <p:spPr bwMode="auto">
          <a:xfrm rot="5400000">
            <a:off x="952385" y="3885366"/>
            <a:ext cx="232172" cy="2858"/>
          </a:xfrm>
          <a:prstGeom prst="line">
            <a:avLst/>
          </a:prstGeom>
          <a:noFill/>
          <a:ln w="9525" algn="ctr">
            <a:solidFill>
              <a:schemeClr val="tx1"/>
            </a:solidFill>
            <a:round/>
            <a:headEnd/>
            <a:tailEnd/>
          </a:ln>
        </p:spPr>
      </p:cxnSp>
      <p:grpSp>
        <p:nvGrpSpPr>
          <p:cNvPr id="39" name="Group 38"/>
          <p:cNvGrpSpPr/>
          <p:nvPr/>
        </p:nvGrpSpPr>
        <p:grpSpPr>
          <a:xfrm>
            <a:off x="655638" y="2266950"/>
            <a:ext cx="1706562" cy="1735932"/>
            <a:chOff x="884238" y="2867023"/>
            <a:chExt cx="1706562" cy="2314576"/>
          </a:xfrm>
        </p:grpSpPr>
        <p:sp>
          <p:nvSpPr>
            <p:cNvPr id="40" name="Rectangle 4"/>
            <p:cNvSpPr>
              <a:spLocks noChangeArrowheads="1"/>
            </p:cNvSpPr>
            <p:nvPr/>
          </p:nvSpPr>
          <p:spPr bwMode="auto">
            <a:xfrm>
              <a:off x="884238" y="4038599"/>
              <a:ext cx="914230" cy="838200"/>
            </a:xfrm>
            <a:prstGeom prst="rect">
              <a:avLst/>
            </a:prstGeom>
            <a:solidFill>
              <a:schemeClr val="accent1"/>
            </a:solidFill>
            <a:ln w="9525">
              <a:solidFill>
                <a:schemeClr val="tx1"/>
              </a:solidFill>
              <a:miter lim="800000"/>
              <a:headEnd/>
              <a:tailEnd/>
            </a:ln>
          </p:spPr>
          <p:txBody>
            <a:bodyPr wrap="none" anchor="ctr"/>
            <a:lstStyle/>
            <a:p>
              <a:pPr algn="ctr"/>
              <a:r>
                <a:rPr lang="en-US" dirty="0">
                  <a:latin typeface="Arial" charset="0"/>
                </a:rPr>
                <a:t>E(k</a:t>
              </a:r>
              <a:r>
                <a:rPr lang="en-US" baseline="-25000" dirty="0">
                  <a:latin typeface="Arial" charset="0"/>
                </a:rPr>
                <a:t>1</a:t>
              </a:r>
              <a:r>
                <a:rPr lang="en-US" dirty="0">
                  <a:latin typeface="Arial" charset="0"/>
                </a:rPr>
                <a:t>,</a:t>
              </a:r>
              <a:r>
                <a:rPr lang="en-US" dirty="0">
                  <a:latin typeface="Arial" charset="0"/>
                  <a:sym typeface="Symbol" pitchFamily="18" charset="2"/>
                </a:rPr>
                <a:t>)</a:t>
              </a:r>
            </a:p>
          </p:txBody>
        </p:sp>
        <p:sp>
          <p:nvSpPr>
            <p:cNvPr id="41" name="Freeform 23"/>
            <p:cNvSpPr>
              <a:spLocks/>
            </p:cNvSpPr>
            <p:nvPr/>
          </p:nvSpPr>
          <p:spPr bwMode="auto">
            <a:xfrm>
              <a:off x="1295641" y="3505200"/>
              <a:ext cx="1295159" cy="1676399"/>
            </a:xfrm>
            <a:custGeom>
              <a:avLst/>
              <a:gdLst>
                <a:gd name="T0" fmla="*/ 0 w 912"/>
                <a:gd name="T1" fmla="*/ 2147483647 h 1056"/>
                <a:gd name="T2" fmla="*/ 2147483647 w 912"/>
                <a:gd name="T3" fmla="*/ 2147483647 h 1056"/>
                <a:gd name="T4" fmla="*/ 2147483647 w 912"/>
                <a:gd name="T5" fmla="*/ 0 h 1056"/>
                <a:gd name="T6" fmla="*/ 2147483647 w 912"/>
                <a:gd name="T7" fmla="*/ 0 h 1056"/>
                <a:gd name="T8" fmla="*/ 0 60000 65536"/>
                <a:gd name="T9" fmla="*/ 0 60000 65536"/>
                <a:gd name="T10" fmla="*/ 0 60000 65536"/>
                <a:gd name="T11" fmla="*/ 0 60000 65536"/>
                <a:gd name="T12" fmla="*/ 0 w 912"/>
                <a:gd name="T13" fmla="*/ 0 h 1056"/>
                <a:gd name="T14" fmla="*/ 912 w 912"/>
                <a:gd name="T15" fmla="*/ 1056 h 1056"/>
              </a:gdLst>
              <a:ahLst/>
              <a:cxnLst>
                <a:cxn ang="T8">
                  <a:pos x="T0" y="T1"/>
                </a:cxn>
                <a:cxn ang="T9">
                  <a:pos x="T2" y="T3"/>
                </a:cxn>
                <a:cxn ang="T10">
                  <a:pos x="T4" y="T5"/>
                </a:cxn>
                <a:cxn ang="T11">
                  <a:pos x="T6" y="T7"/>
                </a:cxn>
              </a:cxnLst>
              <a:rect l="T12" t="T13" r="T14" b="T15"/>
              <a:pathLst>
                <a:path w="912" h="1056">
                  <a:moveTo>
                    <a:pt x="0" y="1056"/>
                  </a:moveTo>
                  <a:lnTo>
                    <a:pt x="480" y="1056"/>
                  </a:lnTo>
                  <a:lnTo>
                    <a:pt x="480" y="0"/>
                  </a:lnTo>
                  <a:lnTo>
                    <a:pt x="912" y="0"/>
                  </a:lnTo>
                </a:path>
              </a:pathLst>
            </a:custGeom>
            <a:noFill/>
            <a:ln w="9525">
              <a:solidFill>
                <a:schemeClr val="tx1"/>
              </a:solidFill>
              <a:round/>
              <a:headEnd/>
              <a:tailEnd type="triangle" w="med" len="med"/>
            </a:ln>
          </p:spPr>
          <p:txBody>
            <a:bodyPr/>
            <a:lstStyle/>
            <a:p>
              <a:endParaRPr lang="en-US"/>
            </a:p>
          </p:txBody>
        </p:sp>
        <p:cxnSp>
          <p:nvCxnSpPr>
            <p:cNvPr id="42" name="Straight Arrow Connector 45"/>
            <p:cNvCxnSpPr>
              <a:cxnSpLocks noChangeShapeType="1"/>
              <a:stCxn id="37" idx="2"/>
              <a:endCxn id="40" idx="0"/>
            </p:cNvCxnSpPr>
            <p:nvPr/>
          </p:nvCxnSpPr>
          <p:spPr bwMode="auto">
            <a:xfrm>
              <a:off x="1333734" y="2867023"/>
              <a:ext cx="7619" cy="1171576"/>
            </a:xfrm>
            <a:prstGeom prst="straightConnector1">
              <a:avLst/>
            </a:prstGeom>
            <a:noFill/>
            <a:ln w="9525" algn="ctr">
              <a:solidFill>
                <a:schemeClr val="tx1"/>
              </a:solidFill>
              <a:round/>
              <a:headEnd/>
              <a:tailEnd type="arrow" w="med" len="med"/>
            </a:ln>
          </p:spPr>
        </p:cxnSp>
        <p:sp>
          <p:nvSpPr>
            <p:cNvPr id="43" name="TextBox 42"/>
            <p:cNvSpPr txBox="1"/>
            <p:nvPr/>
          </p:nvSpPr>
          <p:spPr bwMode="auto">
            <a:xfrm>
              <a:off x="2011363" y="3022599"/>
              <a:ext cx="441146" cy="613501"/>
            </a:xfrm>
            <a:prstGeom prst="rect">
              <a:avLst/>
            </a:prstGeom>
            <a:noFill/>
          </p:spPr>
          <p:txBody>
            <a:bodyPr wrap="none">
              <a:spAutoFit/>
            </a:bodyPr>
            <a:lstStyle/>
            <a:p>
              <a:pPr>
                <a:defRPr/>
              </a:pPr>
              <a:r>
                <a:rPr lang="en-US" dirty="0"/>
                <a:t>IV</a:t>
              </a:r>
              <a:r>
                <a:rPr lang="en-US" sz="2390" b="1" dirty="0"/>
                <a:t>′</a:t>
              </a:r>
            </a:p>
          </p:txBody>
        </p:sp>
      </p:grpSp>
      <p:sp>
        <p:nvSpPr>
          <p:cNvPr id="45" name="TextBox 44"/>
          <p:cNvSpPr txBox="1"/>
          <p:nvPr/>
        </p:nvSpPr>
        <p:spPr>
          <a:xfrm>
            <a:off x="304800" y="4953001"/>
            <a:ext cx="7010400" cy="984885"/>
          </a:xfrm>
          <a:prstGeom prst="rect">
            <a:avLst/>
          </a:prstGeom>
          <a:noFill/>
        </p:spPr>
        <p:txBody>
          <a:bodyPr wrap="square" rtlCol="0">
            <a:spAutoFit/>
          </a:bodyPr>
          <a:lstStyle/>
          <a:p>
            <a:r>
              <a:rPr lang="en-US" sz="2400" dirty="0"/>
              <a:t>TLS:    for n&gt;0,   n byte pad is</a:t>
            </a:r>
          </a:p>
          <a:p>
            <a:pPr>
              <a:spcBef>
                <a:spcPts val="1200"/>
              </a:spcBef>
            </a:pPr>
            <a:r>
              <a:rPr lang="en-US" sz="2400" dirty="0"/>
              <a:t>   if no pad needed, add a dummy block (</a:t>
            </a:r>
            <a:r>
              <a:rPr lang="en-US" sz="2400" dirty="0" err="1"/>
              <a:t>khối</a:t>
            </a:r>
            <a:r>
              <a:rPr lang="en-US" sz="2400" dirty="0"/>
              <a:t> </a:t>
            </a:r>
            <a:r>
              <a:rPr lang="en-US" sz="2400" dirty="0" err="1"/>
              <a:t>đệm</a:t>
            </a:r>
            <a:r>
              <a:rPr lang="en-US" sz="2400" dirty="0"/>
              <a:t> </a:t>
            </a:r>
            <a:r>
              <a:rPr lang="en-US" sz="2400" dirty="0" err="1"/>
              <a:t>giả</a:t>
            </a:r>
            <a:r>
              <a:rPr lang="en-US" sz="2400" dirty="0"/>
              <a:t> )</a:t>
            </a:r>
          </a:p>
        </p:txBody>
      </p:sp>
      <p:grpSp>
        <p:nvGrpSpPr>
          <p:cNvPr id="51" name="Group 50"/>
          <p:cNvGrpSpPr/>
          <p:nvPr/>
        </p:nvGrpSpPr>
        <p:grpSpPr>
          <a:xfrm>
            <a:off x="4191000" y="5029200"/>
            <a:ext cx="1524000" cy="304800"/>
            <a:chOff x="4267200" y="4286250"/>
            <a:chExt cx="1524000" cy="304800"/>
          </a:xfrm>
        </p:grpSpPr>
        <p:sp>
          <p:nvSpPr>
            <p:cNvPr id="46" name="Rectangle 45"/>
            <p:cNvSpPr>
              <a:spLocks noChangeArrowheads="1"/>
            </p:cNvSpPr>
            <p:nvPr/>
          </p:nvSpPr>
          <p:spPr bwMode="auto">
            <a:xfrm>
              <a:off x="4267200" y="4286250"/>
              <a:ext cx="304800" cy="30480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n </a:t>
              </a:r>
            </a:p>
          </p:txBody>
        </p:sp>
        <p:sp>
          <p:nvSpPr>
            <p:cNvPr id="47" name="Rectangle 46"/>
            <p:cNvSpPr>
              <a:spLocks noChangeArrowheads="1"/>
            </p:cNvSpPr>
            <p:nvPr/>
          </p:nvSpPr>
          <p:spPr bwMode="auto">
            <a:xfrm>
              <a:off x="4572000" y="4286250"/>
              <a:ext cx="304800" cy="30480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n </a:t>
              </a:r>
            </a:p>
          </p:txBody>
        </p:sp>
        <p:sp>
          <p:nvSpPr>
            <p:cNvPr id="48" name="Rectangle 47"/>
            <p:cNvSpPr>
              <a:spLocks noChangeArrowheads="1"/>
            </p:cNvSpPr>
            <p:nvPr/>
          </p:nvSpPr>
          <p:spPr bwMode="auto">
            <a:xfrm>
              <a:off x="5181600" y="4286250"/>
              <a:ext cx="304800" cy="304800"/>
            </a:xfrm>
            <a:prstGeom prst="rect">
              <a:avLst/>
            </a:prstGeom>
            <a:solidFill>
              <a:srgbClr val="FAC090"/>
            </a:solidFill>
            <a:ln w="9525">
              <a:solidFill>
                <a:schemeClr val="tx1"/>
              </a:solidFill>
              <a:miter lim="800000"/>
              <a:headEnd/>
              <a:tailEnd/>
            </a:ln>
          </p:spPr>
          <p:txBody>
            <a:bodyPr wrap="none" anchor="ctr"/>
            <a:lstStyle/>
            <a:p>
              <a:pPr algn="ctr"/>
              <a:r>
                <a:rPr lang="en-US" sz="2400" b="1" dirty="0">
                  <a:latin typeface="Arial" charset="0"/>
                </a:rPr>
                <a:t>⋯</a:t>
              </a:r>
              <a:endParaRPr lang="en-US" b="1" dirty="0">
                <a:latin typeface="Arial" charset="0"/>
              </a:endParaRPr>
            </a:p>
          </p:txBody>
        </p:sp>
        <p:sp>
          <p:nvSpPr>
            <p:cNvPr id="49" name="Rectangle 48"/>
            <p:cNvSpPr>
              <a:spLocks noChangeArrowheads="1"/>
            </p:cNvSpPr>
            <p:nvPr/>
          </p:nvSpPr>
          <p:spPr bwMode="auto">
            <a:xfrm>
              <a:off x="4876800" y="4286250"/>
              <a:ext cx="304800" cy="30480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n </a:t>
              </a:r>
            </a:p>
          </p:txBody>
        </p:sp>
        <p:sp>
          <p:nvSpPr>
            <p:cNvPr id="50" name="Rectangle 49"/>
            <p:cNvSpPr>
              <a:spLocks noChangeArrowheads="1"/>
            </p:cNvSpPr>
            <p:nvPr/>
          </p:nvSpPr>
          <p:spPr bwMode="auto">
            <a:xfrm>
              <a:off x="5486400" y="4286250"/>
              <a:ext cx="304800" cy="304800"/>
            </a:xfrm>
            <a:prstGeom prst="rect">
              <a:avLst/>
            </a:prstGeom>
            <a:solidFill>
              <a:srgbClr val="FAC090"/>
            </a:solidFill>
            <a:ln w="9525">
              <a:solidFill>
                <a:schemeClr val="tx1"/>
              </a:solidFill>
              <a:miter lim="800000"/>
              <a:headEnd/>
              <a:tailEnd/>
            </a:ln>
          </p:spPr>
          <p:txBody>
            <a:bodyPr wrap="none" anchor="ctr"/>
            <a:lstStyle/>
            <a:p>
              <a:pPr algn="ctr"/>
              <a:r>
                <a:rPr lang="en-US" dirty="0">
                  <a:latin typeface="Arial" charset="0"/>
                </a:rPr>
                <a:t>n </a:t>
              </a:r>
            </a:p>
          </p:txBody>
        </p:sp>
      </p:grpSp>
      <p:cxnSp>
        <p:nvCxnSpPr>
          <p:cNvPr id="53" name="Curved Connector 52"/>
          <p:cNvCxnSpPr/>
          <p:nvPr/>
        </p:nvCxnSpPr>
        <p:spPr>
          <a:xfrm rot="16200000" flipV="1">
            <a:off x="7200903" y="3238503"/>
            <a:ext cx="2590798" cy="533397"/>
          </a:xfrm>
          <a:prstGeom prst="curvedConnector3">
            <a:avLst>
              <a:gd name="adj1" fmla="val 104412"/>
            </a:avLst>
          </a:prstGeom>
          <a:ln>
            <a:tailEnd type="arrow"/>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719152" y="4800600"/>
            <a:ext cx="1196248" cy="923330"/>
          </a:xfrm>
          <a:prstGeom prst="rect">
            <a:avLst/>
          </a:prstGeom>
          <a:noFill/>
          <a:ln>
            <a:solidFill>
              <a:srgbClr val="4F81BD"/>
            </a:solidFill>
          </a:ln>
        </p:spPr>
        <p:txBody>
          <a:bodyPr wrap="none" rtlCol="0">
            <a:spAutoFit/>
          </a:bodyPr>
          <a:lstStyle/>
          <a:p>
            <a:r>
              <a:rPr lang="en-US" dirty="0"/>
              <a:t>removed</a:t>
            </a:r>
          </a:p>
          <a:p>
            <a:r>
              <a:rPr lang="en-US" dirty="0"/>
              <a:t>during</a:t>
            </a:r>
          </a:p>
          <a:p>
            <a:r>
              <a:rPr lang="en-US" dirty="0"/>
              <a:t>decryption</a:t>
            </a:r>
          </a:p>
        </p:txBody>
      </p:sp>
    </p:spTree>
    <p:extLst>
      <p:ext uri="{BB962C8B-B14F-4D97-AF65-F5344CB8AC3E}">
        <p14:creationId xmlns:p14="http://schemas.microsoft.com/office/powerpoint/2010/main" val="305403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4" name="Rectangle 28"/>
          <p:cNvSpPr>
            <a:spLocks noChangeArrowheads="1"/>
          </p:cNvSpPr>
          <p:nvPr/>
        </p:nvSpPr>
        <p:spPr bwMode="auto">
          <a:xfrm>
            <a:off x="1295400" y="4400550"/>
            <a:ext cx="5867400" cy="400050"/>
          </a:xfrm>
          <a:prstGeom prst="rect">
            <a:avLst/>
          </a:prstGeom>
          <a:solidFill>
            <a:schemeClr val="folHlink"/>
          </a:solidFill>
          <a:ln w="9525">
            <a:noFill/>
            <a:miter lim="800000"/>
            <a:headEnd/>
            <a:tailEnd/>
          </a:ln>
          <a:effectLst/>
        </p:spPr>
        <p:txBody>
          <a:bodyPr wrap="none" anchor="ctr"/>
          <a:lstStyle/>
          <a:p>
            <a:endParaRPr lang="en-US"/>
          </a:p>
        </p:txBody>
      </p:sp>
      <p:sp>
        <p:nvSpPr>
          <p:cNvPr id="19458" name="Rectangle 2"/>
          <p:cNvSpPr>
            <a:spLocks noGrp="1" noChangeArrowheads="1"/>
          </p:cNvSpPr>
          <p:nvPr>
            <p:ph type="title"/>
          </p:nvPr>
        </p:nvSpPr>
        <p:spPr/>
        <p:txBody>
          <a:bodyPr/>
          <a:lstStyle/>
          <a:p>
            <a:r>
              <a:rPr lang="en-US" dirty="0" err="1"/>
              <a:t>Cấu</a:t>
            </a:r>
            <a:r>
              <a:rPr lang="en-US" dirty="0"/>
              <a:t> </a:t>
            </a:r>
            <a:r>
              <a:rPr lang="en-US" dirty="0" err="1"/>
              <a:t>trúc</a:t>
            </a:r>
            <a:r>
              <a:rPr lang="en-US" dirty="0"/>
              <a:t> 2:  rand ctr-mode</a:t>
            </a:r>
          </a:p>
        </p:txBody>
      </p:sp>
      <p:sp>
        <p:nvSpPr>
          <p:cNvPr id="2" name="Content Placeholder 1">
            <a:extLst>
              <a:ext uri="{FF2B5EF4-FFF2-40B4-BE49-F238E27FC236}">
                <a16:creationId xmlns:a16="http://schemas.microsoft.com/office/drawing/2014/main" id="{F794C67D-A0EC-CA9B-6AE8-B0F28CE2F598}"/>
              </a:ext>
            </a:extLst>
          </p:cNvPr>
          <p:cNvSpPr>
            <a:spLocks noGrp="1"/>
          </p:cNvSpPr>
          <p:nvPr>
            <p:ph sz="quarter" idx="13"/>
          </p:nvPr>
        </p:nvSpPr>
        <p:spPr/>
        <p:txBody>
          <a:bodyPr/>
          <a:lstStyle/>
          <a:p>
            <a:endParaRPr/>
          </a:p>
        </p:txBody>
      </p:sp>
      <p:sp>
        <p:nvSpPr>
          <p:cNvPr id="19461" name="Rectangle 5"/>
          <p:cNvSpPr>
            <a:spLocks noChangeArrowheads="1"/>
          </p:cNvSpPr>
          <p:nvPr/>
        </p:nvSpPr>
        <p:spPr bwMode="auto">
          <a:xfrm>
            <a:off x="2667000" y="3257550"/>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dirty="0"/>
              <a:t>m[0]</a:t>
            </a:r>
          </a:p>
        </p:txBody>
      </p:sp>
      <p:sp>
        <p:nvSpPr>
          <p:cNvPr id="19462" name="Rectangle 6"/>
          <p:cNvSpPr>
            <a:spLocks noChangeArrowheads="1"/>
          </p:cNvSpPr>
          <p:nvPr/>
        </p:nvSpPr>
        <p:spPr bwMode="auto">
          <a:xfrm>
            <a:off x="3733800" y="3257550"/>
            <a:ext cx="9906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m[1]</a:t>
            </a:r>
          </a:p>
        </p:txBody>
      </p:sp>
      <p:sp>
        <p:nvSpPr>
          <p:cNvPr id="19463" name="Rectangle 7"/>
          <p:cNvSpPr>
            <a:spLocks noChangeArrowheads="1"/>
          </p:cNvSpPr>
          <p:nvPr/>
        </p:nvSpPr>
        <p:spPr bwMode="auto">
          <a:xfrm>
            <a:off x="4724400" y="3257550"/>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a:t>
            </a:r>
          </a:p>
        </p:txBody>
      </p:sp>
      <p:sp>
        <p:nvSpPr>
          <p:cNvPr id="19464" name="Rectangle 8"/>
          <p:cNvSpPr>
            <a:spLocks noChangeArrowheads="1"/>
          </p:cNvSpPr>
          <p:nvPr/>
        </p:nvSpPr>
        <p:spPr bwMode="auto">
          <a:xfrm>
            <a:off x="2667000" y="3829050"/>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a:t>
            </a:r>
          </a:p>
        </p:txBody>
      </p:sp>
      <p:sp>
        <p:nvSpPr>
          <p:cNvPr id="19465" name="Rectangle 9"/>
          <p:cNvSpPr>
            <a:spLocks noChangeArrowheads="1"/>
          </p:cNvSpPr>
          <p:nvPr/>
        </p:nvSpPr>
        <p:spPr bwMode="auto">
          <a:xfrm>
            <a:off x="3733800" y="3829050"/>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F(k,IV+1)</a:t>
            </a:r>
          </a:p>
        </p:txBody>
      </p:sp>
      <p:sp>
        <p:nvSpPr>
          <p:cNvPr id="19466" name="Rectangle 10"/>
          <p:cNvSpPr>
            <a:spLocks noChangeArrowheads="1"/>
          </p:cNvSpPr>
          <p:nvPr/>
        </p:nvSpPr>
        <p:spPr bwMode="auto">
          <a:xfrm>
            <a:off x="4724400" y="3829050"/>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a:t>
            </a:r>
          </a:p>
        </p:txBody>
      </p:sp>
      <p:sp>
        <p:nvSpPr>
          <p:cNvPr id="19467" name="Rectangle 11"/>
          <p:cNvSpPr>
            <a:spLocks noChangeArrowheads="1"/>
          </p:cNvSpPr>
          <p:nvPr/>
        </p:nvSpPr>
        <p:spPr bwMode="auto">
          <a:xfrm>
            <a:off x="5791200" y="3257550"/>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m[L]</a:t>
            </a:r>
          </a:p>
        </p:txBody>
      </p:sp>
      <p:sp>
        <p:nvSpPr>
          <p:cNvPr id="19468" name="Rectangle 12"/>
          <p:cNvSpPr>
            <a:spLocks noChangeArrowheads="1"/>
          </p:cNvSpPr>
          <p:nvPr/>
        </p:nvSpPr>
        <p:spPr bwMode="auto">
          <a:xfrm>
            <a:off x="5715000" y="3829050"/>
            <a:ext cx="1143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F(k,IV+L)</a:t>
            </a:r>
          </a:p>
        </p:txBody>
      </p:sp>
      <p:sp>
        <p:nvSpPr>
          <p:cNvPr id="19469" name="Text Box 13"/>
          <p:cNvSpPr txBox="1">
            <a:spLocks noChangeArrowheads="1"/>
          </p:cNvSpPr>
          <p:nvPr/>
        </p:nvSpPr>
        <p:spPr bwMode="auto">
          <a:xfrm>
            <a:off x="7086600" y="3451623"/>
            <a:ext cx="499856" cy="584776"/>
          </a:xfrm>
          <a:prstGeom prst="rect">
            <a:avLst/>
          </a:prstGeom>
          <a:noFill/>
          <a:ln w="9525">
            <a:noFill/>
            <a:miter lim="800000"/>
            <a:headEnd/>
            <a:tailEnd/>
          </a:ln>
          <a:effectLst/>
        </p:spPr>
        <p:txBody>
          <a:bodyPr wrap="none">
            <a:spAutoFit/>
          </a:bodyPr>
          <a:lstStyle/>
          <a:p>
            <a:r>
              <a:rPr lang="en-US" sz="3200">
                <a:sym typeface="Symbol" pitchFamily="18" charset="2"/>
              </a:rPr>
              <a:t></a:t>
            </a:r>
          </a:p>
        </p:txBody>
      </p:sp>
      <p:sp>
        <p:nvSpPr>
          <p:cNvPr id="19470" name="Line 14"/>
          <p:cNvSpPr>
            <a:spLocks noChangeShapeType="1"/>
          </p:cNvSpPr>
          <p:nvPr/>
        </p:nvSpPr>
        <p:spPr bwMode="auto">
          <a:xfrm>
            <a:off x="838200" y="4286250"/>
            <a:ext cx="7162800" cy="0"/>
          </a:xfrm>
          <a:prstGeom prst="line">
            <a:avLst/>
          </a:prstGeom>
          <a:noFill/>
          <a:ln w="9525">
            <a:solidFill>
              <a:schemeClr val="tx1"/>
            </a:solidFill>
            <a:round/>
            <a:headEnd/>
            <a:tailEnd/>
          </a:ln>
          <a:effectLst/>
        </p:spPr>
        <p:txBody>
          <a:bodyPr/>
          <a:lstStyle/>
          <a:p>
            <a:endParaRPr lang="en-US"/>
          </a:p>
        </p:txBody>
      </p:sp>
      <p:sp>
        <p:nvSpPr>
          <p:cNvPr id="19471" name="Rectangle 15"/>
          <p:cNvSpPr>
            <a:spLocks noChangeArrowheads="1"/>
          </p:cNvSpPr>
          <p:nvPr/>
        </p:nvSpPr>
        <p:spPr bwMode="auto">
          <a:xfrm>
            <a:off x="2667000" y="4457700"/>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c[0]</a:t>
            </a:r>
          </a:p>
        </p:txBody>
      </p:sp>
      <p:sp>
        <p:nvSpPr>
          <p:cNvPr id="19472" name="Rectangle 16"/>
          <p:cNvSpPr>
            <a:spLocks noChangeArrowheads="1"/>
          </p:cNvSpPr>
          <p:nvPr/>
        </p:nvSpPr>
        <p:spPr bwMode="auto">
          <a:xfrm>
            <a:off x="3733800" y="4457700"/>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c[1]</a:t>
            </a:r>
          </a:p>
        </p:txBody>
      </p:sp>
      <p:sp>
        <p:nvSpPr>
          <p:cNvPr id="19473" name="Rectangle 17"/>
          <p:cNvSpPr>
            <a:spLocks noChangeArrowheads="1"/>
          </p:cNvSpPr>
          <p:nvPr/>
        </p:nvSpPr>
        <p:spPr bwMode="auto">
          <a:xfrm>
            <a:off x="4724400" y="4457700"/>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a:t>
            </a:r>
          </a:p>
        </p:txBody>
      </p:sp>
      <p:sp>
        <p:nvSpPr>
          <p:cNvPr id="19474" name="Rectangle 18"/>
          <p:cNvSpPr>
            <a:spLocks noChangeArrowheads="1"/>
          </p:cNvSpPr>
          <p:nvPr/>
        </p:nvSpPr>
        <p:spPr bwMode="auto">
          <a:xfrm>
            <a:off x="5791200" y="4457700"/>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c[L]</a:t>
            </a:r>
          </a:p>
        </p:txBody>
      </p:sp>
      <p:sp>
        <p:nvSpPr>
          <p:cNvPr id="19475" name="Rectangle 19"/>
          <p:cNvSpPr>
            <a:spLocks noChangeArrowheads="1"/>
          </p:cNvSpPr>
          <p:nvPr/>
        </p:nvSpPr>
        <p:spPr bwMode="auto">
          <a:xfrm>
            <a:off x="1600200" y="3257550"/>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9476" name="Rectangle 20"/>
          <p:cNvSpPr>
            <a:spLocks noChangeArrowheads="1"/>
          </p:cNvSpPr>
          <p:nvPr/>
        </p:nvSpPr>
        <p:spPr bwMode="auto">
          <a:xfrm>
            <a:off x="1600200" y="4457700"/>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9477" name="Text Box 21"/>
          <p:cNvSpPr txBox="1">
            <a:spLocks noChangeArrowheads="1"/>
          </p:cNvSpPr>
          <p:nvPr/>
        </p:nvSpPr>
        <p:spPr bwMode="auto">
          <a:xfrm>
            <a:off x="2165282" y="5334001"/>
            <a:ext cx="4191532" cy="461665"/>
          </a:xfrm>
          <a:prstGeom prst="rect">
            <a:avLst/>
          </a:prstGeom>
          <a:noFill/>
          <a:ln w="9525">
            <a:noFill/>
            <a:miter lim="800000"/>
            <a:headEnd/>
            <a:tailEnd/>
          </a:ln>
          <a:effectLst/>
        </p:spPr>
        <p:txBody>
          <a:bodyPr wrap="none">
            <a:spAutoFit/>
          </a:bodyPr>
          <a:lstStyle/>
          <a:p>
            <a:pPr algn="ctr"/>
            <a:r>
              <a:rPr lang="en-US" sz="2400" dirty="0"/>
              <a:t>note:  parallelizable (unlike CBC)</a:t>
            </a:r>
          </a:p>
        </p:txBody>
      </p:sp>
      <p:sp>
        <p:nvSpPr>
          <p:cNvPr id="19486" name="Text Box 30"/>
          <p:cNvSpPr txBox="1">
            <a:spLocks noChangeArrowheads="1"/>
          </p:cNvSpPr>
          <p:nvPr/>
        </p:nvSpPr>
        <p:spPr bwMode="auto">
          <a:xfrm>
            <a:off x="4267201" y="2907268"/>
            <a:ext cx="567997" cy="369332"/>
          </a:xfrm>
          <a:prstGeom prst="rect">
            <a:avLst/>
          </a:prstGeom>
          <a:noFill/>
          <a:ln w="9525">
            <a:noFill/>
            <a:miter lim="800000"/>
            <a:headEnd/>
            <a:tailEnd/>
          </a:ln>
          <a:effectLst/>
        </p:spPr>
        <p:txBody>
          <a:bodyPr wrap="none">
            <a:spAutoFit/>
          </a:bodyPr>
          <a:lstStyle/>
          <a:p>
            <a:r>
              <a:rPr lang="en-US" dirty="0" err="1"/>
              <a:t>msg</a:t>
            </a:r>
            <a:endParaRPr lang="en-US" dirty="0"/>
          </a:p>
        </p:txBody>
      </p:sp>
      <p:sp>
        <p:nvSpPr>
          <p:cNvPr id="19487" name="Text Box 31"/>
          <p:cNvSpPr txBox="1">
            <a:spLocks noChangeArrowheads="1"/>
          </p:cNvSpPr>
          <p:nvPr/>
        </p:nvSpPr>
        <p:spPr bwMode="auto">
          <a:xfrm>
            <a:off x="4038600" y="4736068"/>
            <a:ext cx="1146468" cy="369332"/>
          </a:xfrm>
          <a:prstGeom prst="rect">
            <a:avLst/>
          </a:prstGeom>
          <a:noFill/>
          <a:ln w="9525">
            <a:noFill/>
            <a:miter lim="800000"/>
            <a:headEnd/>
            <a:tailEnd/>
          </a:ln>
          <a:effectLst/>
        </p:spPr>
        <p:txBody>
          <a:bodyPr wrap="none">
            <a:spAutoFit/>
          </a:bodyPr>
          <a:lstStyle/>
          <a:p>
            <a:r>
              <a:rPr lang="en-US" dirty="0" err="1"/>
              <a:t>ciphertext</a:t>
            </a:r>
            <a:endParaRPr lang="en-US" dirty="0"/>
          </a:p>
        </p:txBody>
      </p:sp>
      <p:sp>
        <p:nvSpPr>
          <p:cNvPr id="3" name="TextBox 2"/>
          <p:cNvSpPr txBox="1"/>
          <p:nvPr/>
        </p:nvSpPr>
        <p:spPr>
          <a:xfrm>
            <a:off x="609601" y="1676401"/>
            <a:ext cx="6061403" cy="984885"/>
          </a:xfrm>
          <a:prstGeom prst="rect">
            <a:avLst/>
          </a:prstGeom>
          <a:noFill/>
        </p:spPr>
        <p:txBody>
          <a:bodyPr wrap="none" rtlCol="0">
            <a:spAutoFit/>
          </a:bodyPr>
          <a:lstStyle/>
          <a:p>
            <a:r>
              <a:rPr lang="en-US" sz="2400" dirty="0"/>
              <a:t>Let F: K × {0,1}</a:t>
            </a:r>
            <a:r>
              <a:rPr lang="en-US" sz="2400" baseline="30000" dirty="0"/>
              <a:t>n</a:t>
            </a:r>
            <a:r>
              <a:rPr lang="en-US" sz="2400" dirty="0"/>
              <a:t> ⟶ {0,1}</a:t>
            </a:r>
            <a:r>
              <a:rPr lang="en-US" sz="2400" baseline="30000" dirty="0"/>
              <a:t>n</a:t>
            </a:r>
            <a:r>
              <a:rPr lang="en-US" sz="2400" dirty="0"/>
              <a:t>  be a secure PRF.</a:t>
            </a:r>
          </a:p>
          <a:p>
            <a:pPr>
              <a:spcBef>
                <a:spcPts val="1200"/>
              </a:spcBef>
            </a:pPr>
            <a:r>
              <a:rPr lang="en-US" sz="2400" dirty="0"/>
              <a:t>E(</a:t>
            </a:r>
            <a:r>
              <a:rPr lang="en-US" sz="2400" dirty="0" err="1"/>
              <a:t>k,m</a:t>
            </a:r>
            <a:r>
              <a:rPr lang="en-US" sz="2400"/>
              <a:t>):   </a:t>
            </a:r>
            <a:r>
              <a:rPr lang="en-US" sz="2400" dirty="0"/>
              <a:t>choose </a:t>
            </a:r>
            <a:r>
              <a:rPr lang="en-US" sz="2400"/>
              <a:t>a random  </a:t>
            </a:r>
            <a:r>
              <a:rPr lang="en-US" sz="2400" dirty="0"/>
              <a:t>IV </a:t>
            </a:r>
            <a:r>
              <a:rPr lang="en-US" sz="2400" dirty="0">
                <a:sym typeface="Symbol" pitchFamily="18" charset="2"/>
              </a:rPr>
              <a:t></a:t>
            </a:r>
            <a:r>
              <a:rPr lang="en-US" sz="2400" dirty="0"/>
              <a:t> {0,1}</a:t>
            </a:r>
            <a:r>
              <a:rPr lang="en-US" sz="2400" baseline="30000" dirty="0"/>
              <a:t>n    </a:t>
            </a:r>
            <a:r>
              <a:rPr lang="en-US" sz="2400" dirty="0"/>
              <a:t>and do:</a:t>
            </a:r>
            <a:r>
              <a:rPr lang="en-US" sz="2400" dirty="0">
                <a:sym typeface="Symbol" pitchFamily="18" charset="2"/>
              </a:rPr>
              <a:t> </a:t>
            </a:r>
            <a:endParaRPr lang="en-US" sz="2400" dirty="0"/>
          </a:p>
        </p:txBody>
      </p:sp>
    </p:spTree>
    <p:extLst>
      <p:ext uri="{BB962C8B-B14F-4D97-AF65-F5344CB8AC3E}">
        <p14:creationId xmlns:p14="http://schemas.microsoft.com/office/powerpoint/2010/main" val="1284581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4" name="Rectangle 28"/>
          <p:cNvSpPr>
            <a:spLocks noChangeArrowheads="1"/>
          </p:cNvSpPr>
          <p:nvPr/>
        </p:nvSpPr>
        <p:spPr bwMode="auto">
          <a:xfrm>
            <a:off x="1524000" y="3496865"/>
            <a:ext cx="5867400" cy="400050"/>
          </a:xfrm>
          <a:prstGeom prst="rect">
            <a:avLst/>
          </a:prstGeom>
          <a:solidFill>
            <a:schemeClr val="folHlink"/>
          </a:solidFill>
          <a:ln w="9525">
            <a:noFill/>
            <a:miter lim="800000"/>
            <a:headEnd/>
            <a:tailEnd/>
          </a:ln>
          <a:effectLst/>
        </p:spPr>
        <p:txBody>
          <a:bodyPr wrap="none" anchor="ctr"/>
          <a:lstStyle/>
          <a:p>
            <a:endParaRPr lang="en-US"/>
          </a:p>
        </p:txBody>
      </p:sp>
      <p:sp>
        <p:nvSpPr>
          <p:cNvPr id="19458" name="Rectangle 2"/>
          <p:cNvSpPr>
            <a:spLocks noGrp="1" noChangeArrowheads="1"/>
          </p:cNvSpPr>
          <p:nvPr>
            <p:ph type="title"/>
          </p:nvPr>
        </p:nvSpPr>
        <p:spPr/>
        <p:txBody>
          <a:bodyPr>
            <a:normAutofit fontScale="90000"/>
          </a:bodyPr>
          <a:lstStyle/>
          <a:p>
            <a:r>
              <a:rPr lang="en-US" dirty="0" err="1"/>
              <a:t>Cấu</a:t>
            </a:r>
            <a:r>
              <a:rPr lang="en-US" dirty="0"/>
              <a:t> </a:t>
            </a:r>
            <a:r>
              <a:rPr lang="en-US" dirty="0" err="1"/>
              <a:t>trúc</a:t>
            </a:r>
            <a:r>
              <a:rPr lang="en-US" dirty="0"/>
              <a:t> 2’:  nonce ctr-mode</a:t>
            </a:r>
          </a:p>
        </p:txBody>
      </p:sp>
      <p:sp>
        <p:nvSpPr>
          <p:cNvPr id="2" name="Content Placeholder 1">
            <a:extLst>
              <a:ext uri="{FF2B5EF4-FFF2-40B4-BE49-F238E27FC236}">
                <a16:creationId xmlns:a16="http://schemas.microsoft.com/office/drawing/2014/main" id="{2E237ED1-E26C-89FC-9290-432D195595A2}"/>
              </a:ext>
            </a:extLst>
          </p:cNvPr>
          <p:cNvSpPr>
            <a:spLocks noGrp="1"/>
          </p:cNvSpPr>
          <p:nvPr>
            <p:ph sz="quarter" idx="13"/>
          </p:nvPr>
        </p:nvSpPr>
        <p:spPr/>
        <p:txBody>
          <a:bodyPr/>
          <a:lstStyle/>
          <a:p>
            <a:endParaRPr/>
          </a:p>
        </p:txBody>
      </p:sp>
      <p:sp>
        <p:nvSpPr>
          <p:cNvPr id="19461" name="Rectangle 5"/>
          <p:cNvSpPr>
            <a:spLocks noChangeArrowheads="1"/>
          </p:cNvSpPr>
          <p:nvPr/>
        </p:nvSpPr>
        <p:spPr bwMode="auto">
          <a:xfrm>
            <a:off x="2895600" y="2353865"/>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m[0]</a:t>
            </a:r>
          </a:p>
        </p:txBody>
      </p:sp>
      <p:sp>
        <p:nvSpPr>
          <p:cNvPr id="19462" name="Rectangle 6"/>
          <p:cNvSpPr>
            <a:spLocks noChangeArrowheads="1"/>
          </p:cNvSpPr>
          <p:nvPr/>
        </p:nvSpPr>
        <p:spPr bwMode="auto">
          <a:xfrm>
            <a:off x="3962400" y="2353865"/>
            <a:ext cx="9906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m[1]</a:t>
            </a:r>
          </a:p>
        </p:txBody>
      </p:sp>
      <p:sp>
        <p:nvSpPr>
          <p:cNvPr id="19463" name="Rectangle 7"/>
          <p:cNvSpPr>
            <a:spLocks noChangeArrowheads="1"/>
          </p:cNvSpPr>
          <p:nvPr/>
        </p:nvSpPr>
        <p:spPr bwMode="auto">
          <a:xfrm>
            <a:off x="4953000" y="2353865"/>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a:t>
            </a:r>
          </a:p>
        </p:txBody>
      </p:sp>
      <p:sp>
        <p:nvSpPr>
          <p:cNvPr id="19464" name="Rectangle 8"/>
          <p:cNvSpPr>
            <a:spLocks noChangeArrowheads="1"/>
          </p:cNvSpPr>
          <p:nvPr/>
        </p:nvSpPr>
        <p:spPr bwMode="auto">
          <a:xfrm>
            <a:off x="2895600" y="2925365"/>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a:t>
            </a:r>
          </a:p>
        </p:txBody>
      </p:sp>
      <p:sp>
        <p:nvSpPr>
          <p:cNvPr id="19465" name="Rectangle 9"/>
          <p:cNvSpPr>
            <a:spLocks noChangeArrowheads="1"/>
          </p:cNvSpPr>
          <p:nvPr/>
        </p:nvSpPr>
        <p:spPr bwMode="auto">
          <a:xfrm>
            <a:off x="3962400" y="2925365"/>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F(k,IV+1)</a:t>
            </a:r>
          </a:p>
        </p:txBody>
      </p:sp>
      <p:sp>
        <p:nvSpPr>
          <p:cNvPr id="19466" name="Rectangle 10"/>
          <p:cNvSpPr>
            <a:spLocks noChangeArrowheads="1"/>
          </p:cNvSpPr>
          <p:nvPr/>
        </p:nvSpPr>
        <p:spPr bwMode="auto">
          <a:xfrm>
            <a:off x="4953000" y="2925365"/>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a:t>
            </a:r>
          </a:p>
        </p:txBody>
      </p:sp>
      <p:sp>
        <p:nvSpPr>
          <p:cNvPr id="19467" name="Rectangle 11"/>
          <p:cNvSpPr>
            <a:spLocks noChangeArrowheads="1"/>
          </p:cNvSpPr>
          <p:nvPr/>
        </p:nvSpPr>
        <p:spPr bwMode="auto">
          <a:xfrm>
            <a:off x="6019800" y="2353865"/>
            <a:ext cx="1066800" cy="285750"/>
          </a:xfrm>
          <a:prstGeom prst="rect">
            <a:avLst/>
          </a:prstGeom>
          <a:solidFill>
            <a:srgbClr val="FAC090"/>
          </a:solidFill>
          <a:ln w="9525">
            <a:solidFill>
              <a:schemeClr val="tx1"/>
            </a:solidFill>
            <a:miter lim="800000"/>
            <a:headEnd/>
            <a:tailEnd/>
          </a:ln>
          <a:effectLst/>
        </p:spPr>
        <p:txBody>
          <a:bodyPr wrap="none" anchor="ctr"/>
          <a:lstStyle/>
          <a:p>
            <a:pPr algn="ctr"/>
            <a:r>
              <a:rPr lang="en-US"/>
              <a:t>m[L]</a:t>
            </a:r>
          </a:p>
        </p:txBody>
      </p:sp>
      <p:sp>
        <p:nvSpPr>
          <p:cNvPr id="19468" name="Rectangle 12"/>
          <p:cNvSpPr>
            <a:spLocks noChangeArrowheads="1"/>
          </p:cNvSpPr>
          <p:nvPr/>
        </p:nvSpPr>
        <p:spPr bwMode="auto">
          <a:xfrm>
            <a:off x="5943600" y="2925365"/>
            <a:ext cx="11430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b="1"/>
              <a:t>F(k,IV+L)</a:t>
            </a:r>
          </a:p>
        </p:txBody>
      </p:sp>
      <p:sp>
        <p:nvSpPr>
          <p:cNvPr id="19469" name="Text Box 13"/>
          <p:cNvSpPr txBox="1">
            <a:spLocks noChangeArrowheads="1"/>
          </p:cNvSpPr>
          <p:nvPr/>
        </p:nvSpPr>
        <p:spPr bwMode="auto">
          <a:xfrm>
            <a:off x="7315200" y="2547938"/>
            <a:ext cx="499856" cy="584776"/>
          </a:xfrm>
          <a:prstGeom prst="rect">
            <a:avLst/>
          </a:prstGeom>
          <a:noFill/>
          <a:ln w="9525">
            <a:noFill/>
            <a:miter lim="800000"/>
            <a:headEnd/>
            <a:tailEnd/>
          </a:ln>
          <a:effectLst/>
        </p:spPr>
        <p:txBody>
          <a:bodyPr wrap="none">
            <a:spAutoFit/>
          </a:bodyPr>
          <a:lstStyle/>
          <a:p>
            <a:r>
              <a:rPr lang="en-US" sz="3200">
                <a:sym typeface="Symbol" pitchFamily="18" charset="2"/>
              </a:rPr>
              <a:t></a:t>
            </a:r>
          </a:p>
        </p:txBody>
      </p:sp>
      <p:sp>
        <p:nvSpPr>
          <p:cNvPr id="19470" name="Line 14"/>
          <p:cNvSpPr>
            <a:spLocks noChangeShapeType="1"/>
          </p:cNvSpPr>
          <p:nvPr/>
        </p:nvSpPr>
        <p:spPr bwMode="auto">
          <a:xfrm>
            <a:off x="1066800" y="3382565"/>
            <a:ext cx="7162800" cy="0"/>
          </a:xfrm>
          <a:prstGeom prst="line">
            <a:avLst/>
          </a:prstGeom>
          <a:noFill/>
          <a:ln w="9525">
            <a:solidFill>
              <a:schemeClr val="tx1"/>
            </a:solidFill>
            <a:round/>
            <a:headEnd/>
            <a:tailEnd/>
          </a:ln>
          <a:effectLst/>
        </p:spPr>
        <p:txBody>
          <a:bodyPr/>
          <a:lstStyle/>
          <a:p>
            <a:endParaRPr lang="en-US"/>
          </a:p>
        </p:txBody>
      </p:sp>
      <p:sp>
        <p:nvSpPr>
          <p:cNvPr id="19471" name="Rectangle 15"/>
          <p:cNvSpPr>
            <a:spLocks noChangeArrowheads="1"/>
          </p:cNvSpPr>
          <p:nvPr/>
        </p:nvSpPr>
        <p:spPr bwMode="auto">
          <a:xfrm>
            <a:off x="2895600" y="3554015"/>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c[0]</a:t>
            </a:r>
          </a:p>
        </p:txBody>
      </p:sp>
      <p:sp>
        <p:nvSpPr>
          <p:cNvPr id="19472" name="Rectangle 16"/>
          <p:cNvSpPr>
            <a:spLocks noChangeArrowheads="1"/>
          </p:cNvSpPr>
          <p:nvPr/>
        </p:nvSpPr>
        <p:spPr bwMode="auto">
          <a:xfrm>
            <a:off x="3962400" y="3554015"/>
            <a:ext cx="9906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c[1]</a:t>
            </a:r>
          </a:p>
        </p:txBody>
      </p:sp>
      <p:sp>
        <p:nvSpPr>
          <p:cNvPr id="19473" name="Rectangle 17"/>
          <p:cNvSpPr>
            <a:spLocks noChangeArrowheads="1"/>
          </p:cNvSpPr>
          <p:nvPr/>
        </p:nvSpPr>
        <p:spPr bwMode="auto">
          <a:xfrm>
            <a:off x="4953000" y="3554015"/>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a:t>
            </a:r>
          </a:p>
        </p:txBody>
      </p:sp>
      <p:sp>
        <p:nvSpPr>
          <p:cNvPr id="19474" name="Rectangle 18"/>
          <p:cNvSpPr>
            <a:spLocks noChangeArrowheads="1"/>
          </p:cNvSpPr>
          <p:nvPr/>
        </p:nvSpPr>
        <p:spPr bwMode="auto">
          <a:xfrm>
            <a:off x="6019800" y="3554015"/>
            <a:ext cx="10668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c[L]</a:t>
            </a:r>
          </a:p>
        </p:txBody>
      </p:sp>
      <p:sp>
        <p:nvSpPr>
          <p:cNvPr id="19475" name="Rectangle 19"/>
          <p:cNvSpPr>
            <a:spLocks noChangeArrowheads="1"/>
          </p:cNvSpPr>
          <p:nvPr/>
        </p:nvSpPr>
        <p:spPr bwMode="auto">
          <a:xfrm>
            <a:off x="1828800" y="2353865"/>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9476" name="Rectangle 20"/>
          <p:cNvSpPr>
            <a:spLocks noChangeArrowheads="1"/>
          </p:cNvSpPr>
          <p:nvPr/>
        </p:nvSpPr>
        <p:spPr bwMode="auto">
          <a:xfrm>
            <a:off x="1828800" y="3554015"/>
            <a:ext cx="838200" cy="285750"/>
          </a:xfrm>
          <a:prstGeom prst="rect">
            <a:avLst/>
          </a:prstGeom>
          <a:solidFill>
            <a:schemeClr val="accent1"/>
          </a:solidFill>
          <a:ln w="9525">
            <a:solidFill>
              <a:schemeClr val="tx1"/>
            </a:solidFill>
            <a:miter lim="800000"/>
            <a:headEnd/>
            <a:tailEnd/>
          </a:ln>
          <a:effectLst/>
        </p:spPr>
        <p:txBody>
          <a:bodyPr wrap="none" anchor="ctr"/>
          <a:lstStyle/>
          <a:p>
            <a:pPr algn="ctr"/>
            <a:r>
              <a:rPr lang="en-US"/>
              <a:t>IV</a:t>
            </a:r>
          </a:p>
        </p:txBody>
      </p:sp>
      <p:sp>
        <p:nvSpPr>
          <p:cNvPr id="19486" name="Text Box 30"/>
          <p:cNvSpPr txBox="1">
            <a:spLocks noChangeArrowheads="1"/>
          </p:cNvSpPr>
          <p:nvPr/>
        </p:nvSpPr>
        <p:spPr bwMode="auto">
          <a:xfrm>
            <a:off x="4343401" y="1953816"/>
            <a:ext cx="567997" cy="369332"/>
          </a:xfrm>
          <a:prstGeom prst="rect">
            <a:avLst/>
          </a:prstGeom>
          <a:noFill/>
          <a:ln w="9525">
            <a:noFill/>
            <a:miter lim="800000"/>
            <a:headEnd/>
            <a:tailEnd/>
          </a:ln>
          <a:effectLst/>
        </p:spPr>
        <p:txBody>
          <a:bodyPr wrap="none">
            <a:spAutoFit/>
          </a:bodyPr>
          <a:lstStyle/>
          <a:p>
            <a:r>
              <a:rPr lang="en-US"/>
              <a:t>msg</a:t>
            </a:r>
          </a:p>
        </p:txBody>
      </p:sp>
      <p:sp>
        <p:nvSpPr>
          <p:cNvPr id="19487" name="Text Box 31"/>
          <p:cNvSpPr txBox="1">
            <a:spLocks noChangeArrowheads="1"/>
          </p:cNvSpPr>
          <p:nvPr/>
        </p:nvSpPr>
        <p:spPr bwMode="auto">
          <a:xfrm>
            <a:off x="4413250" y="3896916"/>
            <a:ext cx="1146468" cy="369332"/>
          </a:xfrm>
          <a:prstGeom prst="rect">
            <a:avLst/>
          </a:prstGeom>
          <a:noFill/>
          <a:ln w="9525">
            <a:noFill/>
            <a:miter lim="800000"/>
            <a:headEnd/>
            <a:tailEnd/>
          </a:ln>
          <a:effectLst/>
        </p:spPr>
        <p:txBody>
          <a:bodyPr wrap="none">
            <a:spAutoFit/>
          </a:bodyPr>
          <a:lstStyle/>
          <a:p>
            <a:r>
              <a:rPr lang="en-US"/>
              <a:t>ciphertext</a:t>
            </a:r>
          </a:p>
        </p:txBody>
      </p:sp>
      <p:grpSp>
        <p:nvGrpSpPr>
          <p:cNvPr id="30" name="Group 29"/>
          <p:cNvGrpSpPr/>
          <p:nvPr/>
        </p:nvGrpSpPr>
        <p:grpSpPr>
          <a:xfrm>
            <a:off x="3276599" y="4902198"/>
            <a:ext cx="2209800" cy="710289"/>
            <a:chOff x="3581400" y="5031790"/>
            <a:chExt cx="2209800" cy="947052"/>
          </a:xfrm>
        </p:grpSpPr>
        <p:sp>
          <p:nvSpPr>
            <p:cNvPr id="25" name="Rectangle 24"/>
            <p:cNvSpPr/>
            <p:nvPr/>
          </p:nvSpPr>
          <p:spPr bwMode="auto">
            <a:xfrm>
              <a:off x="3581400" y="5486400"/>
              <a:ext cx="2209800"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r>
                <a:rPr lang="en-US" dirty="0">
                  <a:latin typeface="Arial" charset="0"/>
                </a:rPr>
                <a:t> nonce</a:t>
              </a:r>
            </a:p>
          </p:txBody>
        </p:sp>
        <p:sp>
          <p:nvSpPr>
            <p:cNvPr id="26" name="TextBox 25"/>
            <p:cNvSpPr txBox="1"/>
            <p:nvPr/>
          </p:nvSpPr>
          <p:spPr>
            <a:xfrm>
              <a:off x="4191000" y="5031790"/>
              <a:ext cx="929687" cy="492442"/>
            </a:xfrm>
            <a:prstGeom prst="rect">
              <a:avLst/>
            </a:prstGeom>
            <a:noFill/>
          </p:spPr>
          <p:txBody>
            <a:bodyPr wrap="none" rtlCol="0">
              <a:spAutoFit/>
            </a:bodyPr>
            <a:lstStyle/>
            <a:p>
              <a:r>
                <a:rPr lang="en-US" dirty="0"/>
                <a:t>128 bits</a:t>
              </a:r>
            </a:p>
          </p:txBody>
        </p:sp>
        <p:cxnSp>
          <p:nvCxnSpPr>
            <p:cNvPr id="28" name="Straight Connector 27"/>
            <p:cNvCxnSpPr/>
            <p:nvPr/>
          </p:nvCxnSpPr>
          <p:spPr bwMode="auto">
            <a:xfrm rot="16200000" flipH="1">
              <a:off x="4420394" y="5715000"/>
              <a:ext cx="4572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9" name="TextBox 28"/>
            <p:cNvSpPr txBox="1"/>
            <p:nvPr/>
          </p:nvSpPr>
          <p:spPr>
            <a:xfrm>
              <a:off x="4724400" y="5486400"/>
              <a:ext cx="919204" cy="492442"/>
            </a:xfrm>
            <a:prstGeom prst="rect">
              <a:avLst/>
            </a:prstGeom>
            <a:noFill/>
          </p:spPr>
          <p:txBody>
            <a:bodyPr wrap="none" rtlCol="0">
              <a:spAutoFit/>
            </a:bodyPr>
            <a:lstStyle/>
            <a:p>
              <a:r>
                <a:rPr lang="en-US" dirty="0"/>
                <a:t>counter</a:t>
              </a:r>
            </a:p>
          </p:txBody>
        </p:sp>
      </p:grpSp>
      <p:sp>
        <p:nvSpPr>
          <p:cNvPr id="31" name="TextBox 30"/>
          <p:cNvSpPr txBox="1"/>
          <p:nvPr/>
        </p:nvSpPr>
        <p:spPr>
          <a:xfrm>
            <a:off x="2300208" y="5105401"/>
            <a:ext cx="519193" cy="461665"/>
          </a:xfrm>
          <a:prstGeom prst="rect">
            <a:avLst/>
          </a:prstGeom>
          <a:noFill/>
        </p:spPr>
        <p:txBody>
          <a:bodyPr wrap="none" rtlCol="0">
            <a:spAutoFit/>
          </a:bodyPr>
          <a:lstStyle/>
          <a:p>
            <a:r>
              <a:rPr lang="en-US" sz="2400" dirty="0"/>
              <a:t>IV:</a:t>
            </a:r>
          </a:p>
        </p:txBody>
      </p:sp>
      <p:sp>
        <p:nvSpPr>
          <p:cNvPr id="32" name="TextBox 31"/>
          <p:cNvSpPr txBox="1"/>
          <p:nvPr/>
        </p:nvSpPr>
        <p:spPr>
          <a:xfrm>
            <a:off x="3276599" y="5586057"/>
            <a:ext cx="742912" cy="338554"/>
          </a:xfrm>
          <a:prstGeom prst="rect">
            <a:avLst/>
          </a:prstGeom>
          <a:noFill/>
        </p:spPr>
        <p:txBody>
          <a:bodyPr wrap="none" rtlCol="0">
            <a:spAutoFit/>
          </a:bodyPr>
          <a:lstStyle/>
          <a:p>
            <a:r>
              <a:rPr lang="en-US" sz="1600" dirty="0"/>
              <a:t>64 bits</a:t>
            </a:r>
          </a:p>
        </p:txBody>
      </p:sp>
      <p:sp>
        <p:nvSpPr>
          <p:cNvPr id="33" name="TextBox 32"/>
          <p:cNvSpPr txBox="1"/>
          <p:nvPr/>
        </p:nvSpPr>
        <p:spPr>
          <a:xfrm>
            <a:off x="4724399" y="5586057"/>
            <a:ext cx="742912" cy="338554"/>
          </a:xfrm>
          <a:prstGeom prst="rect">
            <a:avLst/>
          </a:prstGeom>
          <a:noFill/>
        </p:spPr>
        <p:txBody>
          <a:bodyPr wrap="none" rtlCol="0">
            <a:spAutoFit/>
          </a:bodyPr>
          <a:lstStyle/>
          <a:p>
            <a:r>
              <a:rPr lang="en-US" sz="1600" dirty="0"/>
              <a:t>64 bits</a:t>
            </a:r>
          </a:p>
        </p:txBody>
      </p:sp>
      <p:sp>
        <p:nvSpPr>
          <p:cNvPr id="35" name="TextBox 34"/>
          <p:cNvSpPr txBox="1"/>
          <p:nvPr/>
        </p:nvSpPr>
        <p:spPr>
          <a:xfrm>
            <a:off x="228601" y="4415136"/>
            <a:ext cx="7858041" cy="461665"/>
          </a:xfrm>
          <a:prstGeom prst="rect">
            <a:avLst/>
          </a:prstGeom>
          <a:noFill/>
        </p:spPr>
        <p:txBody>
          <a:bodyPr wrap="none" rtlCol="0">
            <a:spAutoFit/>
          </a:bodyPr>
          <a:lstStyle/>
          <a:p>
            <a:r>
              <a:rPr lang="en-US" sz="2400" dirty="0"/>
              <a:t>To ensure  F(</a:t>
            </a:r>
            <a:r>
              <a:rPr lang="en-US" sz="2400" dirty="0" err="1"/>
              <a:t>k,x</a:t>
            </a:r>
            <a:r>
              <a:rPr lang="en-US" sz="2400" dirty="0"/>
              <a:t>)  is never used more than once, choose IV as: </a:t>
            </a:r>
          </a:p>
        </p:txBody>
      </p:sp>
      <p:sp>
        <p:nvSpPr>
          <p:cNvPr id="34" name="Freeform 33"/>
          <p:cNvSpPr/>
          <p:nvPr/>
        </p:nvSpPr>
        <p:spPr bwMode="auto">
          <a:xfrm>
            <a:off x="5181601" y="4953001"/>
            <a:ext cx="1637731" cy="421517"/>
          </a:xfrm>
          <a:custGeom>
            <a:avLst/>
            <a:gdLst>
              <a:gd name="connsiteX0" fmla="*/ 1637731 w 1637731"/>
              <a:gd name="connsiteY0" fmla="*/ 477672 h 477672"/>
              <a:gd name="connsiteX1" fmla="*/ 1173707 w 1637731"/>
              <a:gd name="connsiteY1" fmla="*/ 191069 h 477672"/>
              <a:gd name="connsiteX2" fmla="*/ 518615 w 1637731"/>
              <a:gd name="connsiteY2" fmla="*/ 13648 h 477672"/>
              <a:gd name="connsiteX3" fmla="*/ 0 w 1637731"/>
              <a:gd name="connsiteY3" fmla="*/ 272956 h 477672"/>
              <a:gd name="connsiteX0" fmla="*/ 1637731 w 1637731"/>
              <a:gd name="connsiteY0" fmla="*/ 569794 h 569794"/>
              <a:gd name="connsiteX1" fmla="*/ 1173707 w 1637731"/>
              <a:gd name="connsiteY1" fmla="*/ 283191 h 569794"/>
              <a:gd name="connsiteX2" fmla="*/ 304800 w 1637731"/>
              <a:gd name="connsiteY2" fmla="*/ 13648 h 569794"/>
              <a:gd name="connsiteX3" fmla="*/ 0 w 1637731"/>
              <a:gd name="connsiteY3" fmla="*/ 365078 h 569794"/>
              <a:gd name="connsiteX0" fmla="*/ 1713931 w 1713931"/>
              <a:gd name="connsiteY0" fmla="*/ 562022 h 562022"/>
              <a:gd name="connsiteX1" fmla="*/ 1249907 w 1713931"/>
              <a:gd name="connsiteY1" fmla="*/ 275419 h 562022"/>
              <a:gd name="connsiteX2" fmla="*/ 381000 w 1713931"/>
              <a:gd name="connsiteY2" fmla="*/ 5876 h 562022"/>
              <a:gd name="connsiteX3" fmla="*/ 0 w 1713931"/>
              <a:gd name="connsiteY3" fmla="*/ 310676 h 562022"/>
              <a:gd name="connsiteX0" fmla="*/ 1713931 w 1713931"/>
              <a:gd name="connsiteY0" fmla="*/ 562022 h 562022"/>
              <a:gd name="connsiteX1" fmla="*/ 1249907 w 1713931"/>
              <a:gd name="connsiteY1" fmla="*/ 275419 h 562022"/>
              <a:gd name="connsiteX2" fmla="*/ 381000 w 1713931"/>
              <a:gd name="connsiteY2" fmla="*/ 5876 h 562022"/>
              <a:gd name="connsiteX3" fmla="*/ 0 w 1713931"/>
              <a:gd name="connsiteY3" fmla="*/ 310676 h 562022"/>
              <a:gd name="connsiteX0" fmla="*/ 1637731 w 1637731"/>
              <a:gd name="connsiteY0" fmla="*/ 562022 h 562022"/>
              <a:gd name="connsiteX1" fmla="*/ 1173707 w 1637731"/>
              <a:gd name="connsiteY1" fmla="*/ 275419 h 562022"/>
              <a:gd name="connsiteX2" fmla="*/ 304800 w 1637731"/>
              <a:gd name="connsiteY2" fmla="*/ 5876 h 562022"/>
              <a:gd name="connsiteX3" fmla="*/ 0 w 1637731"/>
              <a:gd name="connsiteY3" fmla="*/ 310676 h 562022"/>
            </a:gdLst>
            <a:ahLst/>
            <a:cxnLst>
              <a:cxn ang="0">
                <a:pos x="connsiteX0" y="connsiteY0"/>
              </a:cxn>
              <a:cxn ang="0">
                <a:pos x="connsiteX1" y="connsiteY1"/>
              </a:cxn>
              <a:cxn ang="0">
                <a:pos x="connsiteX2" y="connsiteY2"/>
              </a:cxn>
              <a:cxn ang="0">
                <a:pos x="connsiteX3" y="connsiteY3"/>
              </a:cxn>
            </a:cxnLst>
            <a:rect l="l" t="t" r="r" b="b"/>
            <a:pathLst>
              <a:path w="1637731" h="562022">
                <a:moveTo>
                  <a:pt x="1637731" y="562022"/>
                </a:moveTo>
                <a:cubicBezTo>
                  <a:pt x="1498978" y="457389"/>
                  <a:pt x="1395862" y="368110"/>
                  <a:pt x="1173707" y="275419"/>
                </a:cubicBezTo>
                <a:cubicBezTo>
                  <a:pt x="951552" y="182728"/>
                  <a:pt x="500418" y="0"/>
                  <a:pt x="304800" y="5876"/>
                </a:cubicBezTo>
                <a:cubicBezTo>
                  <a:pt x="109182" y="11752"/>
                  <a:pt x="17059" y="141216"/>
                  <a:pt x="0" y="310676"/>
                </a:cubicBezTo>
              </a:path>
            </a:pathLst>
          </a:custGeom>
          <a:no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a:latin typeface="Arial" charset="0"/>
            </a:endParaRPr>
          </a:p>
        </p:txBody>
      </p:sp>
      <p:sp>
        <p:nvSpPr>
          <p:cNvPr id="36" name="TextBox 35"/>
          <p:cNvSpPr txBox="1"/>
          <p:nvPr/>
        </p:nvSpPr>
        <p:spPr>
          <a:xfrm>
            <a:off x="6477000" y="5357459"/>
            <a:ext cx="1463937" cy="646331"/>
          </a:xfrm>
          <a:prstGeom prst="rect">
            <a:avLst/>
          </a:prstGeom>
          <a:noFill/>
        </p:spPr>
        <p:txBody>
          <a:bodyPr wrap="none" rtlCol="0">
            <a:spAutoFit/>
          </a:bodyPr>
          <a:lstStyle/>
          <a:p>
            <a:r>
              <a:rPr lang="en-US" dirty="0"/>
              <a:t>starts at 0</a:t>
            </a:r>
            <a:br>
              <a:rPr lang="en-US" dirty="0"/>
            </a:br>
            <a:r>
              <a:rPr lang="en-US" dirty="0"/>
              <a:t>for every </a:t>
            </a:r>
            <a:r>
              <a:rPr lang="en-US" dirty="0" err="1"/>
              <a:t>msg</a:t>
            </a:r>
            <a:endParaRPr lang="en-US" dirty="0"/>
          </a:p>
        </p:txBody>
      </p:sp>
    </p:spTree>
    <p:extLst>
      <p:ext uri="{BB962C8B-B14F-4D97-AF65-F5344CB8AC3E}">
        <p14:creationId xmlns:p14="http://schemas.microsoft.com/office/powerpoint/2010/main" val="3979163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a:t>
            </a:r>
            <a:r>
              <a:rPr lang="en-US" dirty="0" err="1"/>
              <a:t>ctr</a:t>
            </a:r>
            <a:r>
              <a:rPr lang="en-US" dirty="0"/>
              <a:t> vs. CBC</a:t>
            </a:r>
          </a:p>
        </p:txBody>
      </p:sp>
      <p:sp>
        <p:nvSpPr>
          <p:cNvPr id="3" name="Content Placeholder 2">
            <a:extLst>
              <a:ext uri="{FF2B5EF4-FFF2-40B4-BE49-F238E27FC236}">
                <a16:creationId xmlns:a16="http://schemas.microsoft.com/office/drawing/2014/main" id="{5F21A15A-12C1-BFC3-8A22-AC5F27EAA976}"/>
              </a:ext>
            </a:extLst>
          </p:cNvPr>
          <p:cNvSpPr>
            <a:spLocks noGrp="1"/>
          </p:cNvSpPr>
          <p:nvPr>
            <p:ph sz="quarter" idx="13"/>
          </p:nvPr>
        </p:nvSpPr>
        <p:spPr/>
        <p:txBody>
          <a:bodyPr/>
          <a:lstStyle/>
          <a:p>
            <a:endParaRPr/>
          </a:p>
        </p:txBody>
      </p:sp>
      <p:graphicFrame>
        <p:nvGraphicFramePr>
          <p:cNvPr id="5" name="Table 4"/>
          <p:cNvGraphicFramePr>
            <a:graphicFrameLocks noGrp="1"/>
          </p:cNvGraphicFramePr>
          <p:nvPr/>
        </p:nvGraphicFramePr>
        <p:xfrm>
          <a:off x="609600" y="2057400"/>
          <a:ext cx="7772400" cy="2743200"/>
        </p:xfrm>
        <a:graphic>
          <a:graphicData uri="http://schemas.openxmlformats.org/drawingml/2006/table">
            <a:tbl>
              <a:tblPr firstRow="1" bandRow="1">
                <a:tableStyleId>{5C22544A-7EE6-4342-B048-85BDC9FD1C3A}</a:tableStyleId>
              </a:tblPr>
              <a:tblGrid>
                <a:gridCol w="3011805">
                  <a:extLst>
                    <a:ext uri="{9D8B030D-6E8A-4147-A177-3AD203B41FA5}">
                      <a16:colId xmlns:a16="http://schemas.microsoft.com/office/drawing/2014/main" val="20000"/>
                    </a:ext>
                  </a:extLst>
                </a:gridCol>
                <a:gridCol w="2169795">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19100">
                <a:tc>
                  <a:txBody>
                    <a:bodyPr/>
                    <a:lstStyle/>
                    <a:p>
                      <a:pPr algn="l"/>
                      <a:endParaRPr lang="en-US" sz="2400" dirty="0"/>
                    </a:p>
                  </a:txBody>
                  <a:tcPr/>
                </a:tc>
                <a:tc>
                  <a:txBody>
                    <a:bodyPr/>
                    <a:lstStyle/>
                    <a:p>
                      <a:pPr algn="ctr"/>
                      <a:r>
                        <a:rPr lang="en-US" sz="2400" dirty="0"/>
                        <a:t>CBC</a:t>
                      </a:r>
                    </a:p>
                  </a:txBody>
                  <a:tcPr/>
                </a:tc>
                <a:tc>
                  <a:txBody>
                    <a:bodyPr/>
                    <a:lstStyle/>
                    <a:p>
                      <a:pPr algn="ctr"/>
                      <a:r>
                        <a:rPr lang="en-US" sz="2400" dirty="0" err="1"/>
                        <a:t>ctr</a:t>
                      </a:r>
                      <a:r>
                        <a:rPr lang="en-US" sz="2400" dirty="0"/>
                        <a:t> mode</a:t>
                      </a:r>
                    </a:p>
                  </a:txBody>
                  <a:tcPr/>
                </a:tc>
                <a:extLst>
                  <a:ext uri="{0D108BD9-81ED-4DB2-BD59-A6C34878D82A}">
                    <a16:rowId xmlns:a16="http://schemas.microsoft.com/office/drawing/2014/main" val="10000"/>
                  </a:ext>
                </a:extLst>
              </a:tr>
              <a:tr h="419100">
                <a:tc>
                  <a:txBody>
                    <a:bodyPr/>
                    <a:lstStyle/>
                    <a:p>
                      <a:pPr algn="l"/>
                      <a:r>
                        <a:rPr lang="en-US" sz="2200" dirty="0"/>
                        <a:t>uses</a:t>
                      </a:r>
                    </a:p>
                  </a:txBody>
                  <a:tcPr/>
                </a:tc>
                <a:tc>
                  <a:txBody>
                    <a:bodyPr/>
                    <a:lstStyle/>
                    <a:p>
                      <a:pPr algn="ctr"/>
                      <a:r>
                        <a:rPr lang="en-US" sz="2400" dirty="0"/>
                        <a:t>PRP</a:t>
                      </a:r>
                    </a:p>
                  </a:txBody>
                  <a:tcPr/>
                </a:tc>
                <a:tc>
                  <a:txBody>
                    <a:bodyPr/>
                    <a:lstStyle/>
                    <a:p>
                      <a:pPr algn="ctr"/>
                      <a:r>
                        <a:rPr lang="en-US" sz="2400" dirty="0"/>
                        <a:t>PRF</a:t>
                      </a:r>
                    </a:p>
                  </a:txBody>
                  <a:tcPr/>
                </a:tc>
                <a:extLst>
                  <a:ext uri="{0D108BD9-81ED-4DB2-BD59-A6C34878D82A}">
                    <a16:rowId xmlns:a16="http://schemas.microsoft.com/office/drawing/2014/main" val="10001"/>
                  </a:ext>
                </a:extLst>
              </a:tr>
              <a:tr h="419100">
                <a:tc>
                  <a:txBody>
                    <a:bodyPr/>
                    <a:lstStyle/>
                    <a:p>
                      <a:pPr algn="l"/>
                      <a:r>
                        <a:rPr lang="en-US" sz="2200" dirty="0"/>
                        <a:t>parallel processing</a:t>
                      </a:r>
                    </a:p>
                  </a:txBody>
                  <a:tcPr/>
                </a:tc>
                <a:tc>
                  <a:txBody>
                    <a:bodyPr/>
                    <a:lstStyle/>
                    <a:p>
                      <a:pPr algn="ctr"/>
                      <a:r>
                        <a:rPr lang="en-US" sz="2400" dirty="0"/>
                        <a:t>No</a:t>
                      </a:r>
                    </a:p>
                  </a:txBody>
                  <a:tcPr/>
                </a:tc>
                <a:tc>
                  <a:txBody>
                    <a:bodyPr/>
                    <a:lstStyle/>
                    <a:p>
                      <a:pPr algn="ctr"/>
                      <a:r>
                        <a:rPr lang="en-US" sz="2400" dirty="0"/>
                        <a:t>Yes</a:t>
                      </a:r>
                    </a:p>
                  </a:txBody>
                  <a:tcPr/>
                </a:tc>
                <a:extLst>
                  <a:ext uri="{0D108BD9-81ED-4DB2-BD59-A6C34878D82A}">
                    <a16:rowId xmlns:a16="http://schemas.microsoft.com/office/drawing/2014/main" val="10002"/>
                  </a:ext>
                </a:extLst>
              </a:tr>
              <a:tr h="304800">
                <a:tc>
                  <a:txBody>
                    <a:bodyPr/>
                    <a:lstStyle/>
                    <a:p>
                      <a:pPr algn="l"/>
                      <a:r>
                        <a:rPr lang="en-US" sz="2200" dirty="0"/>
                        <a:t>Security of rand. enc.</a:t>
                      </a:r>
                    </a:p>
                  </a:txBody>
                  <a:tcPr/>
                </a:tc>
                <a:tc>
                  <a:txBody>
                    <a:bodyPr/>
                    <a:lstStyle/>
                    <a:p>
                      <a:pPr algn="ctr"/>
                      <a:r>
                        <a:rPr lang="en-US" sz="2400" dirty="0"/>
                        <a:t>q^2 L^2  &lt;&lt;</a:t>
                      </a:r>
                      <a:r>
                        <a:rPr lang="en-US" sz="2400" baseline="0" dirty="0"/>
                        <a:t> |X|</a:t>
                      </a:r>
                      <a:endParaRPr lang="en-US" sz="2400" baseline="30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q^2 L  &lt;&lt;</a:t>
                      </a:r>
                      <a:r>
                        <a:rPr lang="en-US" sz="2400" baseline="0" dirty="0"/>
                        <a:t> |X|</a:t>
                      </a:r>
                      <a:endParaRPr lang="en-US" sz="2400" baseline="30000" dirty="0"/>
                    </a:p>
                  </a:txBody>
                  <a:tcPr/>
                </a:tc>
                <a:extLst>
                  <a:ext uri="{0D108BD9-81ED-4DB2-BD59-A6C34878D82A}">
                    <a16:rowId xmlns:a16="http://schemas.microsoft.com/office/drawing/2014/main" val="10003"/>
                  </a:ext>
                </a:extLst>
              </a:tr>
              <a:tr h="419100">
                <a:tc>
                  <a:txBody>
                    <a:bodyPr/>
                    <a:lstStyle/>
                    <a:p>
                      <a:pPr algn="l"/>
                      <a:r>
                        <a:rPr lang="en-US" sz="2200" dirty="0"/>
                        <a:t>dummy padding block</a:t>
                      </a:r>
                    </a:p>
                  </a:txBody>
                  <a:tcPr/>
                </a:tc>
                <a:tc>
                  <a:txBody>
                    <a:bodyPr/>
                    <a:lstStyle/>
                    <a:p>
                      <a:pPr algn="ctr"/>
                      <a:r>
                        <a:rPr lang="en-US" sz="2400" dirty="0"/>
                        <a:t>Yes</a:t>
                      </a:r>
                    </a:p>
                  </a:txBody>
                  <a:tcPr/>
                </a:tc>
                <a:tc>
                  <a:txBody>
                    <a:bodyPr/>
                    <a:lstStyle/>
                    <a:p>
                      <a:pPr algn="ctr"/>
                      <a:r>
                        <a:rPr lang="en-US" sz="2400" dirty="0"/>
                        <a:t>No</a:t>
                      </a:r>
                    </a:p>
                  </a:txBody>
                  <a:tcPr/>
                </a:tc>
                <a:extLst>
                  <a:ext uri="{0D108BD9-81ED-4DB2-BD59-A6C34878D82A}">
                    <a16:rowId xmlns:a16="http://schemas.microsoft.com/office/drawing/2014/main" val="10004"/>
                  </a:ext>
                </a:extLst>
              </a:tr>
              <a:tr h="419100">
                <a:tc>
                  <a:txBody>
                    <a:bodyPr/>
                    <a:lstStyle/>
                    <a:p>
                      <a:pPr algn="l"/>
                      <a:r>
                        <a:rPr lang="en-US" sz="2200" dirty="0"/>
                        <a:t>1 byte </a:t>
                      </a:r>
                      <a:r>
                        <a:rPr lang="en-US" sz="2200" dirty="0" err="1"/>
                        <a:t>msgs</a:t>
                      </a:r>
                      <a:r>
                        <a:rPr lang="en-US" sz="2200" dirty="0"/>
                        <a:t>  </a:t>
                      </a:r>
                      <a:r>
                        <a:rPr lang="en-US" sz="1800" dirty="0"/>
                        <a:t>(nonce-based)</a:t>
                      </a:r>
                      <a:endParaRPr lang="en-US" sz="2200" dirty="0"/>
                    </a:p>
                  </a:txBody>
                  <a:tcPr/>
                </a:tc>
                <a:tc>
                  <a:txBody>
                    <a:bodyPr/>
                    <a:lstStyle/>
                    <a:p>
                      <a:pPr algn="ctr"/>
                      <a:r>
                        <a:rPr lang="en-US" sz="2400" dirty="0"/>
                        <a:t>16x expansion</a:t>
                      </a:r>
                    </a:p>
                  </a:txBody>
                  <a:tcPr/>
                </a:tc>
                <a:tc>
                  <a:txBody>
                    <a:bodyPr/>
                    <a:lstStyle/>
                    <a:p>
                      <a:pPr algn="ctr"/>
                      <a:r>
                        <a:rPr lang="en-US" sz="2400" dirty="0"/>
                        <a:t>no expansion</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1104604" y="5410200"/>
            <a:ext cx="6820196" cy="369332"/>
          </a:xfrm>
          <a:prstGeom prst="rect">
            <a:avLst/>
          </a:prstGeom>
          <a:noFill/>
        </p:spPr>
        <p:txBody>
          <a:bodyPr wrap="none" rtlCol="0">
            <a:spAutoFit/>
          </a:bodyPr>
          <a:lstStyle/>
          <a:p>
            <a:r>
              <a:rPr lang="en-US" dirty="0"/>
              <a:t>(for CBC, dummy padding block can be solved using </a:t>
            </a:r>
            <a:r>
              <a:rPr lang="en-US" dirty="0" err="1"/>
              <a:t>ciphertext</a:t>
            </a:r>
            <a:r>
              <a:rPr lang="en-US" dirty="0"/>
              <a:t> stealing)</a:t>
            </a:r>
          </a:p>
        </p:txBody>
      </p:sp>
    </p:spTree>
    <p:extLst>
      <p:ext uri="{BB962C8B-B14F-4D97-AF65-F5344CB8AC3E}">
        <p14:creationId xmlns:p14="http://schemas.microsoft.com/office/powerpoint/2010/main" val="29848453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6E0A591440FD4BB24A6FC7027A4F9B" ma:contentTypeVersion="0" ma:contentTypeDescription="Create a new document." ma:contentTypeScope="" ma:versionID="0cdb238342832eee5c5d1cab49339010">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5B6A87-1990-4D03-857A-B733D98B7278}"/>
</file>

<file path=customXml/itemProps2.xml><?xml version="1.0" encoding="utf-8"?>
<ds:datastoreItem xmlns:ds="http://schemas.openxmlformats.org/officeDocument/2006/customXml" ds:itemID="{335A230B-2EAF-4BFF-90F2-54534BE4B56E}">
  <ds:schemaRefs>
    <ds:schemaRef ds:uri="http://schemas.microsoft.com/sharepoint/v3/contenttype/forms"/>
  </ds:schemaRefs>
</ds:datastoreItem>
</file>

<file path=customXml/itemProps3.xml><?xml version="1.0" encoding="utf-8"?>
<ds:datastoreItem xmlns:ds="http://schemas.openxmlformats.org/officeDocument/2006/customXml" ds:itemID="{EE8D74F1-4146-4EDD-BEA7-D0CAAC324280}"/>
</file>

<file path=docProps/app.xml><?xml version="1.0" encoding="utf-8"?>
<Properties xmlns="http://schemas.openxmlformats.org/officeDocument/2006/extended-properties" xmlns:vt="http://schemas.openxmlformats.org/officeDocument/2006/docPropsVTypes">
  <Template/>
  <TotalTime>7394</TotalTime>
  <Words>3624</Words>
  <Application>Microsoft Macintosh PowerPoint</Application>
  <PresentationFormat>On-screen Show (4:3)</PresentationFormat>
  <Paragraphs>547</Paragraphs>
  <Slides>37</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Calibri</vt:lpstr>
      <vt:lpstr>Calibri Light</vt:lpstr>
      <vt:lpstr>Cambria Math</vt:lpstr>
      <vt:lpstr>Castellar</vt:lpstr>
      <vt:lpstr>Courier New</vt:lpstr>
      <vt:lpstr>Curlz MT</vt:lpstr>
      <vt:lpstr>Lato</vt:lpstr>
      <vt:lpstr>Tahoma</vt:lpstr>
      <vt:lpstr>Office Theme</vt:lpstr>
      <vt:lpstr>PowerPoint Presentation</vt:lpstr>
      <vt:lpstr>PowerPoint Presentation</vt:lpstr>
      <vt:lpstr>Nội dung </vt:lpstr>
      <vt:lpstr>Block ciphers:  crypto work horse</vt:lpstr>
      <vt:lpstr>Tóm tắt:   Khái niệm PRPs và PRFs</vt:lpstr>
      <vt:lpstr>PRFs bảo mật (Secure PRFs)</vt:lpstr>
      <vt:lpstr>Secure PRF:  definition</vt:lpstr>
      <vt:lpstr>Secure PRF:  definition</vt:lpstr>
      <vt:lpstr>PRP bảo mật - Secure PRP (secure block cipher)</vt:lpstr>
      <vt:lpstr>Ví dụ về PRP bảo mật </vt:lpstr>
      <vt:lpstr>Ví dụ về PRF bảo mật </vt:lpstr>
      <vt:lpstr>PowerPoint Presentation</vt:lpstr>
      <vt:lpstr>Using PRPs and PRFs</vt:lpstr>
      <vt:lpstr>Cách sử dung sai một PRP</vt:lpstr>
      <vt:lpstr>In pictures</vt:lpstr>
      <vt:lpstr>Bảo mật ngữ nghĩa -Semantic Security (one-time key)</vt:lpstr>
      <vt:lpstr>ECB is not Semantically Secure</vt:lpstr>
      <vt:lpstr>PowerPoint Presentation</vt:lpstr>
      <vt:lpstr>Semantic Security với khoá dùng nhiều lần (many-time key)</vt:lpstr>
      <vt:lpstr>Semantic Security for many-time key</vt:lpstr>
      <vt:lpstr>Semantic Security for many-time key (CPA security)</vt:lpstr>
      <vt:lpstr>Bản mã không bảo mật dưới tấn công CPA</vt:lpstr>
      <vt:lpstr>Bản mã không bảo mật dưới tấn công CPA</vt:lpstr>
      <vt:lpstr>Giải pháp 1:   Hàm mã hoá ngẫu nhiên (randomized encryption)</vt:lpstr>
      <vt:lpstr>PowerPoint Presentation</vt:lpstr>
      <vt:lpstr>Giải pháp 2:  Mã hoá dựa trên số Nonce (nonce-based Encryption)</vt:lpstr>
      <vt:lpstr>CPA security for nonce-based encryption</vt:lpstr>
      <vt:lpstr>PowerPoint Presentation</vt:lpstr>
      <vt:lpstr>Cấu trúc 1:   CBC with random IV</vt:lpstr>
      <vt:lpstr>Mạch giải mã (Decryption circuit)</vt:lpstr>
      <vt:lpstr>Warning:   an attack on CBC with rand. IV</vt:lpstr>
      <vt:lpstr>Cấu trúc 1’:   nonce-based CBC</vt:lpstr>
      <vt:lpstr>An example Crypto API    (OpenSSL)</vt:lpstr>
      <vt:lpstr>A CBC technicality:  padding</vt:lpstr>
      <vt:lpstr>Cấu trúc 2:  rand ctr-mode</vt:lpstr>
      <vt:lpstr>Cấu trúc 2’:  nonce ctr-mode</vt:lpstr>
      <vt:lpstr>Comparison:  ctr vs. CBC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Ta Thi Kim Hue</cp:lastModifiedBy>
  <cp:revision>57</cp:revision>
  <dcterms:created xsi:type="dcterms:W3CDTF">2021-05-28T04:32:29Z</dcterms:created>
  <dcterms:modified xsi:type="dcterms:W3CDTF">2023-02-13T09:17:50Z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0x010100796E0A591440FD4BB24A6FC7027A4F9B</vt:lpwstr>
  </property>
</Properties>
</file>